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2"/>
  </p:notesMasterIdLst>
  <p:sldIdLst>
    <p:sldId id="355" r:id="rId2"/>
    <p:sldId id="257" r:id="rId5"/>
    <p:sldId id="358" r:id="rId6"/>
    <p:sldId id="359" r:id="rId7"/>
    <p:sldId id="360" r:id="rId8"/>
    <p:sldId id="458" r:id="rId76"/>
    <p:sldId id="361" r:id="rId9"/>
    <p:sldId id="362" r:id="rId10"/>
    <p:sldId id="431" r:id="rId82"/>
    <p:sldId id="363" r:id="rId11"/>
    <p:sldId id="364" r:id="rId12"/>
    <p:sldId id="432" r:id="rId83"/>
    <p:sldId id="433" r:id="rId84"/>
    <p:sldId id="434" r:id="rId85"/>
    <p:sldId id="365" r:id="rId13"/>
    <p:sldId id="366" r:id="rId14"/>
    <p:sldId id="426" r:id="rId78"/>
    <p:sldId id="367" r:id="rId15"/>
    <p:sldId id="368" r:id="rId16"/>
    <p:sldId id="369" r:id="rId17"/>
    <p:sldId id="450" r:id="rId99"/>
    <p:sldId id="451" r:id="rId100"/>
    <p:sldId id="370" r:id="rId18"/>
    <p:sldId id="371" r:id="rId19"/>
    <p:sldId id="372" r:id="rId20"/>
    <p:sldId id="373" r:id="rId21"/>
    <p:sldId id="452" r:id="rId101"/>
    <p:sldId id="459" r:id="rId58"/>
    <p:sldId id="477" r:id="rId36"/>
    <p:sldId id="453" r:id="rId102"/>
    <p:sldId id="478" r:id="rId31"/>
    <p:sldId id="461" r:id="rId56"/>
    <p:sldId id="374" r:id="rId22"/>
    <p:sldId id="375" r:id="rId23"/>
    <p:sldId id="376" r:id="rId24"/>
    <p:sldId id="454" r:id="rId103"/>
    <p:sldId id="377" r:id="rId25"/>
    <p:sldId id="378" r:id="rId26"/>
    <p:sldId id="379" r:id="rId27"/>
    <p:sldId id="421" r:id="rId74"/>
    <p:sldId id="386" r:id="rId34"/>
    <p:sldId id="422" r:id="rId75"/>
    <p:sldId id="435" r:id="rId86"/>
    <p:sldId id="436" r:id="rId87"/>
    <p:sldId id="445" r:id="rId32"/>
    <p:sldId id="439" r:id="rId90"/>
    <p:sldId id="418" r:id="rId71"/>
    <p:sldId id="462" r:id="rId55"/>
    <p:sldId id="464" r:id="rId53"/>
    <p:sldId id="440" r:id="rId91"/>
    <p:sldId id="441" r:id="rId92"/>
    <p:sldId id="442" r:id="rId93"/>
    <p:sldId id="416" r:id="rId69"/>
    <p:sldId id="392" r:id="rId40"/>
    <p:sldId id="380" r:id="rId28"/>
    <p:sldId id="474" r:id="rId42"/>
    <p:sldId id="382" r:id="rId30"/>
    <p:sldId id="443" r:id="rId94"/>
    <p:sldId id="437" r:id="rId88"/>
    <p:sldId id="438" r:id="rId89"/>
    <p:sldId id="389" r:id="rId37"/>
    <p:sldId id="484" r:id="rId51"/>
    <p:sldId id="485" r:id="rId47"/>
    <p:sldId id="423" r:id="rId33"/>
    <p:sldId id="415" r:id="rId68"/>
    <p:sldId id="448" r:id="rId97"/>
    <p:sldId id="449" r:id="rId98"/>
    <p:sldId id="476" r:id="rId4"/>
    <p:sldId id="393" r:id="rId41"/>
    <p:sldId id="430" r:id="rId77"/>
    <p:sldId id="465" r:id="rId52"/>
    <p:sldId id="482" r:id="rId45"/>
    <p:sldId id="480" r:id="rId3"/>
    <p:sldId id="479" r:id="rId29"/>
    <p:sldId id="444" r:id="rId95"/>
    <p:sldId id="481" r:id="rId104"/>
    <p:sldId id="398" r:id="rId46"/>
    <p:sldId id="391" r:id="rId39"/>
    <p:sldId id="419" r:id="rId72"/>
    <p:sldId id="463" r:id="rId54"/>
    <p:sldId id="411" r:id="rId59"/>
    <p:sldId id="455" r:id="rId81"/>
    <p:sldId id="469" r:id="rId73"/>
    <p:sldId id="456" r:id="rId80"/>
    <p:sldId id="457" r:id="rId79"/>
    <p:sldId id="470" r:id="rId96"/>
    <p:sldId id="471" r:id="rId70"/>
    <p:sldId id="472" r:id="rId48"/>
    <p:sldId id="473" r:id="rId44"/>
    <p:sldId id="483" r:id="rId105"/>
    <p:sldId id="467" r:id="rId50"/>
    <p:sldId id="468" r:id="rId49"/>
    <p:sldId id="412" r:id="rId60"/>
    <p:sldId id="413" r:id="rId6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361"/>
    <p:restoredTop sz="79110"/>
  </p:normalViewPr>
  <p:slideViewPr>
    <p:cSldViewPr snapToGrid="0" snapToObjects="1">
      <p:cViewPr varScale="1">
        <p:scale>
          <a:sx n="99" d="100"/>
          <a:sy n="99" d="100"/>
        </p:scale>
        <p:origin x="9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73.xml"/><Relationship Id="rId4" Type="http://schemas.openxmlformats.org/officeDocument/2006/relationships/slide" Target="slides/slide68.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3.xml"/><Relationship Id="rId19" Type="http://schemas.openxmlformats.org/officeDocument/2006/relationships/slide" Target="slides/slide24.xml"/><Relationship Id="rId20" Type="http://schemas.openxmlformats.org/officeDocument/2006/relationships/slide" Target="slides/slide25.xml"/><Relationship Id="rId21" Type="http://schemas.openxmlformats.org/officeDocument/2006/relationships/slide" Target="slides/slide26.xml"/><Relationship Id="rId22" Type="http://schemas.openxmlformats.org/officeDocument/2006/relationships/slide" Target="slides/slide33.xml"/><Relationship Id="rId23" Type="http://schemas.openxmlformats.org/officeDocument/2006/relationships/slide" Target="slides/slide34.xml"/><Relationship Id="rId24" Type="http://schemas.openxmlformats.org/officeDocument/2006/relationships/slide" Target="slides/slide35.xml"/><Relationship Id="rId25" Type="http://schemas.openxmlformats.org/officeDocument/2006/relationships/slide" Target="slides/slide37.xml"/><Relationship Id="rId26" Type="http://schemas.openxmlformats.org/officeDocument/2006/relationships/slide" Target="slides/slide38.xml"/><Relationship Id="rId27" Type="http://schemas.openxmlformats.org/officeDocument/2006/relationships/slide" Target="slides/slide39.xml"/><Relationship Id="rId28" Type="http://schemas.openxmlformats.org/officeDocument/2006/relationships/slide" Target="slides/slide55.xml"/><Relationship Id="rId29" Type="http://schemas.openxmlformats.org/officeDocument/2006/relationships/slide" Target="slides/slide74.xml"/><Relationship Id="rId30" Type="http://schemas.openxmlformats.org/officeDocument/2006/relationships/slide" Target="slides/slide57.xml"/><Relationship Id="rId31" Type="http://schemas.openxmlformats.org/officeDocument/2006/relationships/slide" Target="slides/slide31.xml"/><Relationship Id="rId32" Type="http://schemas.openxmlformats.org/officeDocument/2006/relationships/slide" Target="slides/slide45.xml"/><Relationship Id="rId33" Type="http://schemas.openxmlformats.org/officeDocument/2006/relationships/slide" Target="slides/slide64.xml"/><Relationship Id="rId34" Type="http://schemas.openxmlformats.org/officeDocument/2006/relationships/slide" Target="slides/slide41.xml"/><Relationship Id="rId36" Type="http://schemas.openxmlformats.org/officeDocument/2006/relationships/slide" Target="slides/slide29.xml"/><Relationship Id="rId37" Type="http://schemas.openxmlformats.org/officeDocument/2006/relationships/slide" Target="slides/slide61.xml"/><Relationship Id="rId39" Type="http://schemas.openxmlformats.org/officeDocument/2006/relationships/slide" Target="slides/slide78.xml"/><Relationship Id="rId40" Type="http://schemas.openxmlformats.org/officeDocument/2006/relationships/slide" Target="slides/slide54.xml"/><Relationship Id="rId41" Type="http://schemas.openxmlformats.org/officeDocument/2006/relationships/slide" Target="slides/slide69.xml"/><Relationship Id="rId42" Type="http://schemas.openxmlformats.org/officeDocument/2006/relationships/slide" Target="slides/slide56.xml"/><Relationship Id="rId44" Type="http://schemas.openxmlformats.org/officeDocument/2006/relationships/slide" Target="slides/slide89.xml"/><Relationship Id="rId45" Type="http://schemas.openxmlformats.org/officeDocument/2006/relationships/slide" Target="slides/slide72.xml"/><Relationship Id="rId46" Type="http://schemas.openxmlformats.org/officeDocument/2006/relationships/slide" Target="slides/slide77.xml"/><Relationship Id="rId47" Type="http://schemas.openxmlformats.org/officeDocument/2006/relationships/slide" Target="slides/slide63.xml"/><Relationship Id="rId48" Type="http://schemas.openxmlformats.org/officeDocument/2006/relationships/slide" Target="slides/slide88.xml"/><Relationship Id="rId49" Type="http://schemas.openxmlformats.org/officeDocument/2006/relationships/slide" Target="slides/slide92.xml"/><Relationship Id="rId50" Type="http://schemas.openxmlformats.org/officeDocument/2006/relationships/slide" Target="slides/slide91.xml"/><Relationship Id="rId51" Type="http://schemas.openxmlformats.org/officeDocument/2006/relationships/slide" Target="slides/slide62.xml"/><Relationship Id="rId52" Type="http://schemas.openxmlformats.org/officeDocument/2006/relationships/slide" Target="slides/slide71.xml"/><Relationship Id="rId53" Type="http://schemas.openxmlformats.org/officeDocument/2006/relationships/slide" Target="slides/slide49.xml"/><Relationship Id="rId54" Type="http://schemas.openxmlformats.org/officeDocument/2006/relationships/slide" Target="slides/slide80.xml"/><Relationship Id="rId55" Type="http://schemas.openxmlformats.org/officeDocument/2006/relationships/slide" Target="slides/slide48.xml"/><Relationship Id="rId56" Type="http://schemas.openxmlformats.org/officeDocument/2006/relationships/slide" Target="slides/slide32.xml"/><Relationship Id="rId58" Type="http://schemas.openxmlformats.org/officeDocument/2006/relationships/slide" Target="slides/slide28.xml"/><Relationship Id="rId59" Type="http://schemas.openxmlformats.org/officeDocument/2006/relationships/slide" Target="slides/slide81.xml"/><Relationship Id="rId60" Type="http://schemas.openxmlformats.org/officeDocument/2006/relationships/slide" Target="slides/slide93.xml"/><Relationship Id="rId61" Type="http://schemas.openxmlformats.org/officeDocument/2006/relationships/slide" Target="slides/slide94.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 Id="rId67" Type="http://schemas.microsoft.com/office/2016/11/relationships/changesInfo" Target="changesInfos/changesInfo1.xml"/><Relationship Id="rId68" Type="http://schemas.openxmlformats.org/officeDocument/2006/relationships/slide" Target="slides/slide65.xml"/><Relationship Id="rId69" Type="http://schemas.openxmlformats.org/officeDocument/2006/relationships/slide" Target="slides/slide53.xml"/><Relationship Id="rId70" Type="http://schemas.openxmlformats.org/officeDocument/2006/relationships/slide" Target="slides/slide87.xml"/><Relationship Id="rId71" Type="http://schemas.openxmlformats.org/officeDocument/2006/relationships/slide" Target="slides/slide47.xml"/><Relationship Id="rId72" Type="http://schemas.openxmlformats.org/officeDocument/2006/relationships/slide" Target="slides/slide79.xml"/><Relationship Id="rId73" Type="http://schemas.openxmlformats.org/officeDocument/2006/relationships/slide" Target="slides/slide83.xml"/><Relationship Id="rId74" Type="http://schemas.openxmlformats.org/officeDocument/2006/relationships/slide" Target="slides/slide40.xml"/><Relationship Id="rId75" Type="http://schemas.openxmlformats.org/officeDocument/2006/relationships/slide" Target="slides/slide42.xml"/><Relationship Id="rId76" Type="http://schemas.openxmlformats.org/officeDocument/2006/relationships/slide" Target="slides/slide6.xml"/><Relationship Id="rId77" Type="http://schemas.openxmlformats.org/officeDocument/2006/relationships/slide" Target="slides/slide70.xml"/><Relationship Id="rId78" Type="http://schemas.openxmlformats.org/officeDocument/2006/relationships/slide" Target="slides/slide17.xml"/><Relationship Id="rId79" Type="http://schemas.openxmlformats.org/officeDocument/2006/relationships/slide" Target="slides/slide85.xml"/><Relationship Id="rId80" Type="http://schemas.openxmlformats.org/officeDocument/2006/relationships/slide" Target="slides/slide84.xml"/><Relationship Id="rId81" Type="http://schemas.openxmlformats.org/officeDocument/2006/relationships/slide" Target="slides/slide82.xml"/><Relationship Id="rId82" Type="http://schemas.openxmlformats.org/officeDocument/2006/relationships/slide" Target="slides/slide9.xml"/><Relationship Id="rId83" Type="http://schemas.openxmlformats.org/officeDocument/2006/relationships/slide" Target="slides/slide12.xml"/><Relationship Id="rId84" Type="http://schemas.openxmlformats.org/officeDocument/2006/relationships/slide" Target="slides/slide13.xml"/><Relationship Id="rId85" Type="http://schemas.openxmlformats.org/officeDocument/2006/relationships/slide" Target="slides/slide14.xml"/><Relationship Id="rId86" Type="http://schemas.openxmlformats.org/officeDocument/2006/relationships/slide" Target="slides/slide43.xml"/><Relationship Id="rId87" Type="http://schemas.openxmlformats.org/officeDocument/2006/relationships/slide" Target="slides/slide44.xml"/><Relationship Id="rId88" Type="http://schemas.openxmlformats.org/officeDocument/2006/relationships/slide" Target="slides/slide59.xml"/><Relationship Id="rId89" Type="http://schemas.openxmlformats.org/officeDocument/2006/relationships/slide" Target="slides/slide60.xml"/><Relationship Id="rId90" Type="http://schemas.openxmlformats.org/officeDocument/2006/relationships/slide" Target="slides/slide46.xml"/><Relationship Id="rId91" Type="http://schemas.openxmlformats.org/officeDocument/2006/relationships/slide" Target="slides/slide50.xml"/><Relationship Id="rId92" Type="http://schemas.openxmlformats.org/officeDocument/2006/relationships/slide" Target="slides/slide51.xml"/><Relationship Id="rId93" Type="http://schemas.openxmlformats.org/officeDocument/2006/relationships/slide" Target="slides/slide52.xml"/><Relationship Id="rId94" Type="http://schemas.openxmlformats.org/officeDocument/2006/relationships/slide" Target="slides/slide58.xml"/><Relationship Id="rId95" Type="http://schemas.openxmlformats.org/officeDocument/2006/relationships/slide" Target="slides/slide75.xml"/><Relationship Id="rId96" Type="http://schemas.openxmlformats.org/officeDocument/2006/relationships/slide" Target="slides/slide86.xml"/><Relationship Id="rId97" Type="http://schemas.openxmlformats.org/officeDocument/2006/relationships/slide" Target="slides/slide66.xml"/><Relationship Id="rId98" Type="http://schemas.openxmlformats.org/officeDocument/2006/relationships/slide" Target="slides/slide67.xml"/><Relationship Id="rId99" Type="http://schemas.openxmlformats.org/officeDocument/2006/relationships/slide" Target="slides/slide21.xml"/><Relationship Id="rId100" Type="http://schemas.openxmlformats.org/officeDocument/2006/relationships/slide" Target="slides/slide22.xml"/><Relationship Id="rId101" Type="http://schemas.openxmlformats.org/officeDocument/2006/relationships/slide" Target="slides/slide27.xml"/><Relationship Id="rId102" Type="http://schemas.openxmlformats.org/officeDocument/2006/relationships/slide" Target="slides/slide30.xml"/><Relationship Id="rId103" Type="http://schemas.openxmlformats.org/officeDocument/2006/relationships/slide" Target="slides/slide36.xml"/><Relationship Id="rId104" Type="http://schemas.openxmlformats.org/officeDocument/2006/relationships/slide" Target="slides/slide76.xml"/><Relationship Id="rId105" Type="http://schemas.openxmlformats.org/officeDocument/2006/relationships/slide" Target="slides/slide9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ia Kamalie" userId="515cad7dfc97862d" providerId="LiveId" clId="{BDE59E82-5B0C-5F80-AE38-D1D9C15295D7}"/>
    <pc:docChg chg="modSld">
      <pc:chgData name="Sia Kamalie" userId="515cad7dfc97862d" providerId="LiveId" clId="{BDE59E82-5B0C-5F80-AE38-D1D9C15295D7}" dt="2026-07-16T17:36:03.920" v="0" actId="20577"/>
      <pc:docMkLst>
        <pc:docMk/>
      </pc:docMkLst>
      <pc:sldChg chg="modSp mod">
        <pc:chgData name="Sia Kamalie" userId="515cad7dfc97862d" providerId="LiveId" clId="{BDE59E82-5B0C-5F80-AE38-D1D9C15295D7}" dt="2026-07-16T17:36:03.920" v="0" actId="20577"/>
        <pc:sldMkLst>
          <pc:docMk/>
          <pc:sldMk cId="703602843" sldId="355"/>
        </pc:sldMkLst>
        <pc:spChg chg="mod">
          <ac:chgData name="Sia Kamalie" userId="515cad7dfc97862d" providerId="LiveId" clId="{BDE59E82-5B0C-5F80-AE38-D1D9C15295D7}" dt="2026-07-16T17:36:03.920" v="0" actId="20577"/>
          <ac:spMkLst>
            <pc:docMk/>
            <pc:sldMk cId="703602843" sldId="355"/>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1828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p>
          <a:p>
            <a:r>
              <a:rPr lang="en-US" dirty="0"/>
              <a:t>Hello everyone, welcome to our special thesis presentation on the “infrastructure of Infinite software”. </a:t>
            </a:r>
          </a:p>
          <a:p>
            <a:endParaRPr lang="en-US" dirty="0"/>
          </a:p>
          <a:p>
            <a:r>
              <a:rPr lang="en-US" dirty="0"/>
              <a:t>Earlier this year we held a </a:t>
            </a:r>
            <a:r>
              <a:rPr lang="en-US" dirty="0" err="1"/>
              <a:t>presnention</a:t>
            </a:r>
            <a:r>
              <a:rPr lang="en-US" dirty="0"/>
              <a:t> ai </a:t>
            </a:r>
            <a:r>
              <a:rPr lang="en-US" dirty="0" err="1"/>
              <a:t>opportuntiies</a:t>
            </a:r>
            <a:r>
              <a:rPr lang="en-US" dirty="0"/>
              <a:t>, scale AI leader and the distribution opportunity. But today, we take a step forward, and what </a:t>
            </a:r>
            <a:r>
              <a:rPr lang="en-US" dirty="0" err="1"/>
              <a:t>argubalby</a:t>
            </a:r>
            <a:r>
              <a:rPr lang="en-US" dirty="0"/>
              <a:t> could be our most important thesis as we have gain </a:t>
            </a:r>
            <a:r>
              <a:rPr lang="en-US" dirty="0" err="1"/>
              <a:t>convition</a:t>
            </a:r>
            <a:r>
              <a:rPr lang="en-US" dirty="0"/>
              <a:t> in what is happening in world of ai agents and machine labor.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"In May 1995, Gates told Microsoft the Internet was a tidal wave that changes the rules — and the next thirty years of value creation proved him right. We think we're at the same moment again, except this time the wave is denominated in tokens. The rest of this deck is the evidence.”</a:t>
            </a:r>
          </a:p>
          <a:p>
            <a:endParaRPr lang="en-US" dirty="0"/>
          </a:p>
          <a:p>
            <a:endParaRPr lang="en-US" dirty="0"/>
          </a:p>
          <a:p>
            <a:r>
              <a:rPr lang="en-US" sz="1200" b="1" i="0" kern="1200" dirty="0">
                <a:solidFill>
                  <a:schemeClr val="tx1"/>
                </a:solidFill>
                <a:effectLst/>
                <a:latin typeface="+mn-lt"/>
                <a:ea typeface="+mn-ea"/>
                <a:cs typeface="+mn-cs"/>
              </a:rPr>
              <a:t>It marked the moment an incumbent recognized a paradigm shift.</a:t>
            </a:r>
            <a:r>
              <a:rPr lang="en-US" sz="1200" b="0" i="0" kern="1200" dirty="0">
                <a:solidFill>
                  <a:schemeClr val="tx1"/>
                </a:solidFill>
                <a:effectLst/>
                <a:latin typeface="+mn-lt"/>
                <a:ea typeface="+mn-ea"/>
                <a:cs typeface="+mn-cs"/>
              </a:rPr>
              <a:t> Microsoft pivoted the whole company within months (Internet Explorer, bundling the browser, the war with Netscape). It's the canonical example of a leader seeing an exponential trend early enough to act.</a:t>
            </a:r>
          </a:p>
          <a:p>
            <a:r>
              <a:rPr lang="en-US" sz="1200" b="1" i="0" kern="1200" dirty="0">
                <a:solidFill>
                  <a:schemeClr val="tx1"/>
                </a:solidFill>
                <a:effectLst/>
                <a:latin typeface="+mn-lt"/>
                <a:ea typeface="+mn-ea"/>
                <a:cs typeface="+mn-cs"/>
              </a:rPr>
              <a:t>The framing was right about magnitude, even when details were fuzzy.</a:t>
            </a:r>
            <a:r>
              <a:rPr lang="en-US" sz="1200" b="0" i="0" kern="1200" dirty="0">
                <a:solidFill>
                  <a:schemeClr val="tx1"/>
                </a:solidFill>
                <a:effectLst/>
                <a:latin typeface="+mn-lt"/>
                <a:ea typeface="+mn-ea"/>
                <a:cs typeface="+mn-cs"/>
              </a:rPr>
              <a:t> Gates couldn't predict Google, smartphones, or SaaS — but "it changes the rules" was exactly correct. The Internet didn't just create new products; it rewrote the economics of distribution, media, and software.</a:t>
            </a:r>
          </a:p>
          <a:p>
            <a:r>
              <a:rPr lang="en-US" sz="1200" b="1" i="0" kern="1200" dirty="0">
                <a:solidFill>
                  <a:schemeClr val="tx1"/>
                </a:solidFill>
                <a:effectLst/>
                <a:latin typeface="+mn-lt"/>
                <a:ea typeface="+mn-ea"/>
                <a:cs typeface="+mn-cs"/>
              </a:rPr>
              <a:t>It timestamps the beginning of a ~30-year value-creation wave.</a:t>
            </a:r>
            <a:r>
              <a:rPr lang="en-US" sz="1200" b="0" i="0" kern="1200" dirty="0">
                <a:solidFill>
                  <a:schemeClr val="tx1"/>
                </a:solidFill>
                <a:effectLst/>
                <a:latin typeface="+mn-lt"/>
                <a:ea typeface="+mn-ea"/>
                <a:cs typeface="+mn-cs"/>
              </a:rPr>
              <a:t> Nearly every trillion-dollar company created since traces to that wave.</a:t>
            </a:r>
          </a:p>
          <a:p>
            <a:endParaRPr lang="en-US" dirty="0"/>
          </a:p>
          <a:p>
            <a:endParaRPr lang="en-US" dirty="0"/>
          </a:p>
          <a:p>
            <a:endParaRPr lang="en-US" dirty="0"/>
          </a:p>
          <a:p>
            <a:r>
              <a:rPr lang="en-US" dirty="0"/>
              <a:t>Lets get started, so in 1995, </a:t>
            </a:r>
            <a:r>
              <a:rPr lang="en-US" dirty="0" err="1"/>
              <a:t>bil</a:t>
            </a:r>
            <a:r>
              <a:rPr lang="en-US" dirty="0"/>
              <a:t> gates wrote an internal memo that really defined the internet era before it arrived</a:t>
            </a:r>
          </a:p>
          <a:p>
            <a:endParaRPr lang="en-US" dirty="0"/>
          </a:p>
          <a:p>
            <a:r>
              <a:rPr dirty="0"/>
              <a:t>Bill Gates called the internet a tidal wave in May 1995. Thirty-one years later the same wave is running again — denominated in tokens.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slide sets the clock. Line up the two waves: the 1995 memo equals November 2022 — ChatGPT was the Netscape moment, from roughly zero. 1996 to '98 the rails got built and paid while the street debated 'fad' — that is exactly where we are: 2026, the reprice beginning, multiples still at fade levels.</a:t>
            </a:r>
          </a:p>
          <a:p>
            <a:r>
              <a:rPr lang="en-US" sz="1200" dirty="0"/>
              <a:t>Then '27–'28: agent GAAP disclosures, earnings accelerate, multiples re-rate. 2029 and beyond: meters at all-time highs, software infra at premium multiples. Land on the marker: by the internet clock it is 1996 — after the memo, before the mania. Early enough to matter, late enough to have receipts.</a:t>
            </a:r>
          </a:p>
          <a:p>
            <a:endParaRPr lang="en-US" sz="1200" dirty="0"/>
          </a:p>
          <a:p>
            <a:r>
              <a:t>Map the token wave onto the internet's clock: we're in 1996 — the rails-get-built-and-paid phase, not the 1999 mania. Today's tape pays 17–25x; 1999 paid 65x+.</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whole argument in three three-word phrases. The era: Infinite Software — machine labor makes making software free, so the software population explodes. The phenomenon: the Token Tidal Wave — every price drop buys more demand than it gives up, roughly 40x tokens by 2029.</a:t>
            </a:r>
          </a:p>
          <a:p>
            <a:r>
              <a:t>The bet: a Royalty on Machine Labor — infinite software runs on finite, metered rails, so own the meters and collect the royalty. Everything after this slide is evidence for these three lines.</a:t>
            </a:r>
          </a:p>
          <a:p/>
          <a:p>
            <a:r>
              <a:t>The whole argument, three words at a time: Infinite Software is the era. The Token Tidal Wave is the phenomenon. A Royalty on Machine Labor is the bet.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Roadmap: five parts, one thesis. Part one names the era — infinite software, machine labor making software unlimited. Part two quantifies the phenomenon — the ~40x token call and where it lands. Part three is the receipts — dated, named, and already in the filings; this is not a futurist deck.</a:t>
            </a:r>
          </a:p>
          <a:p>
            <a:r>
              <a:t>Part four is the conclusion — a royalty on machine labor, the portfolio that owns the meters. Part five is Machine Oracle — our sensing edge, the assumptions, and why the entry is now.</a:t>
            </a:r>
          </a:p>
          <a:p/>
          <a:p>
            <a:r>
              <a:t>Five parts: the era, the wave, the receipts, the royalty, and our sensing edge. Roughly 40 minutes; interrupt anywhere.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Part one. Before the numbers, the era has to be named. The claim: machine labor makes software unlimited — and that inverts where the money in software gets made. The next five slides establish the era.</a:t>
            </a:r>
          </a:p>
          <a:p>
            <a:endParaRPr lang="en-US" sz="1200" dirty="0"/>
          </a:p>
          <a:p>
            <a:r>
              <a:t>Part one: the era.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Context on scale. Every prior wave — mainframe, PC, networking, Web 1.0, mobile, cloud — sold tools that made humans more productive, and each minted the infrastructure names of its era: IBM, Microsoft and Intel, Cisco, Google and Amazon, Apple, AWS.</a:t>
            </a:r>
          </a:p>
          <a:p>
            <a:r>
              <a:rPr lang="en-US" sz="1200" dirty="0"/>
              <a:t>AI is the first wave that sells the labor itself. That is why it's the biggest yet: the addressable market isn't the software budget, it's the labor budget. This wave's infrastructure names are being minted right now.</a:t>
            </a:r>
          </a:p>
          <a:p>
            <a:endParaRPr lang="en-US" sz="1200" dirty="0"/>
          </a:p>
          <a:p>
            <a:r>
              <a:t>Every prior wave sold tools — this one produces labor. That's the categorical difference, and why the scale comparison isn't hyperbole.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Cost per unit of software work, log scale. Artisan engineering: $200. Offshore: $60. Open source and reuse: $20. Copilot-assisted: $5. Agent-produced in 2026: five cents. Each prior step took a decade; the last one is roughly 4,000x cheaper in a single step.</a:t>
            </a:r>
          </a:p>
          <a:p>
            <a:r>
              <a:rPr lang="en-US" sz="1200" dirty="0"/>
              <a:t>Hold on the number: when any input gets 4,000x cheaper, you don't consume the same amount of it. That's the setup for the scarcity inversion two slides ahead.</a:t>
            </a:r>
          </a:p>
          <a:p>
            <a:endParaRPr lang="en-US" sz="1200" dirty="0"/>
          </a:p>
          <a:p>
            <a:r>
              <a:t>Cost per unit of software work: $200 artisan engineering down to 5 cents agent-produced. ~4,000x cheaper in the final step alone.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regime change behind that price collapse. Copilots keep a human in every loop: you prompt, it answers, you check, you prompt again. Agents take an objective and run — plan, act, verify, loop until complete. The human becomes the manager.</a:t>
            </a:r>
          </a:p>
          <a:p>
            <a:r>
              <a:rPr lang="en-US" sz="1200" dirty="0"/>
              <a:t>Three consequences: the human bottleneck disappears — attention-hours no longer cap output. Parallelization — agents launch agents, 10 to 100x workstreams. And duty cycle — 40 attention-hours a week becomes 168 machine-hours. Close with the punchline: one analyst helping you becomes a thousand analysts working 24/7.</a:t>
            </a:r>
          </a:p>
          <a:p>
            <a:endParaRPr lang="en-US" sz="1200" dirty="0"/>
          </a:p>
          <a:p>
            <a:r>
              <a:t>The shift: copilots help you, agents work for you. The human becomes the manager, and the duty cycle goes from 40 attention-hours to 168 machine-hours a week.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Follow the money through the collapse. Left column deflates to zero: code, tests, glue, one-off tools, even the applications themselves — an infinite knife-fight of entrants. Right column is metered forever: compute, state and memory, delivery, identity and audit — billed per unit of use, scaling with the software population.</a:t>
            </a:r>
          </a:p>
          <a:p>
            <a:r>
              <a:rPr lang="en-US" sz="1200" dirty="0"/>
              <a:t>The economic law is Jevons, 1865: make an input more efficient and its consumption expands rather than shrinks. Nadella invoked exactly this in January 2025. The instruction of the slide is one line: own the right-hand column.</a:t>
            </a:r>
          </a:p>
          <a:p>
            <a:endParaRPr lang="en-US" sz="1200" dirty="0"/>
          </a:p>
          <a:p>
            <a:r>
              <a:t>The scarcity inversion: when making software is free, the money moves to running it. The left column deflates to zero; the right column is metered forever. Own the right column.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Precedent slide. In the four years after the tidal wave memo — May 1995 to May 1999, before the mania even began — NASDAQ did roughly 3x, Intel 6x, Microsoft 7x, Cisco 13x.</a:t>
            </a:r>
          </a:p>
          <a:p>
            <a:r>
              <a:rPr lang="en-US" sz="1200" dirty="0"/>
              <a:t>The crowd spent those years debating whether the internet was real; the rails compounded regardless. Same setup now: you don't need the bubble for this thesis to pay — you need the buildout. Part one done; part two puts numbers on the wave.</a:t>
            </a:r>
          </a:p>
          <a:p>
            <a:endParaRPr lang="en-US" sz="1200" dirty="0"/>
          </a:p>
          <a:p>
            <a:r>
              <a:t>Last time production costs collapsed, the rails got paid first: Cisco ~13x, Microsoft ~7x, Intel ~6x in four years — all before the mania began.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two: the phenomenon itself. This is where we put a number on the wave — the ~40x token call — and show how it lands on the rails we own. Five exhibits: the demand history, the elasticity engine, the headroom, the mix shift, and the call itself.</a:t>
            </a:r>
          </a:p>
          <a:p/>
          <a:p>
            <a:r>
              <a:t>Part two: the wave, in numbers.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demand line, from platform disclosures. Token consumption went from 0.05 quadrillion a year in 2022 to 100 quadrillion in 2026 — roughly 2,000x in four years: 10x, 10x, 5x, 4x.</a:t>
            </a:r>
          </a:p>
          <a:p>
            <a:r>
              <a:rPr lang="en-US" sz="1200" dirty="0"/>
              <a:t>And note what it ran through: two market corrections and one full-scale AI panic — demand never blinked. This isn't a narrative; it's aggregated disclosures with error bars.</a:t>
            </a:r>
          </a:p>
          <a:p>
            <a:endParaRPr lang="en-US" sz="1200" dirty="0"/>
          </a:p>
          <a:p>
            <a:r>
              <a:t>Tokens grew ~2,000x in four years — through two market corrections and one full-scale AI panic. Demand never blinked.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engine of the wave — this is the single most important chart in the deck. Since 2022, price per million tokens is down ~50x; volume is up ~2,000x. The measured slope is ~1.6: every 10x price drop bought 15–20x more demand.</a:t>
            </a:r>
          </a:p>
          <a:p>
            <a:r>
              <a:rPr lang="en-US" sz="1200" dirty="0"/>
              <a:t>That is demand elasticity above one — every price cut grows the total revenue pool instead of shrinking it. This one number drives the whole model, and we checked it against constant-capability tiers to control for the capability-vs-price confound.</a:t>
            </a:r>
          </a:p>
          <a:p>
            <a:endParaRPr lang="en-US" sz="1200" dirty="0"/>
          </a:p>
          <a:p>
            <a:r>
              <a:t>The engine of the thesis: historically, every 10x price drop bought 15–20x more demand. Measured slope ≈ 1.6. This is history, not forecast.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Why there's so much left. Only 2.5% of roughly a billion weekly AI users run agents today — 40x headroom in penetration alone. Intensity: a casual chat day is ~10K tokens; an always-on agent runs 5 to 25 million — 500 to 2,500x per user. Duty cycle: 168 hours a week versus ~40 attention-hours.</a:t>
            </a:r>
          </a:p>
          <a:p>
            <a:r>
              <a:rPr lang="en-US" sz="1200" dirty="0"/>
              <a:t>The line to land: same human, worth 500 to 2,500x more tokens the day software stops waiting for prompts.</a:t>
            </a:r>
          </a:p>
          <a:p>
            <a:endParaRPr lang="en-US" sz="1200" dirty="0"/>
          </a:p>
          <a:p>
            <a:r>
              <a:t>Only ~2.5% of AI users run agents today, and an always-on agent burns 500–2,500x the tokens of a casual chat user. The heaviest users barely exist yet.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mix shift — the delegation ladder. Today roughly 85% of tokens are 'ask': chat. Our 2029 case has 75% 'doing': delegation and automation. It's already moving: 77% of a major lab's API traffic classifies as automation; coding went from 11% to over 50% of routed model traffic in one year; enterprise API tokens at the leading lab grew 150% in five months.</a:t>
            </a:r>
          </a:p>
          <a:p>
            <a:r>
              <a:rPr lang="en-US" sz="1200" dirty="0"/>
              <a:t>Calibration point: our case needs doing-share of at least 60% by 2029 — anything above that already beats consensus.</a:t>
            </a:r>
          </a:p>
          <a:p>
            <a:endParaRPr lang="en-US" sz="1200" dirty="0"/>
          </a:p>
          <a:p>
            <a:r>
              <a:t>Tokens are shifting from asking to doing — 77% of a major lab's API traffic already classifies as automation. We model 75% 'doing' by 2029.</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call, plainly: roughly 2,700 quadrillion tokens by 2029 — 40x from today's 100. That's 3x a year for three years. The street's floor applies unit elasticity to the announced price path and gets 2.2x a year — about 1,100Q.</a:t>
            </a:r>
          </a:p>
          <a:p>
            <a:r>
              <a:t>The key rhetorical move: history ran 7x a year. Our 'aggressive' case is a deceleration by more than half. We're not extrapolating a mania; we're haircutting a measured trend.</a:t>
            </a:r>
          </a:p>
          <a:p/>
          <a:p>
            <a:r>
              <a:t>Our call: ~4,000Q tokens by 2029. It sounds aggressive — it's a deceleration. History ran 7x a year; we model 3x. The street's floor still implies ~1,100Q.</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number, built bottom-up so the debate is honest. Two billion weekly AI users — just 2x today. Fifteen percent running always-on agents — 6x today's 2.5%. Ten to 25 million tokens per agent-day — the observed band, not a guess.</a:t>
            </a:r>
          </a:p>
          <a:p>
            <a:r>
              <a:t>Multiply and you get ~2,700 quadrillion. Key line: the floor and the wave share the same users — 10M a day gives the street's ~1,100Q, 25M gives our ~4,000Q. The entire debate is intensity — and intensity is exactly what we measure first-hand in Part five.</a:t>
            </a:r>
          </a:p>
          <a:p/>
          <a:p>
            <a:r>
              <a:t>The 4,000Q decomposed: ~2B users × ~15% running always-on agents × 10–25M tokens per agent-day. Floor and wave share the same users — the whole debate is intensity.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Now the handoff from tokens to the bill. One delegated task — 'fix the failing build' — is about 200K tokens of planning and reasoning, but the work itself is API calls, database reads and writes, test runs, builds, traces, logs: over 100,000 metered events from a single multi-step coding task.</a:t>
            </a:r>
          </a:p>
          <a:p>
            <a:r>
              <a:rPr lang="en-US" sz="1200" dirty="0"/>
              <a:t>The rule of thumb to land: 20 to 40 billable events dragged behind every thousand agentic tokens. Tokens are the fuel; infrastructure events are the bill. This is the conversion the rest of the deck monetizes.</a:t>
            </a:r>
          </a:p>
          <a:p>
            <a:endParaRPr lang="en-US" sz="1200" dirty="0"/>
          </a:p>
          <a:p>
            <a:r>
              <a:t>One delegated task: ~200K tokens of thinking, but 100,000+ metered infrastructure events. Tokens are the fuel; events are the bill.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two-story structure of the thesis. First-order: token demand ~40x by 2029 — that is the labs' story. Second-order: every agent action lands on rented rails — something runs it, stores it, secures it, observes it, and meters it.</a:t>
            </a:r>
          </a:p>
          <a:p>
            <a:r>
              <a:t>Billable infrastructure events go from 0.3 quadrillion to ~39 quadrillion by 2029 — roughly 190x. The wave amplifies as it lands: the labs get the token story, our companies get the event story — and events compound faster than tokens.</a:t>
            </a:r>
          </a:p>
          <a:p/>
          <a:p>
            <a:r>
              <a:t>The wave doesn't stop at the model. Every agent action runs, stores, secures, observes — and meters. 40x tokens amplifies into ~190x billable events.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Same point as a time series, indexed to 2026 equals one. Events outgrow tokens every single year — 4 to 6x a year against 3x — because two things deepen at once: the agentic share of tokens, and the attach of billable events per token.</a:t>
            </a:r>
          </a:p>
          <a:p>
            <a:r>
              <a:t>By 2029 that compounds to tokens 40x and events roughly 190x. Solid lines are actuals, dashed are modeled. For the labs this is a token story; for the meters we own, it is an event story.</a:t>
            </a:r>
          </a:p>
          <a:p/>
          <a:p>
            <a:r>
              <a:t>Events outgrow tokens every single year — agentic share deepens and attach deepens. That compounding is where the meters' revenue comes from.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Part two recap, three numbers. 40x tokens — and remind them that is a slowdown versus history's 7x a year. 75% of tokens doing rather than asking — anything above 60% already beats consensus. 190x billable infrastructure events — the amplification as the wave lands on the meters.</a:t>
            </a:r>
          </a:p>
          <a:p>
            <a:r>
              <a:t>Discipline point to land before moving on: every figure on this page is graded quarterly against public filings via Sky1. Then the pivot: Part three has to prove the wave is already showing up in the numbers.</a:t>
            </a:r>
          </a:p>
          <a:p/>
          <a:p>
            <a:r>
              <a:t>Part two in three numbers: ~40x tokens, ~75% doing, ~190x events. Now part three has to prove it's already in the filings.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Part three: the receipts. Everything so far has been a model — this section is what is dated, named, and already sitting in public reports and filings. If the room only trusts one section, it should be this one.</a:t>
            </a:r>
          </a:p>
          <a:p>
            <a:endParaRPr lang="en-US" sz="1200" dirty="0"/>
          </a:p>
          <a:p>
            <a:r>
              <a:t>Part three: the receipts.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Machine labor now has an invoice line. Seven vendors shipped a machine billable unit between 2023 and 2026 — all dated, all public. Intercom at 99 cents per resolution, the first outcome price. Devin at ~$2 per agent compute unit. Zendesk $1.50 per automated resolution. Salesforce a dime an action, with 3.8 billion AWUs disclosed. Cloudflare pricing machine reading per crawl. Microsoft's Copilot Credit metered through Azure. ServiceNow's assist units.</a:t>
            </a:r>
          </a:p>
          <a:p>
            <a:r>
              <a:rPr lang="en-US" sz="1200" dirty="0"/>
              <a:t>Four flavors — outcomes, actions, sessions, metered compute. The takeaway: when an industry invents a unit of account, the market has arrived. Nobody prices a thing that isn't selling.</a:t>
            </a:r>
          </a:p>
          <a:p>
            <a:endParaRPr lang="en-US" sz="1200" dirty="0"/>
          </a:p>
          <a:p>
            <a:r>
              <a:t>The receipts start with the unit itself: seven vendors have shipped a billable unit of machine work — Intercom priced the outcome in 2023, Devin priced the agent's time, Zendesk the resolution, Salesforce the conversation then the action — 3.8 billion AWUs disclosed — Cloudflare priced machine reading, Microsoft and ServiceNow the credits and assists. Four flavors, one meaning: machine labor now has an invoice line.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Retention is the cleanest split in the whole universe. The usage-billed meter names hold a median around one-seventeen and rising — every agent task meters more revenue from the same customer, no salesperson involved. The seat-priced apps sit at about one-oh-one and flat: renewal is the ceiling. As agent activity compounds, only one of those lines moves with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p>
            <a:r>
              <a:t>The SA case, priced with discipline. Start from power, the honest constraint: if the announced build delivers roughly ten times inference power by 2029, times three-x FLOPs-per-token efficiency and two-and-a-half-x performance per watt, the physical ceiling is about seventy-five-x tokens. Adopt sixty-x — six thousand quadrillion — below that ceiling. Run it through the same event math and the same measured capture: eighty-five to a hundred and ten billion of cohort revenue, one-point-four to one-point-eight trillion at the sixteen-x band. The same destination as the hyperboom, reached through volume instead of multiple. We still underwrite forty-x.</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Per-layer overage only. State meters climb from 14 to 24 percent of layer revenue billed above floors; work 9 to 16, diluted by security subscriptions; apps print zeros because a seat model has no overage line. The cohort series and its dollars appear in Part 04.</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p>
            <a:r>
              <a:t>Side-by-side with Situational Awareness, assumption by assumption. They count capability per token — supply-side OOMs; we count tokens bought — demand-side elasticity. Their adoption unit is workforce-scale drop-in workers; ours is fifteen percent of users always-on. Their ceiling is the wage pool; ours is measured capture. The point of the table: the maps multiply. If both are right, effective machine labor grows far faster than either count alone — which is why the disagreement is upside to the meters, not risk.</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full roster on the master frame. Twenty-six backend names in two layers; forty-two worksite names across the rails and the record layer. The consumption test in Part 04 is applied to the backend only.</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And while the multiples ground down, the cash machines turned on. Work converts at twenty-six percent and has for two years — the toll road at work. The state layer just inflected: fourteen percent a year ago, twenty-one today — six points in four quarters, the land grab starting to pay. Falling multiples into rising cash flow: that divergence, at the layer level, is the entry.</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whole stack in five layers, bottom up: hardware performs the computation, models turn it into reasoning, infrastructure keeps the state, runtimes coordinate and govern the work, applications deliver the outcomes. Layers zero and one are already priced — Nvidia, the labs. Layer four is the knife fight — infinite software attacks it. The trade lives in the middle: layer three meters machine labor twice, doing and watching; layer two keeps its memory forever. Meter the work, accumulate the state.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p>
            <a:r>
              <a:t>Part three closes the way parts one and two do: three numbers. Retention 117 and rising against 101 and flat — agents pay meters, seats only renew. Overage from 11 to 19 percent of revenue in six quarters, billed at list, while commitment compounds twenty percent a year. And the tape charges about seven times forward revenue for 22 percent growth — quality it has not repriced. Part four names the seven companies behind these numbers and prices the gap.</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does the market charge for the layers through time? Grinding sideways to down for three years — through the biggest software demand shock in history. Work de-rated from ten times forward to six and a half; apps to three. The last point is consensus-based and it's the lowest on the chart: forward numbers carry zero agents. At the layer level, the wave is free.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What the wave does to cash. Today: twenty-seven billion of revenue at twenty percent cash margins — measured. Even the street's fade gets margins drifting to twenty-four on scale. The wave case: seventy-two billion of revenue at thirty percent — because usage revenue drops through at thirty-five to forty-five cents on the incremental dollar. Cash quadruples. The FCF grid prices exactly this path.</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This pre-empts the best objection: measured attach today is only 0.2 to 0.3. Four mechanical lags explain why that's the entry price, not the ceiling. One — committed contracts burn first: usage draws down prepaid credits, so the surge appears in RPO before revenue. Two — overage only bills above the floors, then at list. Three — pilots meter lightly, production meters everything: audit, security, observability attach when workloads graduate. Four — teams optimize before they let agents rip.</a:t>
            </a:r>
          </a:p>
          <a:p>
            <a:r>
              <a:rPr lang="en-US" sz="1200" dirty="0"/>
              <a:t>Each lag is one to three quarters, and each closes on a disclosure date. The lag is the opportunity.</a:t>
            </a:r>
          </a:p>
          <a:p>
            <a:endParaRPr lang="en-US" sz="1200" dirty="0"/>
          </a:p>
          <a:p>
            <a:r>
              <a:t>Today's measured attach of 0.2–0.3 is a lag, not a leak: committed contracts burn first, the surge hits backlog one to three quarters before revenue. The lag is the entry price.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Part five: Machine Oracle — our sensing edge. Three things in this section: the assumptions we have to be right about, how we check them before the street can, and why the entry point is now.</a:t>
            </a:r>
          </a:p>
          <a:p>
            <a:endParaRPr lang="en-US" sz="1200" dirty="0"/>
          </a:p>
          <a:p>
            <a:r>
              <a:t>Part five: Machine Oracle — our forecast, and how we're graded on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Layer cut only — the cohort series moves to Part 04. State deferred growth accelerates from 14 to 20 percent; work lands at 17 after lumpy multi-year security renewals; apps hold around 14. The ordering is the thesis: commitment compounds fastest where usage is metered.</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Take the decade view. First: the cost of trying collapses — most of the era's growth will come from work never attempted because trying was too expensive. Second: time moves up the stack — the freed hours migrate toward what machines meter badly: judgment, persuasion, care, creation. Third: scarcity migrates — to attention, intent, and trust, which is why the audit layer grows in every version of this future. And the honesty clause: displacement precedes redeployment, and the transition is measured in careers, not quarters. The surplus is real; so is the queue for it.</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
          <p:cNvSpPr>
            <a:spLocks noGrp="1"/>
          </p:cNvSpPr>
          <p:nvPr>
            <p:ph type="body" idx="1"/>
          </p:nvPr>
        </p:nvSpPr>
        <p:spPr/>
        <p:txBody>
          <a:bodyPr/>
          <a:p>
            <a:r>
              <a:t>Before the aggregates, the three companies themselves. Snowflake meters the reasoning — consumption credits per query against governed data. MongoDB meters the memory — Atlas usage, where the agent loop's writes land. Datadog meters the telemetry — every step an agent takes emits billable exhaust. Three different meters on the same unit of machine labor, which is why the instrument holds together. Facts from filings; each seat is re-verified quarterly.</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scenario architecture, simplified to what we can actually defend: three growth worlds, stated as CAGR ranges. The fade — twenty to twenty-five percent — is consensus, and it is what today's price carries. Partial conversion — twenty-five to thirty-five — is event growth with capture leakage. The wave — thirty-five to fifty — is the token case through the haircuts, with the SA case above it. We publish which world the filings select: commitment, overage and retention are the selectors, graded quarterly. The previous slides tell you what the tape pays when a name proves it belongs to the top band.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
          <p:cNvSpPr>
            <a:spLocks noGrp="1"/>
          </p:cNvSpPr>
          <p:nvPr>
            <p:ph type="body" idx="1"/>
          </p:nvPr>
        </p:nvSpPr>
        <p:spPr/>
        <p:txBody>
          <a:bodyPr/>
          <a:p>
            <a:r>
              <a:t>Work layer version. Growth has held between twenty and twenty-three percent for three years — and the multiple drifted down from eleven to nine before settling at seven on consensus. A falling price for an unchanged compounding rate is the quiet version of the same mispricing the cohort shows loudly.</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What does the firm look like on the other side? Revenue decouples from headcount — revenue per employee becomes the metric of the era. Labor moves onto the utility bill. Firms get smaller and more numerous — Coase in reverse: when transaction costs collapse, so does the reason firms are large. Management becomes review, intent, and audit. And the moats change: when anyone can summon software, what can't be summoned is your state, your audit history, your trust. Notice that every one of these routes through the meters — smaller firms, more software, more delegation all multiply the metered base.</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A closing thought before the quote. When making things stops being scarce, directing them becomes the work — that transition built the modern professions three times before. Abundance of software will feel like literacy did: the reorganization comes not from cheapness but from everyone being able to do it — and honesty requires saying that substitution displaces before it redeploys. And underneath everything: the meters are how a society counts what it hands to machines. Delegation requires memory and accountability. You cannot self-audit is a statement about trust between people. The economy will price machine labor in dollars; people will price it in meaning. We can only measure the first. The second is why the measuring matters.</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argument, assembled. Part One: software production left human hands, and what it costs to make collapsed while what it costs to run stayed metered. Part Two: the token wave is measured history, our call is a deceleration of it, and it amplifies as it lands. Part Three: two layers collect the royalty, and the filings already show it. Part Four: the seven companies that bill machine labor by the unit are priced for deceleration and zero agents. The market prices the subject of this piece as if it doesn't exist. The ledger will grade whether we're right.</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
          <p:cNvSpPr>
            <a:spLocks noGrp="1"/>
          </p:cNvSpPr>
          <p:nvPr>
            <p:ph type="body" idx="1"/>
          </p:nvPr>
        </p:nvSpPr>
        <p:spPr/>
        <p:txBody>
          <a:bodyPr/>
          <a:p>
            <a:r>
              <a:t>State layer version of the cohort chart. The multiple has been pinned near six times forward revenue for three years while median growth climbed from thirteen to twenty percent. Growth-adjusted, state trades at roughly a quarter turn — half the cohort's level. Whatever one believes about agents, the state layer's own tape shows re-acceleration the price has not acknowledged.</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Five rows now, all backend. Snowflake, MongoDB and DigitalOcean documented; Datadog and Fastly structural. The rails pass the billing test but sit on the worksite — tracked, not admitted. The exclusions are unchanged and re-graded quarterly.</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Put the two TAMs side by side. The old one — what analysts define — is about a hundred-ninety billion of software budgets the meter layers address today. The new one is delegation arithmetic: at one percent of knowledge work delegated, machine labor bills thirty-five to seventy billion a year — a third of the old TAM, added, and roughly our wave case. At five percent, the new pool matches or doubles the entire old TAM every year. At ten, software budgets become a line item. Delegation share, not budgets, sets the ceiling on the royalty.</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How sensitive is all this to AI timelines? Less than you'd think. In the slow world, the fade still beats today — the floor is an elasticity bet, not an AI bet. Our wave needs no breakthrough — just measured slopes at half their trailing pace. And in Aschenbrenner's world — drop-in workers, automated research — effective machine labor outruns our numbers entirely, and metered rails are among the few public claims on it. The thesis wins across the distribution. The one world it doesn't cover — machine labor leaving public rails for sealed labs — is on the bear ledger.</a:t>
            </a:r>
          </a:p>
        </p:txBody>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One more pond — the one everything else sits inside. Agents are ultimately priced against salaries, not software budgets: Aschenbrenner's drop-in remote worker. The global knowledge wage pool is roughly thirty-five trillion. If agents absorb just one percent of task value by 2029, delivered at ten to twenty cents on the human dollar, machine labor bills thirty-five to seventy billion — and the meters collect the royalty on that bill. That's consistent with our wave case. Every additional point of delegation is a pond bigger than today's software market.</a:t>
            </a:r>
          </a:p>
        </p:txBody>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Is a trillion a year of AI capex unprecedented? No — it's the fourth time. British railways absorbed roughly forty percent of GDP over a decade. Telecoms laid a trillion of internet infrastructure in five years — before the demand fully arrived, and the rails outlived the bust. The green transition runs on trillions today. Economies periodically rebuild themselves around a new input — and each time, the metered owners of the new rails collected the royalties.</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You don't have to take our curve — grade someone else's. In June 2024, Aschenbrenner published dated claims: agents as drop-in remote workers, hundred-billion-dollar clusters, a scramble for power, orders of magnitude more compute per task. Two years later: agent work has price tags, ten-gigawatt campuses are announced, interconnects are the binding constraint, and task-level token intensity is exactly where he pointed. The one open claim — AGI by 2027 — isn't ours and isn't required.</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acceleration case, mechanism by mechanism — all five measurable. One: commitment leads recognition, and it has already accelerated to thirty-two percent. Two: overage grows faster than the base and resets floors upward. Three: agents are a second S-curve stacked on a cloud base that never stopped growing. Four: retention math — at one-thirty NDR the installed base alone re-accelerates, and Snowflake has run one-seventy before. Five: the wave's transmission is direct — the events land on precisely these three meters. Nothing here forecasts new demand; it schedules demand that is already contracted, and adds the wave on top.</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3147447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Three public companies at the tollbooths: ~$210B of value on ~$12.7B of revenue; central case ~3x over four years; internet rails paid 5-13x from the same stage.</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Appendix and disclosures — leave this up during Q&amp;A for compliance. If asked: the deck contains forward-looking statements throughout; aggregate five-meter figures are Skycatcher estimates; projections are inherently unreliable and not a basis for an investment decision on their own.</a:t>
            </a:r>
          </a:p>
          <a:p>
            <a:r>
              <a:rPr lang="en-US" sz="1200" dirty="0"/>
              <a:t>Point diligence requests to the data room and the Sky1 quarterly grading exports.</a:t>
            </a:r>
          </a:p>
          <a:p>
            <a:endParaRPr lang="en-US" sz="1200" dirty="0"/>
          </a:p>
          <a:p>
            <a:r>
              <a:t>Appendix — disclosures. Leave for reading; do not present.</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meters keep getting bought: GitHub into Microsoft, New Relic to PE, Splunk into Cisco, HashiCorp and now Confluent into IBM. Two takeaways: scaled meters clear seven to ten times revenue in a sale — an empirical floor under our grid's ~8x downside row — and every deal shrinks the number of investable pure plays. Our three names plus JFrog are essentially what's left public. Scarcity is part of the case now.</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two premium layers are not the same business. State is a ledger: it meters the memory of machine labor, wins slowly, and becomes brutal to displace as writes accumulate — nineteen percent cash margins because it's still investing in the land grab. Work is a toll road: it bills the work as it happens, doing and watching, converts to cash today at twenty-six percent — and its protection isn't gravity but the mandate: nobody is allowed to self-audit. Different moats, different failure modes — which is exactly what you want from two exposures to one economy.</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Zoom all the way out and ask where value pools when the dust settles. Apps fragment — infinite software dissolves the package. Models commoditize — enormous value created, brutal retention. Compute earns in cycles. That leaves the two layers in the middle: work earns the toll, defended by neutrality — the auditor cannot be the vendor it audits — and state compounds, because it is the only layer where time is an ally. Everything above rewrites annually; memory accumulates. And at the edges the two fuse — state wants execution beside it. Value flows toward memory and trust.</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Market structure across the two key layers. State is a hundred-sixty-one-billion-dollar pond growing eighteen percent — win share of something giant. Work is two things: the owned pond — observability plus SIEM, twenty-five to thirty billion growing twelve to fourteen percent — and the rim being dug around it: agent runtime, one to two billion today, growing north of a hundred percent, with no analyst category yet. On our event forecasts that rim is a ten-billion-plus pond by 2029. Win share of one; own the other while it's still a hole in the ground.</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No house multiple on this slide — just the tape's own pricing of growth, across our sixty-seven-name universe. Below ten percent growth the market pays three times revenue. The SaaS middle gets four. Scarce twenty-to-thirty gets five. And past thirty percent the ladder stops sloping and steps: the acceleration regime pays a median of fifteen times, with an interquartile range of nine and a half to twenty. The multiple question is really a growth-band question — which is why the next slides frame everything in growth ranges.</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Beyond the graded ledger, the long calls — bolder, longer, still falsifiable in principle. Agent labor becomes a reported cost line, and comparability begins. A usage-billed meter crosses a hundred billion in revenue. Machine labor bills a trillion a year — more than today's entire software market. The meters out-earn the model labs on cash. And machine labor becomes an asset class with its own indices. We expect to be wrong on dates and right on direction — and each miss would teach us exactly where the thesis bends.</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wave hands us certainty about one thing: events. A hundred-thirty-fold, spread across compute, state, audit, build and rails. What it doesn't hand us is capture — prices fall thirty to forty percent a year, so revenue is events times price times capture. Our research says capture is real: measured attach is a lag not a leak, three quarters of buyers keep paying at enforced limits, premium mix carries the model, and we count events-per-token live in a production game. This section prices that capture, meter by meter.</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master frame, stated before any evidence. One cut: the backend — what agents run on — versus the worksite — where their work lands. The backend is state plus work, twenty-six names, and it is where consumption billing concentrates; the cohort is drawn from this side only. The worksite is the rails, the records, and the seats. Rails get paid per action. Records convert or compress. Seats are the other side. Everything that follows hangs off this cut.</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Before any argument, the method. Three rules govern every number in this piece. We measure slopes — never narratives. We pre-register the calls — deadlines, kill conditions, grading criteria fixed at publication. And we separate the bases — measured, estimated, modeled, labeled on every exhibit. Aschenbrenner said the forecast just requires believing in straight lines on a graph. We agree — and we grade our lines in public.</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Part Four values a cohort, not a portfolio. One rule: the majority of revenue recognized from measured consumption — billed per unit or drawn down against commitments. Applied to the sixty-eight-name universe it admits seven companies, each verified against filings on the next page. Two-hundred-seventy-five billion of enterprise value on twenty-four billion of forward revenue, growing twenty-eight percent, Rule-of-X eighty-five, eleven times forward. And the mechanical cohort is up two-twenty-seven since ChatGPT — ahead of both its parent layers, with no selection and no hindsight.</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Part one in three numbers: software work got four thousand times cheaper to make, the machine works a hundred-sixty-eight-hour week, and six layers of infrastructure meter the running of everything it produces. Making collapsed; running is forever. Part two counts the wave.</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strongest case against us, at full strength — five attacks now. Attach is an artifact; vendors cannibalize; Jevons proves the wave but not the royalty; the precedents say vendor revenue lags; and the endgame could nationalize — frontier machine labor running inside sealed projects, off public rails. Our answers are measured where they can be: overage at list accelerating, three-quarters paying at limits, premium mix gaining share, our own stack reporting early — and on nationalization, every prior mobilization left enterprise work on rented rails. Graded quarterly.</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And the other side of the ledger: how you'll know if we're wrong. Six tripwires, written now, before we need them — token growth stalling, overage reversing, the retention gap closing, elasticity collapsing, state going portable, the labs absorbing the runtime. Each is measurable in public data, and each maps to a pre-committed action. We don't get to move these goalposts later.</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Machine Oracle, literally: eight dated predictions the thesis must deliver. A two-quadrillion monthly token print this year. Overage through twenty-five percent by mid next. The retention gap widening, backlog leading revenue every quarter, fifteen vendors with billable agent SKUs, consensus revising up, another takeout above eight times, and cash margins through twenty-four by twenty-eight. Every one is checkable by anyone. If the ledger fills with misses, the thesis shrinks with it — that's the deal.</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Define the era precisely. For seventy years software was rationed: thirty million professionals, a hundred dollars an hour, eighteen-month backlogs — only mass-market software cleared the bar. Agents just ended the ration. When production decouples from human hours, software stops being a product you buy and becomes something you summon: personal, disposable, without number. That's infinite software — and every piece of it runs on rented, metered rails.</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None of this is our model — it's the public record. GitHub added thirty-six million developers in one year and now counts a hundred-eighty million. Half of committed code is machine-written; Google says three-quarters of its new code. Six hundred thirty million repositories, two hundred thirty new projects a minute. And the natural-language tier — Lovable, Bolt — is the fastest revenue ramp in software history. Makers doubled, the machine share quintupled, in three years.</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This is the slide to slow down on. For thirty years, making software was a priesthood — thirty million people behind a syntax wall. The copilot era took it to a hundred-eighty million. The natural-language era takes it to everyone: a billion knowledge workers who can describe what they want. Thirty-three times more makers — and none of them will run their own database, security, or audit stack. When everyone can make software, the money moves to what all software must rent. That's the most important secular trend of this decade, and everything in this deck follows from it.</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Make it concrete: Tuesday, nine a.m., an ops manager describes a vendor-delay dashboard in plain English. By nine-forty it's deployed — code, database, hosting — a hundred thousand metered events before the coffee is cold. By afternoon it has SSO and audit logging because compliance asked. Next quarter it's thrown away and re-summoned better. The software was disposable. The state it accumulated and the audit trail it left were not — and that asymmetry, multiplied by a billion makers, is the entire thesis.</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universe is the whole public cloud tape — sixty-six names in the BVP index, plus new listings as they come. Sky1 screens all of it continuously. But note the shape of it: the median business trades three times revenue and grows twenty percent, and only about ten of the sixty-six actually bill machine actions. The rest sell seats — they're on the other side of this thesis.</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bucket view on the master frame. Forty apps and two action rails make the worksite; nineteen work names and seven state names make the backend — the two key groups. Models and compute sit below: one unbuyable, one priced elsewhere.</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Take the whole universe, bucket it into the five layers, and run the tape from January 2022 to August eleventh — equal weight, rebalanced annually. Everything derated together in 2022. Since then the work and state layers pulled away from the apps — state at one-thirty-seven, work at one-forty-six, apps still nine percent underwater. The market is already voting for the meters — layer-level, no selection.</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Split the same tape at ChatGPT. Since November 2022: state up one-forty-five, work one-thirty-six, apps thirty-six — four to one in favor of the meters, at the layer level, with no selection applied. State leads on this base because it derated hardest; work leads on the full period. Hold that thought — what a disciplined composite adds on top of the layers is Part Four's opening.</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Why the private map matters: the two most important things in this stack are not listed. The runtime is being built by private companies — Temporal to Lovable, several already at nine-figure revenue on usage pricing. Control is growing a compliance wing. State runs from Databricks down to companies fusing state and execution into one primitive. And the model layer has no public pure play at all. Every name here is a future universe entrant — on IPO and one 10-K — which is exactly what the cohort's membrane is for.</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Put the three layers side by side on consensus numbers. Work and state both grow about twenty-two percent next year — work converts it to cash today at twenty-six percent margins, state re-invests more deeply. Apps grow seventeen and cost three-and-a-half times revenue. Two layers earn the premium — and they earn it differently.</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Every company in the universe on one chart — growth on the horizontal, price on the vertical, color by layer, no names. Most of cloud lives in the bottom-left: under twenty-five percent growth, under eight times revenue. The right side is thin — genuine re-acceleration is scarce — and nearly everything out there is blue or cyan: the work and state layers hold the scarce corner.</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Same universe, cash view. The dashed line is the Rule of Forty. Most of the app layer hugs it from below. The work layer clears it on margins; the state layer clears it on growth. Up and to the right the chart goes almost empty — and what's there isn't gray.</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Layer cut only. State and work median growth grinds toward twenty to twenty-two percent while apps decay toward sixteen. Together with the two slides before it: commitment first, overage next, revenue last — and only where usage is billed.</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Here's what the rule alone is worth, marked to August eleventh. Since ChatGPT the usage-billed cohort is up two-ninety-two — ahead of state at two hundred and work at one-eighty-three, five times the apps. No selection, no hindsight. And the honest cut: on the full period from January twenty-two the cohort is up twenty-nine, behind both layers — because the derate cut deepest exactly here. The market pays the billing model, not the sector, on both sides of the cycle.</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cohort has seven members today and a membrane, not a wall. Three doors in. Converters — Elastic and Cloudflare are both measurable distances from the fifty-percent line. New listings — the consumption-native private companies enter the universe at IPO. And new meters — agent SKUs growing inside seat businesses, the way Atlas re-made MongoDB from twenty-six percent of revenue to seventy-three in six years. Companies cross the membrane; the rule doesn't move.</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Put the two layers in the ring, eight rounds, every row from an exhibit you've already seen. State takes moat, margin trajectory, commitment, overage purity, and — critically — the entry: it's the least repriced. Work takes wave beta, cash today, and the strategic bid. Five to three — but the rounds aren't equally weighted, and three of state's five rounds are really one argument: the market hasn't paid it yet.</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No verdict here anymore — two clocks. The next three years: work bills the wave first and converts to cash now, with the audit mandate and the strategic bid behind it. The decade: state owns the only asset that appreciates with every agent task — memory — and remains the least repriced core layer. Each horizon carries its own pre-registered falsifier in Part 04.</a:t>
            </a:r>
          </a:p>
        </p:txBody>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elasticity claim isn't four years of token data — it's three decades of infrastructure history. Bandwidth: transit fell from twelve hundred dollars per megabit to under one, and traffic grew sixty to a hundred percent a year through all of it. Storage: thirty percent a year cheaper for thirty years, demand always grew faster. Mobile data: forty percent a year cheaper, usage up a hundredfold, revenue up. When the unit price of a general-purpose input collapses, spend grows. Every time.</a:t>
            </a:r>
          </a:p>
        </p:txBody>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Before anyone raises a hand: yes, distillation, caching, small models, and routing all cut tokens per task — and all four are already inside our price line. That's the point. Efficiency is how the wave happens: every one of these forces cuts the cost per task, and cheaper tasks means more delegation. We watched this for four years — price down fifty-fold, volume up two-thousand-fold. Jevons isn't a theory here; it's the tape.</a:t>
            </a:r>
          </a:p>
        </p:txBody>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You don't have to trust our model — the platforms keep publishing the checkpoints. Google printed four-eighty trillion a month at I/O, then roughly doubled it in ten weeks, then printed one-point-three quadrillion a month in October. Microsoft disclosed a hundred trillion in a quarter. OpenRouter's public meter is up thirty-fold. One platform alone annualizes sixteen quadrillion — our hundred-quadrillion global estimate for this year needs about six of those. Every dated print has landed on our curve or above it.</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The obvious question: can compute even deliver forty-x? Yes — because tokens aren't watts. Model efficiency improves roughly threefold, hardware performance per watt doubles or triples across two generations, so forty-x tokens needs only four to six times the inference power. And that build is already committed: half a trillion a year of hyperscaler capex, ten-gigawatt campuses, sovereign programs. Here's the kicker — that capex only makes sense if demand compounds like our curve. The suppliers have already underwritten the wave.</a:t>
            </a:r>
          </a:p>
        </p:txBody>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Before the recap, the proof stack. One: history — two-thousand-x through every panic. Two: precedent — three decades of price collapses growing spend. Three: the prints — the platforms keep publishing numbers on our curve. Four: the suppliers — the capex only makes sense if we're right. Five: our own meter — we run agents in production and count the tokens ourselves. Remove any leg, the call stands. That's what makes forty-x a central case and not a hope.</a:t>
            </a:r>
          </a:p>
        </p:txBody>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
          <p:cNvSpPr>
            <a:spLocks noGrp="1"/>
          </p:cNvSpPr>
          <p:nvPr>
            <p:ph type="body" idx="1"/>
          </p:nvPr>
        </p:nvSpPr>
        <p:spPr/>
        <p:txBody>
          <a:bodyPr/>
          <a:p>
            <a:r>
              <a:t>The closing mechanism. Everything this deck claims is wired to an instrument that re-measures it in public: the indices accrue live with no back-fill; the tape re-measures each filing season; the ladder re-scores the whole backend against the admission line; the ledger grades the dated predictions, misses included. The deck is the hypothesis and the tracker is the experiment — a research program, not a publication date.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sessions/beautiful-funny-turing/mnt/outputs/build/assets/mark.png"/>
          <p:cNvPicPr>
            <a:picLocks noChangeAspect="1"/>
          </p:cNvPicPr>
          <p:nvPr/>
        </p:nvPicPr>
        <p:blipFill>
          <a:blip r:embed="rId3"/>
          <a:stretch>
            <a:fillRect/>
          </a:stretch>
        </p:blipFill>
        <p:spPr>
          <a:xfrm>
            <a:off x="8732520" y="1737360"/>
            <a:ext cx="2240280" cy="3383280"/>
          </a:xfrm>
          <a:prstGeom prst="rect">
            <a:avLst/>
          </a:prstGeom>
        </p:spPr>
      </p:pic>
      <p:sp>
        <p:nvSpPr>
          <p:cNvPr id="3" name="Text 0"/>
          <p:cNvSpPr/>
          <p:nvPr/>
        </p:nvSpPr>
        <p:spPr>
          <a:xfrm>
            <a:off x="566928" y="457200"/>
            <a:ext cx="3657600" cy="310896"/>
          </a:xfrm>
          <a:prstGeom prst="rect">
            <a:avLst/>
          </a:prstGeom>
          <a:noFill/>
        </p:spPr>
        <p:txBody>
          <a:bodyPr wrap="square" lIns="0" tIns="0" rIns="0" bIns="0" rtlCol="0" anchor="ctr"/>
          <a:lstStyle/>
          <a:p>
            <a:pPr marL="0" indent="0">
              <a:buNone/>
            </a:pPr>
            <a:r>
              <a:rPr lang="en-US" sz="1300" b="1" kern="0" spc="500" dirty="0">
                <a:solidFill>
                  <a:srgbClr val="1A2233"/>
                </a:solidFill>
                <a:latin typeface="Calibri" pitchFamily="34" charset="0"/>
                <a:ea typeface="Calibri" pitchFamily="34" charset="-122"/>
                <a:cs typeface="Calibri" pitchFamily="34" charset="-120"/>
              </a:rPr>
              <a:t>SKYCATCHER</a:t>
            </a:r>
            <a:endParaRPr lang="en-US" sz="1300" dirty="0"/>
          </a:p>
        </p:txBody>
      </p:sp>
      <p:sp>
        <p:nvSpPr>
          <p:cNvPr id="4" name="Text 1"/>
          <p:cNvSpPr/>
          <p:nvPr/>
        </p:nvSpPr>
        <p:spPr>
          <a:xfrm>
            <a:off x="566928" y="1810512"/>
            <a:ext cx="6400800" cy="274320"/>
          </a:xfrm>
          <a:prstGeom prst="rect">
            <a:avLst/>
          </a:prstGeom>
          <a:noFill/>
        </p:spPr>
        <p:txBody>
          <a:bodyPr wrap="square" lIns="0" tIns="0" rIns="0" bIns="0" rtlCol="0" anchor="ctr"/>
          <a:lstStyle/>
          <a:p>
            <a:pPr marL="0" indent="0">
              <a:buNone/>
            </a:pPr>
            <a:r>
              <a:rPr lang="en-US" sz="1100" b="1" kern="0" spc="240" dirty="0">
                <a:solidFill>
                  <a:srgbClr val="2777EF"/>
                </a:solidFill>
                <a:latin typeface="Calibri" pitchFamily="34" charset="0"/>
                <a:ea typeface="Calibri" pitchFamily="34" charset="-122"/>
                <a:cs typeface="Calibri" pitchFamily="34" charset="-120"/>
              </a:rPr>
              <a:t>AUGUST 11, 2026</a:t>
            </a:r>
            <a:endParaRPr lang="en-US" sz="1100" dirty="0"/>
          </a:p>
        </p:txBody>
      </p:sp>
      <p:sp>
        <p:nvSpPr>
          <p:cNvPr id="5" name="Text 2"/>
          <p:cNvSpPr/>
          <p:nvPr/>
        </p:nvSpPr>
        <p:spPr>
          <a:xfrm>
            <a:off x="560939" y="2600110"/>
            <a:ext cx="8747894" cy="777240"/>
          </a:xfrm>
          <a:prstGeom prst="rect">
            <a:avLst/>
          </a:prstGeom>
          <a:noFill/>
        </p:spPr>
        <p:txBody>
          <a:bodyPr wrap="square" lIns="0" tIns="0" rIns="0" bIns="0" rtlCol="0" anchor="ctr"/>
          <a:lstStyle/>
          <a:p>
            <a:r>
              <a:rPr lang="en-US" sz="4400" b="1" dirty="0">
                <a:solidFill/>
                <a:latin typeface="Cambria"/>
              </a:rPr>
              <a:t>Infinite Software</a:t>
            </a:r>
          </a:p>
        </p:txBody>
      </p:sp>
      <p:sp>
        <p:nvSpPr>
          <p:cNvPr id="6" name="Text 3"/>
          <p:cNvSpPr/>
          <p:nvPr/>
        </p:nvSpPr>
        <p:spPr>
          <a:xfrm>
            <a:off x="560940" y="3916846"/>
            <a:ext cx="7063354" cy="960120"/>
          </a:xfrm>
          <a:prstGeom prst="rect">
            <a:avLst/>
          </a:prstGeom>
          <a:noFill/>
        </p:spPr>
        <p:txBody>
          <a:bodyPr wrap="square" lIns="0" tIns="0" rIns="0" bIns="0" rtlCol="0" anchor="ctr"/>
          <a:lstStyle/>
          <a:p>
            <a:pPr marL="0" indent="0">
              <a:lnSpc>
                <a:spcPct val="115000"/>
              </a:lnSpc>
              <a:buNone/>
            </a:pPr>
            <a:r>
              <a:rPr lang="en-US" i="1" dirty="0">
                <a:solidFill>
                  <a:srgbClr val="3A4358"/>
                </a:solidFill>
                <a:latin typeface="Cambria" pitchFamily="34" charset="0"/>
                <a:ea typeface="Cambria" pitchFamily="34" charset="-122"/>
                <a:cs typeface="Cambria" pitchFamily="34" charset="-120"/>
              </a:rPr>
              <a:t>In 1995, the internet changed software distribution. In 2026, AI agents are changing software production — creating a tidal wave of demand for the infrastructure that runs, stores, secures, observes, and meters all software.</a:t>
            </a:r>
            <a:endParaRPr lang="en-US"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1</a:t>
            </a:fld>
            <a:endParaRPr lang="en-US"/>
          </a:p>
        </p:txBody>
      </p:sp>
    </p:spTree>
    <p:extLst>
      <p:ext uri="{BB962C8B-B14F-4D97-AF65-F5344CB8AC3E}">
        <p14:creationId xmlns:p14="http://schemas.microsoft.com/office/powerpoint/2010/main" val="703602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figs/wave.png"/>
          <p:cNvPicPr>
            <a:picLocks noChangeAspect="1"/>
          </p:cNvPicPr>
          <p:nvPr/>
        </p:nvPicPr>
        <p:blipFill>
          <a:blip r:embed="rId3"/>
          <a:stretch>
            <a:fillRect/>
          </a:stretch>
        </p:blipFill>
        <p:spPr>
          <a:xfrm>
            <a:off x="0" y="4160520"/>
            <a:ext cx="12191695" cy="2697480"/>
          </a:xfrm>
          <a:prstGeom prst="rect">
            <a:avLst/>
          </a:prstGeom>
        </p:spPr>
      </p:pic>
      <p:sp>
        <p:nvSpPr>
          <p:cNvPr id="3" name="Text 0"/>
          <p:cNvSpPr/>
          <p:nvPr/>
        </p:nvSpPr>
        <p:spPr>
          <a:xfrm>
            <a:off x="1005840" y="1051560"/>
            <a:ext cx="10149840" cy="2011680"/>
          </a:xfrm>
          <a:prstGeom prst="rect">
            <a:avLst/>
          </a:prstGeom>
          <a:noFill/>
        </p:spPr>
        <p:txBody>
          <a:bodyPr wrap="square" lIns="0" tIns="0" rIns="0" bIns="0" rtlCol="0" anchor="t"/>
          <a:lstStyle/>
          <a:p>
            <a:pPr marL="0" indent="0" algn="ctr">
              <a:lnSpc>
                <a:spcPct val="108000"/>
              </a:lnSpc>
              <a:buNone/>
            </a:pPr>
            <a:r>
              <a:rPr lang="en-US" sz="4400" b="1" i="1" dirty="0">
                <a:solidFill>
                  <a:srgbClr val="1A2233"/>
                </a:solidFill>
                <a:latin typeface="Cambria" pitchFamily="34" charset="0"/>
                <a:ea typeface="Cambria" pitchFamily="34" charset="-122"/>
                <a:cs typeface="Cambria" pitchFamily="34" charset="-120"/>
              </a:rPr>
              <a:t>“The Internet is a tidal wave.</a:t>
            </a:r>
            <a:endParaRPr lang="en-US" sz="4400" dirty="0"/>
          </a:p>
          <a:p>
            <a:pPr marL="0" indent="0" algn="ctr">
              <a:lnSpc>
                <a:spcPct val="108000"/>
              </a:lnSpc>
              <a:buNone/>
            </a:pPr>
            <a:r>
              <a:rPr lang="en-US" sz="4400" b="1" i="1" dirty="0">
                <a:solidFill>
                  <a:srgbClr val="1A2233"/>
                </a:solidFill>
                <a:latin typeface="Cambria" pitchFamily="34" charset="0"/>
                <a:ea typeface="Cambria" pitchFamily="34" charset="-122"/>
                <a:cs typeface="Cambria" pitchFamily="34" charset="-120"/>
              </a:rPr>
              <a:t>It changes the rules.”</a:t>
            </a:r>
            <a:endParaRPr lang="en-US" sz="4400" dirty="0"/>
          </a:p>
        </p:txBody>
      </p:sp>
      <p:sp>
        <p:nvSpPr>
          <p:cNvPr id="4" name="Text 1"/>
          <p:cNvSpPr/>
          <p:nvPr/>
        </p:nvSpPr>
        <p:spPr>
          <a:xfrm>
            <a:off x="1005840" y="2697480"/>
            <a:ext cx="10149840" cy="365760"/>
          </a:xfrm>
          <a:prstGeom prst="rect">
            <a:avLst/>
          </a:prstGeom>
          <a:noFill/>
        </p:spPr>
        <p:txBody>
          <a:bodyPr wrap="square" lIns="0" tIns="0" rIns="0" bIns="0" rtlCol="0" anchor="ctr"/>
          <a:lstStyle/>
          <a:p>
            <a:pPr marL="0" indent="0" algn="ctr">
              <a:buNone/>
            </a:pPr>
            <a:r>
              <a:rPr lang="en-US" dirty="0">
                <a:solidFill>
                  <a:srgbClr val="5A6478"/>
                </a:solidFill>
                <a:latin typeface="Calibri" pitchFamily="34" charset="0"/>
                <a:ea typeface="Calibri" pitchFamily="34" charset="-122"/>
                <a:cs typeface="Calibri" pitchFamily="34" charset="-120"/>
              </a:rPr>
              <a:t>— Bill Gates, internal Microsoft memo · May 26, 1995</a:t>
            </a:r>
            <a:endParaRPr lang="en-US" dirty="0"/>
          </a:p>
        </p:txBody>
      </p:sp>
      <p:sp>
        <p:nvSpPr>
          <p:cNvPr id="5" name="Text 2"/>
          <p:cNvSpPr/>
          <p:nvPr/>
        </p:nvSpPr>
        <p:spPr>
          <a:xfrm>
            <a:off x="1020927" y="4709160"/>
            <a:ext cx="10149840" cy="411480"/>
          </a:xfrm>
          <a:prstGeom prst="rect">
            <a:avLst/>
          </a:prstGeom>
          <a:noFill/>
        </p:spPr>
        <p:txBody>
          <a:bodyPr wrap="square" lIns="0" tIns="0" rIns="0" bIns="0" rtlCol="0" anchor="ctr"/>
          <a:lstStyle/>
          <a:p>
            <a:pPr marL="0" indent="0" algn="ctr">
              <a:buNone/>
            </a:pPr>
            <a:r>
              <a:rPr lang="en-US" sz="2400" dirty="0">
                <a:solidFill>
                  <a:srgbClr val="1A2233"/>
                </a:solidFill>
                <a:latin typeface="Cambria" pitchFamily="34" charset="0"/>
                <a:ea typeface="Cambria" pitchFamily="34" charset="-122"/>
                <a:cs typeface="Cambria" pitchFamily="34" charset="-120"/>
              </a:rPr>
              <a:t>Thirty-one years later, the wave is running again — </a:t>
            </a:r>
            <a:r>
              <a:rPr lang="en-US" sz="2400" b="1" dirty="0">
                <a:solidFill>
                  <a:srgbClr val="2777EF"/>
                </a:solidFill>
                <a:latin typeface="Cambria" pitchFamily="34" charset="0"/>
                <a:ea typeface="Cambria" pitchFamily="34" charset="-122"/>
                <a:cs typeface="Cambria" pitchFamily="34" charset="-120"/>
              </a:rPr>
              <a:t>denominated in tokens.</a:t>
            </a:r>
            <a:endParaRPr lang="en-US" sz="2400" dirty="0"/>
          </a:p>
        </p:txBody>
      </p:sp>
      <p:sp>
        <p:nvSpPr>
          <p:cNvPr id="6" name="Text 3"/>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2</a:t>
            </a:fld>
            <a:endParaRPr lang="en-US"/>
          </a:p>
        </p:txBody>
      </p:sp>
      <p:sp>
        <p:nvSpPr>
          <p:cNvPr id="7" name="TextBox 6">
            <a:extLst>
              <a:ext uri="{FF2B5EF4-FFF2-40B4-BE49-F238E27FC236}">
                <a16:creationId xmlns:a16="http://schemas.microsoft.com/office/drawing/2014/main" id="{88E3FA2C-924C-3306-511C-F5F1DDD86276}"/>
              </a:ext>
            </a:extLst>
          </p:cNvPr>
          <p:cNvSpPr txBox="1"/>
          <p:nvPr/>
        </p:nvSpPr>
        <p:spPr>
          <a:xfrm>
            <a:off x="3679059" y="3162105"/>
            <a:ext cx="5044811" cy="1077218"/>
          </a:xfrm>
          <a:prstGeom prst="rect">
            <a:avLst/>
          </a:prstGeom>
          <a:noFill/>
        </p:spPr>
        <p:txBody>
          <a:bodyPr wrap="square" rtlCol="0">
            <a:spAutoFit/>
          </a:bodyPr>
          <a:lstStyle/>
          <a:p>
            <a:r>
              <a:rPr lang="en-US" sz="1600" dirty="0">
                <a:solidFill>
                  <a:schemeClr val="bg1">
                    <a:lumMod val="50000"/>
                  </a:schemeClr>
                </a:solidFill>
              </a:rPr>
              <a:t>It marked the moment an incumbent recognized a paradigm shift. The framing was right about the magnitude even where the details were fuzzy — and it timestamps the start of a ~30-year value-creation wave.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By the internet clock, it is 1996</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THE INTERNET WAVE VS. THE TOKEN WAVE — SAME CLOCK, NEW DENOMINATION</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Text 3"/>
          <p:cNvSpPr/>
          <p:nvPr/>
        </p:nvSpPr>
        <p:spPr>
          <a:xfrm>
            <a:off x="502920" y="1742896"/>
            <a:ext cx="5468112" cy="274320"/>
          </a:xfrm>
          <a:prstGeom prst="rect">
            <a:avLst/>
          </a:prstGeom>
          <a:noFill/>
        </p:spPr>
        <p:txBody>
          <a:bodyPr wrap="square" lIns="0" tIns="0" rIns="0" bIns="0" rtlCol="0" anchor="ctr"/>
          <a:lstStyle/>
          <a:p>
            <a:pPr marL="0" indent="0">
              <a:buNone/>
            </a:pPr>
            <a:r>
              <a:rPr lang="en-US" sz="1200" b="1" kern="0" spc="150" dirty="0">
                <a:solidFill>
                  <a:srgbClr val="5A6478"/>
                </a:solidFill>
                <a:latin typeface="Calibri" pitchFamily="34" charset="0"/>
                <a:ea typeface="Calibri" pitchFamily="34" charset="-122"/>
                <a:cs typeface="Calibri" pitchFamily="34" charset="-120"/>
              </a:rPr>
              <a:t>THE INTERNET WAVE</a:t>
            </a:r>
            <a:endParaRPr lang="en-US" sz="1200" dirty="0"/>
          </a:p>
        </p:txBody>
      </p:sp>
      <p:sp>
        <p:nvSpPr>
          <p:cNvPr id="6" name="Shape 4"/>
          <p:cNvSpPr/>
          <p:nvPr/>
        </p:nvSpPr>
        <p:spPr>
          <a:xfrm>
            <a:off x="502920" y="2108656"/>
            <a:ext cx="5468112" cy="859536"/>
          </a:xfrm>
          <a:prstGeom prst="roundRect">
            <a:avLst>
              <a:gd name="adj" fmla="val 8511"/>
            </a:avLst>
          </a:prstGeom>
          <a:solidFill>
            <a:srgbClr val="F5F8FC"/>
          </a:solidFill>
          <a:ln w="11430">
            <a:solidFill>
              <a:srgbClr val="D5DCE8"/>
            </a:solidFill>
            <a:prstDash val="solid"/>
          </a:ln>
        </p:spPr>
        <p:txBody>
          <a:bodyPr/>
          <a:lstStyle/>
          <a:p>
            <a:endParaRPr lang="en-US" sz="2400"/>
          </a:p>
        </p:txBody>
      </p:sp>
      <p:sp>
        <p:nvSpPr>
          <p:cNvPr id="7" name="Shape 5"/>
          <p:cNvSpPr/>
          <p:nvPr/>
        </p:nvSpPr>
        <p:spPr>
          <a:xfrm>
            <a:off x="667512" y="2392120"/>
            <a:ext cx="1051560" cy="292608"/>
          </a:xfrm>
          <a:prstGeom prst="roundRect">
            <a:avLst>
              <a:gd name="adj" fmla="val 50000"/>
            </a:avLst>
          </a:prstGeom>
          <a:solidFill>
            <a:srgbClr val="E3EAF5"/>
          </a:solidFill>
        </p:spPr>
        <p:txBody>
          <a:bodyPr/>
          <a:lstStyle/>
          <a:p>
            <a:endParaRPr lang="en-US" sz="2400"/>
          </a:p>
        </p:txBody>
      </p:sp>
      <p:sp>
        <p:nvSpPr>
          <p:cNvPr id="8" name="Text 6"/>
          <p:cNvSpPr/>
          <p:nvPr/>
        </p:nvSpPr>
        <p:spPr>
          <a:xfrm>
            <a:off x="667512" y="2382976"/>
            <a:ext cx="1051560" cy="292608"/>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1995</a:t>
            </a:r>
            <a:endParaRPr lang="en-US" sz="1200" dirty="0"/>
          </a:p>
        </p:txBody>
      </p:sp>
      <p:sp>
        <p:nvSpPr>
          <p:cNvPr id="9" name="Text 7"/>
          <p:cNvSpPr/>
          <p:nvPr/>
        </p:nvSpPr>
        <p:spPr>
          <a:xfrm>
            <a:off x="1874520" y="2108656"/>
            <a:ext cx="3913632" cy="859536"/>
          </a:xfrm>
          <a:prstGeom prst="rect">
            <a:avLst/>
          </a:prstGeom>
          <a:noFill/>
        </p:spPr>
        <p:txBody>
          <a:bodyPr wrap="square" lIns="0" tIns="0" rIns="0" bIns="0" rtlCol="0" anchor="ctr"/>
          <a:lstStyle/>
          <a:p>
            <a:pPr marL="0" indent="0">
              <a:lnSpc>
                <a:spcPct val="102000"/>
              </a:lnSpc>
              <a:buNone/>
            </a:pPr>
            <a:r>
              <a:rPr lang="en-US" sz="1600" dirty="0">
                <a:solidFill>
                  <a:srgbClr val="3A4358"/>
                </a:solidFill>
                <a:latin typeface="Calibri" pitchFamily="34" charset="0"/>
                <a:ea typeface="Calibri" pitchFamily="34" charset="-122"/>
                <a:cs typeface="Calibri" pitchFamily="34" charset="-120"/>
              </a:rPr>
              <a:t>The “tidal wave” memo names the discontinuity</a:t>
            </a:r>
            <a:endParaRPr lang="en-US" sz="1600" dirty="0"/>
          </a:p>
        </p:txBody>
      </p:sp>
      <p:sp>
        <p:nvSpPr>
          <p:cNvPr id="10" name="Shape 8"/>
          <p:cNvSpPr/>
          <p:nvPr/>
        </p:nvSpPr>
        <p:spPr>
          <a:xfrm>
            <a:off x="502920" y="3077920"/>
            <a:ext cx="5468112" cy="859536"/>
          </a:xfrm>
          <a:prstGeom prst="roundRect">
            <a:avLst>
              <a:gd name="adj" fmla="val 8511"/>
            </a:avLst>
          </a:prstGeom>
          <a:solidFill>
            <a:srgbClr val="F5F8FC"/>
          </a:solidFill>
          <a:ln w="11430">
            <a:solidFill>
              <a:srgbClr val="D5DCE8"/>
            </a:solidFill>
            <a:prstDash val="solid"/>
          </a:ln>
        </p:spPr>
        <p:txBody>
          <a:bodyPr/>
          <a:lstStyle/>
          <a:p>
            <a:endParaRPr lang="en-US" sz="2400"/>
          </a:p>
        </p:txBody>
      </p:sp>
      <p:sp>
        <p:nvSpPr>
          <p:cNvPr id="11" name="Shape 9"/>
          <p:cNvSpPr/>
          <p:nvPr/>
        </p:nvSpPr>
        <p:spPr>
          <a:xfrm>
            <a:off x="667512" y="3361384"/>
            <a:ext cx="1051560" cy="292608"/>
          </a:xfrm>
          <a:prstGeom prst="roundRect">
            <a:avLst>
              <a:gd name="adj" fmla="val 50000"/>
            </a:avLst>
          </a:prstGeom>
          <a:solidFill>
            <a:srgbClr val="E3EAF5"/>
          </a:solidFill>
        </p:spPr>
        <p:txBody>
          <a:bodyPr/>
          <a:lstStyle/>
          <a:p>
            <a:endParaRPr lang="en-US" sz="2400"/>
          </a:p>
        </p:txBody>
      </p:sp>
      <p:sp>
        <p:nvSpPr>
          <p:cNvPr id="12" name="Text 10"/>
          <p:cNvSpPr/>
          <p:nvPr/>
        </p:nvSpPr>
        <p:spPr>
          <a:xfrm>
            <a:off x="667512" y="3352240"/>
            <a:ext cx="1051560" cy="292608"/>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1996–98</a:t>
            </a:r>
            <a:endParaRPr lang="en-US" sz="1200" dirty="0"/>
          </a:p>
        </p:txBody>
      </p:sp>
      <p:sp>
        <p:nvSpPr>
          <p:cNvPr id="13" name="Text 11"/>
          <p:cNvSpPr/>
          <p:nvPr/>
        </p:nvSpPr>
        <p:spPr>
          <a:xfrm>
            <a:off x="1874520" y="3077920"/>
            <a:ext cx="3913632" cy="859536"/>
          </a:xfrm>
          <a:prstGeom prst="rect">
            <a:avLst/>
          </a:prstGeom>
          <a:noFill/>
        </p:spPr>
        <p:txBody>
          <a:bodyPr wrap="square" lIns="0" tIns="0" rIns="0" bIns="0" rtlCol="0" anchor="ctr"/>
          <a:lstStyle/>
          <a:p>
            <a:pPr marL="0" indent="0">
              <a:lnSpc>
                <a:spcPct val="102000"/>
              </a:lnSpc>
              <a:buNone/>
            </a:pPr>
            <a:r>
              <a:rPr lang="en-US" sz="1600" dirty="0">
                <a:solidFill>
                  <a:srgbClr val="3A4358"/>
                </a:solidFill>
                <a:latin typeface="Calibri" pitchFamily="34" charset="0"/>
                <a:ea typeface="Calibri" pitchFamily="34" charset="-122"/>
                <a:cs typeface="Calibri" pitchFamily="34" charset="-120"/>
              </a:rPr>
              <a:t>The rails get built and paid — the street debates “fad”</a:t>
            </a:r>
            <a:endParaRPr lang="en-US" sz="1600" dirty="0"/>
          </a:p>
        </p:txBody>
      </p:sp>
      <p:sp>
        <p:nvSpPr>
          <p:cNvPr id="14" name="Shape 12"/>
          <p:cNvSpPr/>
          <p:nvPr/>
        </p:nvSpPr>
        <p:spPr>
          <a:xfrm>
            <a:off x="502920" y="4047184"/>
            <a:ext cx="5468112" cy="859536"/>
          </a:xfrm>
          <a:prstGeom prst="roundRect">
            <a:avLst>
              <a:gd name="adj" fmla="val 8511"/>
            </a:avLst>
          </a:prstGeom>
          <a:solidFill>
            <a:srgbClr val="F5F8FC"/>
          </a:solidFill>
          <a:ln w="11430">
            <a:solidFill>
              <a:srgbClr val="D5DCE8"/>
            </a:solidFill>
            <a:prstDash val="solid"/>
          </a:ln>
        </p:spPr>
        <p:txBody>
          <a:bodyPr/>
          <a:lstStyle/>
          <a:p>
            <a:endParaRPr lang="en-US" sz="2400"/>
          </a:p>
        </p:txBody>
      </p:sp>
      <p:sp>
        <p:nvSpPr>
          <p:cNvPr id="15" name="Shape 13"/>
          <p:cNvSpPr/>
          <p:nvPr/>
        </p:nvSpPr>
        <p:spPr>
          <a:xfrm>
            <a:off x="667512" y="4330648"/>
            <a:ext cx="1051560" cy="292608"/>
          </a:xfrm>
          <a:prstGeom prst="roundRect">
            <a:avLst>
              <a:gd name="adj" fmla="val 50000"/>
            </a:avLst>
          </a:prstGeom>
          <a:solidFill>
            <a:srgbClr val="E3EAF5"/>
          </a:solidFill>
        </p:spPr>
        <p:txBody>
          <a:bodyPr/>
          <a:lstStyle/>
          <a:p>
            <a:endParaRPr lang="en-US" sz="2400"/>
          </a:p>
        </p:txBody>
      </p:sp>
      <p:sp>
        <p:nvSpPr>
          <p:cNvPr id="16" name="Text 14"/>
          <p:cNvSpPr/>
          <p:nvPr/>
        </p:nvSpPr>
        <p:spPr>
          <a:xfrm>
            <a:off x="667512" y="4321504"/>
            <a:ext cx="1051560" cy="292608"/>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1999–2000</a:t>
            </a:r>
            <a:endParaRPr lang="en-US" sz="1200" dirty="0"/>
          </a:p>
        </p:txBody>
      </p:sp>
      <p:sp>
        <p:nvSpPr>
          <p:cNvPr id="17" name="Text 15"/>
          <p:cNvSpPr/>
          <p:nvPr/>
        </p:nvSpPr>
        <p:spPr>
          <a:xfrm>
            <a:off x="1874520" y="4047184"/>
            <a:ext cx="3913632" cy="859536"/>
          </a:xfrm>
          <a:prstGeom prst="rect">
            <a:avLst/>
          </a:prstGeom>
          <a:noFill/>
        </p:spPr>
        <p:txBody>
          <a:bodyPr wrap="square" lIns="0" tIns="0" rIns="0" bIns="0" rtlCol="0" anchor="ctr"/>
          <a:lstStyle/>
          <a:p>
            <a:pPr marL="0" indent="0">
              <a:lnSpc>
                <a:spcPct val="102000"/>
              </a:lnSpc>
              <a:buNone/>
            </a:pPr>
            <a:r>
              <a:rPr lang="en-US" sz="1600" dirty="0">
                <a:solidFill>
                  <a:srgbClr val="3A4358"/>
                </a:solidFill>
                <a:latin typeface="Calibri" pitchFamily="34" charset="0"/>
                <a:ea typeface="Calibri" pitchFamily="34" charset="-122"/>
                <a:cs typeface="Calibri" pitchFamily="34" charset="-120"/>
              </a:rPr>
              <a:t>The mania — 65–100x, then 60–85% compression</a:t>
            </a:r>
            <a:endParaRPr lang="en-US" sz="1600" dirty="0"/>
          </a:p>
        </p:txBody>
      </p:sp>
      <p:sp>
        <p:nvSpPr>
          <p:cNvPr id="18" name="Shape 16"/>
          <p:cNvSpPr/>
          <p:nvPr/>
        </p:nvSpPr>
        <p:spPr>
          <a:xfrm>
            <a:off x="502920" y="5016448"/>
            <a:ext cx="5468112" cy="859536"/>
          </a:xfrm>
          <a:prstGeom prst="roundRect">
            <a:avLst>
              <a:gd name="adj" fmla="val 8511"/>
            </a:avLst>
          </a:prstGeom>
          <a:solidFill>
            <a:srgbClr val="F5F8FC"/>
          </a:solidFill>
          <a:ln w="11430">
            <a:solidFill>
              <a:srgbClr val="D5DCE8"/>
            </a:solidFill>
            <a:prstDash val="solid"/>
          </a:ln>
        </p:spPr>
        <p:txBody>
          <a:bodyPr/>
          <a:lstStyle/>
          <a:p>
            <a:endParaRPr lang="en-US" sz="2400"/>
          </a:p>
        </p:txBody>
      </p:sp>
      <p:sp>
        <p:nvSpPr>
          <p:cNvPr id="19" name="Shape 17"/>
          <p:cNvSpPr/>
          <p:nvPr/>
        </p:nvSpPr>
        <p:spPr>
          <a:xfrm>
            <a:off x="667512" y="5299912"/>
            <a:ext cx="1051560" cy="292608"/>
          </a:xfrm>
          <a:prstGeom prst="roundRect">
            <a:avLst>
              <a:gd name="adj" fmla="val 50000"/>
            </a:avLst>
          </a:prstGeom>
          <a:solidFill>
            <a:srgbClr val="E3EAF5"/>
          </a:solidFill>
        </p:spPr>
        <p:txBody>
          <a:bodyPr/>
          <a:lstStyle/>
          <a:p>
            <a:endParaRPr lang="en-US" sz="2400"/>
          </a:p>
        </p:txBody>
      </p:sp>
      <p:sp>
        <p:nvSpPr>
          <p:cNvPr id="20" name="Text 18"/>
          <p:cNvSpPr/>
          <p:nvPr/>
        </p:nvSpPr>
        <p:spPr>
          <a:xfrm>
            <a:off x="667512" y="5290768"/>
            <a:ext cx="1051560" cy="292608"/>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2001+</a:t>
            </a:r>
            <a:endParaRPr lang="en-US" sz="1200" dirty="0"/>
          </a:p>
        </p:txBody>
      </p:sp>
      <p:sp>
        <p:nvSpPr>
          <p:cNvPr id="21" name="Text 19"/>
          <p:cNvSpPr/>
          <p:nvPr/>
        </p:nvSpPr>
        <p:spPr>
          <a:xfrm>
            <a:off x="1874520" y="5016448"/>
            <a:ext cx="3913632" cy="859536"/>
          </a:xfrm>
          <a:prstGeom prst="rect">
            <a:avLst/>
          </a:prstGeom>
          <a:noFill/>
        </p:spPr>
        <p:txBody>
          <a:bodyPr wrap="square" lIns="0" tIns="0" rIns="0" bIns="0" rtlCol="0" anchor="ctr"/>
          <a:lstStyle/>
          <a:p>
            <a:pPr marL="0" indent="0">
              <a:lnSpc>
                <a:spcPct val="102000"/>
              </a:lnSpc>
              <a:buNone/>
            </a:pPr>
            <a:r>
              <a:rPr lang="en-US" sz="1600" dirty="0">
                <a:solidFill>
                  <a:srgbClr val="3A4358"/>
                </a:solidFill>
                <a:latin typeface="Calibri" pitchFamily="34" charset="0"/>
                <a:ea typeface="Calibri" pitchFamily="34" charset="-122"/>
                <a:cs typeface="Calibri" pitchFamily="34" charset="-120"/>
              </a:rPr>
              <a:t>The rails' owners collect the era's fortunes</a:t>
            </a:r>
            <a:endParaRPr lang="en-US" sz="1600" dirty="0"/>
          </a:p>
        </p:txBody>
      </p:sp>
      <p:sp>
        <p:nvSpPr>
          <p:cNvPr id="22" name="Text 20"/>
          <p:cNvSpPr/>
          <p:nvPr/>
        </p:nvSpPr>
        <p:spPr>
          <a:xfrm>
            <a:off x="6217920" y="1742896"/>
            <a:ext cx="5468112" cy="274320"/>
          </a:xfrm>
          <a:prstGeom prst="rect">
            <a:avLst/>
          </a:prstGeom>
          <a:noFill/>
        </p:spPr>
        <p:txBody>
          <a:bodyPr wrap="square" lIns="0" tIns="0" rIns="0" bIns="0" rtlCol="0" anchor="ctr"/>
          <a:lstStyle/>
          <a:p>
            <a:pPr marL="0" indent="0">
              <a:buNone/>
            </a:pPr>
            <a:r>
              <a:rPr lang="en-US" sz="1200" b="1" kern="0" spc="150" dirty="0">
                <a:solidFill>
                  <a:srgbClr val="2777EF"/>
                </a:solidFill>
                <a:latin typeface="Calibri" pitchFamily="34" charset="0"/>
                <a:ea typeface="Calibri" pitchFamily="34" charset="-122"/>
                <a:cs typeface="Calibri" pitchFamily="34" charset="-120"/>
              </a:rPr>
              <a:t>THE TOKEN WAVE</a:t>
            </a:r>
            <a:endParaRPr lang="en-US" sz="1200" dirty="0"/>
          </a:p>
        </p:txBody>
      </p:sp>
      <p:sp>
        <p:nvSpPr>
          <p:cNvPr id="23" name="Shape 21"/>
          <p:cNvSpPr/>
          <p:nvPr/>
        </p:nvSpPr>
        <p:spPr>
          <a:xfrm>
            <a:off x="6217920" y="2108656"/>
            <a:ext cx="5468112" cy="859536"/>
          </a:xfrm>
          <a:prstGeom prst="roundRect">
            <a:avLst>
              <a:gd name="adj" fmla="val 8511"/>
            </a:avLst>
          </a:prstGeom>
          <a:solidFill>
            <a:srgbClr val="F5F8FC"/>
          </a:solidFill>
          <a:ln w="11430">
            <a:solidFill>
              <a:srgbClr val="D5DCE8"/>
            </a:solidFill>
            <a:prstDash val="solid"/>
          </a:ln>
        </p:spPr>
        <p:txBody>
          <a:bodyPr/>
          <a:lstStyle/>
          <a:p>
            <a:endParaRPr lang="en-US" sz="2400"/>
          </a:p>
        </p:txBody>
      </p:sp>
      <p:sp>
        <p:nvSpPr>
          <p:cNvPr id="24" name="Shape 22"/>
          <p:cNvSpPr/>
          <p:nvPr/>
        </p:nvSpPr>
        <p:spPr>
          <a:xfrm>
            <a:off x="6382512" y="2392120"/>
            <a:ext cx="1051560" cy="292608"/>
          </a:xfrm>
          <a:prstGeom prst="roundRect">
            <a:avLst>
              <a:gd name="adj" fmla="val 50000"/>
            </a:avLst>
          </a:prstGeom>
          <a:solidFill>
            <a:srgbClr val="E3EAF5"/>
          </a:solidFill>
        </p:spPr>
        <p:txBody>
          <a:bodyPr/>
          <a:lstStyle/>
          <a:p>
            <a:endParaRPr lang="en-US" sz="2400"/>
          </a:p>
        </p:txBody>
      </p:sp>
      <p:sp>
        <p:nvSpPr>
          <p:cNvPr id="25" name="Text 23"/>
          <p:cNvSpPr/>
          <p:nvPr/>
        </p:nvSpPr>
        <p:spPr>
          <a:xfrm>
            <a:off x="6382512" y="2382976"/>
            <a:ext cx="1051560" cy="292608"/>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NOV 2022</a:t>
            </a:r>
            <a:endParaRPr lang="en-US" sz="1200" dirty="0"/>
          </a:p>
        </p:txBody>
      </p:sp>
      <p:sp>
        <p:nvSpPr>
          <p:cNvPr id="26" name="Text 24"/>
          <p:cNvSpPr/>
          <p:nvPr/>
        </p:nvSpPr>
        <p:spPr>
          <a:xfrm>
            <a:off x="7589520" y="2108656"/>
            <a:ext cx="3913632" cy="859536"/>
          </a:xfrm>
          <a:prstGeom prst="rect">
            <a:avLst/>
          </a:prstGeom>
          <a:noFill/>
        </p:spPr>
        <p:txBody>
          <a:bodyPr wrap="square" lIns="0" tIns="0" rIns="0" bIns="0" rtlCol="0" anchor="ctr"/>
          <a:lstStyle/>
          <a:p>
            <a:pPr marL="0" indent="0">
              <a:lnSpc>
                <a:spcPct val="102000"/>
              </a:lnSpc>
              <a:buNone/>
            </a:pPr>
            <a:r>
              <a:rPr lang="en-US" sz="1600" dirty="0">
                <a:solidFill>
                  <a:srgbClr val="3A4358"/>
                </a:solidFill>
                <a:latin typeface="Calibri" pitchFamily="34" charset="0"/>
                <a:ea typeface="Calibri" pitchFamily="34" charset="-122"/>
                <a:cs typeface="Calibri" pitchFamily="34" charset="-120"/>
              </a:rPr>
              <a:t>ChatGPT — the Netscape moment, from ~zero</a:t>
            </a:r>
            <a:endParaRPr lang="en-US" sz="1600" dirty="0"/>
          </a:p>
        </p:txBody>
      </p:sp>
      <p:sp>
        <p:nvSpPr>
          <p:cNvPr id="31" name="Shape 29"/>
          <p:cNvSpPr/>
          <p:nvPr/>
        </p:nvSpPr>
        <p:spPr>
          <a:xfrm>
            <a:off x="6217920" y="3107027"/>
            <a:ext cx="5468112" cy="859536"/>
          </a:xfrm>
          <a:prstGeom prst="roundRect">
            <a:avLst>
              <a:gd name="adj" fmla="val 8511"/>
            </a:avLst>
          </a:prstGeom>
          <a:solidFill>
            <a:srgbClr val="2777EF"/>
          </a:solidFill>
          <a:ln w="11430">
            <a:solidFill>
              <a:srgbClr val="2777EF"/>
            </a:solidFill>
            <a:prstDash val="solid"/>
          </a:ln>
        </p:spPr>
        <p:txBody>
          <a:bodyPr/>
          <a:lstStyle/>
          <a:p>
            <a:endParaRPr lang="en-US" sz="2400"/>
          </a:p>
        </p:txBody>
      </p:sp>
      <p:sp>
        <p:nvSpPr>
          <p:cNvPr id="32" name="Shape 30"/>
          <p:cNvSpPr/>
          <p:nvPr/>
        </p:nvSpPr>
        <p:spPr>
          <a:xfrm>
            <a:off x="6382512" y="3390491"/>
            <a:ext cx="1051560" cy="292608"/>
          </a:xfrm>
          <a:prstGeom prst="roundRect">
            <a:avLst>
              <a:gd name="adj" fmla="val 50000"/>
            </a:avLst>
          </a:prstGeom>
          <a:solidFill>
            <a:srgbClr val="FFFFFF"/>
          </a:solidFill>
        </p:spPr>
        <p:txBody>
          <a:bodyPr/>
          <a:lstStyle/>
          <a:p>
            <a:endParaRPr lang="en-US" sz="2400"/>
          </a:p>
        </p:txBody>
      </p:sp>
      <p:sp>
        <p:nvSpPr>
          <p:cNvPr id="33" name="Text 31"/>
          <p:cNvSpPr/>
          <p:nvPr/>
        </p:nvSpPr>
        <p:spPr>
          <a:xfrm>
            <a:off x="6382512" y="3381347"/>
            <a:ext cx="1051560" cy="292608"/>
          </a:xfrm>
          <a:prstGeom prst="rect">
            <a:avLst/>
          </a:prstGeom>
          <a:noFill/>
        </p:spPr>
        <p:txBody>
          <a:bodyPr wrap="square" lIns="0" tIns="0" rIns="0" bIns="0" rtlCol="0" anchor="ctr"/>
          <a:lstStyle/>
          <a:p>
            <a:pPr marL="0" indent="0" algn="ctr">
              <a:buNone/>
            </a:pPr>
            <a:r>
              <a:rPr lang="en-US" sz="1200" b="1" dirty="0">
                <a:solidFill>
                  <a:srgbClr val="2777EF"/>
                </a:solidFill>
                <a:latin typeface="Calibri" pitchFamily="34" charset="0"/>
                <a:ea typeface="Calibri" pitchFamily="34" charset="-122"/>
                <a:cs typeface="Calibri" pitchFamily="34" charset="-120"/>
              </a:rPr>
              <a:t>2026</a:t>
            </a:r>
            <a:endParaRPr lang="en-US" sz="1200" dirty="0"/>
          </a:p>
        </p:txBody>
      </p:sp>
      <p:sp>
        <p:nvSpPr>
          <p:cNvPr id="34" name="Text 32"/>
          <p:cNvSpPr/>
          <p:nvPr/>
        </p:nvSpPr>
        <p:spPr>
          <a:xfrm>
            <a:off x="7589520" y="3107027"/>
            <a:ext cx="3913632" cy="859536"/>
          </a:xfrm>
          <a:prstGeom prst="rect">
            <a:avLst/>
          </a:prstGeom>
          <a:noFill/>
        </p:spPr>
        <p:txBody>
          <a:bodyPr wrap="square" lIns="0" tIns="0" rIns="0" bIns="0" rtlCol="0" anchor="ctr"/>
          <a:lstStyle/>
          <a:p>
            <a:pPr marL="0" indent="0">
              <a:lnSpc>
                <a:spcPct val="102000"/>
              </a:lnSpc>
              <a:buNone/>
            </a:pPr>
            <a:r>
              <a:rPr lang="en-US" sz="1600" b="1" dirty="0">
                <a:solidFill>
                  <a:srgbClr val="FFFFFF"/>
                </a:solidFill>
                <a:latin typeface="Calibri" pitchFamily="34" charset="0"/>
                <a:ea typeface="Calibri" pitchFamily="34" charset="-122"/>
                <a:cs typeface="Calibri" pitchFamily="34" charset="-120"/>
              </a:rPr>
              <a:t>The debate — multiples still at fade levels</a:t>
            </a:r>
            <a:endParaRPr lang="en-US" sz="1600" dirty="0"/>
          </a:p>
        </p:txBody>
      </p:sp>
      <p:sp>
        <p:nvSpPr>
          <p:cNvPr id="35" name="Shape 33"/>
          <p:cNvSpPr/>
          <p:nvPr/>
        </p:nvSpPr>
        <p:spPr>
          <a:xfrm>
            <a:off x="10268712" y="2969867"/>
            <a:ext cx="1280160" cy="274320"/>
          </a:xfrm>
          <a:prstGeom prst="roundRect">
            <a:avLst>
              <a:gd name="adj" fmla="val 50000"/>
            </a:avLst>
          </a:prstGeom>
          <a:solidFill>
            <a:srgbClr val="1A2233"/>
          </a:solidFill>
        </p:spPr>
        <p:txBody>
          <a:bodyPr/>
          <a:lstStyle/>
          <a:p>
            <a:endParaRPr lang="en-US" sz="2400"/>
          </a:p>
        </p:txBody>
      </p:sp>
      <p:sp>
        <p:nvSpPr>
          <p:cNvPr id="36" name="Text 34"/>
          <p:cNvSpPr/>
          <p:nvPr/>
        </p:nvSpPr>
        <p:spPr>
          <a:xfrm>
            <a:off x="10268712" y="2960723"/>
            <a:ext cx="1280160" cy="274320"/>
          </a:xfrm>
          <a:prstGeom prst="rect">
            <a:avLst/>
          </a:prstGeom>
          <a:noFill/>
        </p:spPr>
        <p:txBody>
          <a:bodyPr wrap="square" lIns="0" tIns="0" rIns="0" bIns="0" rtlCol="0" anchor="ctr"/>
          <a:lstStyle/>
          <a:p>
            <a:pPr marL="0" indent="0" algn="ctr">
              <a:buNone/>
            </a:pPr>
            <a:r>
              <a:rPr lang="en-US" sz="1050" b="1" kern="0" spc="80" dirty="0">
                <a:solidFill>
                  <a:srgbClr val="FFFFFF"/>
                </a:solidFill>
                <a:latin typeface="Calibri" pitchFamily="34" charset="0"/>
                <a:ea typeface="Calibri" pitchFamily="34" charset="-122"/>
                <a:cs typeface="Calibri" pitchFamily="34" charset="-120"/>
              </a:rPr>
              <a:t>📍  YOU ARE HERE</a:t>
            </a:r>
            <a:endParaRPr lang="en-US" sz="1050" dirty="0"/>
          </a:p>
        </p:txBody>
      </p:sp>
      <p:sp>
        <p:nvSpPr>
          <p:cNvPr id="37" name="Shape 35"/>
          <p:cNvSpPr/>
          <p:nvPr/>
        </p:nvSpPr>
        <p:spPr>
          <a:xfrm>
            <a:off x="6217920" y="5016448"/>
            <a:ext cx="5468112" cy="859536"/>
          </a:xfrm>
          <a:prstGeom prst="roundRect">
            <a:avLst>
              <a:gd name="adj" fmla="val 8511"/>
            </a:avLst>
          </a:prstGeom>
          <a:solidFill>
            <a:srgbClr val="F5F8FC"/>
          </a:solidFill>
          <a:ln w="11430">
            <a:solidFill>
              <a:srgbClr val="D5DCE8"/>
            </a:solidFill>
            <a:prstDash val="solid"/>
          </a:ln>
        </p:spPr>
        <p:txBody>
          <a:bodyPr/>
          <a:lstStyle/>
          <a:p>
            <a:endParaRPr lang="en-US" sz="2400"/>
          </a:p>
        </p:txBody>
      </p:sp>
      <p:sp>
        <p:nvSpPr>
          <p:cNvPr id="38" name="Shape 36"/>
          <p:cNvSpPr/>
          <p:nvPr/>
        </p:nvSpPr>
        <p:spPr>
          <a:xfrm>
            <a:off x="6382512" y="5299912"/>
            <a:ext cx="1051560" cy="292608"/>
          </a:xfrm>
          <a:prstGeom prst="roundRect">
            <a:avLst>
              <a:gd name="adj" fmla="val 50000"/>
            </a:avLst>
          </a:prstGeom>
          <a:solidFill>
            <a:srgbClr val="E3EAF5"/>
          </a:solidFill>
        </p:spPr>
        <p:txBody>
          <a:bodyPr/>
          <a:lstStyle/>
          <a:p>
            <a:endParaRPr lang="en-US" sz="2400"/>
          </a:p>
        </p:txBody>
      </p:sp>
      <p:sp>
        <p:nvSpPr>
          <p:cNvPr id="39" name="Text 37"/>
          <p:cNvSpPr/>
          <p:nvPr/>
        </p:nvSpPr>
        <p:spPr>
          <a:xfrm>
            <a:off x="6382512" y="5290768"/>
            <a:ext cx="1051560" cy="292608"/>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2029+</a:t>
            </a:r>
            <a:endParaRPr lang="en-US" sz="1200" dirty="0"/>
          </a:p>
        </p:txBody>
      </p:sp>
      <p:sp>
        <p:nvSpPr>
          <p:cNvPr id="40" name="Text 38"/>
          <p:cNvSpPr/>
          <p:nvPr/>
        </p:nvSpPr>
        <p:spPr>
          <a:xfrm>
            <a:off x="7589520" y="5016448"/>
            <a:ext cx="3913632" cy="859536"/>
          </a:xfrm>
          <a:prstGeom prst="rect">
            <a:avLst/>
          </a:prstGeom>
          <a:noFill/>
        </p:spPr>
        <p:txBody>
          <a:bodyPr wrap="square" lIns="0" tIns="0" rIns="0" bIns="0" rtlCol="0" anchor="ctr"/>
          <a:lstStyle/>
          <a:p>
            <a:pPr marL="0" indent="0">
              <a:lnSpc>
                <a:spcPct val="102000"/>
              </a:lnSpc>
              <a:buNone/>
            </a:pPr>
            <a:r>
              <a:rPr lang="en-US" sz="1600" dirty="0">
                <a:solidFill>
                  <a:srgbClr val="3A4358"/>
                </a:solidFill>
                <a:latin typeface="Calibri" pitchFamily="34" charset="0"/>
                <a:ea typeface="Calibri" pitchFamily="34" charset="-122"/>
                <a:cs typeface="Calibri" pitchFamily="34" charset="-120"/>
              </a:rPr>
              <a:t>The meters collect the era’s royalty — and every call here is graded</a:t>
            </a:r>
            <a:endParaRPr lang="en-US" sz="1600" dirty="0"/>
          </a:p>
        </p:txBody>
      </p:sp>
      <p:sp>
        <p:nvSpPr>
          <p:cNvPr id="44" name="Text 42"/>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45" name="Text 43"/>
          <p:cNvSpPr/>
          <p:nvPr/>
        </p:nvSpPr>
        <p:spPr>
          <a:xfrm>
            <a:off x="1965960" y="6507550"/>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Historical analogy illustrative; internet-era multiples approximate, from public market histories.</a:t>
            </a:r>
            <a:endParaRPr lang="en-US" sz="750" dirty="0"/>
          </a:p>
        </p:txBody>
      </p:sp>
      <p:sp>
        <p:nvSpPr>
          <p:cNvPr id="46"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3</a:t>
            </a:fld>
            <a:endParaRPr lang="en-US"/>
          </a:p>
        </p:txBody>
      </p:sp>
      <p:sp>
        <p:nvSpPr>
          <p:cNvPr id="47" name="Shape 21">
            <a:extLst>
              <a:ext uri="{FF2B5EF4-FFF2-40B4-BE49-F238E27FC236}">
                <a16:creationId xmlns:a16="http://schemas.microsoft.com/office/drawing/2014/main" id="{F63397AE-05D6-582A-6824-17D54DF1C97C}"/>
              </a:ext>
            </a:extLst>
          </p:cNvPr>
          <p:cNvSpPr/>
          <p:nvPr/>
        </p:nvSpPr>
        <p:spPr>
          <a:xfrm>
            <a:off x="6217920" y="4048859"/>
            <a:ext cx="5468112" cy="859536"/>
          </a:xfrm>
          <a:prstGeom prst="roundRect">
            <a:avLst>
              <a:gd name="adj" fmla="val 8511"/>
            </a:avLst>
          </a:prstGeom>
          <a:solidFill>
            <a:srgbClr val="F5F8FC"/>
          </a:solidFill>
          <a:ln w="11430">
            <a:solidFill>
              <a:srgbClr val="D5DCE8"/>
            </a:solidFill>
            <a:prstDash val="solid"/>
          </a:ln>
        </p:spPr>
        <p:txBody>
          <a:bodyPr/>
          <a:lstStyle/>
          <a:p>
            <a:endParaRPr lang="en-US" sz="2400"/>
          </a:p>
        </p:txBody>
      </p:sp>
      <p:sp>
        <p:nvSpPr>
          <p:cNvPr id="48" name="Shape 22">
            <a:extLst>
              <a:ext uri="{FF2B5EF4-FFF2-40B4-BE49-F238E27FC236}">
                <a16:creationId xmlns:a16="http://schemas.microsoft.com/office/drawing/2014/main" id="{7826654A-85B2-CCA9-8B05-DA9D83D25D45}"/>
              </a:ext>
            </a:extLst>
          </p:cNvPr>
          <p:cNvSpPr/>
          <p:nvPr/>
        </p:nvSpPr>
        <p:spPr>
          <a:xfrm>
            <a:off x="6382512" y="4332323"/>
            <a:ext cx="1051560" cy="292608"/>
          </a:xfrm>
          <a:prstGeom prst="roundRect">
            <a:avLst>
              <a:gd name="adj" fmla="val 50000"/>
            </a:avLst>
          </a:prstGeom>
          <a:solidFill>
            <a:srgbClr val="E3EAF5"/>
          </a:solidFill>
        </p:spPr>
        <p:txBody>
          <a:bodyPr/>
          <a:lstStyle/>
          <a:p>
            <a:endParaRPr lang="en-US" sz="2400"/>
          </a:p>
        </p:txBody>
      </p:sp>
      <p:sp>
        <p:nvSpPr>
          <p:cNvPr id="49" name="Text 23">
            <a:extLst>
              <a:ext uri="{FF2B5EF4-FFF2-40B4-BE49-F238E27FC236}">
                <a16:creationId xmlns:a16="http://schemas.microsoft.com/office/drawing/2014/main" id="{944EB542-2733-F560-1915-EDC0FF636953}"/>
              </a:ext>
            </a:extLst>
          </p:cNvPr>
          <p:cNvSpPr/>
          <p:nvPr/>
        </p:nvSpPr>
        <p:spPr>
          <a:xfrm>
            <a:off x="6382512" y="4323179"/>
            <a:ext cx="1051560" cy="292608"/>
          </a:xfrm>
          <a:prstGeom prst="rect">
            <a:avLst/>
          </a:prstGeom>
          <a:noFill/>
        </p:spPr>
        <p:txBody>
          <a:bodyPr wrap="square" lIns="0" tIns="0" rIns="0" bIns="0" rtlCol="0" anchor="ctr"/>
          <a:lstStyle/>
          <a:p>
            <a:pPr algn="ctr"/>
            <a:r>
              <a:rPr lang="en-US" sz="1200" b="1" dirty="0">
                <a:solidFill>
                  <a:srgbClr val="1A2233"/>
                </a:solidFill>
                <a:latin typeface="Calibri" pitchFamily="34" charset="0"/>
                <a:ea typeface="Calibri" pitchFamily="34" charset="-122"/>
                <a:cs typeface="Calibri" pitchFamily="34" charset="-120"/>
              </a:rPr>
              <a:t>2027-2028</a:t>
            </a:r>
            <a:endParaRPr lang="en-US" sz="1200" dirty="0"/>
          </a:p>
        </p:txBody>
      </p:sp>
      <p:sp>
        <p:nvSpPr>
          <p:cNvPr id="50" name="Text 24">
            <a:extLst>
              <a:ext uri="{FF2B5EF4-FFF2-40B4-BE49-F238E27FC236}">
                <a16:creationId xmlns:a16="http://schemas.microsoft.com/office/drawing/2014/main" id="{9BE63C2E-DA1A-DAEE-0B39-DA2C9CA9DE69}"/>
              </a:ext>
            </a:extLst>
          </p:cNvPr>
          <p:cNvSpPr/>
          <p:nvPr/>
        </p:nvSpPr>
        <p:spPr>
          <a:xfrm>
            <a:off x="7589520" y="4048859"/>
            <a:ext cx="3913632" cy="859536"/>
          </a:xfrm>
          <a:prstGeom prst="rect">
            <a:avLst/>
          </a:prstGeom>
          <a:noFill/>
        </p:spPr>
        <p:txBody>
          <a:bodyPr wrap="square" lIns="0" tIns="0" rIns="0" bIns="0" rtlCol="0" anchor="ctr"/>
          <a:lstStyle/>
          <a:p>
            <a:pPr>
              <a:lnSpc>
                <a:spcPct val="102000"/>
              </a:lnSpc>
            </a:pPr>
            <a:r>
              <a:rPr lang="en-US" sz="1600" dirty="0">
                <a:solidFill>
                  <a:srgbClr val="3A4358"/>
                </a:solidFill>
                <a:latin typeface="Calibri" pitchFamily="34" charset="0"/>
                <a:ea typeface="Calibri" pitchFamily="34" charset="-122"/>
                <a:cs typeface="Calibri" pitchFamily="34" charset="-120"/>
              </a:rPr>
              <a:t>Agent GAAP disclosures — agent demand becomes visible in filings</a:t>
            </a:r>
            <a:endParaRPr lang="en-US" sz="1600" dirty="0"/>
          </a:p>
        </p:txBody>
      </p:sp>
    </p:spTree>
    <p:extLst>
      <p:ext uri="{BB962C8B-B14F-4D97-AF65-F5344CB8AC3E}">
        <p14:creationId xmlns:p14="http://schemas.microsoft.com/office/powerpoint/2010/main" val="589150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Executive Summary</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ARGUMENT OF THIS PIECE — FOUR PARTS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828800"/>
            <a:ext cx="2542032"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048256"/>
            <a:ext cx="2103120" cy="237744"/>
          </a:xfrm>
          <a:prstGeom prst="rect">
            <a:avLst/>
          </a:prstGeom>
          <a:noFill/>
        </p:spPr>
        <p:txBody>
          <a:bodyPr wrap="square" lIns="0" rIns="0" tIns="0" bIns="0">
            <a:spAutoFit/>
          </a:bodyPr>
          <a:lstStyle/>
          <a:p>
            <a:pPr algn="l"/>
            <a:r>
              <a:rPr sz="1000" b="1" i="0">
                <a:solidFill>
                  <a:srgbClr val="2777EF"/>
                </a:solidFill>
                <a:latin typeface="Calibri"/>
              </a:rPr>
              <a:t>THE ERA</a:t>
            </a:r>
          </a:p>
        </p:txBody>
      </p:sp>
      <p:sp>
        <p:nvSpPr>
          <p:cNvPr id="7" name="TextBox 6"/>
          <p:cNvSpPr txBox="1"/>
          <p:nvPr/>
        </p:nvSpPr>
        <p:spPr>
          <a:xfrm>
            <a:off x="996695" y="2395728"/>
            <a:ext cx="2103120" cy="1005840"/>
          </a:xfrm>
          <a:prstGeom prst="rect">
            <a:avLst/>
          </a:prstGeom>
          <a:noFill/>
        </p:spPr>
        <p:txBody>
          <a:bodyPr wrap="square" lIns="0" rIns="0" tIns="0" bIns="0">
            <a:spAutoFit/>
          </a:bodyPr>
          <a:lstStyle/>
          <a:p>
            <a:pPr algn="l"/>
            <a:r>
              <a:rPr sz="1700" b="0" i="0">
                <a:solidFill>
                  <a:srgbClr val="1A2233"/>
                </a:solidFill>
                <a:latin typeface="Calibri"/>
              </a:rPr>
              <a:t/>
            </a:r>
            <a:r>
              <a:rPr sz="1700" b="1">
                <a:solidFill>
                  <a:srgbClr val="1A2233"/>
                </a:solidFill>
                <a:latin typeface="Cambria"/>
              </a:rPr>
              <a:t>Infinite Software</a:t>
            </a:r>
          </a:p>
        </p:txBody>
      </p:sp>
      <p:sp>
        <p:nvSpPr>
          <p:cNvPr id="8" name="TextBox 7"/>
          <p:cNvSpPr txBox="1"/>
          <p:nvPr/>
        </p:nvSpPr>
        <p:spPr>
          <a:xfrm>
            <a:off x="996695" y="3611880"/>
            <a:ext cx="2103120" cy="1371600"/>
          </a:xfrm>
          <a:prstGeom prst="rect">
            <a:avLst/>
          </a:prstGeom>
          <a:noFill/>
        </p:spPr>
        <p:txBody>
          <a:bodyPr wrap="square" lIns="0" rIns="0" tIns="0" bIns="0">
            <a:spAutoFit/>
          </a:bodyPr>
          <a:lstStyle/>
          <a:p>
            <a:pPr algn="l"/>
            <a:r>
              <a:rPr sz="1080" b="0" i="0">
                <a:solidFill>
                  <a:srgbClr val="5A6478"/>
                </a:solidFill>
                <a:latin typeface="Calibri"/>
              </a:rPr>
              <a:t>Machine labor makes software free — the software population explodes.</a:t>
            </a:r>
          </a:p>
        </p:txBody>
      </p:sp>
      <p:sp>
        <p:nvSpPr>
          <p:cNvPr id="9" name="Right Arrow 8"/>
          <p:cNvSpPr/>
          <p:nvPr/>
        </p:nvSpPr>
        <p:spPr>
          <a:xfrm>
            <a:off x="3355848" y="3310128"/>
            <a:ext cx="237744" cy="274320"/>
          </a:xfrm>
          <a:prstGeom prst="rightArrow">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630168" y="1828800"/>
            <a:ext cx="2542032"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9624" y="2048256"/>
            <a:ext cx="2103120" cy="237744"/>
          </a:xfrm>
          <a:prstGeom prst="rect">
            <a:avLst/>
          </a:prstGeom>
          <a:noFill/>
        </p:spPr>
        <p:txBody>
          <a:bodyPr wrap="square" lIns="0" rIns="0" tIns="0" bIns="0">
            <a:spAutoFit/>
          </a:bodyPr>
          <a:lstStyle/>
          <a:p>
            <a:pPr algn="l"/>
            <a:r>
              <a:rPr sz="1000" b="1" i="0">
                <a:solidFill>
                  <a:srgbClr val="2777EF"/>
                </a:solidFill>
                <a:latin typeface="Calibri"/>
              </a:rPr>
              <a:t>THE PHENOMENON</a:t>
            </a:r>
          </a:p>
        </p:txBody>
      </p:sp>
      <p:sp>
        <p:nvSpPr>
          <p:cNvPr id="12" name="TextBox 11"/>
          <p:cNvSpPr txBox="1"/>
          <p:nvPr/>
        </p:nvSpPr>
        <p:spPr>
          <a:xfrm>
            <a:off x="3849624" y="2395728"/>
            <a:ext cx="2103120" cy="1005840"/>
          </a:xfrm>
          <a:prstGeom prst="rect">
            <a:avLst/>
          </a:prstGeom>
          <a:noFill/>
        </p:spPr>
        <p:txBody>
          <a:bodyPr wrap="square" lIns="0" rIns="0" tIns="0" bIns="0">
            <a:spAutoFit/>
          </a:bodyPr>
          <a:lstStyle/>
          <a:p>
            <a:pPr algn="l"/>
            <a:r>
              <a:rPr sz="1700" b="0" i="0">
                <a:solidFill>
                  <a:srgbClr val="1A2233"/>
                </a:solidFill>
                <a:latin typeface="Calibri"/>
              </a:rPr>
              <a:t/>
            </a:r>
            <a:r>
              <a:rPr sz="1700" b="1">
                <a:solidFill>
                  <a:srgbClr val="1A2233"/>
                </a:solidFill>
                <a:latin typeface="Cambria"/>
              </a:rPr>
              <a:t>The Token</a:t>
            </a:r>
          </a:p>
          <a:p>
            <a:r>
              <a:rPr sz="1700" b="1">
                <a:solidFill>
                  <a:srgbClr val="1A2233"/>
                </a:solidFill>
                <a:latin typeface="Cambria"/>
              </a:rPr>
              <a:t>Tidal Wave</a:t>
            </a:r>
          </a:p>
        </p:txBody>
      </p:sp>
      <p:sp>
        <p:nvSpPr>
          <p:cNvPr id="13" name="TextBox 12"/>
          <p:cNvSpPr txBox="1"/>
          <p:nvPr/>
        </p:nvSpPr>
        <p:spPr>
          <a:xfrm>
            <a:off x="3849624" y="3611880"/>
            <a:ext cx="2103120" cy="1371600"/>
          </a:xfrm>
          <a:prstGeom prst="rect">
            <a:avLst/>
          </a:prstGeom>
          <a:noFill/>
        </p:spPr>
        <p:txBody>
          <a:bodyPr wrap="square" lIns="0" rIns="0" tIns="0" bIns="0">
            <a:spAutoFit/>
          </a:bodyPr>
          <a:lstStyle/>
          <a:p>
            <a:pPr algn="l"/>
            <a:r>
              <a:rPr sz="1080" b="0" i="0">
                <a:solidFill>
                  <a:srgbClr val="5A6478"/>
                </a:solidFill>
                <a:latin typeface="Calibri"/>
              </a:rPr>
              <a:t>Every price drop buys more demand than it gives up — ~40x tokens by 2029.</a:t>
            </a:r>
          </a:p>
        </p:txBody>
      </p:sp>
      <p:sp>
        <p:nvSpPr>
          <p:cNvPr id="14" name="Right Arrow 13"/>
          <p:cNvSpPr/>
          <p:nvPr/>
        </p:nvSpPr>
        <p:spPr>
          <a:xfrm>
            <a:off x="6208776" y="3310128"/>
            <a:ext cx="237744" cy="274320"/>
          </a:xfrm>
          <a:prstGeom prst="rightArrow">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83096" y="1828800"/>
            <a:ext cx="2542032"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2552" y="2048256"/>
            <a:ext cx="2103120" cy="237744"/>
          </a:xfrm>
          <a:prstGeom prst="rect">
            <a:avLst/>
          </a:prstGeom>
          <a:noFill/>
        </p:spPr>
        <p:txBody>
          <a:bodyPr wrap="square" lIns="0" rIns="0" tIns="0" bIns="0">
            <a:spAutoFit/>
          </a:bodyPr>
          <a:lstStyle/>
          <a:p>
            <a:pPr algn="l"/>
            <a:r>
              <a:rPr sz="1000" b="1" i="0">
                <a:solidFill>
                  <a:srgbClr val="2777EF"/>
                </a:solidFill>
                <a:latin typeface="Calibri"/>
              </a:rPr>
              <a:t>THE ROYALTY</a:t>
            </a:r>
          </a:p>
        </p:txBody>
      </p:sp>
      <p:sp>
        <p:nvSpPr>
          <p:cNvPr id="17" name="TextBox 16"/>
          <p:cNvSpPr txBox="1"/>
          <p:nvPr/>
        </p:nvSpPr>
        <p:spPr>
          <a:xfrm>
            <a:off x="6702552" y="2395728"/>
            <a:ext cx="2103120" cy="1005840"/>
          </a:xfrm>
          <a:prstGeom prst="rect">
            <a:avLst/>
          </a:prstGeom>
          <a:noFill/>
        </p:spPr>
        <p:txBody>
          <a:bodyPr wrap="square" lIns="0" rIns="0" tIns="0" bIns="0">
            <a:spAutoFit/>
          </a:bodyPr>
          <a:lstStyle/>
          <a:p>
            <a:pPr algn="l"/>
            <a:r>
              <a:rPr sz="1700" b="0" i="0">
                <a:solidFill>
                  <a:srgbClr val="1A2233"/>
                </a:solidFill>
                <a:latin typeface="Calibri"/>
              </a:rPr>
              <a:t/>
            </a:r>
            <a:r>
              <a:rPr sz="1700" b="1">
                <a:solidFill>
                  <a:srgbClr val="1A2233"/>
                </a:solidFill>
                <a:latin typeface="Cambria"/>
              </a:rPr>
              <a:t>A Royalty on Machine Labor</a:t>
            </a:r>
          </a:p>
        </p:txBody>
      </p:sp>
      <p:sp>
        <p:nvSpPr>
          <p:cNvPr id="18" name="TextBox 17"/>
          <p:cNvSpPr txBox="1"/>
          <p:nvPr/>
        </p:nvSpPr>
        <p:spPr>
          <a:xfrm>
            <a:off x="6702552" y="3611880"/>
            <a:ext cx="2103120" cy="1371600"/>
          </a:xfrm>
          <a:prstGeom prst="rect">
            <a:avLst/>
          </a:prstGeom>
          <a:noFill/>
        </p:spPr>
        <p:txBody>
          <a:bodyPr wrap="square" lIns="0" rIns="0" tIns="0" bIns="0">
            <a:spAutoFit/>
          </a:bodyPr>
          <a:lstStyle/>
          <a:p>
            <a:pPr algn="l"/>
            <a:r>
              <a:rPr sz="1080" b="0" i="0">
                <a:solidFill>
                  <a:srgbClr val="5A6478"/>
                </a:solidFill>
                <a:latin typeface="Calibri"/>
              </a:rPr>
              <a:t>Infinite software runs on metered rails — two layers collect the royalty.</a:t>
            </a:r>
          </a:p>
        </p:txBody>
      </p:sp>
      <p:sp>
        <p:nvSpPr>
          <p:cNvPr id="19" name="Right Arrow 18"/>
          <p:cNvSpPr/>
          <p:nvPr/>
        </p:nvSpPr>
        <p:spPr>
          <a:xfrm>
            <a:off x="9061704" y="3310128"/>
            <a:ext cx="237744" cy="274320"/>
          </a:xfrm>
          <a:prstGeom prst="rightArrow">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336024" y="1828800"/>
            <a:ext cx="2542032" cy="3291840"/>
          </a:xfrm>
          <a:prstGeom prst="roundRect">
            <a:avLst>
              <a:gd name="adj" fmla="val 5000"/>
            </a:avLst>
          </a:prstGeom>
          <a:solidFill>
            <a:srgbClr val="EAF1FE"/>
          </a:solidFill>
          <a:ln w="1651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55480" y="2048256"/>
            <a:ext cx="2103120" cy="237744"/>
          </a:xfrm>
          <a:prstGeom prst="rect">
            <a:avLst/>
          </a:prstGeom>
          <a:noFill/>
        </p:spPr>
        <p:txBody>
          <a:bodyPr wrap="square" lIns="0" rIns="0" tIns="0" bIns="0">
            <a:spAutoFit/>
          </a:bodyPr>
          <a:lstStyle/>
          <a:p>
            <a:pPr algn="l"/>
            <a:r>
              <a:rPr sz="1000" b="1" i="0">
                <a:solidFill>
                  <a:srgbClr val="2777EF"/>
                </a:solidFill>
                <a:latin typeface="Calibri"/>
              </a:rPr>
              <a:t>THE MISPRICING</a:t>
            </a:r>
          </a:p>
        </p:txBody>
      </p:sp>
      <p:sp>
        <p:nvSpPr>
          <p:cNvPr id="22" name="TextBox 21"/>
          <p:cNvSpPr txBox="1"/>
          <p:nvPr/>
        </p:nvSpPr>
        <p:spPr>
          <a:xfrm>
            <a:off x="9555480" y="2395728"/>
            <a:ext cx="2103120" cy="1005840"/>
          </a:xfrm>
          <a:prstGeom prst="rect">
            <a:avLst/>
          </a:prstGeom>
          <a:noFill/>
        </p:spPr>
        <p:txBody>
          <a:bodyPr wrap="square" lIns="0" rIns="0" tIns="0" bIns="0">
            <a:spAutoFit/>
          </a:bodyPr>
          <a:lstStyle/>
          <a:p>
            <a:pPr algn="l"/>
            <a:r>
              <a:rPr sz="1700" b="0" i="0">
                <a:solidFill>
                  <a:srgbClr val="1A2233"/>
                </a:solidFill>
                <a:latin typeface="Calibri"/>
              </a:rPr>
              <a:t/>
            </a:r>
            <a:r>
              <a:rPr sz="1700" b="1">
                <a:solidFill>
                  <a:srgbClr val="1A2233"/>
                </a:solidFill>
                <a:latin typeface="Cambria"/>
              </a:rPr>
              <a:t>Machine Oracle</a:t>
            </a:r>
          </a:p>
        </p:txBody>
      </p:sp>
      <p:sp>
        <p:nvSpPr>
          <p:cNvPr id="23" name="TextBox 22"/>
          <p:cNvSpPr txBox="1"/>
          <p:nvPr/>
        </p:nvSpPr>
        <p:spPr>
          <a:xfrm>
            <a:off x="9555480" y="3611880"/>
            <a:ext cx="2103120" cy="1371600"/>
          </a:xfrm>
          <a:prstGeom prst="rect">
            <a:avLst/>
          </a:prstGeom>
          <a:noFill/>
        </p:spPr>
        <p:txBody>
          <a:bodyPr wrap="square" lIns="0" rIns="0" tIns="0" bIns="0">
            <a:spAutoFit/>
          </a:bodyPr>
          <a:lstStyle/>
          <a:p>
            <a:pPr algn="l"/>
            <a:r>
              <a:rPr sz="1080" b="0" i="0">
                <a:solidFill>
                  <a:srgbClr val="5A6478"/>
                </a:solidFill>
                <a:latin typeface="Calibri"/>
              </a:rPr>
              <a:t>Three backend meters, priced for deceleration and zero agents — graded quarterly, in public.</a:t>
            </a:r>
          </a:p>
        </p:txBody>
      </p:sp>
      <p:sp>
        <p:nvSpPr>
          <p:cNvPr id="24" name="TextBox 23"/>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5" name="TextBox 24"/>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a:t>
            </a:r>
          </a:p>
        </p:txBody>
      </p:sp>
    </p:spTree>
    <p:extLst>
      <p:ext uri="{BB962C8B-B14F-4D97-AF65-F5344CB8AC3E}">
        <p14:creationId xmlns:p14="http://schemas.microsoft.com/office/powerpoint/2010/main" val="41082767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AGENDA</a:t>
            </a:r>
            <a:endParaRPr lang="en-US" sz="1150" dirty="0"/>
          </a:p>
        </p:txBody>
      </p:sp>
      <p:sp>
        <p:nvSpPr>
          <p:cNvPr id="3" name="Shape 1"/>
          <p:cNvSpPr/>
          <p:nvPr/>
        </p:nvSpPr>
        <p:spPr>
          <a:xfrm>
            <a:off x="502920" y="1335024"/>
            <a:ext cx="11185855" cy="0"/>
          </a:xfrm>
          <a:prstGeom prst="line">
            <a:avLst/>
          </a:prstGeom>
          <a:noFill/>
          <a:ln w="17780">
            <a:solidFill>
              <a:srgbClr val="D5DCE8"/>
            </a:solidFill>
            <a:prstDash val="solid"/>
          </a:ln>
        </p:spPr>
        <p:txBody>
          <a:bodyPr/>
          <a:lstStyle/>
          <a:p>
            <a:endParaRPr lang="en-US" sz="2400"/>
          </a:p>
        </p:txBody>
      </p:sp>
      <p:sp>
        <p:nvSpPr>
          <p:cNvPr id="4" name="Text 2"/>
          <p:cNvSpPr/>
          <p:nvPr/>
        </p:nvSpPr>
        <p:spPr>
          <a:xfrm>
            <a:off x="502920" y="292608"/>
            <a:ext cx="10972800"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Four parts, one thesis</a:t>
            </a:r>
            <a:endParaRPr lang="en-US" sz="2700" dirty="0"/>
          </a:p>
        </p:txBody>
      </p:sp>
      <p:sp>
        <p:nvSpPr>
          <p:cNvPr id="5" name="Text 3"/>
          <p:cNvSpPr/>
          <p:nvPr/>
        </p:nvSpPr>
        <p:spPr>
          <a:xfrm>
            <a:off x="777240" y="1737360"/>
            <a:ext cx="731520" cy="502920"/>
          </a:xfrm>
          <a:prstGeom prst="rect">
            <a:avLst/>
          </a:prstGeom>
          <a:noFill/>
        </p:spPr>
        <p:txBody>
          <a:bodyPr wrap="square" lIns="0" tIns="0" rIns="0" bIns="0" rtlCol="0" anchor="ctr"/>
          <a:lstStyle/>
          <a:p>
            <a:pPr marL="0" indent="0">
              <a:buNone/>
            </a:pPr>
            <a:r>
              <a:rPr lang="en-US" sz="3200" b="1" dirty="0">
                <a:solidFill>
                  <a:srgbClr val="2777EF"/>
                </a:solidFill>
                <a:latin typeface="Cambria" pitchFamily="34" charset="0"/>
                <a:ea typeface="Cambria" pitchFamily="34" charset="-122"/>
                <a:cs typeface="Cambria" pitchFamily="34" charset="-120"/>
              </a:rPr>
              <a:t>01</a:t>
            </a:r>
            <a:endParaRPr lang="en-US" sz="3200" dirty="0"/>
          </a:p>
        </p:txBody>
      </p:sp>
      <p:sp>
        <p:nvSpPr>
          <p:cNvPr id="6" name="Text 4"/>
          <p:cNvSpPr/>
          <p:nvPr/>
        </p:nvSpPr>
        <p:spPr>
          <a:xfrm>
            <a:off x="1691640" y="1783080"/>
            <a:ext cx="9601200" cy="457200"/>
          </a:xfrm>
          <a:prstGeom prst="rect">
            <a:avLst/>
          </a:prstGeom>
          <a:noFill/>
        </p:spPr>
        <p:txBody>
          <a:bodyPr wrap="square" lIns="0" tIns="0" rIns="0" bIns="0" rtlCol="0" anchor="ctr"/>
          <a:lstStyle/>
          <a:p>
            <a:pPr marL="0" indent="0">
              <a:buNone/>
            </a:pPr>
            <a:r>
              <a:rPr lang="en-US" sz="2000" b="1" dirty="0">
                <a:solidFill>
                  <a:srgbClr val="1A2233"/>
                </a:solidFill>
                <a:latin typeface="Calibri" pitchFamily="34" charset="0"/>
                <a:ea typeface="Calibri" pitchFamily="34" charset="-122"/>
                <a:cs typeface="Calibri" pitchFamily="34" charset="-120"/>
              </a:rPr>
              <a:t>Infinite Software</a:t>
            </a:r>
            <a:r>
              <a:rPr lang="en-US" sz="1600" dirty="0">
                <a:solidFill>
                  <a:srgbClr val="5A6478"/>
                </a:solidFill>
                <a:latin typeface="Calibri" pitchFamily="34" charset="0"/>
                <a:ea typeface="Calibri" pitchFamily="34" charset="-122"/>
                <a:cs typeface="Calibri" pitchFamily="34" charset="-120"/>
              </a:rPr>
              <a:t>   —   the era — machine labor makes software unlimited</a:t>
            </a:r>
            <a:endParaRPr lang="en-US" sz="2000" dirty="0"/>
          </a:p>
        </p:txBody>
      </p:sp>
      <p:sp>
        <p:nvSpPr>
          <p:cNvPr id="7" name="Shape 5"/>
          <p:cNvSpPr/>
          <p:nvPr/>
        </p:nvSpPr>
        <p:spPr>
          <a:xfrm>
            <a:off x="1691640" y="2395728"/>
            <a:ext cx="9052560" cy="0"/>
          </a:xfrm>
          <a:prstGeom prst="line">
            <a:avLst/>
          </a:prstGeom>
          <a:noFill/>
          <a:ln w="9525">
            <a:solidFill>
              <a:srgbClr val="D6E4FC"/>
            </a:solidFill>
            <a:prstDash val="solid"/>
          </a:ln>
        </p:spPr>
        <p:txBody>
          <a:bodyPr/>
          <a:lstStyle/>
          <a:p>
            <a:endParaRPr lang="en-US" sz="2400"/>
          </a:p>
        </p:txBody>
      </p:sp>
      <p:sp>
        <p:nvSpPr>
          <p:cNvPr id="8" name="Text 6"/>
          <p:cNvSpPr/>
          <p:nvPr/>
        </p:nvSpPr>
        <p:spPr>
          <a:xfrm>
            <a:off x="777240" y="2578608"/>
            <a:ext cx="731520" cy="502920"/>
          </a:xfrm>
          <a:prstGeom prst="rect">
            <a:avLst/>
          </a:prstGeom>
          <a:noFill/>
        </p:spPr>
        <p:txBody>
          <a:bodyPr wrap="square" lIns="0" tIns="0" rIns="0" bIns="0" rtlCol="0" anchor="ctr"/>
          <a:lstStyle/>
          <a:p>
            <a:pPr marL="0" indent="0">
              <a:buNone/>
            </a:pPr>
            <a:r>
              <a:rPr lang="en-US" sz="3200" b="1" dirty="0">
                <a:solidFill>
                  <a:srgbClr val="2777EF"/>
                </a:solidFill>
                <a:latin typeface="Cambria" pitchFamily="34" charset="0"/>
                <a:ea typeface="Cambria" pitchFamily="34" charset="-122"/>
                <a:cs typeface="Cambria" pitchFamily="34" charset="-120"/>
              </a:rPr>
              <a:t>02</a:t>
            </a:r>
            <a:endParaRPr lang="en-US" sz="3200" dirty="0"/>
          </a:p>
        </p:txBody>
      </p:sp>
      <p:sp>
        <p:nvSpPr>
          <p:cNvPr id="9" name="Text 7"/>
          <p:cNvSpPr/>
          <p:nvPr/>
        </p:nvSpPr>
        <p:spPr>
          <a:xfrm>
            <a:off x="1691640" y="2624328"/>
            <a:ext cx="9601200" cy="457200"/>
          </a:xfrm>
          <a:prstGeom prst="rect">
            <a:avLst/>
          </a:prstGeom>
          <a:noFill/>
        </p:spPr>
        <p:txBody>
          <a:bodyPr wrap="square" lIns="0" tIns="0" rIns="0" bIns="0" rtlCol="0" anchor="ctr"/>
          <a:lstStyle/>
          <a:p>
            <a:pPr marL="0" indent="0">
              <a:buNone/>
            </a:pPr>
            <a:r>
              <a:rPr lang="en-US" sz="2000" b="1" dirty="0">
                <a:solidFill>
                  <a:srgbClr val="1A2233"/>
                </a:solidFill>
                <a:latin typeface="Calibri" pitchFamily="34" charset="0"/>
                <a:ea typeface="Calibri" pitchFamily="34" charset="-122"/>
                <a:cs typeface="Calibri" pitchFamily="34" charset="-120"/>
              </a:rPr>
              <a:t>The Token Tidal Wave</a:t>
            </a:r>
            <a:r>
              <a:rPr lang="en-US" sz="1600" dirty="0">
                <a:solidFill>
                  <a:srgbClr val="5A6478"/>
                </a:solidFill>
                <a:latin typeface="Calibri" pitchFamily="34" charset="0"/>
                <a:ea typeface="Calibri" pitchFamily="34" charset="-122"/>
                <a:cs typeface="Calibri" pitchFamily="34" charset="-120"/>
              </a:rPr>
              <a:t>   —   the phenomenon — our ~40x call, landing on the rails</a:t>
            </a:r>
            <a:endParaRPr lang="en-US" sz="2000" dirty="0"/>
          </a:p>
        </p:txBody>
      </p:sp>
      <p:sp>
        <p:nvSpPr>
          <p:cNvPr id="10" name="Shape 8"/>
          <p:cNvSpPr/>
          <p:nvPr/>
        </p:nvSpPr>
        <p:spPr>
          <a:xfrm>
            <a:off x="1691640" y="3236976"/>
            <a:ext cx="9052560" cy="0"/>
          </a:xfrm>
          <a:prstGeom prst="line">
            <a:avLst/>
          </a:prstGeom>
          <a:noFill/>
          <a:ln w="9525">
            <a:solidFill>
              <a:srgbClr val="D6E4FC"/>
            </a:solidFill>
            <a:prstDash val="solid"/>
          </a:ln>
        </p:spPr>
        <p:txBody>
          <a:bodyPr/>
          <a:lstStyle/>
          <a:p>
            <a:endParaRPr lang="en-US" sz="2400"/>
          </a:p>
        </p:txBody>
      </p:sp>
      <p:sp>
        <p:nvSpPr>
          <p:cNvPr id="11" name="Text 9"/>
          <p:cNvSpPr/>
          <p:nvPr/>
        </p:nvSpPr>
        <p:spPr>
          <a:xfrm>
            <a:off x="777240" y="3419856"/>
            <a:ext cx="731520" cy="502920"/>
          </a:xfrm>
          <a:prstGeom prst="rect">
            <a:avLst/>
          </a:prstGeom>
          <a:noFill/>
        </p:spPr>
        <p:txBody>
          <a:bodyPr wrap="square" lIns="0" tIns="0" rIns="0" bIns="0" rtlCol="0" anchor="ctr"/>
          <a:lstStyle/>
          <a:p>
            <a:pPr marL="0" indent="0">
              <a:buNone/>
            </a:pPr>
            <a:r>
              <a:rPr lang="en-US" sz="3200" b="1" dirty="0">
                <a:solidFill>
                  <a:srgbClr val="2777EF"/>
                </a:solidFill>
                <a:latin typeface="Cambria" pitchFamily="34" charset="0"/>
                <a:ea typeface="Cambria" pitchFamily="34" charset="-122"/>
                <a:cs typeface="Cambria" pitchFamily="34" charset="-120"/>
              </a:rPr>
              <a:t>03</a:t>
            </a:r>
            <a:endParaRPr lang="en-US" sz="3200" dirty="0"/>
          </a:p>
        </p:txBody>
      </p:sp>
      <p:sp>
        <p:nvSpPr>
          <p:cNvPr id="12" name="Text 10"/>
          <p:cNvSpPr/>
          <p:nvPr/>
        </p:nvSpPr>
        <p:spPr>
          <a:xfrm>
            <a:off x="1691640" y="3465576"/>
            <a:ext cx="9601200" cy="457200"/>
          </a:xfrm>
          <a:prstGeom prst="rect">
            <a:avLst/>
          </a:prstGeom>
          <a:noFill/>
        </p:spPr>
        <p:txBody>
          <a:bodyPr wrap="square" lIns="0" tIns="0" rIns="0" bIns="0" rtlCol="0" anchor="ctr"/>
          <a:lstStyle/>
          <a:p>
            <a:pPr marL="0" indent="0">
              <a:buNone/>
            </a:pPr>
            <a:r>
              <a:rPr lang="en-US" sz="2000" b="1" dirty="0">
                <a:solidFill>
                  <a:srgbClr val="1A2233"/>
                </a:solidFill>
                <a:latin typeface="Calibri" pitchFamily="34" charset="0"/>
                <a:ea typeface="Calibri" pitchFamily="34" charset="-122"/>
                <a:cs typeface="Calibri" pitchFamily="34" charset="-120"/>
              </a:rPr>
              <a:t>A Royalty on Machine Labor   —   </a:t>
            </a:r>
            <a:r>
              <a:rPr lang="en-US" sz="1600" dirty="0" b="0">
                <a:solidFill>
                  <a:srgbClr val="5A6478"/>
                </a:solidFill>
                <a:latin typeface="Calibri" pitchFamily="34" charset="0"/>
                <a:ea typeface="Calibri" pitchFamily="34" charset="-122"/>
                <a:cs typeface="Calibri" pitchFamily="34" charset="-120"/>
              </a:rPr>
              <a:t>the meters — the universe, the two layers, and the evidence</a:t>
            </a:r>
            <a:endParaRPr lang="en-US" sz="2000" dirty="0"/>
          </a:p>
        </p:txBody>
      </p:sp>
      <p:sp>
        <p:nvSpPr>
          <p:cNvPr id="13" name="Shape 11"/>
          <p:cNvSpPr/>
          <p:nvPr/>
        </p:nvSpPr>
        <p:spPr>
          <a:xfrm>
            <a:off x="1691640" y="4078224"/>
            <a:ext cx="9052560" cy="0"/>
          </a:xfrm>
          <a:prstGeom prst="line">
            <a:avLst/>
          </a:prstGeom>
          <a:noFill/>
          <a:ln w="9525">
            <a:solidFill>
              <a:srgbClr val="D6E4FC"/>
            </a:solidFill>
            <a:prstDash val="solid"/>
          </a:ln>
        </p:spPr>
        <p:txBody>
          <a:bodyPr/>
          <a:lstStyle/>
          <a:p>
            <a:endParaRPr lang="en-US" sz="2400"/>
          </a:p>
        </p:txBody>
      </p:sp>
      <p:sp>
        <p:nvSpPr>
          <p:cNvPr id="14" name="Text 12"/>
          <p:cNvSpPr/>
          <p:nvPr/>
        </p:nvSpPr>
        <p:spPr>
          <a:xfrm>
            <a:off x="777240" y="4261104"/>
            <a:ext cx="731520" cy="502920"/>
          </a:xfrm>
          <a:prstGeom prst="rect">
            <a:avLst/>
          </a:prstGeom>
          <a:noFill/>
        </p:spPr>
        <p:txBody>
          <a:bodyPr wrap="square" lIns="0" tIns="0" rIns="0" bIns="0" rtlCol="0" anchor="ctr"/>
          <a:lstStyle/>
          <a:p>
            <a:pPr marL="0" indent="0">
              <a:buNone/>
            </a:pPr>
            <a:r>
              <a:rPr lang="en-US" sz="3200" b="1" dirty="0">
                <a:solidFill>
                  <a:srgbClr val="2777EF"/>
                </a:solidFill>
                <a:latin typeface="Cambria" pitchFamily="34" charset="0"/>
                <a:ea typeface="Cambria" pitchFamily="34" charset="-122"/>
                <a:cs typeface="Cambria" pitchFamily="34" charset="-120"/>
              </a:rPr>
              <a:t>04</a:t>
            </a:r>
            <a:endParaRPr lang="en-US" sz="3200" dirty="0"/>
          </a:p>
        </p:txBody>
      </p:sp>
      <p:sp>
        <p:nvSpPr>
          <p:cNvPr id="15" name="Text 13"/>
          <p:cNvSpPr/>
          <p:nvPr/>
        </p:nvSpPr>
        <p:spPr>
          <a:xfrm>
            <a:off x="1691640" y="4306824"/>
            <a:ext cx="9601200" cy="457200"/>
          </a:xfrm>
          <a:prstGeom prst="rect">
            <a:avLst/>
          </a:prstGeom>
          <a:noFill/>
        </p:spPr>
        <p:txBody>
          <a:bodyPr wrap="square" lIns="0" tIns="0" rIns="0" bIns="0" rtlCol="0" anchor="ctr"/>
          <a:lstStyle/>
          <a:p>
            <a:pPr marL="0" indent="0">
              <a:buNone/>
            </a:pPr>
            <a:r>
              <a:rPr lang="en-US" sz="2000" b="1" dirty="0">
                <a:solidFill>
                  <a:srgbClr val="1A2233"/>
                </a:solidFill>
                <a:latin typeface="Calibri" pitchFamily="34" charset="0"/>
                <a:ea typeface="Calibri" pitchFamily="34" charset="-122"/>
                <a:cs typeface="Calibri" pitchFamily="34" charset="-120"/>
              </a:rPr>
              <a:t>Machine Oracle   —   the research program — pre-registered calls, graded in public</a:t>
            </a:r>
            <a:r>
              <a:rPr lang="en-US" sz="1600" dirty="0" b="0">
                <a:solidFill>
                  <a:srgbClr val="5A6478"/>
                </a:solidFill>
                <a:latin typeface="Calibri" pitchFamily="34" charset="0"/>
                <a:ea typeface="Calibri" pitchFamily="34" charset="-122"/>
                <a:cs typeface="Calibri" pitchFamily="34" charset="-120"/>
              </a:rPr>
              <a:t/>
            </a:r>
            <a:endParaRPr lang="en-US" sz="2000" dirty="0"/>
          </a:p>
        </p:txBody>
      </p:sp>
      <p:sp>
        <p:nvSpPr>
          <p:cNvPr id="20" name="Text 17"/>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5</a:t>
            </a:fld>
            <a:endParaRPr lang="en-US"/>
          </a:p>
        </p:txBody>
      </p:sp>
      <p:cxnSp>
        <p:nvCxnSpPr>
          <p:cNvPr id="26" name="Connector 25"/>
          <p:cNvCxnSpPr/>
          <p:nvPr/>
        </p:nvCxnSpPr>
        <p:spPr>
          <a:xfrm>
            <a:off x="1691640" y="4919472"/>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5105327"/>
      </p:ext>
    </p:extLst>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How to read this: straight lines, graded in public</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METHOD BEHIND EVERY NUMBER IN THIS PIECE — BEFORE ANY OF THE ARGUMENTS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00784"/>
            <a:ext cx="3429000" cy="3200400"/>
          </a:xfrm>
          <a:prstGeom prst="roundRect">
            <a:avLst>
              <a:gd name="adj" fmla="val 6857"/>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38528"/>
            <a:ext cx="2880360" cy="274320"/>
          </a:xfrm>
          <a:prstGeom prst="rect">
            <a:avLst/>
          </a:prstGeom>
          <a:noFill/>
        </p:spPr>
        <p:txBody>
          <a:bodyPr wrap="square" lIns="0" rIns="0" tIns="0" bIns="0">
            <a:spAutoFit/>
          </a:bodyPr>
          <a:lstStyle/>
          <a:p>
            <a:pPr algn="l"/>
            <a:r>
              <a:rPr sz="1150" b="1" i="0">
                <a:solidFill>
                  <a:srgbClr val="2777EF"/>
                </a:solidFill>
                <a:latin typeface="Calibri"/>
              </a:rPr>
              <a:t>MEASURE THE SLOPES</a:t>
            </a:r>
          </a:p>
        </p:txBody>
      </p:sp>
      <p:sp>
        <p:nvSpPr>
          <p:cNvPr id="7" name="TextBox 6"/>
          <p:cNvSpPr txBox="1"/>
          <p:nvPr/>
        </p:nvSpPr>
        <p:spPr>
          <a:xfrm>
            <a:off x="1051560" y="2340864"/>
            <a:ext cx="2880360" cy="2377440"/>
          </a:xfrm>
          <a:prstGeom prst="rect">
            <a:avLst/>
          </a:prstGeom>
          <a:noFill/>
        </p:spPr>
        <p:txBody>
          <a:bodyPr wrap="square" lIns="0" rIns="0" tIns="0" bIns="0">
            <a:spAutoFit/>
          </a:bodyPr>
          <a:lstStyle/>
          <a:p>
            <a:pPr algn="l"/>
            <a:r>
              <a:rPr sz="1150" b="0" i="0">
                <a:solidFill>
                  <a:srgbClr val="1A2233"/>
                </a:solidFill>
                <a:latin typeface="Calibri"/>
              </a:rPr>
              <a:t>Every forecast here extrapolates a measured trend — token volumes, price curves, attach rates, filings — never a narrative. Where a slope is ours, the raw series is shown; where it's third-party, it's dated and sourced.</a:t>
            </a:r>
          </a:p>
        </p:txBody>
      </p:sp>
      <p:sp>
        <p:nvSpPr>
          <p:cNvPr id="8" name="Rounded Rectangle 7"/>
          <p:cNvSpPr/>
          <p:nvPr/>
        </p:nvSpPr>
        <p:spPr>
          <a:xfrm>
            <a:off x="4379976" y="1700784"/>
            <a:ext cx="3429000" cy="3200400"/>
          </a:xfrm>
          <a:prstGeom prst="roundRect">
            <a:avLst>
              <a:gd name="adj" fmla="val 6857"/>
            </a:avLst>
          </a:prstGeom>
          <a:solidFill>
            <a:srgbClr val="EAF1FE"/>
          </a:solidFill>
          <a:ln w="1524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54296" y="1938528"/>
            <a:ext cx="2880360" cy="274320"/>
          </a:xfrm>
          <a:prstGeom prst="rect">
            <a:avLst/>
          </a:prstGeom>
          <a:noFill/>
        </p:spPr>
        <p:txBody>
          <a:bodyPr wrap="square" lIns="0" rIns="0" tIns="0" bIns="0">
            <a:spAutoFit/>
          </a:bodyPr>
          <a:lstStyle/>
          <a:p>
            <a:pPr algn="l"/>
            <a:r>
              <a:rPr sz="1150" b="1" i="0">
                <a:solidFill>
                  <a:srgbClr val="2777EF"/>
                </a:solidFill>
                <a:latin typeface="Calibri"/>
              </a:rPr>
              <a:t>PRE-REGISTER THE CALLS</a:t>
            </a:r>
          </a:p>
        </p:txBody>
      </p:sp>
      <p:sp>
        <p:nvSpPr>
          <p:cNvPr id="10" name="TextBox 9"/>
          <p:cNvSpPr txBox="1"/>
          <p:nvPr/>
        </p:nvSpPr>
        <p:spPr>
          <a:xfrm>
            <a:off x="4654296" y="2340864"/>
            <a:ext cx="2880360" cy="2377440"/>
          </a:xfrm>
          <a:prstGeom prst="rect">
            <a:avLst/>
          </a:prstGeom>
          <a:noFill/>
        </p:spPr>
        <p:txBody>
          <a:bodyPr wrap="square" lIns="0" rIns="0" tIns="0" bIns="0">
            <a:spAutoFit/>
          </a:bodyPr>
          <a:lstStyle/>
          <a:p>
            <a:pPr algn="l"/>
            <a:r>
              <a:rPr sz="1150" b="0" i="0">
                <a:solidFill>
                  <a:srgbClr val="1A2233"/>
                </a:solidFill>
                <a:latin typeface="Calibri"/>
              </a:rPr>
              <a:t>Predictions carry deadlines, kill conditions are written before they're needed, and grading criteria are fixed at publication. If the ledger fills with misses, the thesis shrinks — in public.</a:t>
            </a:r>
          </a:p>
        </p:txBody>
      </p:sp>
      <p:sp>
        <p:nvSpPr>
          <p:cNvPr id="11" name="Rounded Rectangle 10"/>
          <p:cNvSpPr/>
          <p:nvPr/>
        </p:nvSpPr>
        <p:spPr>
          <a:xfrm>
            <a:off x="7982712" y="1700784"/>
            <a:ext cx="3429000" cy="3200400"/>
          </a:xfrm>
          <a:prstGeom prst="roundRect">
            <a:avLst>
              <a:gd name="adj" fmla="val 6857"/>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57032" y="1938528"/>
            <a:ext cx="2880360" cy="274320"/>
          </a:xfrm>
          <a:prstGeom prst="rect">
            <a:avLst/>
          </a:prstGeom>
          <a:noFill/>
        </p:spPr>
        <p:txBody>
          <a:bodyPr wrap="square" lIns="0" rIns="0" tIns="0" bIns="0">
            <a:spAutoFit/>
          </a:bodyPr>
          <a:lstStyle/>
          <a:p>
            <a:pPr algn="l"/>
            <a:r>
              <a:rPr sz="1150" b="1" i="0">
                <a:solidFill>
                  <a:srgbClr val="2777EF"/>
                </a:solidFill>
                <a:latin typeface="Calibri"/>
              </a:rPr>
              <a:t>SEPARATE THE BASES</a:t>
            </a:r>
          </a:p>
        </p:txBody>
      </p:sp>
      <p:sp>
        <p:nvSpPr>
          <p:cNvPr id="13" name="TextBox 12"/>
          <p:cNvSpPr txBox="1"/>
          <p:nvPr/>
        </p:nvSpPr>
        <p:spPr>
          <a:xfrm>
            <a:off x="8257032" y="2340864"/>
            <a:ext cx="2880360" cy="2377440"/>
          </a:xfrm>
          <a:prstGeom prst="rect">
            <a:avLst/>
          </a:prstGeom>
          <a:noFill/>
        </p:spPr>
        <p:txBody>
          <a:bodyPr wrap="square" lIns="0" rIns="0" tIns="0" bIns="0">
            <a:spAutoFit/>
          </a:bodyPr>
          <a:lstStyle/>
          <a:p>
            <a:pPr algn="l"/>
            <a:r>
              <a:rPr sz="1150" b="0" i="0">
                <a:solidFill>
                  <a:srgbClr val="1A2233"/>
                </a:solidFill>
                <a:latin typeface="Calibri"/>
              </a:rPr>
              <a:t>Measured, estimated, and modeled figures are labeled as such on every exhibit. Scenario outputs are not forecasts; the fade case is always shown next to the wave.</a:t>
            </a:r>
          </a:p>
        </p:txBody>
      </p:sp>
      <p:sp>
        <p:nvSpPr>
          <p:cNvPr id="14" name="TextBox 13"/>
          <p:cNvSpPr txBox="1"/>
          <p:nvPr/>
        </p:nvSpPr>
        <p:spPr>
          <a:xfrm>
            <a:off x="777240" y="5138928"/>
            <a:ext cx="10634472" cy="548640"/>
          </a:xfrm>
          <a:prstGeom prst="rect">
            <a:avLst/>
          </a:prstGeom>
          <a:noFill/>
        </p:spPr>
        <p:txBody>
          <a:bodyPr wrap="square" lIns="0" rIns="0" tIns="0" bIns="0">
            <a:spAutoFit/>
          </a:bodyPr>
          <a:lstStyle/>
          <a:p>
            <a:pPr algn="l"/>
            <a:r>
              <a:rPr sz="1150" b="0" i="1">
                <a:solidFill>
                  <a:srgbClr val="5A6478"/>
                </a:solidFill>
                <a:latin typeface="Calibri"/>
              </a:rPr>
              <a:t>As Leopold Aschenbrenner put it, the forecast “just requires believing in straight lines on a graph.” We hold ourselves to the disciplined version: measured lines, dated predictions, public grades.</a:t>
            </a:r>
          </a:p>
        </p:txBody>
      </p:sp>
      <p:sp>
        <p:nvSpPr>
          <p:cNvPr id="15" name="Rounded Rectangle 14"/>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Trend extrapolation, with consequences  </a:t>
            </a:r>
            <a:r>
              <a:rPr sz="1200">
                <a:solidFill>
                  <a:srgbClr val="1A2233"/>
                </a:solidFill>
                <a:latin typeface="Calibri"/>
              </a:rPr>
              <a:t>— every claim in this piece is checkable, and most carry a date.</a:t>
            </a:r>
          </a:p>
        </p:txBody>
      </p:sp>
      <p:sp>
        <p:nvSpPr>
          <p:cNvPr id="16" name="TextBox 15"/>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7" name="TextBox 16"/>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a:t>
            </a:r>
          </a:p>
        </p:txBody>
      </p:sp>
      <p:sp>
        <p:nvSpPr>
          <p:cNvPr id="18" name="TextBox 17"/>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Quotation: Aschenbrenner, Situational Awareness (June 2024), situational-awareness.ai. Methodology per the exhibits throughout; see Disclosures.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874520"/>
            <a:ext cx="2377440" cy="1600200"/>
          </a:xfrm>
          <a:prstGeom prst="rect">
            <a:avLst/>
          </a:prstGeom>
          <a:noFill/>
        </p:spPr>
        <p:txBody>
          <a:bodyPr wrap="square" lIns="0" tIns="0" rIns="0" bIns="0" rtlCol="0" anchor="ctr"/>
          <a:lstStyle/>
          <a:p>
            <a:pPr marL="0" indent="0">
              <a:buNone/>
            </a:pPr>
            <a:r>
              <a:rPr lang="en-US" sz="9600" b="1" dirty="0">
                <a:solidFill>
                  <a:srgbClr val="2777EF"/>
                </a:solidFill>
                <a:latin typeface="Cambria" pitchFamily="34" charset="0"/>
                <a:ea typeface="Cambria" pitchFamily="34" charset="-122"/>
                <a:cs typeface="Cambria" pitchFamily="34" charset="-120"/>
              </a:rPr>
              <a:t>01</a:t>
            </a:r>
            <a:endParaRPr lang="en-US" sz="9600" dirty="0"/>
          </a:p>
        </p:txBody>
      </p:sp>
      <p:sp>
        <p:nvSpPr>
          <p:cNvPr id="3" name="Text 1"/>
          <p:cNvSpPr/>
          <p:nvPr/>
        </p:nvSpPr>
        <p:spPr>
          <a:xfrm>
            <a:off x="548640" y="3520440"/>
            <a:ext cx="7589520" cy="685800"/>
          </a:xfrm>
          <a:prstGeom prst="rect">
            <a:avLst/>
          </a:prstGeom>
          <a:noFill/>
        </p:spPr>
        <p:txBody>
          <a:bodyPr wrap="square" lIns="0" tIns="0" rIns="0" bIns="0" rtlCol="0" anchor="ctr"/>
          <a:lstStyle/>
          <a:p>
            <a:pPr marL="0" indent="0">
              <a:buNone/>
            </a:pPr>
            <a:r>
              <a:rPr lang="en-US" sz="3400" b="1" dirty="0">
                <a:solidFill>
                  <a:srgbClr val="1A2233"/>
                </a:solidFill>
                <a:latin typeface="Cambria" pitchFamily="34" charset="0"/>
                <a:ea typeface="Cambria" pitchFamily="34" charset="-122"/>
                <a:cs typeface="Cambria" pitchFamily="34" charset="-120"/>
              </a:rPr>
              <a:t>Infinite Software</a:t>
            </a:r>
            <a:endParaRPr lang="en-US" sz="3400" dirty="0"/>
          </a:p>
        </p:txBody>
      </p:sp>
      <p:sp>
        <p:nvSpPr>
          <p:cNvPr id="4" name="Text 2"/>
          <p:cNvSpPr/>
          <p:nvPr/>
        </p:nvSpPr>
        <p:spPr>
          <a:xfrm>
            <a:off x="548640" y="4224528"/>
            <a:ext cx="7315200" cy="502920"/>
          </a:xfrm>
          <a:prstGeom prst="rect">
            <a:avLst/>
          </a:prstGeom>
          <a:noFill/>
        </p:spPr>
        <p:txBody>
          <a:bodyPr wrap="square" lIns="0" tIns="0" rIns="0" bIns="0" rtlCol="0" anchor="ctr"/>
          <a:lstStyle/>
          <a:p>
            <a:pPr marL="0" indent="0">
              <a:buNone/>
            </a:pPr>
            <a:r>
              <a:rPr lang="en-US" sz="1500" dirty="0">
                <a:solidFill>
                  <a:srgbClr val="5A6478"/>
                </a:solidFill>
                <a:latin typeface="Calibri" pitchFamily="34" charset="0"/>
                <a:ea typeface="Calibri" pitchFamily="34" charset="-122"/>
                <a:cs typeface="Calibri" pitchFamily="34" charset="-120"/>
              </a:rPr>
              <a:t>the era — machine labor makes software unlimited</a:t>
            </a:r>
            <a:endParaRPr lang="en-US" sz="1500" dirty="0"/>
          </a:p>
        </p:txBody>
      </p:sp>
      <p:sp>
        <p:nvSpPr>
          <p:cNvPr id="5" name="Shape 3"/>
          <p:cNvSpPr/>
          <p:nvPr/>
        </p:nvSpPr>
        <p:spPr>
          <a:xfrm>
            <a:off x="8366760" y="1737360"/>
            <a:ext cx="0" cy="3383280"/>
          </a:xfrm>
          <a:prstGeom prst="line">
            <a:avLst/>
          </a:prstGeom>
          <a:noFill/>
          <a:ln w="12700">
            <a:solidFill>
              <a:srgbClr val="D5DCE8"/>
            </a:solidFill>
            <a:prstDash val="solid"/>
          </a:ln>
        </p:spPr>
        <p:txBody>
          <a:bodyPr/>
          <a:lstStyle/>
          <a:p>
            <a:endParaRPr lang="en-US"/>
          </a:p>
        </p:txBody>
      </p:sp>
      <p:sp>
        <p:nvSpPr>
          <p:cNvPr id="6" name="Shape 4"/>
          <p:cNvSpPr/>
          <p:nvPr/>
        </p:nvSpPr>
        <p:spPr>
          <a:xfrm>
            <a:off x="8686800" y="1897380"/>
            <a:ext cx="118872" cy="118872"/>
          </a:xfrm>
          <a:prstGeom prst="ellipse">
            <a:avLst/>
          </a:prstGeom>
          <a:solidFill>
            <a:srgbClr val="2777EF"/>
          </a:solidFill>
          <a:ln w="12700">
            <a:solidFill>
              <a:srgbClr val="2777EF"/>
            </a:solidFill>
            <a:prstDash val="solid"/>
          </a:ln>
        </p:spPr>
        <p:txBody>
          <a:bodyPr/>
          <a:lstStyle/>
          <a:p>
            <a:endParaRPr lang="en-US"/>
          </a:p>
        </p:txBody>
      </p:sp>
      <p:sp>
        <p:nvSpPr>
          <p:cNvPr id="7" name="Text 5"/>
          <p:cNvSpPr/>
          <p:nvPr/>
        </p:nvSpPr>
        <p:spPr>
          <a:xfrm>
            <a:off x="8942832" y="1828800"/>
            <a:ext cx="3108960" cy="292608"/>
          </a:xfrm>
          <a:prstGeom prst="rect">
            <a:avLst/>
          </a:prstGeom>
          <a:noFill/>
        </p:spPr>
        <p:txBody>
          <a:bodyPr wrap="square" lIns="0" tIns="0" rIns="0" bIns="0" rtlCol="0" anchor="ctr"/>
          <a:lstStyle/>
          <a:p>
            <a:pPr marL="0" indent="0">
              <a:buNone/>
            </a:pPr>
            <a:r>
              <a:rPr lang="en-US" sz="1250" b="1" dirty="0">
                <a:solidFill>
                  <a:srgbClr val="1A2233"/>
                </a:solidFill>
                <a:latin typeface="Calibri" pitchFamily="34" charset="0"/>
                <a:ea typeface="Calibri" pitchFamily="34" charset="-122"/>
                <a:cs typeface="Calibri" pitchFamily="34" charset="-120"/>
              </a:rPr>
              <a:t>01  Infinite Software</a:t>
            </a:r>
            <a:endParaRPr lang="en-US" sz="1250" dirty="0"/>
          </a:p>
        </p:txBody>
      </p:sp>
      <p:sp>
        <p:nvSpPr>
          <p:cNvPr id="8" name="Shape 6"/>
          <p:cNvSpPr/>
          <p:nvPr/>
        </p:nvSpPr>
        <p:spPr>
          <a:xfrm>
            <a:off x="8686800" y="2555748"/>
            <a:ext cx="118872" cy="118872"/>
          </a:xfrm>
          <a:prstGeom prst="ellipse">
            <a:avLst/>
          </a:prstGeom>
          <a:solidFill>
            <a:srgbClr val="FFFFFF"/>
          </a:solidFill>
          <a:ln w="12700">
            <a:solidFill>
              <a:srgbClr val="8A97B0"/>
            </a:solidFill>
            <a:prstDash val="solid"/>
          </a:ln>
        </p:spPr>
        <p:txBody>
          <a:bodyPr/>
          <a:lstStyle/>
          <a:p>
            <a:endParaRPr lang="en-US"/>
          </a:p>
        </p:txBody>
      </p:sp>
      <p:sp>
        <p:nvSpPr>
          <p:cNvPr id="9" name="Text 7"/>
          <p:cNvSpPr/>
          <p:nvPr/>
        </p:nvSpPr>
        <p:spPr>
          <a:xfrm>
            <a:off x="8942832" y="2487168"/>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02  The Token Tidal Wave</a:t>
            </a:r>
            <a:endParaRPr lang="en-US" sz="1100" dirty="0"/>
          </a:p>
        </p:txBody>
      </p:sp>
      <p:sp>
        <p:nvSpPr>
          <p:cNvPr id="10" name="Shape 8"/>
          <p:cNvSpPr/>
          <p:nvPr/>
        </p:nvSpPr>
        <p:spPr>
          <a:xfrm>
            <a:off x="8686800" y="3214116"/>
            <a:ext cx="118872" cy="118872"/>
          </a:xfrm>
          <a:prstGeom prst="ellipse">
            <a:avLst/>
          </a:prstGeom>
          <a:solidFill>
            <a:srgbClr val="FFFFFF"/>
          </a:solidFill>
          <a:ln w="12700">
            <a:solidFill>
              <a:srgbClr val="8A97B0"/>
            </a:solidFill>
            <a:prstDash val="solid"/>
          </a:ln>
        </p:spPr>
        <p:txBody>
          <a:bodyPr/>
          <a:lstStyle/>
          <a:p>
            <a:endParaRPr lang="en-US"/>
          </a:p>
        </p:txBody>
      </p:sp>
      <p:sp>
        <p:nvSpPr>
          <p:cNvPr id="11" name="Text 9"/>
          <p:cNvSpPr/>
          <p:nvPr/>
        </p:nvSpPr>
        <p:spPr>
          <a:xfrm>
            <a:off x="8942832" y="3145536"/>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03  A Royalty on Machine Labor</a:t>
            </a:r>
            <a:endParaRPr lang="en-US" sz="1100" dirty="0"/>
          </a:p>
        </p:txBody>
      </p:sp>
      <p:sp>
        <p:nvSpPr>
          <p:cNvPr id="12" name="Shape 10"/>
          <p:cNvSpPr/>
          <p:nvPr/>
        </p:nvSpPr>
        <p:spPr>
          <a:xfrm>
            <a:off x="8686800" y="3872484"/>
            <a:ext cx="118872" cy="118872"/>
          </a:xfrm>
          <a:prstGeom prst="ellipse">
            <a:avLst/>
          </a:prstGeom>
          <a:solidFill>
            <a:srgbClr val="FFFFFF"/>
          </a:solidFill>
          <a:ln w="12700">
            <a:solidFill>
              <a:srgbClr val="8A97B0"/>
            </a:solidFill>
            <a:prstDash val="solid"/>
          </a:ln>
        </p:spPr>
        <p:txBody>
          <a:bodyPr/>
          <a:lstStyle/>
          <a:p>
            <a:endParaRPr lang="en-US"/>
          </a:p>
        </p:txBody>
      </p:sp>
      <p:sp>
        <p:nvSpPr>
          <p:cNvPr id="13" name="Text 11"/>
          <p:cNvSpPr/>
          <p:nvPr/>
        </p:nvSpPr>
        <p:spPr>
          <a:xfrm>
            <a:off x="8942832" y="3803904"/>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04  Machine Oracle</a:t>
            </a:r>
            <a:endParaRPr lang="en-US" sz="1100" dirty="0"/>
          </a:p>
        </p:txBody>
      </p:sp>
      <p:sp>
        <p:nvSpPr>
          <p:cNvPr id="16" name="Text 14"/>
          <p:cNvSpPr/>
          <p:nvPr/>
        </p:nvSpPr>
        <p:spPr>
          <a:xfrm>
            <a:off x="502920" y="6309360"/>
            <a:ext cx="2743200" cy="274320"/>
          </a:xfrm>
          <a:prstGeom prst="rect">
            <a:avLst/>
          </a:prstGeom>
          <a:noFill/>
        </p:spPr>
        <p:txBody>
          <a:bodyPr wrap="square" lIns="0" tIns="0" rIns="0" bIns="0" rtlCol="0" anchor="ctr"/>
          <a:lstStyle/>
          <a:p>
            <a:pPr marL="0" indent="0">
              <a:buNone/>
            </a:pPr>
            <a:r>
              <a:rPr lang="en-US" sz="1000" b="1" kern="0" spc="30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7</a:t>
            </a:fld>
            <a:endParaRPr lang="en-US"/>
          </a:p>
        </p:txBody>
      </p:sp>
    </p:spTree>
    <p:extLst>
      <p:ext uri="{BB962C8B-B14F-4D97-AF65-F5344CB8AC3E}">
        <p14:creationId xmlns:p14="http://schemas.microsoft.com/office/powerpoint/2010/main" val="1385369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Every tech wave was bigger than the last — this one produces labor</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SKYCATCHER ILLUSTRATIVE VIEW OF TECH WAVE SCALE</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502920" y="1874520"/>
            <a:ext cx="1481328" cy="3977640"/>
          </a:xfrm>
          <a:prstGeom prst="roundRect">
            <a:avLst>
              <a:gd name="adj" fmla="val 3086"/>
            </a:avLst>
          </a:prstGeom>
          <a:solidFill>
            <a:srgbClr val="F5F8FC"/>
          </a:solidFill>
          <a:ln w="9525">
            <a:solidFill>
              <a:srgbClr val="D5DCE8"/>
            </a:solidFill>
            <a:prstDash val="solid"/>
          </a:ln>
        </p:spPr>
        <p:txBody>
          <a:bodyPr/>
          <a:lstStyle/>
          <a:p>
            <a:endParaRPr lang="en-US"/>
          </a:p>
        </p:txBody>
      </p:sp>
      <p:sp>
        <p:nvSpPr>
          <p:cNvPr id="6" name="Text 4"/>
          <p:cNvSpPr/>
          <p:nvPr/>
        </p:nvSpPr>
        <p:spPr>
          <a:xfrm>
            <a:off x="502920" y="2039112"/>
            <a:ext cx="1481328" cy="502920"/>
          </a:xfrm>
          <a:prstGeom prst="rect">
            <a:avLst/>
          </a:prstGeom>
          <a:noFill/>
        </p:spPr>
        <p:txBody>
          <a:bodyPr wrap="square" lIns="0" tIns="0" rIns="0" bIns="0" rtlCol="0" anchor="ctr"/>
          <a:lstStyle/>
          <a:p>
            <a:pPr marL="0" indent="0" algn="ctr">
              <a:buNone/>
            </a:pPr>
            <a:r>
              <a:rPr lang="en-US" sz="1400" b="1" dirty="0">
                <a:solidFill>
                  <a:srgbClr val="1A2233"/>
                </a:solidFill>
                <a:latin typeface="Cambria" pitchFamily="34" charset="0"/>
                <a:ea typeface="Cambria" pitchFamily="34" charset="-122"/>
                <a:cs typeface="Cambria" pitchFamily="34" charset="-120"/>
              </a:rPr>
              <a:t>Mainframe</a:t>
            </a:r>
            <a:endParaRPr lang="en-US" sz="1400" dirty="0"/>
          </a:p>
        </p:txBody>
      </p:sp>
      <p:sp>
        <p:nvSpPr>
          <p:cNvPr id="7" name="Text 5"/>
          <p:cNvSpPr/>
          <p:nvPr/>
        </p:nvSpPr>
        <p:spPr>
          <a:xfrm>
            <a:off x="502920" y="2441448"/>
            <a:ext cx="1481328" cy="256032"/>
          </a:xfrm>
          <a:prstGeom prst="rect">
            <a:avLst/>
          </a:prstGeom>
          <a:noFill/>
        </p:spPr>
        <p:txBody>
          <a:bodyPr wrap="square" lIns="0" tIns="0" rIns="0" bIns="0" rtlCol="0" anchor="ctr"/>
          <a:lstStyle/>
          <a:p>
            <a:pPr marL="0" indent="0" algn="ctr">
              <a:buNone/>
            </a:pPr>
            <a:r>
              <a:rPr lang="en-US" sz="1150" dirty="0">
                <a:solidFill>
                  <a:srgbClr val="5A6478"/>
                </a:solidFill>
                <a:latin typeface="Calibri" pitchFamily="34" charset="0"/>
                <a:ea typeface="Calibri" pitchFamily="34" charset="-122"/>
                <a:cs typeface="Calibri" pitchFamily="34" charset="-120"/>
              </a:rPr>
              <a:t>1960–80</a:t>
            </a:r>
            <a:endParaRPr lang="en-US" sz="1150" dirty="0"/>
          </a:p>
        </p:txBody>
      </p:sp>
      <p:sp>
        <p:nvSpPr>
          <p:cNvPr id="8" name="Shape 6"/>
          <p:cNvSpPr/>
          <p:nvPr/>
        </p:nvSpPr>
        <p:spPr>
          <a:xfrm>
            <a:off x="649224" y="2880360"/>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9" name="Text 7"/>
          <p:cNvSpPr/>
          <p:nvPr/>
        </p:nvSpPr>
        <p:spPr>
          <a:xfrm>
            <a:off x="649224" y="2871216"/>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IBM</a:t>
            </a:r>
            <a:endParaRPr lang="en-US" sz="1000" dirty="0"/>
          </a:p>
        </p:txBody>
      </p:sp>
      <p:sp>
        <p:nvSpPr>
          <p:cNvPr id="10" name="Shape 8"/>
          <p:cNvSpPr/>
          <p:nvPr/>
        </p:nvSpPr>
        <p:spPr>
          <a:xfrm>
            <a:off x="649224" y="3392424"/>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11" name="Text 9"/>
          <p:cNvSpPr/>
          <p:nvPr/>
        </p:nvSpPr>
        <p:spPr>
          <a:xfrm>
            <a:off x="649224" y="3383280"/>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DEC</a:t>
            </a:r>
            <a:endParaRPr lang="en-US" sz="1000" dirty="0"/>
          </a:p>
        </p:txBody>
      </p:sp>
      <p:sp>
        <p:nvSpPr>
          <p:cNvPr id="12" name="Shape 10"/>
          <p:cNvSpPr/>
          <p:nvPr/>
        </p:nvSpPr>
        <p:spPr>
          <a:xfrm>
            <a:off x="685800" y="5280660"/>
            <a:ext cx="1115568" cy="502920"/>
          </a:xfrm>
          <a:prstGeom prst="arc">
            <a:avLst>
              <a:gd name="adj1" fmla="val 10800000"/>
              <a:gd name="adj2" fmla="val 21600000"/>
            </a:avLst>
          </a:prstGeom>
          <a:ln w="25400">
            <a:solidFill>
              <a:srgbClr val="A8C6F5"/>
            </a:solidFill>
            <a:prstDash val="solid"/>
          </a:ln>
        </p:spPr>
        <p:txBody>
          <a:bodyPr/>
          <a:lstStyle/>
          <a:p>
            <a:endParaRPr lang="en-US"/>
          </a:p>
        </p:txBody>
      </p:sp>
      <p:sp>
        <p:nvSpPr>
          <p:cNvPr id="13" name="Shape 11"/>
          <p:cNvSpPr/>
          <p:nvPr/>
        </p:nvSpPr>
        <p:spPr>
          <a:xfrm>
            <a:off x="2093976" y="1874520"/>
            <a:ext cx="1481328" cy="3977640"/>
          </a:xfrm>
          <a:prstGeom prst="roundRect">
            <a:avLst>
              <a:gd name="adj" fmla="val 3086"/>
            </a:avLst>
          </a:prstGeom>
          <a:solidFill>
            <a:srgbClr val="F5F8FC"/>
          </a:solidFill>
          <a:ln w="9525">
            <a:solidFill>
              <a:srgbClr val="D5DCE8"/>
            </a:solidFill>
            <a:prstDash val="solid"/>
          </a:ln>
        </p:spPr>
        <p:txBody>
          <a:bodyPr/>
          <a:lstStyle/>
          <a:p>
            <a:endParaRPr lang="en-US"/>
          </a:p>
        </p:txBody>
      </p:sp>
      <p:sp>
        <p:nvSpPr>
          <p:cNvPr id="14" name="Text 12"/>
          <p:cNvSpPr/>
          <p:nvPr/>
        </p:nvSpPr>
        <p:spPr>
          <a:xfrm>
            <a:off x="2093976" y="2039112"/>
            <a:ext cx="1481328" cy="502920"/>
          </a:xfrm>
          <a:prstGeom prst="rect">
            <a:avLst/>
          </a:prstGeom>
          <a:noFill/>
        </p:spPr>
        <p:txBody>
          <a:bodyPr wrap="square" lIns="0" tIns="0" rIns="0" bIns="0" rtlCol="0" anchor="ctr"/>
          <a:lstStyle/>
          <a:p>
            <a:pPr marL="0" indent="0" algn="ctr">
              <a:buNone/>
            </a:pPr>
            <a:r>
              <a:rPr lang="en-US" sz="1400" b="1" dirty="0">
                <a:solidFill>
                  <a:srgbClr val="1A2233"/>
                </a:solidFill>
                <a:latin typeface="Cambria" pitchFamily="34" charset="0"/>
                <a:ea typeface="Cambria" pitchFamily="34" charset="-122"/>
                <a:cs typeface="Cambria" pitchFamily="34" charset="-120"/>
              </a:rPr>
              <a:t>PC</a:t>
            </a:r>
            <a:endParaRPr lang="en-US" sz="1400" dirty="0"/>
          </a:p>
        </p:txBody>
      </p:sp>
      <p:sp>
        <p:nvSpPr>
          <p:cNvPr id="15" name="Text 13"/>
          <p:cNvSpPr/>
          <p:nvPr/>
        </p:nvSpPr>
        <p:spPr>
          <a:xfrm>
            <a:off x="2093976" y="2441448"/>
            <a:ext cx="1481328" cy="256032"/>
          </a:xfrm>
          <a:prstGeom prst="rect">
            <a:avLst/>
          </a:prstGeom>
          <a:noFill/>
        </p:spPr>
        <p:txBody>
          <a:bodyPr wrap="square" lIns="0" tIns="0" rIns="0" bIns="0" rtlCol="0" anchor="ctr"/>
          <a:lstStyle/>
          <a:p>
            <a:pPr marL="0" indent="0" algn="ctr">
              <a:buNone/>
            </a:pPr>
            <a:r>
              <a:rPr lang="en-US" sz="1150" dirty="0">
                <a:solidFill>
                  <a:srgbClr val="5A6478"/>
                </a:solidFill>
                <a:latin typeface="Calibri" pitchFamily="34" charset="0"/>
                <a:ea typeface="Calibri" pitchFamily="34" charset="-122"/>
                <a:cs typeface="Calibri" pitchFamily="34" charset="-120"/>
              </a:rPr>
              <a:t>1980s</a:t>
            </a:r>
            <a:endParaRPr lang="en-US" sz="1150" dirty="0"/>
          </a:p>
        </p:txBody>
      </p:sp>
      <p:sp>
        <p:nvSpPr>
          <p:cNvPr id="16" name="Shape 14"/>
          <p:cNvSpPr/>
          <p:nvPr/>
        </p:nvSpPr>
        <p:spPr>
          <a:xfrm>
            <a:off x="2240280" y="2880360"/>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17" name="Text 15"/>
          <p:cNvSpPr/>
          <p:nvPr/>
        </p:nvSpPr>
        <p:spPr>
          <a:xfrm>
            <a:off x="2240280" y="2871216"/>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Microsoft</a:t>
            </a:r>
            <a:endParaRPr lang="en-US" sz="1000" dirty="0"/>
          </a:p>
        </p:txBody>
      </p:sp>
      <p:sp>
        <p:nvSpPr>
          <p:cNvPr id="18" name="Shape 16"/>
          <p:cNvSpPr/>
          <p:nvPr/>
        </p:nvSpPr>
        <p:spPr>
          <a:xfrm>
            <a:off x="2240280" y="3392424"/>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19" name="Text 17"/>
          <p:cNvSpPr/>
          <p:nvPr/>
        </p:nvSpPr>
        <p:spPr>
          <a:xfrm>
            <a:off x="2240280" y="3383280"/>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Intel</a:t>
            </a:r>
            <a:endParaRPr lang="en-US" sz="1000" dirty="0"/>
          </a:p>
        </p:txBody>
      </p:sp>
      <p:sp>
        <p:nvSpPr>
          <p:cNvPr id="20" name="Shape 18"/>
          <p:cNvSpPr/>
          <p:nvPr/>
        </p:nvSpPr>
        <p:spPr>
          <a:xfrm>
            <a:off x="2276856" y="5152644"/>
            <a:ext cx="1115568" cy="758952"/>
          </a:xfrm>
          <a:prstGeom prst="arc">
            <a:avLst>
              <a:gd name="adj1" fmla="val 10800000"/>
              <a:gd name="adj2" fmla="val 21600000"/>
            </a:avLst>
          </a:prstGeom>
          <a:ln w="25400">
            <a:solidFill>
              <a:srgbClr val="A8C6F5"/>
            </a:solidFill>
            <a:prstDash val="solid"/>
          </a:ln>
        </p:spPr>
        <p:txBody>
          <a:bodyPr/>
          <a:lstStyle/>
          <a:p>
            <a:endParaRPr lang="en-US"/>
          </a:p>
        </p:txBody>
      </p:sp>
      <p:sp>
        <p:nvSpPr>
          <p:cNvPr id="21" name="Shape 19"/>
          <p:cNvSpPr/>
          <p:nvPr/>
        </p:nvSpPr>
        <p:spPr>
          <a:xfrm>
            <a:off x="3685032" y="1874520"/>
            <a:ext cx="1481328" cy="3977640"/>
          </a:xfrm>
          <a:prstGeom prst="roundRect">
            <a:avLst>
              <a:gd name="adj" fmla="val 3086"/>
            </a:avLst>
          </a:prstGeom>
          <a:solidFill>
            <a:srgbClr val="F5F8FC"/>
          </a:solidFill>
          <a:ln w="9525">
            <a:solidFill>
              <a:srgbClr val="D5DCE8"/>
            </a:solidFill>
            <a:prstDash val="solid"/>
          </a:ln>
        </p:spPr>
        <p:txBody>
          <a:bodyPr/>
          <a:lstStyle/>
          <a:p>
            <a:endParaRPr lang="en-US"/>
          </a:p>
        </p:txBody>
      </p:sp>
      <p:sp>
        <p:nvSpPr>
          <p:cNvPr id="22" name="Text 20"/>
          <p:cNvSpPr/>
          <p:nvPr/>
        </p:nvSpPr>
        <p:spPr>
          <a:xfrm>
            <a:off x="3685032" y="2039112"/>
            <a:ext cx="1481328" cy="502920"/>
          </a:xfrm>
          <a:prstGeom prst="rect">
            <a:avLst/>
          </a:prstGeom>
          <a:noFill/>
        </p:spPr>
        <p:txBody>
          <a:bodyPr wrap="square" lIns="0" tIns="0" rIns="0" bIns="0" rtlCol="0" anchor="ctr"/>
          <a:lstStyle/>
          <a:p>
            <a:pPr marL="0" indent="0" algn="ctr">
              <a:buNone/>
            </a:pPr>
            <a:r>
              <a:rPr lang="en-US" sz="1400" b="1" dirty="0">
                <a:solidFill>
                  <a:srgbClr val="1A2233"/>
                </a:solidFill>
                <a:latin typeface="Cambria" pitchFamily="34" charset="0"/>
                <a:ea typeface="Cambria" pitchFamily="34" charset="-122"/>
                <a:cs typeface="Cambria" pitchFamily="34" charset="-120"/>
              </a:rPr>
              <a:t>Networking</a:t>
            </a:r>
            <a:endParaRPr lang="en-US" sz="1400" dirty="0"/>
          </a:p>
        </p:txBody>
      </p:sp>
      <p:sp>
        <p:nvSpPr>
          <p:cNvPr id="23" name="Text 21"/>
          <p:cNvSpPr/>
          <p:nvPr/>
        </p:nvSpPr>
        <p:spPr>
          <a:xfrm>
            <a:off x="3685032" y="2441448"/>
            <a:ext cx="1481328" cy="256032"/>
          </a:xfrm>
          <a:prstGeom prst="rect">
            <a:avLst/>
          </a:prstGeom>
          <a:noFill/>
        </p:spPr>
        <p:txBody>
          <a:bodyPr wrap="square" lIns="0" tIns="0" rIns="0" bIns="0" rtlCol="0" anchor="ctr"/>
          <a:lstStyle/>
          <a:p>
            <a:pPr marL="0" indent="0" algn="ctr">
              <a:buNone/>
            </a:pPr>
            <a:r>
              <a:rPr lang="en-US" sz="1150" dirty="0">
                <a:solidFill>
                  <a:srgbClr val="5A6478"/>
                </a:solidFill>
                <a:latin typeface="Calibri" pitchFamily="34" charset="0"/>
                <a:ea typeface="Calibri" pitchFamily="34" charset="-122"/>
                <a:cs typeface="Calibri" pitchFamily="34" charset="-120"/>
              </a:rPr>
              <a:t>1990s</a:t>
            </a:r>
            <a:endParaRPr lang="en-US" sz="1150" dirty="0"/>
          </a:p>
        </p:txBody>
      </p:sp>
      <p:sp>
        <p:nvSpPr>
          <p:cNvPr id="24" name="Shape 22"/>
          <p:cNvSpPr/>
          <p:nvPr/>
        </p:nvSpPr>
        <p:spPr>
          <a:xfrm>
            <a:off x="3831336" y="2880360"/>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25" name="Text 23"/>
          <p:cNvSpPr/>
          <p:nvPr/>
        </p:nvSpPr>
        <p:spPr>
          <a:xfrm>
            <a:off x="3831336" y="2871216"/>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Cisco</a:t>
            </a:r>
            <a:endParaRPr lang="en-US" sz="1000" dirty="0"/>
          </a:p>
        </p:txBody>
      </p:sp>
      <p:sp>
        <p:nvSpPr>
          <p:cNvPr id="26" name="Shape 24"/>
          <p:cNvSpPr/>
          <p:nvPr/>
        </p:nvSpPr>
        <p:spPr>
          <a:xfrm>
            <a:off x="3831336" y="3392424"/>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27" name="Text 25"/>
          <p:cNvSpPr/>
          <p:nvPr/>
        </p:nvSpPr>
        <p:spPr>
          <a:xfrm>
            <a:off x="3831336" y="3383280"/>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Nokia</a:t>
            </a:r>
            <a:endParaRPr lang="en-US" sz="1000" dirty="0"/>
          </a:p>
        </p:txBody>
      </p:sp>
      <p:sp>
        <p:nvSpPr>
          <p:cNvPr id="28" name="Shape 26"/>
          <p:cNvSpPr/>
          <p:nvPr/>
        </p:nvSpPr>
        <p:spPr>
          <a:xfrm>
            <a:off x="3867912" y="5024628"/>
            <a:ext cx="1115568" cy="1014984"/>
          </a:xfrm>
          <a:prstGeom prst="arc">
            <a:avLst>
              <a:gd name="adj1" fmla="val 10800000"/>
              <a:gd name="adj2" fmla="val 21600000"/>
            </a:avLst>
          </a:prstGeom>
          <a:ln w="25400">
            <a:solidFill>
              <a:srgbClr val="A8C6F5"/>
            </a:solidFill>
            <a:prstDash val="solid"/>
          </a:ln>
        </p:spPr>
        <p:txBody>
          <a:bodyPr/>
          <a:lstStyle/>
          <a:p>
            <a:endParaRPr lang="en-US"/>
          </a:p>
        </p:txBody>
      </p:sp>
      <p:sp>
        <p:nvSpPr>
          <p:cNvPr id="29" name="Shape 27"/>
          <p:cNvSpPr/>
          <p:nvPr/>
        </p:nvSpPr>
        <p:spPr>
          <a:xfrm>
            <a:off x="5276088" y="1874520"/>
            <a:ext cx="1481328" cy="3977640"/>
          </a:xfrm>
          <a:prstGeom prst="roundRect">
            <a:avLst>
              <a:gd name="adj" fmla="val 3086"/>
            </a:avLst>
          </a:prstGeom>
          <a:solidFill>
            <a:srgbClr val="F5F8FC"/>
          </a:solidFill>
          <a:ln w="9525">
            <a:solidFill>
              <a:srgbClr val="D5DCE8"/>
            </a:solidFill>
            <a:prstDash val="solid"/>
          </a:ln>
        </p:spPr>
        <p:txBody>
          <a:bodyPr/>
          <a:lstStyle/>
          <a:p>
            <a:endParaRPr lang="en-US"/>
          </a:p>
        </p:txBody>
      </p:sp>
      <p:sp>
        <p:nvSpPr>
          <p:cNvPr id="30" name="Text 28"/>
          <p:cNvSpPr/>
          <p:nvPr/>
        </p:nvSpPr>
        <p:spPr>
          <a:xfrm>
            <a:off x="5276088" y="2039112"/>
            <a:ext cx="1481328" cy="502920"/>
          </a:xfrm>
          <a:prstGeom prst="rect">
            <a:avLst/>
          </a:prstGeom>
          <a:noFill/>
        </p:spPr>
        <p:txBody>
          <a:bodyPr wrap="square" lIns="0" tIns="0" rIns="0" bIns="0" rtlCol="0" anchor="ctr"/>
          <a:lstStyle/>
          <a:p>
            <a:pPr marL="0" indent="0" algn="ctr">
              <a:buNone/>
            </a:pPr>
            <a:r>
              <a:rPr lang="en-US" sz="1400" b="1" dirty="0">
                <a:solidFill>
                  <a:srgbClr val="1A2233"/>
                </a:solidFill>
                <a:latin typeface="Cambria" pitchFamily="34" charset="0"/>
                <a:ea typeface="Cambria" pitchFamily="34" charset="-122"/>
                <a:cs typeface="Cambria" pitchFamily="34" charset="-120"/>
              </a:rPr>
              <a:t>Web 1.0</a:t>
            </a:r>
            <a:endParaRPr lang="en-US" sz="1400" dirty="0"/>
          </a:p>
        </p:txBody>
      </p:sp>
      <p:sp>
        <p:nvSpPr>
          <p:cNvPr id="31" name="Text 29"/>
          <p:cNvSpPr/>
          <p:nvPr/>
        </p:nvSpPr>
        <p:spPr>
          <a:xfrm>
            <a:off x="5276088" y="2441448"/>
            <a:ext cx="1481328" cy="256032"/>
          </a:xfrm>
          <a:prstGeom prst="rect">
            <a:avLst/>
          </a:prstGeom>
          <a:noFill/>
        </p:spPr>
        <p:txBody>
          <a:bodyPr wrap="square" lIns="0" tIns="0" rIns="0" bIns="0" rtlCol="0" anchor="ctr"/>
          <a:lstStyle/>
          <a:p>
            <a:pPr marL="0" indent="0" algn="ctr">
              <a:buNone/>
            </a:pPr>
            <a:r>
              <a:rPr lang="en-US" sz="1150" dirty="0">
                <a:solidFill>
                  <a:srgbClr val="5A6478"/>
                </a:solidFill>
                <a:latin typeface="Calibri" pitchFamily="34" charset="0"/>
                <a:ea typeface="Calibri" pitchFamily="34" charset="-122"/>
                <a:cs typeface="Calibri" pitchFamily="34" charset="-120"/>
              </a:rPr>
              <a:t>2000s</a:t>
            </a:r>
            <a:endParaRPr lang="en-US" sz="1150" dirty="0"/>
          </a:p>
        </p:txBody>
      </p:sp>
      <p:sp>
        <p:nvSpPr>
          <p:cNvPr id="32" name="Shape 30"/>
          <p:cNvSpPr/>
          <p:nvPr/>
        </p:nvSpPr>
        <p:spPr>
          <a:xfrm>
            <a:off x="5422392" y="2880360"/>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33" name="Text 31"/>
          <p:cNvSpPr/>
          <p:nvPr/>
        </p:nvSpPr>
        <p:spPr>
          <a:xfrm>
            <a:off x="5422392" y="2871216"/>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Google</a:t>
            </a:r>
            <a:endParaRPr lang="en-US" sz="1000" dirty="0"/>
          </a:p>
        </p:txBody>
      </p:sp>
      <p:sp>
        <p:nvSpPr>
          <p:cNvPr id="34" name="Shape 32"/>
          <p:cNvSpPr/>
          <p:nvPr/>
        </p:nvSpPr>
        <p:spPr>
          <a:xfrm>
            <a:off x="5422392" y="3392424"/>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35" name="Text 33"/>
          <p:cNvSpPr/>
          <p:nvPr/>
        </p:nvSpPr>
        <p:spPr>
          <a:xfrm>
            <a:off x="5422392" y="3383280"/>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Amazon</a:t>
            </a:r>
            <a:endParaRPr lang="en-US" sz="1000" dirty="0"/>
          </a:p>
        </p:txBody>
      </p:sp>
      <p:sp>
        <p:nvSpPr>
          <p:cNvPr id="36" name="Shape 34"/>
          <p:cNvSpPr/>
          <p:nvPr/>
        </p:nvSpPr>
        <p:spPr>
          <a:xfrm>
            <a:off x="5458968" y="4896612"/>
            <a:ext cx="1115568" cy="1271016"/>
          </a:xfrm>
          <a:prstGeom prst="arc">
            <a:avLst>
              <a:gd name="adj1" fmla="val 10800000"/>
              <a:gd name="adj2" fmla="val 21600000"/>
            </a:avLst>
          </a:prstGeom>
          <a:ln w="25400">
            <a:solidFill>
              <a:srgbClr val="A8C6F5"/>
            </a:solidFill>
            <a:prstDash val="solid"/>
          </a:ln>
        </p:spPr>
        <p:txBody>
          <a:bodyPr/>
          <a:lstStyle/>
          <a:p>
            <a:endParaRPr lang="en-US"/>
          </a:p>
        </p:txBody>
      </p:sp>
      <p:sp>
        <p:nvSpPr>
          <p:cNvPr id="37" name="Shape 35"/>
          <p:cNvSpPr/>
          <p:nvPr/>
        </p:nvSpPr>
        <p:spPr>
          <a:xfrm>
            <a:off x="6867144" y="1874520"/>
            <a:ext cx="1481328" cy="3977640"/>
          </a:xfrm>
          <a:prstGeom prst="roundRect">
            <a:avLst>
              <a:gd name="adj" fmla="val 3086"/>
            </a:avLst>
          </a:prstGeom>
          <a:solidFill>
            <a:srgbClr val="F5F8FC"/>
          </a:solidFill>
          <a:ln w="9525">
            <a:solidFill>
              <a:srgbClr val="D5DCE8"/>
            </a:solidFill>
            <a:prstDash val="solid"/>
          </a:ln>
        </p:spPr>
        <p:txBody>
          <a:bodyPr/>
          <a:lstStyle/>
          <a:p>
            <a:endParaRPr lang="en-US"/>
          </a:p>
        </p:txBody>
      </p:sp>
      <p:sp>
        <p:nvSpPr>
          <p:cNvPr id="38" name="Text 36"/>
          <p:cNvSpPr/>
          <p:nvPr/>
        </p:nvSpPr>
        <p:spPr>
          <a:xfrm>
            <a:off x="6867144" y="2039112"/>
            <a:ext cx="1481328" cy="502920"/>
          </a:xfrm>
          <a:prstGeom prst="rect">
            <a:avLst/>
          </a:prstGeom>
          <a:noFill/>
        </p:spPr>
        <p:txBody>
          <a:bodyPr wrap="square" lIns="0" tIns="0" rIns="0" bIns="0" rtlCol="0" anchor="ctr"/>
          <a:lstStyle/>
          <a:p>
            <a:pPr marL="0" indent="0" algn="ctr">
              <a:buNone/>
            </a:pPr>
            <a:r>
              <a:rPr lang="en-US" sz="1400" b="1" dirty="0">
                <a:solidFill>
                  <a:srgbClr val="1A2233"/>
                </a:solidFill>
                <a:latin typeface="Cambria" pitchFamily="34" charset="0"/>
                <a:ea typeface="Cambria" pitchFamily="34" charset="-122"/>
                <a:cs typeface="Cambria" pitchFamily="34" charset="-120"/>
              </a:rPr>
              <a:t>Mobile</a:t>
            </a:r>
            <a:endParaRPr lang="en-US" sz="1400" dirty="0"/>
          </a:p>
        </p:txBody>
      </p:sp>
      <p:sp>
        <p:nvSpPr>
          <p:cNvPr id="39" name="Text 37"/>
          <p:cNvSpPr/>
          <p:nvPr/>
        </p:nvSpPr>
        <p:spPr>
          <a:xfrm>
            <a:off x="6867144" y="2441448"/>
            <a:ext cx="1481328" cy="256032"/>
          </a:xfrm>
          <a:prstGeom prst="rect">
            <a:avLst/>
          </a:prstGeom>
          <a:noFill/>
        </p:spPr>
        <p:txBody>
          <a:bodyPr wrap="square" lIns="0" tIns="0" rIns="0" bIns="0" rtlCol="0" anchor="ctr"/>
          <a:lstStyle/>
          <a:p>
            <a:pPr marL="0" indent="0" algn="ctr">
              <a:buNone/>
            </a:pPr>
            <a:r>
              <a:rPr lang="en-US" sz="1150" dirty="0">
                <a:solidFill>
                  <a:srgbClr val="5A6478"/>
                </a:solidFill>
                <a:latin typeface="Calibri" pitchFamily="34" charset="0"/>
                <a:ea typeface="Calibri" pitchFamily="34" charset="-122"/>
                <a:cs typeface="Calibri" pitchFamily="34" charset="-120"/>
              </a:rPr>
              <a:t>2010s</a:t>
            </a:r>
            <a:endParaRPr lang="en-US" sz="1150" dirty="0"/>
          </a:p>
        </p:txBody>
      </p:sp>
      <p:sp>
        <p:nvSpPr>
          <p:cNvPr id="40" name="Shape 38"/>
          <p:cNvSpPr/>
          <p:nvPr/>
        </p:nvSpPr>
        <p:spPr>
          <a:xfrm>
            <a:off x="7013448" y="2880360"/>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41" name="Text 39"/>
          <p:cNvSpPr/>
          <p:nvPr/>
        </p:nvSpPr>
        <p:spPr>
          <a:xfrm>
            <a:off x="7013448" y="2871216"/>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Apple</a:t>
            </a:r>
            <a:endParaRPr lang="en-US" sz="1000" dirty="0"/>
          </a:p>
        </p:txBody>
      </p:sp>
      <p:sp>
        <p:nvSpPr>
          <p:cNvPr id="42" name="Shape 40"/>
          <p:cNvSpPr/>
          <p:nvPr/>
        </p:nvSpPr>
        <p:spPr>
          <a:xfrm>
            <a:off x="7013448" y="3392424"/>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43" name="Text 41"/>
          <p:cNvSpPr/>
          <p:nvPr/>
        </p:nvSpPr>
        <p:spPr>
          <a:xfrm>
            <a:off x="7013448" y="3383280"/>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Tencent</a:t>
            </a:r>
            <a:endParaRPr lang="en-US" sz="1000" dirty="0"/>
          </a:p>
        </p:txBody>
      </p:sp>
      <p:sp>
        <p:nvSpPr>
          <p:cNvPr id="44" name="Shape 42"/>
          <p:cNvSpPr/>
          <p:nvPr/>
        </p:nvSpPr>
        <p:spPr>
          <a:xfrm>
            <a:off x="7050024" y="4768596"/>
            <a:ext cx="1115568" cy="1527048"/>
          </a:xfrm>
          <a:prstGeom prst="arc">
            <a:avLst>
              <a:gd name="adj1" fmla="val 10800000"/>
              <a:gd name="adj2" fmla="val 21600000"/>
            </a:avLst>
          </a:prstGeom>
          <a:ln w="25400">
            <a:solidFill>
              <a:srgbClr val="A8C6F5"/>
            </a:solidFill>
            <a:prstDash val="solid"/>
          </a:ln>
        </p:spPr>
        <p:txBody>
          <a:bodyPr/>
          <a:lstStyle/>
          <a:p>
            <a:endParaRPr lang="en-US"/>
          </a:p>
        </p:txBody>
      </p:sp>
      <p:sp>
        <p:nvSpPr>
          <p:cNvPr id="45" name="Shape 43"/>
          <p:cNvSpPr/>
          <p:nvPr/>
        </p:nvSpPr>
        <p:spPr>
          <a:xfrm>
            <a:off x="8458200" y="1874520"/>
            <a:ext cx="1481328" cy="3977640"/>
          </a:xfrm>
          <a:prstGeom prst="roundRect">
            <a:avLst>
              <a:gd name="adj" fmla="val 3086"/>
            </a:avLst>
          </a:prstGeom>
          <a:solidFill>
            <a:srgbClr val="F5F8FC"/>
          </a:solidFill>
          <a:ln w="9525">
            <a:solidFill>
              <a:srgbClr val="D5DCE8"/>
            </a:solidFill>
            <a:prstDash val="solid"/>
          </a:ln>
        </p:spPr>
        <p:txBody>
          <a:bodyPr/>
          <a:lstStyle/>
          <a:p>
            <a:endParaRPr lang="en-US"/>
          </a:p>
        </p:txBody>
      </p:sp>
      <p:sp>
        <p:nvSpPr>
          <p:cNvPr id="46" name="Text 44"/>
          <p:cNvSpPr/>
          <p:nvPr/>
        </p:nvSpPr>
        <p:spPr>
          <a:xfrm>
            <a:off x="8458200" y="2039112"/>
            <a:ext cx="1481328" cy="502920"/>
          </a:xfrm>
          <a:prstGeom prst="rect">
            <a:avLst/>
          </a:prstGeom>
          <a:noFill/>
        </p:spPr>
        <p:txBody>
          <a:bodyPr wrap="square" lIns="0" tIns="0" rIns="0" bIns="0" rtlCol="0" anchor="ctr"/>
          <a:lstStyle/>
          <a:p>
            <a:pPr marL="0" indent="0" algn="ctr">
              <a:buNone/>
            </a:pPr>
            <a:r>
              <a:rPr lang="en-US" sz="1400" b="1" dirty="0">
                <a:solidFill>
                  <a:srgbClr val="1A2233"/>
                </a:solidFill>
                <a:latin typeface="Cambria" pitchFamily="34" charset="0"/>
                <a:ea typeface="Cambria" pitchFamily="34" charset="-122"/>
                <a:cs typeface="Cambria" pitchFamily="34" charset="-120"/>
              </a:rPr>
              <a:t>Cloud / SaaS</a:t>
            </a:r>
            <a:endParaRPr lang="en-US" sz="1400" dirty="0"/>
          </a:p>
        </p:txBody>
      </p:sp>
      <p:sp>
        <p:nvSpPr>
          <p:cNvPr id="47" name="Text 45"/>
          <p:cNvSpPr/>
          <p:nvPr/>
        </p:nvSpPr>
        <p:spPr>
          <a:xfrm>
            <a:off x="8458200" y="2441448"/>
            <a:ext cx="1481328" cy="256032"/>
          </a:xfrm>
          <a:prstGeom prst="rect">
            <a:avLst/>
          </a:prstGeom>
          <a:noFill/>
        </p:spPr>
        <p:txBody>
          <a:bodyPr wrap="square" lIns="0" tIns="0" rIns="0" bIns="0" rtlCol="0" anchor="ctr"/>
          <a:lstStyle/>
          <a:p>
            <a:pPr marL="0" indent="0" algn="ctr">
              <a:buNone/>
            </a:pPr>
            <a:r>
              <a:rPr lang="en-US" sz="1150" dirty="0">
                <a:solidFill>
                  <a:srgbClr val="5A6478"/>
                </a:solidFill>
                <a:latin typeface="Calibri" pitchFamily="34" charset="0"/>
                <a:ea typeface="Calibri" pitchFamily="34" charset="-122"/>
                <a:cs typeface="Calibri" pitchFamily="34" charset="-120"/>
              </a:rPr>
              <a:t>2015–20</a:t>
            </a:r>
            <a:endParaRPr lang="en-US" sz="1150" dirty="0"/>
          </a:p>
        </p:txBody>
      </p:sp>
      <p:sp>
        <p:nvSpPr>
          <p:cNvPr id="48" name="Shape 46"/>
          <p:cNvSpPr/>
          <p:nvPr/>
        </p:nvSpPr>
        <p:spPr>
          <a:xfrm>
            <a:off x="8604504" y="2880360"/>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49" name="Text 47"/>
          <p:cNvSpPr/>
          <p:nvPr/>
        </p:nvSpPr>
        <p:spPr>
          <a:xfrm>
            <a:off x="8604504" y="2871216"/>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AWS</a:t>
            </a:r>
            <a:endParaRPr lang="en-US" sz="1000" dirty="0"/>
          </a:p>
        </p:txBody>
      </p:sp>
      <p:sp>
        <p:nvSpPr>
          <p:cNvPr id="50" name="Shape 48"/>
          <p:cNvSpPr/>
          <p:nvPr/>
        </p:nvSpPr>
        <p:spPr>
          <a:xfrm>
            <a:off x="8604504" y="3392424"/>
            <a:ext cx="1188720"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51" name="Text 49"/>
          <p:cNvSpPr/>
          <p:nvPr/>
        </p:nvSpPr>
        <p:spPr>
          <a:xfrm>
            <a:off x="8604504" y="3383280"/>
            <a:ext cx="1188720"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Salesforce</a:t>
            </a:r>
            <a:endParaRPr lang="en-US" sz="1000" dirty="0"/>
          </a:p>
        </p:txBody>
      </p:sp>
      <p:sp>
        <p:nvSpPr>
          <p:cNvPr id="52" name="Shape 50"/>
          <p:cNvSpPr/>
          <p:nvPr/>
        </p:nvSpPr>
        <p:spPr>
          <a:xfrm>
            <a:off x="8641080" y="4640580"/>
            <a:ext cx="1115568" cy="1783080"/>
          </a:xfrm>
          <a:prstGeom prst="arc">
            <a:avLst>
              <a:gd name="adj1" fmla="val 10800000"/>
              <a:gd name="adj2" fmla="val 21600000"/>
            </a:avLst>
          </a:prstGeom>
          <a:ln w="25400">
            <a:solidFill>
              <a:srgbClr val="A8C6F5"/>
            </a:solidFill>
            <a:prstDash val="solid"/>
          </a:ln>
        </p:spPr>
        <p:txBody>
          <a:bodyPr/>
          <a:lstStyle/>
          <a:p>
            <a:endParaRPr lang="en-US"/>
          </a:p>
        </p:txBody>
      </p:sp>
      <p:sp>
        <p:nvSpPr>
          <p:cNvPr id="53" name="Shape 51"/>
          <p:cNvSpPr/>
          <p:nvPr/>
        </p:nvSpPr>
        <p:spPr>
          <a:xfrm>
            <a:off x="10049256" y="1645920"/>
            <a:ext cx="1639519" cy="4206240"/>
          </a:xfrm>
          <a:prstGeom prst="roundRect">
            <a:avLst>
              <a:gd name="adj" fmla="val 3346"/>
            </a:avLst>
          </a:prstGeom>
          <a:solidFill>
            <a:srgbClr val="EAF1FE"/>
          </a:solidFill>
          <a:ln w="19050">
            <a:solidFill>
              <a:srgbClr val="2777EF"/>
            </a:solidFill>
            <a:prstDash val="solid"/>
          </a:ln>
        </p:spPr>
        <p:txBody>
          <a:bodyPr/>
          <a:lstStyle/>
          <a:p>
            <a:endParaRPr lang="en-US"/>
          </a:p>
        </p:txBody>
      </p:sp>
      <p:sp>
        <p:nvSpPr>
          <p:cNvPr id="54" name="Text 52"/>
          <p:cNvSpPr/>
          <p:nvPr/>
        </p:nvSpPr>
        <p:spPr>
          <a:xfrm>
            <a:off x="10049256" y="1828800"/>
            <a:ext cx="1639519" cy="502920"/>
          </a:xfrm>
          <a:prstGeom prst="rect">
            <a:avLst/>
          </a:prstGeom>
          <a:noFill/>
        </p:spPr>
        <p:txBody>
          <a:bodyPr wrap="square" lIns="0" tIns="0" rIns="0" bIns="0" rtlCol="0" anchor="ctr"/>
          <a:lstStyle/>
          <a:p>
            <a:pPr marL="0" indent="0" algn="ctr">
              <a:buNone/>
            </a:pPr>
            <a:r>
              <a:rPr lang="en-US" sz="1500" b="1" dirty="0">
                <a:solidFill>
                  <a:srgbClr val="2777EF"/>
                </a:solidFill>
                <a:latin typeface="Cambria" pitchFamily="34" charset="0"/>
                <a:ea typeface="Cambria" pitchFamily="34" charset="-122"/>
                <a:cs typeface="Cambria" pitchFamily="34" charset="-120"/>
              </a:rPr>
              <a:t>Artificial Intelligence</a:t>
            </a:r>
            <a:endParaRPr lang="en-US" sz="1500" dirty="0"/>
          </a:p>
        </p:txBody>
      </p:sp>
      <p:sp>
        <p:nvSpPr>
          <p:cNvPr id="55" name="Text 53"/>
          <p:cNvSpPr/>
          <p:nvPr/>
        </p:nvSpPr>
        <p:spPr>
          <a:xfrm>
            <a:off x="10049256" y="2258568"/>
            <a:ext cx="1639519" cy="256032"/>
          </a:xfrm>
          <a:prstGeom prst="rect">
            <a:avLst/>
          </a:prstGeom>
          <a:noFill/>
        </p:spPr>
        <p:txBody>
          <a:bodyPr wrap="square" lIns="0" tIns="0" rIns="0" bIns="0" rtlCol="0" anchor="ctr"/>
          <a:lstStyle/>
          <a:p>
            <a:pPr marL="0" indent="0" algn="ctr">
              <a:buNone/>
            </a:pPr>
            <a:r>
              <a:rPr lang="en-US" sz="1200" b="1" dirty="0">
                <a:solidFill>
                  <a:srgbClr val="2777EF"/>
                </a:solidFill>
                <a:latin typeface="Calibri" pitchFamily="34" charset="0"/>
                <a:ea typeface="Calibri" pitchFamily="34" charset="-122"/>
                <a:cs typeface="Calibri" pitchFamily="34" charset="-120"/>
              </a:rPr>
              <a:t>2022–2029+</a:t>
            </a:r>
            <a:endParaRPr lang="en-US" sz="1200" dirty="0"/>
          </a:p>
        </p:txBody>
      </p:sp>
      <p:sp>
        <p:nvSpPr>
          <p:cNvPr id="56" name="Shape 54"/>
          <p:cNvSpPr/>
          <p:nvPr/>
        </p:nvSpPr>
        <p:spPr>
          <a:xfrm>
            <a:off x="10213848" y="2743200"/>
            <a:ext cx="1310335"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57" name="Text 55"/>
          <p:cNvSpPr/>
          <p:nvPr/>
        </p:nvSpPr>
        <p:spPr>
          <a:xfrm>
            <a:off x="10213848" y="2734056"/>
            <a:ext cx="1310335"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NVIDIA</a:t>
            </a:r>
            <a:endParaRPr lang="en-US" sz="1000" dirty="0"/>
          </a:p>
        </p:txBody>
      </p:sp>
      <p:sp>
        <p:nvSpPr>
          <p:cNvPr id="58" name="Shape 56"/>
          <p:cNvSpPr/>
          <p:nvPr/>
        </p:nvSpPr>
        <p:spPr>
          <a:xfrm>
            <a:off x="10213848" y="3255264"/>
            <a:ext cx="1310335"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59" name="Text 57"/>
          <p:cNvSpPr/>
          <p:nvPr/>
        </p:nvSpPr>
        <p:spPr>
          <a:xfrm>
            <a:off x="10213848" y="3246120"/>
            <a:ext cx="1310335"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OpenAI</a:t>
            </a:r>
            <a:endParaRPr lang="en-US" sz="1000" dirty="0"/>
          </a:p>
        </p:txBody>
      </p:sp>
      <p:sp>
        <p:nvSpPr>
          <p:cNvPr id="60" name="Shape 58"/>
          <p:cNvSpPr/>
          <p:nvPr/>
        </p:nvSpPr>
        <p:spPr>
          <a:xfrm>
            <a:off x="10213848" y="3767328"/>
            <a:ext cx="1310335" cy="384048"/>
          </a:xfrm>
          <a:prstGeom prst="roundRect">
            <a:avLst>
              <a:gd name="adj" fmla="val 11905"/>
            </a:avLst>
          </a:prstGeom>
          <a:solidFill>
            <a:srgbClr val="FFFFFF"/>
          </a:solidFill>
          <a:ln w="11430">
            <a:solidFill>
              <a:srgbClr val="D5DCE8"/>
            </a:solidFill>
            <a:prstDash val="solid"/>
          </a:ln>
        </p:spPr>
        <p:txBody>
          <a:bodyPr/>
          <a:lstStyle/>
          <a:p>
            <a:endParaRPr lang="en-US"/>
          </a:p>
        </p:txBody>
      </p:sp>
      <p:sp>
        <p:nvSpPr>
          <p:cNvPr id="61" name="Text 59"/>
          <p:cNvSpPr/>
          <p:nvPr/>
        </p:nvSpPr>
        <p:spPr>
          <a:xfrm>
            <a:off x="10213848" y="3758184"/>
            <a:ext cx="1310335" cy="384048"/>
          </a:xfrm>
          <a:prstGeom prst="rect">
            <a:avLst/>
          </a:prstGeom>
          <a:noFill/>
        </p:spPr>
        <p:txBody>
          <a:bodyPr wrap="square" lIns="0" tIns="0" rIns="0" bIns="0" rtlCol="0" anchor="ctr"/>
          <a:lstStyle/>
          <a:p>
            <a:pPr marL="0" indent="0" algn="ctr">
              <a:buNone/>
            </a:pPr>
            <a:r>
              <a:rPr lang="en-US" sz="1000" b="1" kern="0" spc="40" dirty="0">
                <a:solidFill>
                  <a:srgbClr val="1A2233"/>
                </a:solidFill>
                <a:latin typeface="Cambria" pitchFamily="34" charset="0"/>
                <a:ea typeface="Cambria" pitchFamily="34" charset="-122"/>
                <a:cs typeface="Cambria" pitchFamily="34" charset="-120"/>
              </a:rPr>
              <a:t>Anthropic</a:t>
            </a:r>
            <a:endParaRPr lang="en-US" sz="1000" dirty="0"/>
          </a:p>
        </p:txBody>
      </p:sp>
      <p:sp>
        <p:nvSpPr>
          <p:cNvPr id="65" name="Text 63"/>
          <p:cNvSpPr/>
          <p:nvPr/>
        </p:nvSpPr>
        <p:spPr>
          <a:xfrm>
            <a:off x="10600223" y="5518757"/>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67" name="Text 65"/>
          <p:cNvSpPr/>
          <p:nvPr/>
        </p:nvSpPr>
        <p:spPr>
          <a:xfrm>
            <a:off x="3931920" y="6199632"/>
            <a:ext cx="4389120" cy="566928"/>
          </a:xfrm>
          <a:prstGeom prst="rect">
            <a:avLst/>
          </a:prstGeom>
          <a:noFill/>
        </p:spPr>
        <p:txBody>
          <a:bodyPr wrap="square" lIns="0" tIns="0" rIns="0" bIns="0" rtlCol="0" anchor="ctr"/>
          <a:lstStyle/>
          <a:p>
            <a:pPr marL="0" indent="0" algn="ctr">
              <a:lnSpc>
                <a:spcPct val="102000"/>
              </a:lnSpc>
              <a:buNone/>
            </a:pPr>
            <a:r>
              <a:rPr lang="en-US" dirty="0">
                <a:solidFill>
                  <a:srgbClr val="1A2233"/>
                </a:solidFill>
                <a:latin typeface="Calibri" pitchFamily="34" charset="0"/>
                <a:ea typeface="Calibri" pitchFamily="34" charset="-122"/>
                <a:cs typeface="Calibri" pitchFamily="34" charset="-120"/>
              </a:rPr>
              <a:t>Every prior wave sold tools. This one sells </a:t>
            </a:r>
            <a:r>
              <a:rPr lang="en-US" b="1" dirty="0">
                <a:solidFill>
                  <a:srgbClr val="1A2233"/>
                </a:solidFill>
                <a:latin typeface="Calibri" pitchFamily="34" charset="0"/>
                <a:ea typeface="Calibri" pitchFamily="34" charset="-122"/>
                <a:cs typeface="Calibri" pitchFamily="34" charset="-120"/>
              </a:rPr>
              <a:t>labor</a:t>
            </a:r>
            <a:endParaRPr lang="en-US" dirty="0"/>
          </a:p>
        </p:txBody>
      </p:sp>
      <p:sp>
        <p:nvSpPr>
          <p:cNvPr id="68" name="Text 66"/>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69" name="Text 67"/>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illustrative framework. Company references informational only.</a:t>
            </a:r>
            <a:endParaRPr lang="en-US" sz="750" dirty="0"/>
          </a:p>
        </p:txBody>
      </p:sp>
      <p:sp>
        <p:nvSpPr>
          <p:cNvPr id="70"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8</a:t>
            </a:fld>
            <a:endParaRPr lang="en-US"/>
          </a:p>
        </p:txBody>
      </p:sp>
    </p:spTree>
    <p:extLst>
      <p:ext uri="{BB962C8B-B14F-4D97-AF65-F5344CB8AC3E}">
        <p14:creationId xmlns:p14="http://schemas.microsoft.com/office/powerpoint/2010/main" val="415087818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What “infinite software” actually means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SOFTWARE WAS RATIONED BY DEVELOPER SCARCITY — THE RATION JUST ENDED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91640"/>
            <a:ext cx="3429000" cy="3977639"/>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38528"/>
            <a:ext cx="2880360" cy="256032"/>
          </a:xfrm>
          <a:prstGeom prst="rect">
            <a:avLst/>
          </a:prstGeom>
          <a:noFill/>
        </p:spPr>
        <p:txBody>
          <a:bodyPr wrap="square" lIns="0" rIns="0" tIns="0" bIns="0">
            <a:spAutoFit/>
          </a:bodyPr>
          <a:lstStyle/>
          <a:p>
            <a:pPr algn="l"/>
            <a:r>
              <a:rPr sz="1150" b="1" i="0">
                <a:solidFill>
                  <a:srgbClr val="2777EF"/>
                </a:solidFill>
                <a:latin typeface="Calibri"/>
              </a:rPr>
              <a:t>THE OLD CONSTRAINT</a:t>
            </a:r>
          </a:p>
        </p:txBody>
      </p:sp>
      <p:sp>
        <p:nvSpPr>
          <p:cNvPr id="7" name="TextBox 6"/>
          <p:cNvSpPr txBox="1"/>
          <p:nvPr/>
        </p:nvSpPr>
        <p:spPr>
          <a:xfrm>
            <a:off x="1051560" y="2267712"/>
            <a:ext cx="2880360" cy="777240"/>
          </a:xfrm>
          <a:prstGeom prst="rect">
            <a:avLst/>
          </a:prstGeom>
          <a:noFill/>
        </p:spPr>
        <p:txBody>
          <a:bodyPr wrap="square" lIns="0" rIns="0" tIns="0" bIns="0">
            <a:spAutoFit/>
          </a:bodyPr>
          <a:lstStyle/>
          <a:p>
            <a:pPr algn="l"/>
            <a:r>
              <a:rPr sz="1800" b="1" i="0">
                <a:solidFill>
                  <a:srgbClr val="1A2233"/>
                </a:solidFill>
                <a:latin typeface="Cambria"/>
              </a:rPr>
              <a:t>Software was rationed</a:t>
            </a:r>
          </a:p>
        </p:txBody>
      </p:sp>
      <p:sp>
        <p:nvSpPr>
          <p:cNvPr id="8" name="TextBox 7"/>
          <p:cNvSpPr txBox="1"/>
          <p:nvPr/>
        </p:nvSpPr>
        <p:spPr>
          <a:xfrm>
            <a:off x="1051560" y="3154680"/>
            <a:ext cx="2880360" cy="2377440"/>
          </a:xfrm>
          <a:prstGeom prst="rect">
            <a:avLst/>
          </a:prstGeom>
          <a:noFill/>
        </p:spPr>
        <p:txBody>
          <a:bodyPr wrap="square" lIns="0" rIns="0" tIns="0" bIns="0">
            <a:spAutoFit/>
          </a:bodyPr>
          <a:lstStyle/>
          <a:p>
            <a:pPr algn="l"/>
            <a:r>
              <a:rPr sz="1250" b="0" i="0">
                <a:solidFill>
                  <a:srgbClr val="5A6478"/>
                </a:solidFill>
                <a:latin typeface="Calibri"/>
              </a:rPr>
              <a:t>~30M professional developers on earth, $100+/hour, 18-month backlogs. Every app had to justify a team, a budget, and a roadmap — so only mass-market software got built.</a:t>
            </a:r>
          </a:p>
        </p:txBody>
      </p:sp>
      <p:sp>
        <p:nvSpPr>
          <p:cNvPr id="9" name="Rounded Rectangle 8"/>
          <p:cNvSpPr/>
          <p:nvPr/>
        </p:nvSpPr>
        <p:spPr>
          <a:xfrm>
            <a:off x="4379976" y="1691640"/>
            <a:ext cx="3429000" cy="3977639"/>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1938528"/>
            <a:ext cx="2880360" cy="256032"/>
          </a:xfrm>
          <a:prstGeom prst="rect">
            <a:avLst/>
          </a:prstGeom>
          <a:noFill/>
        </p:spPr>
        <p:txBody>
          <a:bodyPr wrap="square" lIns="0" rIns="0" tIns="0" bIns="0">
            <a:spAutoFit/>
          </a:bodyPr>
          <a:lstStyle/>
          <a:p>
            <a:pPr algn="l"/>
            <a:r>
              <a:rPr sz="1150" b="1" i="0">
                <a:solidFill>
                  <a:srgbClr val="2777EF"/>
                </a:solidFill>
                <a:latin typeface="Calibri"/>
              </a:rPr>
              <a:t>THE BREAK</a:t>
            </a:r>
          </a:p>
        </p:txBody>
      </p:sp>
      <p:sp>
        <p:nvSpPr>
          <p:cNvPr id="11" name="TextBox 10"/>
          <p:cNvSpPr txBox="1"/>
          <p:nvPr/>
        </p:nvSpPr>
        <p:spPr>
          <a:xfrm>
            <a:off x="4654296" y="2267712"/>
            <a:ext cx="2880360" cy="777240"/>
          </a:xfrm>
          <a:prstGeom prst="rect">
            <a:avLst/>
          </a:prstGeom>
          <a:noFill/>
        </p:spPr>
        <p:txBody>
          <a:bodyPr wrap="square" lIns="0" rIns="0" tIns="0" bIns="0">
            <a:spAutoFit/>
          </a:bodyPr>
          <a:lstStyle/>
          <a:p>
            <a:pPr algn="l"/>
            <a:r>
              <a:rPr sz="1800" b="1" i="0">
                <a:solidFill>
                  <a:srgbClr val="1A2233"/>
                </a:solidFill>
                <a:latin typeface="Cambria"/>
              </a:rPr>
              <a:t>Production left human hands</a:t>
            </a:r>
          </a:p>
        </p:txBody>
      </p:sp>
      <p:sp>
        <p:nvSpPr>
          <p:cNvPr id="12" name="TextBox 11"/>
          <p:cNvSpPr txBox="1"/>
          <p:nvPr/>
        </p:nvSpPr>
        <p:spPr>
          <a:xfrm>
            <a:off x="4654296" y="3154680"/>
            <a:ext cx="2880360" cy="2377440"/>
          </a:xfrm>
          <a:prstGeom prst="rect">
            <a:avLst/>
          </a:prstGeom>
          <a:noFill/>
        </p:spPr>
        <p:txBody>
          <a:bodyPr wrap="square" lIns="0" rIns="0" tIns="0" bIns="0">
            <a:spAutoFit/>
          </a:bodyPr>
          <a:lstStyle/>
          <a:p>
            <a:pPr algn="l"/>
            <a:r>
              <a:rPr sz="1250" b="0" i="0">
                <a:solidFill>
                  <a:srgbClr val="5A6478"/>
                </a:solidFill>
                <a:latin typeface="Calibri"/>
              </a:rPr>
              <a:t>Agents write, test, and ship software on demand — ~4,000x cheaper per unit of work (next slide). Producing software is decoupled from human hours for the first time.</a:t>
            </a:r>
          </a:p>
        </p:txBody>
      </p:sp>
      <p:sp>
        <p:nvSpPr>
          <p:cNvPr id="13" name="Rounded Rectangle 12"/>
          <p:cNvSpPr/>
          <p:nvPr/>
        </p:nvSpPr>
        <p:spPr>
          <a:xfrm>
            <a:off x="7982712" y="1691640"/>
            <a:ext cx="3429000" cy="3977639"/>
          </a:xfrm>
          <a:prstGeom prst="roundRect">
            <a:avLst>
              <a:gd name="adj" fmla="val 5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938528"/>
            <a:ext cx="2880360" cy="256032"/>
          </a:xfrm>
          <a:prstGeom prst="rect">
            <a:avLst/>
          </a:prstGeom>
          <a:noFill/>
        </p:spPr>
        <p:txBody>
          <a:bodyPr wrap="square" lIns="0" rIns="0" tIns="0" bIns="0">
            <a:spAutoFit/>
          </a:bodyPr>
          <a:lstStyle/>
          <a:p>
            <a:pPr algn="l"/>
            <a:r>
              <a:rPr sz="1150" b="1" i="0">
                <a:solidFill>
                  <a:srgbClr val="2777EF"/>
                </a:solidFill>
                <a:latin typeface="Calibri"/>
              </a:rPr>
              <a:t>THE NEW STATE</a:t>
            </a:r>
          </a:p>
        </p:txBody>
      </p:sp>
      <p:sp>
        <p:nvSpPr>
          <p:cNvPr id="15" name="TextBox 14"/>
          <p:cNvSpPr txBox="1"/>
          <p:nvPr/>
        </p:nvSpPr>
        <p:spPr>
          <a:xfrm>
            <a:off x="8257032" y="2267712"/>
            <a:ext cx="2880360" cy="777240"/>
          </a:xfrm>
          <a:prstGeom prst="rect">
            <a:avLst/>
          </a:prstGeom>
          <a:noFill/>
        </p:spPr>
        <p:txBody>
          <a:bodyPr wrap="square" lIns="0" rIns="0" tIns="0" bIns="0">
            <a:spAutoFit/>
          </a:bodyPr>
          <a:lstStyle/>
          <a:p>
            <a:pPr algn="l"/>
            <a:r>
              <a:rPr sz="1800" b="1" i="0">
                <a:solidFill>
                  <a:srgbClr val="1A2233"/>
                </a:solidFill>
                <a:latin typeface="Cambria"/>
              </a:rPr>
              <a:t>Software becomes summonable</a:t>
            </a:r>
          </a:p>
        </p:txBody>
      </p:sp>
      <p:sp>
        <p:nvSpPr>
          <p:cNvPr id="16" name="TextBox 15"/>
          <p:cNvSpPr txBox="1"/>
          <p:nvPr/>
        </p:nvSpPr>
        <p:spPr>
          <a:xfrm>
            <a:off x="8257032" y="3154680"/>
            <a:ext cx="2880360" cy="2377440"/>
          </a:xfrm>
          <a:prstGeom prst="rect">
            <a:avLst/>
          </a:prstGeom>
          <a:noFill/>
        </p:spPr>
        <p:txBody>
          <a:bodyPr wrap="square" lIns="0" rIns="0" tIns="0" bIns="0">
            <a:spAutoFit/>
          </a:bodyPr>
          <a:lstStyle/>
          <a:p>
            <a:pPr algn="l"/>
            <a:r>
              <a:rPr sz="1250" b="0" i="0">
                <a:solidFill>
                  <a:srgbClr val="5A6478"/>
                </a:solidFill>
                <a:latin typeface="Calibri"/>
              </a:rPr>
              <a:t>Abundant, personal, disposable — built for one user, one task, one afternoon. The population of software explodes even as its price collapses; apps, agents, and one-off tools without number.</a:t>
            </a:r>
          </a:p>
        </p:txBody>
      </p:sp>
      <p:sp>
        <p:nvSpPr>
          <p:cNvPr id="17" name="Rounded Rectangle 16"/>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Infinite software isn't more apps in the store  </a:t>
            </a:r>
            <a:r>
              <a:rPr sz="1200">
                <a:solidFill>
                  <a:srgbClr val="1A2233"/>
                </a:solidFill>
                <a:latin typeface="Calibri"/>
              </a:rPr>
              <a:t>— it's software becoming as abundant as documents. And every piece of it runs on rented, metered rails.</a:t>
            </a:r>
          </a:p>
        </p:txBody>
      </p:sp>
      <p:sp>
        <p:nvSpPr>
          <p:cNvPr id="18" name="TextBox 1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9" name="TextBox 1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Software production just broke free of human hands</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COST PER UNIT OF SOFTWARE WORK, BY PRODUCTION REGIME ($, LOG SCALE, ILLUSTRATIVE)</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1005840" y="2083271"/>
            <a:ext cx="1417320" cy="3540289"/>
          </a:xfrm>
          <a:prstGeom prst="rect">
            <a:avLst/>
          </a:prstGeom>
          <a:solidFill>
            <a:srgbClr val="D8DCE3"/>
          </a:solidFill>
        </p:spPr>
        <p:txBody>
          <a:bodyPr/>
          <a:lstStyle/>
          <a:p>
            <a:endParaRPr lang="en-US"/>
          </a:p>
        </p:txBody>
      </p:sp>
      <p:sp>
        <p:nvSpPr>
          <p:cNvPr id="6" name="Text 4"/>
          <p:cNvSpPr/>
          <p:nvPr/>
        </p:nvSpPr>
        <p:spPr>
          <a:xfrm>
            <a:off x="777240" y="1699223"/>
            <a:ext cx="1874520" cy="320040"/>
          </a:xfrm>
          <a:prstGeom prst="rect">
            <a:avLst/>
          </a:prstGeom>
          <a:noFill/>
        </p:spPr>
        <p:txBody>
          <a:bodyPr wrap="square" lIns="0" tIns="0" rIns="0" bIns="0" rtlCol="0" anchor="ctr"/>
          <a:lstStyle/>
          <a:p>
            <a:pPr marL="0" indent="0" algn="ctr">
              <a:buNone/>
            </a:pPr>
            <a:r>
              <a:rPr lang="en-US" sz="1700" b="1" dirty="0">
                <a:solidFill>
                  <a:srgbClr val="1A2233"/>
                </a:solidFill>
                <a:latin typeface="Cambria" pitchFamily="34" charset="0"/>
                <a:ea typeface="Cambria" pitchFamily="34" charset="-122"/>
                <a:cs typeface="Cambria" pitchFamily="34" charset="-120"/>
              </a:rPr>
              <a:t>$200</a:t>
            </a:r>
            <a:endParaRPr lang="en-US" sz="1700" dirty="0"/>
          </a:p>
        </p:txBody>
      </p:sp>
      <p:sp>
        <p:nvSpPr>
          <p:cNvPr id="7" name="Text 5"/>
          <p:cNvSpPr/>
          <p:nvPr/>
        </p:nvSpPr>
        <p:spPr>
          <a:xfrm>
            <a:off x="685800" y="5696712"/>
            <a:ext cx="2057400" cy="274320"/>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Artisan engineering</a:t>
            </a:r>
            <a:endParaRPr lang="en-US" sz="1200" dirty="0"/>
          </a:p>
        </p:txBody>
      </p:sp>
      <p:sp>
        <p:nvSpPr>
          <p:cNvPr id="8" name="Text 6"/>
          <p:cNvSpPr/>
          <p:nvPr/>
        </p:nvSpPr>
        <p:spPr>
          <a:xfrm>
            <a:off x="685800" y="5952744"/>
            <a:ext cx="2057400" cy="237744"/>
          </a:xfrm>
          <a:prstGeom prst="rect">
            <a:avLst/>
          </a:prstGeom>
          <a:noFill/>
        </p:spPr>
        <p:txBody>
          <a:bodyPr wrap="square" lIns="0" tIns="0" rIns="0" bIns="0" rtlCol="0" anchor="ctr"/>
          <a:lstStyle/>
          <a:p>
            <a:pPr marL="0" indent="0" algn="ctr">
              <a:buNone/>
            </a:pPr>
            <a:r>
              <a:rPr lang="en-US" sz="1100" dirty="0">
                <a:solidFill>
                  <a:srgbClr val="5A6478"/>
                </a:solidFill>
                <a:latin typeface="Calibri" pitchFamily="34" charset="0"/>
                <a:ea typeface="Calibri" pitchFamily="34" charset="-122"/>
                <a:cs typeface="Calibri" pitchFamily="34" charset="-120"/>
              </a:rPr>
              <a:t>1990s–2000s</a:t>
            </a:r>
            <a:endParaRPr lang="en-US" sz="1100" dirty="0"/>
          </a:p>
        </p:txBody>
      </p:sp>
      <p:sp>
        <p:nvSpPr>
          <p:cNvPr id="9" name="Shape 7"/>
          <p:cNvSpPr/>
          <p:nvPr/>
        </p:nvSpPr>
        <p:spPr>
          <a:xfrm>
            <a:off x="3218688" y="2567367"/>
            <a:ext cx="1417320" cy="3056193"/>
          </a:xfrm>
          <a:prstGeom prst="rect">
            <a:avLst/>
          </a:prstGeom>
          <a:solidFill>
            <a:srgbClr val="D8DCE3"/>
          </a:solidFill>
        </p:spPr>
        <p:txBody>
          <a:bodyPr/>
          <a:lstStyle/>
          <a:p>
            <a:endParaRPr lang="en-US"/>
          </a:p>
        </p:txBody>
      </p:sp>
      <p:sp>
        <p:nvSpPr>
          <p:cNvPr id="10" name="Text 8"/>
          <p:cNvSpPr/>
          <p:nvPr/>
        </p:nvSpPr>
        <p:spPr>
          <a:xfrm>
            <a:off x="2990088" y="2183319"/>
            <a:ext cx="1874520" cy="320040"/>
          </a:xfrm>
          <a:prstGeom prst="rect">
            <a:avLst/>
          </a:prstGeom>
          <a:noFill/>
        </p:spPr>
        <p:txBody>
          <a:bodyPr wrap="square" lIns="0" tIns="0" rIns="0" bIns="0" rtlCol="0" anchor="ctr"/>
          <a:lstStyle/>
          <a:p>
            <a:pPr marL="0" indent="0" algn="ctr">
              <a:buNone/>
            </a:pPr>
            <a:r>
              <a:rPr lang="en-US" sz="1700" b="1" dirty="0">
                <a:solidFill>
                  <a:srgbClr val="1A2233"/>
                </a:solidFill>
                <a:latin typeface="Cambria" pitchFamily="34" charset="0"/>
                <a:ea typeface="Cambria" pitchFamily="34" charset="-122"/>
                <a:cs typeface="Cambria" pitchFamily="34" charset="-120"/>
              </a:rPr>
              <a:t>$60</a:t>
            </a:r>
            <a:endParaRPr lang="en-US" sz="1700" dirty="0"/>
          </a:p>
        </p:txBody>
      </p:sp>
      <p:sp>
        <p:nvSpPr>
          <p:cNvPr id="11" name="Text 9"/>
          <p:cNvSpPr/>
          <p:nvPr/>
        </p:nvSpPr>
        <p:spPr>
          <a:xfrm>
            <a:off x="2898648" y="5696712"/>
            <a:ext cx="2057400" cy="274320"/>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Offshore &amp; outsourcing</a:t>
            </a:r>
            <a:endParaRPr lang="en-US" sz="1200" dirty="0"/>
          </a:p>
        </p:txBody>
      </p:sp>
      <p:sp>
        <p:nvSpPr>
          <p:cNvPr id="12" name="Text 10"/>
          <p:cNvSpPr/>
          <p:nvPr/>
        </p:nvSpPr>
        <p:spPr>
          <a:xfrm>
            <a:off x="2898648" y="5952744"/>
            <a:ext cx="2057400" cy="237744"/>
          </a:xfrm>
          <a:prstGeom prst="rect">
            <a:avLst/>
          </a:prstGeom>
          <a:noFill/>
        </p:spPr>
        <p:txBody>
          <a:bodyPr wrap="square" lIns="0" tIns="0" rIns="0" bIns="0" rtlCol="0" anchor="ctr"/>
          <a:lstStyle/>
          <a:p>
            <a:pPr marL="0" indent="0" algn="ctr">
              <a:buNone/>
            </a:pPr>
            <a:r>
              <a:rPr lang="en-US" sz="1100" dirty="0">
                <a:solidFill>
                  <a:srgbClr val="5A6478"/>
                </a:solidFill>
                <a:latin typeface="Calibri" pitchFamily="34" charset="0"/>
                <a:ea typeface="Calibri" pitchFamily="34" charset="-122"/>
                <a:cs typeface="Calibri" pitchFamily="34" charset="-120"/>
              </a:rPr>
              <a:t>2000s</a:t>
            </a:r>
            <a:endParaRPr lang="en-US" sz="1100" dirty="0"/>
          </a:p>
        </p:txBody>
      </p:sp>
      <p:sp>
        <p:nvSpPr>
          <p:cNvPr id="13" name="Shape 11"/>
          <p:cNvSpPr/>
          <p:nvPr/>
        </p:nvSpPr>
        <p:spPr>
          <a:xfrm>
            <a:off x="5431536" y="3009101"/>
            <a:ext cx="1417320" cy="2614459"/>
          </a:xfrm>
          <a:prstGeom prst="rect">
            <a:avLst/>
          </a:prstGeom>
          <a:solidFill>
            <a:srgbClr val="D8DCE3"/>
          </a:solidFill>
        </p:spPr>
        <p:txBody>
          <a:bodyPr/>
          <a:lstStyle/>
          <a:p>
            <a:endParaRPr lang="en-US"/>
          </a:p>
        </p:txBody>
      </p:sp>
      <p:sp>
        <p:nvSpPr>
          <p:cNvPr id="14" name="Text 12"/>
          <p:cNvSpPr/>
          <p:nvPr/>
        </p:nvSpPr>
        <p:spPr>
          <a:xfrm>
            <a:off x="5202936" y="2625053"/>
            <a:ext cx="1874520" cy="320040"/>
          </a:xfrm>
          <a:prstGeom prst="rect">
            <a:avLst/>
          </a:prstGeom>
          <a:noFill/>
        </p:spPr>
        <p:txBody>
          <a:bodyPr wrap="square" lIns="0" tIns="0" rIns="0" bIns="0" rtlCol="0" anchor="ctr"/>
          <a:lstStyle/>
          <a:p>
            <a:pPr marL="0" indent="0" algn="ctr">
              <a:buNone/>
            </a:pPr>
            <a:r>
              <a:rPr lang="en-US" sz="1700" b="1" dirty="0">
                <a:solidFill>
                  <a:srgbClr val="1A2233"/>
                </a:solidFill>
                <a:latin typeface="Cambria" pitchFamily="34" charset="0"/>
                <a:ea typeface="Cambria" pitchFamily="34" charset="-122"/>
                <a:cs typeface="Cambria" pitchFamily="34" charset="-120"/>
              </a:rPr>
              <a:t>$20</a:t>
            </a:r>
            <a:endParaRPr lang="en-US" sz="1700" dirty="0"/>
          </a:p>
        </p:txBody>
      </p:sp>
      <p:sp>
        <p:nvSpPr>
          <p:cNvPr id="15" name="Text 13"/>
          <p:cNvSpPr/>
          <p:nvPr/>
        </p:nvSpPr>
        <p:spPr>
          <a:xfrm>
            <a:off x="5111496" y="5696712"/>
            <a:ext cx="2057400" cy="274320"/>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Open source &amp; reuse</a:t>
            </a:r>
            <a:endParaRPr lang="en-US" sz="1200" dirty="0"/>
          </a:p>
        </p:txBody>
      </p:sp>
      <p:sp>
        <p:nvSpPr>
          <p:cNvPr id="16" name="Text 14"/>
          <p:cNvSpPr/>
          <p:nvPr/>
        </p:nvSpPr>
        <p:spPr>
          <a:xfrm>
            <a:off x="5111496" y="5952744"/>
            <a:ext cx="2057400" cy="237744"/>
          </a:xfrm>
          <a:prstGeom prst="rect">
            <a:avLst/>
          </a:prstGeom>
          <a:noFill/>
        </p:spPr>
        <p:txBody>
          <a:bodyPr wrap="square" lIns="0" tIns="0" rIns="0" bIns="0" rtlCol="0" anchor="ctr"/>
          <a:lstStyle/>
          <a:p>
            <a:pPr marL="0" indent="0" algn="ctr">
              <a:buNone/>
            </a:pPr>
            <a:r>
              <a:rPr lang="en-US" sz="1100" dirty="0">
                <a:solidFill>
                  <a:srgbClr val="5A6478"/>
                </a:solidFill>
                <a:latin typeface="Calibri" pitchFamily="34" charset="0"/>
                <a:ea typeface="Calibri" pitchFamily="34" charset="-122"/>
                <a:cs typeface="Calibri" pitchFamily="34" charset="-120"/>
              </a:rPr>
              <a:t>2010s</a:t>
            </a:r>
            <a:endParaRPr lang="en-US" sz="1100" dirty="0"/>
          </a:p>
        </p:txBody>
      </p:sp>
      <p:sp>
        <p:nvSpPr>
          <p:cNvPr id="17" name="Shape 15"/>
          <p:cNvSpPr/>
          <p:nvPr/>
        </p:nvSpPr>
        <p:spPr>
          <a:xfrm>
            <a:off x="7644384" y="3566506"/>
            <a:ext cx="1417320" cy="2057054"/>
          </a:xfrm>
          <a:prstGeom prst="rect">
            <a:avLst/>
          </a:prstGeom>
          <a:solidFill>
            <a:srgbClr val="A8C6F5"/>
          </a:solidFill>
        </p:spPr>
        <p:txBody>
          <a:bodyPr/>
          <a:lstStyle/>
          <a:p>
            <a:endParaRPr lang="en-US"/>
          </a:p>
        </p:txBody>
      </p:sp>
      <p:sp>
        <p:nvSpPr>
          <p:cNvPr id="18" name="Text 16"/>
          <p:cNvSpPr/>
          <p:nvPr/>
        </p:nvSpPr>
        <p:spPr>
          <a:xfrm>
            <a:off x="7415784" y="3182458"/>
            <a:ext cx="1874520" cy="320040"/>
          </a:xfrm>
          <a:prstGeom prst="rect">
            <a:avLst/>
          </a:prstGeom>
          <a:noFill/>
        </p:spPr>
        <p:txBody>
          <a:bodyPr wrap="square" lIns="0" tIns="0" rIns="0" bIns="0" rtlCol="0" anchor="ctr"/>
          <a:lstStyle/>
          <a:p>
            <a:pPr marL="0" indent="0" algn="ctr">
              <a:buNone/>
            </a:pPr>
            <a:r>
              <a:rPr lang="en-US" sz="1700" b="1" dirty="0">
                <a:solidFill>
                  <a:srgbClr val="1A2233"/>
                </a:solidFill>
                <a:latin typeface="Cambria" pitchFamily="34" charset="0"/>
                <a:ea typeface="Cambria" pitchFamily="34" charset="-122"/>
                <a:cs typeface="Cambria" pitchFamily="34" charset="-120"/>
              </a:rPr>
              <a:t>$5</a:t>
            </a:r>
            <a:endParaRPr lang="en-US" sz="1700" dirty="0"/>
          </a:p>
        </p:txBody>
      </p:sp>
      <p:sp>
        <p:nvSpPr>
          <p:cNvPr id="19" name="Text 17"/>
          <p:cNvSpPr/>
          <p:nvPr/>
        </p:nvSpPr>
        <p:spPr>
          <a:xfrm>
            <a:off x="7324344" y="5696712"/>
            <a:ext cx="2057400" cy="274320"/>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Copilot-assisted</a:t>
            </a:r>
            <a:endParaRPr lang="en-US" sz="1200" dirty="0"/>
          </a:p>
        </p:txBody>
      </p:sp>
      <p:sp>
        <p:nvSpPr>
          <p:cNvPr id="20" name="Text 18"/>
          <p:cNvSpPr/>
          <p:nvPr/>
        </p:nvSpPr>
        <p:spPr>
          <a:xfrm>
            <a:off x="7324344" y="5952744"/>
            <a:ext cx="2057400" cy="237744"/>
          </a:xfrm>
          <a:prstGeom prst="rect">
            <a:avLst/>
          </a:prstGeom>
          <a:noFill/>
        </p:spPr>
        <p:txBody>
          <a:bodyPr wrap="square" lIns="0" tIns="0" rIns="0" bIns="0" rtlCol="0" anchor="ctr"/>
          <a:lstStyle/>
          <a:p>
            <a:pPr marL="0" indent="0" algn="ctr">
              <a:buNone/>
            </a:pPr>
            <a:r>
              <a:rPr lang="en-US" sz="1100" dirty="0">
                <a:solidFill>
                  <a:srgbClr val="5A6478"/>
                </a:solidFill>
                <a:latin typeface="Calibri" pitchFamily="34" charset="0"/>
                <a:ea typeface="Calibri" pitchFamily="34" charset="-122"/>
                <a:cs typeface="Calibri" pitchFamily="34" charset="-120"/>
              </a:rPr>
              <a:t>2021–24</a:t>
            </a:r>
            <a:endParaRPr lang="en-US" sz="1100" dirty="0"/>
          </a:p>
        </p:txBody>
      </p:sp>
      <p:sp>
        <p:nvSpPr>
          <p:cNvPr id="21" name="Shape 19"/>
          <p:cNvSpPr/>
          <p:nvPr/>
        </p:nvSpPr>
        <p:spPr>
          <a:xfrm>
            <a:off x="9857232" y="5418166"/>
            <a:ext cx="1417320" cy="205394"/>
          </a:xfrm>
          <a:prstGeom prst="rect">
            <a:avLst/>
          </a:prstGeom>
          <a:solidFill>
            <a:srgbClr val="2777EF"/>
          </a:solidFill>
        </p:spPr>
        <p:txBody>
          <a:bodyPr/>
          <a:lstStyle/>
          <a:p>
            <a:endParaRPr lang="en-US"/>
          </a:p>
        </p:txBody>
      </p:sp>
      <p:sp>
        <p:nvSpPr>
          <p:cNvPr id="22" name="Text 20"/>
          <p:cNvSpPr/>
          <p:nvPr/>
        </p:nvSpPr>
        <p:spPr>
          <a:xfrm>
            <a:off x="9628632" y="5034118"/>
            <a:ext cx="1874520" cy="320040"/>
          </a:xfrm>
          <a:prstGeom prst="rect">
            <a:avLst/>
          </a:prstGeom>
          <a:noFill/>
        </p:spPr>
        <p:txBody>
          <a:bodyPr wrap="square" lIns="0" tIns="0" rIns="0" bIns="0" rtlCol="0" anchor="ctr"/>
          <a:lstStyle/>
          <a:p>
            <a:pPr marL="0" indent="0" algn="ctr">
              <a:buNone/>
            </a:pPr>
            <a:r>
              <a:rPr lang="en-US" sz="1700" b="1" dirty="0">
                <a:solidFill>
                  <a:srgbClr val="2777EF"/>
                </a:solidFill>
                <a:latin typeface="Cambria" pitchFamily="34" charset="0"/>
                <a:ea typeface="Cambria" pitchFamily="34" charset="-122"/>
                <a:cs typeface="Cambria" pitchFamily="34" charset="-120"/>
              </a:rPr>
              <a:t>$0.05</a:t>
            </a:r>
            <a:endParaRPr lang="en-US" sz="1700" dirty="0"/>
          </a:p>
        </p:txBody>
      </p:sp>
      <p:sp>
        <p:nvSpPr>
          <p:cNvPr id="23" name="Text 21"/>
          <p:cNvSpPr/>
          <p:nvPr/>
        </p:nvSpPr>
        <p:spPr>
          <a:xfrm>
            <a:off x="9537192" y="5696712"/>
            <a:ext cx="2057400" cy="274320"/>
          </a:xfrm>
          <a:prstGeom prst="rect">
            <a:avLst/>
          </a:prstGeom>
          <a:noFill/>
        </p:spPr>
        <p:txBody>
          <a:bodyPr wrap="square" lIns="0" tIns="0" rIns="0" bIns="0" rtlCol="0" anchor="ctr"/>
          <a:lstStyle/>
          <a:p>
            <a:pPr marL="0" indent="0" algn="ctr">
              <a:buNone/>
            </a:pPr>
            <a:r>
              <a:rPr lang="en-US" sz="1200" b="1" dirty="0">
                <a:solidFill>
                  <a:srgbClr val="1A2233"/>
                </a:solidFill>
                <a:latin typeface="Calibri" pitchFamily="34" charset="0"/>
                <a:ea typeface="Calibri" pitchFamily="34" charset="-122"/>
                <a:cs typeface="Calibri" pitchFamily="34" charset="-120"/>
              </a:rPr>
              <a:t>Agent-produced</a:t>
            </a:r>
            <a:endParaRPr lang="en-US" sz="1200" dirty="0"/>
          </a:p>
        </p:txBody>
      </p:sp>
      <p:sp>
        <p:nvSpPr>
          <p:cNvPr id="24" name="Text 22"/>
          <p:cNvSpPr/>
          <p:nvPr/>
        </p:nvSpPr>
        <p:spPr>
          <a:xfrm>
            <a:off x="9537192" y="5952744"/>
            <a:ext cx="2057400" cy="237744"/>
          </a:xfrm>
          <a:prstGeom prst="rect">
            <a:avLst/>
          </a:prstGeom>
          <a:noFill/>
        </p:spPr>
        <p:txBody>
          <a:bodyPr wrap="square" lIns="0" tIns="0" rIns="0" bIns="0" rtlCol="0" anchor="ctr"/>
          <a:lstStyle/>
          <a:p>
            <a:pPr marL="0" indent="0" algn="ctr">
              <a:buNone/>
            </a:pPr>
            <a:r>
              <a:rPr lang="en-US" sz="1100" dirty="0">
                <a:solidFill>
                  <a:srgbClr val="5A6478"/>
                </a:solidFill>
                <a:latin typeface="Calibri" pitchFamily="34" charset="0"/>
                <a:ea typeface="Calibri" pitchFamily="34" charset="-122"/>
                <a:cs typeface="Calibri" pitchFamily="34" charset="-120"/>
              </a:rPr>
              <a:t>2026</a:t>
            </a:r>
            <a:endParaRPr lang="en-US" sz="1100" dirty="0"/>
          </a:p>
        </p:txBody>
      </p:sp>
      <p:sp>
        <p:nvSpPr>
          <p:cNvPr id="25" name="Text 23"/>
          <p:cNvSpPr/>
          <p:nvPr/>
        </p:nvSpPr>
        <p:spPr>
          <a:xfrm>
            <a:off x="8928540" y="2508805"/>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26" name="Shape 24"/>
          <p:cNvSpPr/>
          <p:nvPr/>
        </p:nvSpPr>
        <p:spPr>
          <a:xfrm>
            <a:off x="9264546" y="2808882"/>
            <a:ext cx="1993392" cy="960098"/>
          </a:xfrm>
          <a:prstGeom prst="roundRect">
            <a:avLst>
              <a:gd name="adj" fmla="val 9474"/>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27" name="Text 25"/>
          <p:cNvSpPr/>
          <p:nvPr/>
        </p:nvSpPr>
        <p:spPr>
          <a:xfrm>
            <a:off x="8842248" y="2834640"/>
            <a:ext cx="2706624" cy="868680"/>
          </a:xfrm>
          <a:prstGeom prst="rect">
            <a:avLst/>
          </a:prstGeom>
          <a:noFill/>
        </p:spPr>
        <p:txBody>
          <a:bodyPr wrap="square" lIns="0" tIns="0" rIns="0" bIns="0" rtlCol="0" anchor="ctr"/>
          <a:lstStyle/>
          <a:p>
            <a:pPr marL="0" indent="0" algn="ctr">
              <a:lnSpc>
                <a:spcPct val="102000"/>
              </a:lnSpc>
              <a:buNone/>
            </a:pPr>
            <a:r>
              <a:rPr lang="en-US" sz="2800" b="1" dirty="0">
                <a:solidFill>
                  <a:srgbClr val="2777EF"/>
                </a:solidFill>
                <a:latin typeface="Calibri" pitchFamily="34" charset="0"/>
                <a:ea typeface="Calibri" pitchFamily="34" charset="-122"/>
                <a:cs typeface="Calibri" pitchFamily="34" charset="-120"/>
              </a:rPr>
              <a:t>~4,000x</a:t>
            </a:r>
            <a:r>
              <a:rPr lang="en-US" sz="1600" dirty="0">
                <a:solidFill>
                  <a:srgbClr val="1A2233"/>
                </a:solidFill>
                <a:latin typeface="Calibri" pitchFamily="34" charset="0"/>
                <a:ea typeface="Calibri" pitchFamily="34" charset="-122"/>
                <a:cs typeface="Calibri" pitchFamily="34" charset="-120"/>
              </a:rPr>
              <a:t> </a:t>
            </a:r>
          </a:p>
          <a:p>
            <a:pPr marL="0" indent="0" algn="ctr">
              <a:lnSpc>
                <a:spcPct val="102000"/>
              </a:lnSpc>
              <a:buNone/>
            </a:pPr>
            <a:r>
              <a:rPr lang="en-US" sz="1600" dirty="0">
                <a:solidFill>
                  <a:srgbClr val="1A2233"/>
                </a:solidFill>
                <a:latin typeface="Calibri" pitchFamily="34" charset="0"/>
                <a:ea typeface="Calibri" pitchFamily="34" charset="-122"/>
                <a:cs typeface="Calibri" pitchFamily="34" charset="-120"/>
              </a:rPr>
              <a:t>cheaper in one step</a:t>
            </a:r>
            <a:endParaRPr lang="en-US" sz="2800" dirty="0"/>
          </a:p>
        </p:txBody>
      </p:sp>
      <p:sp>
        <p:nvSpPr>
          <p:cNvPr id="28" name="Text 26"/>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9" name="Text 27"/>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illustration; inference economics per Epoch AI constant-performance price data. For illustrative purposes only.</a:t>
            </a:r>
            <a:endParaRPr lang="en-US" sz="750" dirty="0"/>
          </a:p>
        </p:txBody>
      </p:sp>
      <p:sp>
        <p:nvSpPr>
          <p:cNvPr id="30"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3434481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9" name="Shape 24">
            <a:extLst>
              <a:ext uri="{FF2B5EF4-FFF2-40B4-BE49-F238E27FC236}">
                <a16:creationId xmlns:a16="http://schemas.microsoft.com/office/drawing/2014/main" id="{6819EA55-A7EF-66FD-26EB-B77EBAE5FCC2}"/>
              </a:ext>
            </a:extLst>
          </p:cNvPr>
          <p:cNvSpPr/>
          <p:nvPr/>
        </p:nvSpPr>
        <p:spPr>
          <a:xfrm>
            <a:off x="8759457" y="5739713"/>
            <a:ext cx="2679192" cy="583185"/>
          </a:xfrm>
          <a:prstGeom prst="roundRect">
            <a:avLst>
              <a:gd name="adj" fmla="val 9474"/>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Labor is no longer human-limited</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FROM COPILOTS THAT HELP YOU, TO AGENTS THAT WORK FOR YOU</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502920" y="1691640"/>
            <a:ext cx="3383280" cy="3931920"/>
          </a:xfrm>
          <a:prstGeom prst="roundRect">
            <a:avLst>
              <a:gd name="adj" fmla="val 2162"/>
            </a:avLst>
          </a:prstGeom>
          <a:solidFill>
            <a:srgbClr val="F5F8FC"/>
          </a:solidFill>
          <a:ln w="12700">
            <a:solidFill>
              <a:srgbClr val="D5DCE8"/>
            </a:solidFill>
            <a:prstDash val="solid"/>
          </a:ln>
        </p:spPr>
        <p:txBody>
          <a:bodyPr/>
          <a:lstStyle/>
          <a:p>
            <a:endParaRPr lang="en-US" sz="2400"/>
          </a:p>
        </p:txBody>
      </p:sp>
      <p:sp>
        <p:nvSpPr>
          <p:cNvPr id="6" name="Text 4"/>
          <p:cNvSpPr/>
          <p:nvPr/>
        </p:nvSpPr>
        <p:spPr>
          <a:xfrm>
            <a:off x="502920" y="1828800"/>
            <a:ext cx="3383280" cy="365760"/>
          </a:xfrm>
          <a:prstGeom prst="rect">
            <a:avLst/>
          </a:prstGeom>
          <a:noFill/>
        </p:spPr>
        <p:txBody>
          <a:bodyPr wrap="square" lIns="0" tIns="0" rIns="0" bIns="0" rtlCol="0" anchor="ctr"/>
          <a:lstStyle/>
          <a:p>
            <a:pPr marL="0" indent="0" algn="ctr">
              <a:buNone/>
            </a:pPr>
            <a:r>
              <a:rPr lang="en-US" sz="2000" b="1" dirty="0">
                <a:solidFill>
                  <a:srgbClr val="5A6478"/>
                </a:solidFill>
                <a:latin typeface="Cambria" pitchFamily="34" charset="0"/>
                <a:ea typeface="Cambria" pitchFamily="34" charset="-122"/>
                <a:cs typeface="Cambria" pitchFamily="34" charset="-120"/>
              </a:rPr>
              <a:t>Copilots / Chat</a:t>
            </a:r>
            <a:endParaRPr lang="en-US" sz="2000" dirty="0"/>
          </a:p>
        </p:txBody>
      </p:sp>
      <p:sp>
        <p:nvSpPr>
          <p:cNvPr id="7" name="Text 5"/>
          <p:cNvSpPr/>
          <p:nvPr/>
        </p:nvSpPr>
        <p:spPr>
          <a:xfrm>
            <a:off x="1005840" y="2377440"/>
            <a:ext cx="265176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1.  You prompt</a:t>
            </a:r>
            <a:endParaRPr lang="en-US" dirty="0"/>
          </a:p>
        </p:txBody>
      </p:sp>
      <p:sp>
        <p:nvSpPr>
          <p:cNvPr id="8" name="Text 6"/>
          <p:cNvSpPr/>
          <p:nvPr/>
        </p:nvSpPr>
        <p:spPr>
          <a:xfrm>
            <a:off x="1005840" y="2880360"/>
            <a:ext cx="265176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2.  It answers</a:t>
            </a:r>
            <a:endParaRPr lang="en-US" dirty="0"/>
          </a:p>
        </p:txBody>
      </p:sp>
      <p:sp>
        <p:nvSpPr>
          <p:cNvPr id="9" name="Text 7"/>
          <p:cNvSpPr/>
          <p:nvPr/>
        </p:nvSpPr>
        <p:spPr>
          <a:xfrm>
            <a:off x="1005840" y="3383280"/>
            <a:ext cx="265176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3.  You check</a:t>
            </a:r>
            <a:endParaRPr lang="en-US" dirty="0"/>
          </a:p>
        </p:txBody>
      </p:sp>
      <p:sp>
        <p:nvSpPr>
          <p:cNvPr id="10" name="Text 8"/>
          <p:cNvSpPr/>
          <p:nvPr/>
        </p:nvSpPr>
        <p:spPr>
          <a:xfrm>
            <a:off x="1005840" y="3886200"/>
            <a:ext cx="265176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4.  You prompt again…</a:t>
            </a:r>
            <a:endParaRPr lang="en-US" dirty="0"/>
          </a:p>
        </p:txBody>
      </p:sp>
      <p:sp>
        <p:nvSpPr>
          <p:cNvPr id="11" name="Shape 9"/>
          <p:cNvSpPr/>
          <p:nvPr/>
        </p:nvSpPr>
        <p:spPr>
          <a:xfrm>
            <a:off x="914400" y="4892040"/>
            <a:ext cx="2560320" cy="457200"/>
          </a:xfrm>
          <a:prstGeom prst="roundRect">
            <a:avLst>
              <a:gd name="adj" fmla="val 12000"/>
            </a:avLst>
          </a:prstGeom>
          <a:solidFill>
            <a:srgbClr val="FFFFFF"/>
          </a:solidFill>
          <a:ln w="9525">
            <a:solidFill>
              <a:srgbClr val="D5DCE8"/>
            </a:solidFill>
            <a:prstDash val="solid"/>
          </a:ln>
        </p:spPr>
        <p:txBody>
          <a:bodyPr/>
          <a:lstStyle/>
          <a:p>
            <a:endParaRPr lang="en-US" sz="2400"/>
          </a:p>
        </p:txBody>
      </p:sp>
      <p:sp>
        <p:nvSpPr>
          <p:cNvPr id="12" name="Text 10"/>
          <p:cNvSpPr/>
          <p:nvPr/>
        </p:nvSpPr>
        <p:spPr>
          <a:xfrm>
            <a:off x="914400" y="4892040"/>
            <a:ext cx="2560320" cy="457200"/>
          </a:xfrm>
          <a:prstGeom prst="rect">
            <a:avLst/>
          </a:prstGeom>
          <a:noFill/>
        </p:spPr>
        <p:txBody>
          <a:bodyPr wrap="square" lIns="0" tIns="0" rIns="0" bIns="0" rtlCol="0" anchor="ctr"/>
          <a:lstStyle/>
          <a:p>
            <a:pPr marL="0" indent="0" algn="ctr">
              <a:buNone/>
            </a:pPr>
            <a:r>
              <a:rPr lang="en-US" sz="1600" b="1" dirty="0">
                <a:solidFill>
                  <a:srgbClr val="1A2233"/>
                </a:solidFill>
                <a:latin typeface="Calibri" pitchFamily="34" charset="0"/>
                <a:ea typeface="Calibri" pitchFamily="34" charset="-122"/>
                <a:cs typeface="Calibri" pitchFamily="34" charset="-120"/>
              </a:rPr>
              <a:t>Human required in every loop</a:t>
            </a:r>
            <a:endParaRPr lang="en-US" sz="1600" dirty="0"/>
          </a:p>
        </p:txBody>
      </p:sp>
      <p:sp>
        <p:nvSpPr>
          <p:cNvPr id="13" name="Text 11"/>
          <p:cNvSpPr/>
          <p:nvPr/>
        </p:nvSpPr>
        <p:spPr>
          <a:xfrm>
            <a:off x="3977640" y="3291840"/>
            <a:ext cx="548640" cy="548640"/>
          </a:xfrm>
          <a:prstGeom prst="rect">
            <a:avLst/>
          </a:prstGeom>
          <a:noFill/>
        </p:spPr>
        <p:txBody>
          <a:bodyPr wrap="square" lIns="0" tIns="0" rIns="0" bIns="0" rtlCol="0" anchor="ctr"/>
          <a:lstStyle/>
          <a:p>
            <a:pPr marL="0" indent="0" algn="ctr">
              <a:buNone/>
            </a:pPr>
            <a:r>
              <a:rPr lang="en-US" sz="3600" b="1" dirty="0">
                <a:solidFill>
                  <a:srgbClr val="2777EF"/>
                </a:solidFill>
                <a:latin typeface="Calibri" pitchFamily="34" charset="0"/>
                <a:ea typeface="Calibri" pitchFamily="34" charset="-122"/>
                <a:cs typeface="Calibri" pitchFamily="34" charset="-120"/>
              </a:rPr>
              <a:t>→</a:t>
            </a:r>
            <a:endParaRPr lang="en-US" sz="3600" dirty="0"/>
          </a:p>
        </p:txBody>
      </p:sp>
      <p:sp>
        <p:nvSpPr>
          <p:cNvPr id="14" name="Shape 12"/>
          <p:cNvSpPr/>
          <p:nvPr/>
        </p:nvSpPr>
        <p:spPr>
          <a:xfrm>
            <a:off x="4572000" y="1691640"/>
            <a:ext cx="3383280" cy="3931920"/>
          </a:xfrm>
          <a:prstGeom prst="roundRect">
            <a:avLst>
              <a:gd name="adj" fmla="val 2162"/>
            </a:avLst>
          </a:prstGeom>
          <a:solidFill>
            <a:srgbClr val="EAF1FE"/>
          </a:solidFill>
          <a:ln w="15875">
            <a:solidFill>
              <a:srgbClr val="2777EF"/>
            </a:solidFill>
            <a:prstDash val="solid"/>
          </a:ln>
        </p:spPr>
        <p:txBody>
          <a:bodyPr/>
          <a:lstStyle/>
          <a:p>
            <a:endParaRPr lang="en-US" sz="2400"/>
          </a:p>
        </p:txBody>
      </p:sp>
      <p:sp>
        <p:nvSpPr>
          <p:cNvPr id="15" name="Text 13"/>
          <p:cNvSpPr/>
          <p:nvPr/>
        </p:nvSpPr>
        <p:spPr>
          <a:xfrm>
            <a:off x="4572000" y="1828800"/>
            <a:ext cx="3383280" cy="365760"/>
          </a:xfrm>
          <a:prstGeom prst="rect">
            <a:avLst/>
          </a:prstGeom>
          <a:noFill/>
        </p:spPr>
        <p:txBody>
          <a:bodyPr wrap="square" lIns="0" tIns="0" rIns="0" bIns="0" rtlCol="0" anchor="ctr"/>
          <a:lstStyle/>
          <a:p>
            <a:pPr marL="0" indent="0" algn="ctr">
              <a:buNone/>
            </a:pPr>
            <a:r>
              <a:rPr lang="en-US" sz="2000" b="1" dirty="0">
                <a:solidFill>
                  <a:srgbClr val="2777EF"/>
                </a:solidFill>
                <a:latin typeface="Cambria" pitchFamily="34" charset="0"/>
                <a:ea typeface="Cambria" pitchFamily="34" charset="-122"/>
                <a:cs typeface="Cambria" pitchFamily="34" charset="-120"/>
              </a:rPr>
              <a:t>Agents</a:t>
            </a:r>
            <a:endParaRPr lang="en-US" sz="2000" dirty="0"/>
          </a:p>
        </p:txBody>
      </p:sp>
      <p:sp>
        <p:nvSpPr>
          <p:cNvPr id="16" name="Text 14"/>
          <p:cNvSpPr/>
          <p:nvPr/>
        </p:nvSpPr>
        <p:spPr>
          <a:xfrm>
            <a:off x="5029200" y="2377440"/>
            <a:ext cx="283464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1.  You define the objective</a:t>
            </a:r>
            <a:endParaRPr lang="en-US" dirty="0"/>
          </a:p>
        </p:txBody>
      </p:sp>
      <p:sp>
        <p:nvSpPr>
          <p:cNvPr id="17" name="Text 15"/>
          <p:cNvSpPr/>
          <p:nvPr/>
        </p:nvSpPr>
        <p:spPr>
          <a:xfrm>
            <a:off x="5029200" y="2880360"/>
            <a:ext cx="283464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2.  Agents plan, act, verify</a:t>
            </a:r>
            <a:endParaRPr lang="en-US" dirty="0"/>
          </a:p>
        </p:txBody>
      </p:sp>
      <p:sp>
        <p:nvSpPr>
          <p:cNvPr id="18" name="Text 16"/>
          <p:cNvSpPr/>
          <p:nvPr/>
        </p:nvSpPr>
        <p:spPr>
          <a:xfrm>
            <a:off x="5029200" y="3383280"/>
            <a:ext cx="283464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3.  Tool calls · writes · tests</a:t>
            </a:r>
            <a:endParaRPr lang="en-US" dirty="0"/>
          </a:p>
        </p:txBody>
      </p:sp>
      <p:sp>
        <p:nvSpPr>
          <p:cNvPr id="19" name="Text 17"/>
          <p:cNvSpPr/>
          <p:nvPr/>
        </p:nvSpPr>
        <p:spPr>
          <a:xfrm>
            <a:off x="5029200" y="3886200"/>
            <a:ext cx="2834640" cy="365760"/>
          </a:xfrm>
          <a:prstGeom prst="rect">
            <a:avLst/>
          </a:prstGeom>
          <a:noFill/>
        </p:spPr>
        <p:txBody>
          <a:bodyPr wrap="square" lIns="0" tIns="0" rIns="0" bIns="0" rtlCol="0" anchor="ctr"/>
          <a:lstStyle/>
          <a:p>
            <a:pPr marL="0" indent="0">
              <a:buNone/>
            </a:pPr>
            <a:r>
              <a:rPr lang="en-US" dirty="0">
                <a:solidFill>
                  <a:srgbClr val="3A4358"/>
                </a:solidFill>
                <a:latin typeface="Calibri" pitchFamily="34" charset="0"/>
                <a:ea typeface="Calibri" pitchFamily="34" charset="-122"/>
                <a:cs typeface="Calibri" pitchFamily="34" charset="-120"/>
              </a:rPr>
              <a:t>4.  Loop until completion</a:t>
            </a:r>
            <a:endParaRPr lang="en-US" dirty="0"/>
          </a:p>
        </p:txBody>
      </p:sp>
      <p:sp>
        <p:nvSpPr>
          <p:cNvPr id="20" name="Shape 18"/>
          <p:cNvSpPr/>
          <p:nvPr/>
        </p:nvSpPr>
        <p:spPr>
          <a:xfrm>
            <a:off x="4983480" y="4892040"/>
            <a:ext cx="2560320" cy="457200"/>
          </a:xfrm>
          <a:prstGeom prst="roundRect">
            <a:avLst>
              <a:gd name="adj" fmla="val 12000"/>
            </a:avLst>
          </a:prstGeom>
          <a:solidFill>
            <a:srgbClr val="FFFFFF"/>
          </a:solidFill>
          <a:ln w="9525">
            <a:solidFill>
              <a:srgbClr val="A8C6F5"/>
            </a:solidFill>
            <a:prstDash val="solid"/>
          </a:ln>
        </p:spPr>
        <p:txBody>
          <a:bodyPr/>
          <a:lstStyle/>
          <a:p>
            <a:endParaRPr lang="en-US" sz="2400"/>
          </a:p>
        </p:txBody>
      </p:sp>
      <p:sp>
        <p:nvSpPr>
          <p:cNvPr id="21" name="Text 19"/>
          <p:cNvSpPr/>
          <p:nvPr/>
        </p:nvSpPr>
        <p:spPr>
          <a:xfrm>
            <a:off x="4983480" y="4892040"/>
            <a:ext cx="2560320" cy="457200"/>
          </a:xfrm>
          <a:prstGeom prst="rect">
            <a:avLst/>
          </a:prstGeom>
          <a:noFill/>
        </p:spPr>
        <p:txBody>
          <a:bodyPr wrap="square" lIns="0" tIns="0" rIns="0" bIns="0" rtlCol="0" anchor="ctr"/>
          <a:lstStyle/>
          <a:p>
            <a:pPr marL="0" indent="0" algn="ctr">
              <a:buNone/>
            </a:pPr>
            <a:r>
              <a:rPr lang="en-US" sz="1600" b="1" dirty="0">
                <a:solidFill>
                  <a:srgbClr val="2777EF"/>
                </a:solidFill>
                <a:latin typeface="Calibri" pitchFamily="34" charset="0"/>
                <a:ea typeface="Calibri" pitchFamily="34" charset="-122"/>
                <a:cs typeface="Calibri" pitchFamily="34" charset="-120"/>
              </a:rPr>
              <a:t>Human becomes the manager</a:t>
            </a:r>
            <a:endParaRPr lang="en-US" sz="1600" dirty="0"/>
          </a:p>
        </p:txBody>
      </p:sp>
      <p:sp>
        <p:nvSpPr>
          <p:cNvPr id="22" name="Shape 20"/>
          <p:cNvSpPr/>
          <p:nvPr/>
        </p:nvSpPr>
        <p:spPr>
          <a:xfrm>
            <a:off x="8366760" y="1691640"/>
            <a:ext cx="3310128" cy="3931920"/>
          </a:xfrm>
          <a:prstGeom prst="roundRect">
            <a:avLst>
              <a:gd name="adj" fmla="val 2210"/>
            </a:avLst>
          </a:prstGeom>
          <a:solidFill>
            <a:srgbClr val="FFFFFF"/>
          </a:solidFill>
          <a:ln w="19050">
            <a:solidFill>
              <a:srgbClr val="2777EF"/>
            </a:solidFill>
            <a:prstDash val="solid"/>
          </a:ln>
        </p:spPr>
        <p:txBody>
          <a:bodyPr/>
          <a:lstStyle/>
          <a:p>
            <a:endParaRPr lang="en-US" sz="2400"/>
          </a:p>
        </p:txBody>
      </p:sp>
      <p:sp>
        <p:nvSpPr>
          <p:cNvPr id="23" name="Text 21"/>
          <p:cNvSpPr/>
          <p:nvPr/>
        </p:nvSpPr>
        <p:spPr>
          <a:xfrm>
            <a:off x="8366760" y="1828800"/>
            <a:ext cx="3310128" cy="365760"/>
          </a:xfrm>
          <a:prstGeom prst="rect">
            <a:avLst/>
          </a:prstGeom>
          <a:noFill/>
        </p:spPr>
        <p:txBody>
          <a:bodyPr wrap="square" lIns="0" tIns="0" rIns="0" bIns="0" rtlCol="0" anchor="ctr"/>
          <a:lstStyle/>
          <a:p>
            <a:pPr marL="0" indent="0" algn="ctr">
              <a:buNone/>
            </a:pPr>
            <a:r>
              <a:rPr lang="en-US" sz="2000" b="1" dirty="0">
                <a:solidFill>
                  <a:srgbClr val="2777EF"/>
                </a:solidFill>
                <a:latin typeface="Cambria" pitchFamily="34" charset="0"/>
                <a:ea typeface="Cambria" pitchFamily="34" charset="-122"/>
                <a:cs typeface="Cambria" pitchFamily="34" charset="-120"/>
              </a:rPr>
              <a:t>Key Insights</a:t>
            </a:r>
            <a:endParaRPr lang="en-US" sz="2000" dirty="0"/>
          </a:p>
        </p:txBody>
      </p:sp>
      <p:sp>
        <p:nvSpPr>
          <p:cNvPr id="24" name="Text 22"/>
          <p:cNvSpPr/>
          <p:nvPr/>
        </p:nvSpPr>
        <p:spPr>
          <a:xfrm>
            <a:off x="8595360" y="2331720"/>
            <a:ext cx="3310128" cy="320040"/>
          </a:xfrm>
          <a:prstGeom prst="rect">
            <a:avLst/>
          </a:prstGeom>
          <a:noFill/>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1)  Removes the human bottleneck</a:t>
            </a:r>
            <a:endParaRPr lang="en-US" sz="1600" dirty="0"/>
          </a:p>
        </p:txBody>
      </p:sp>
      <p:sp>
        <p:nvSpPr>
          <p:cNvPr id="25" name="Text 23"/>
          <p:cNvSpPr/>
          <p:nvPr/>
        </p:nvSpPr>
        <p:spPr>
          <a:xfrm>
            <a:off x="8595360" y="2633472"/>
            <a:ext cx="2926080" cy="502920"/>
          </a:xfrm>
          <a:prstGeom prst="rect">
            <a:avLst/>
          </a:prstGeom>
          <a:noFill/>
        </p:spPr>
        <p:txBody>
          <a:bodyPr wrap="square" lIns="0" tIns="0" rIns="0" bIns="0" rtlCol="0" anchor="ctr"/>
          <a:lstStyle/>
          <a:p>
            <a:pPr marL="0" indent="0">
              <a:lnSpc>
                <a:spcPct val="102000"/>
              </a:lnSpc>
              <a:buNone/>
            </a:pPr>
            <a:r>
              <a:rPr lang="en-US" sz="1600" i="1" dirty="0">
                <a:solidFill>
                  <a:srgbClr val="5A6478"/>
                </a:solidFill>
                <a:latin typeface="Calibri" pitchFamily="34" charset="0"/>
                <a:ea typeface="Calibri" pitchFamily="34" charset="-122"/>
                <a:cs typeface="Calibri" pitchFamily="34" charset="-120"/>
              </a:rPr>
              <a:t>attention-hours no longer cap output</a:t>
            </a:r>
            <a:endParaRPr lang="en-US" sz="1600" dirty="0"/>
          </a:p>
        </p:txBody>
      </p:sp>
      <p:sp>
        <p:nvSpPr>
          <p:cNvPr id="26" name="Shape 24"/>
          <p:cNvSpPr/>
          <p:nvPr/>
        </p:nvSpPr>
        <p:spPr>
          <a:xfrm>
            <a:off x="8641080" y="3291840"/>
            <a:ext cx="2743200" cy="0"/>
          </a:xfrm>
          <a:prstGeom prst="line">
            <a:avLst/>
          </a:prstGeom>
          <a:noFill/>
          <a:ln w="9525">
            <a:solidFill>
              <a:srgbClr val="D5DCE8"/>
            </a:solidFill>
            <a:prstDash val="solid"/>
          </a:ln>
        </p:spPr>
        <p:txBody>
          <a:bodyPr/>
          <a:lstStyle/>
          <a:p>
            <a:endParaRPr lang="en-US" sz="2400"/>
          </a:p>
        </p:txBody>
      </p:sp>
      <p:sp>
        <p:nvSpPr>
          <p:cNvPr id="27" name="Text 25"/>
          <p:cNvSpPr/>
          <p:nvPr/>
        </p:nvSpPr>
        <p:spPr>
          <a:xfrm>
            <a:off x="8595360" y="3383280"/>
            <a:ext cx="2926080" cy="320040"/>
          </a:xfrm>
          <a:prstGeom prst="rect">
            <a:avLst/>
          </a:prstGeom>
          <a:noFill/>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2)  Parallelization</a:t>
            </a:r>
            <a:endParaRPr lang="en-US" sz="1600" dirty="0"/>
          </a:p>
        </p:txBody>
      </p:sp>
      <p:sp>
        <p:nvSpPr>
          <p:cNvPr id="28" name="Text 26"/>
          <p:cNvSpPr/>
          <p:nvPr/>
        </p:nvSpPr>
        <p:spPr>
          <a:xfrm>
            <a:off x="8595360" y="3685032"/>
            <a:ext cx="2926080" cy="502920"/>
          </a:xfrm>
          <a:prstGeom prst="rect">
            <a:avLst/>
          </a:prstGeom>
          <a:noFill/>
        </p:spPr>
        <p:txBody>
          <a:bodyPr wrap="square" lIns="0" tIns="0" rIns="0" bIns="0" rtlCol="0" anchor="ctr"/>
          <a:lstStyle/>
          <a:p>
            <a:pPr marL="0" indent="0">
              <a:lnSpc>
                <a:spcPct val="102000"/>
              </a:lnSpc>
              <a:buNone/>
            </a:pPr>
            <a:r>
              <a:rPr lang="en-US" sz="1600" i="1" dirty="0">
                <a:solidFill>
                  <a:srgbClr val="5A6478"/>
                </a:solidFill>
                <a:latin typeface="Calibri" pitchFamily="34" charset="0"/>
                <a:ea typeface="Calibri" pitchFamily="34" charset="-122"/>
                <a:cs typeface="Calibri" pitchFamily="34" charset="-120"/>
              </a:rPr>
              <a:t>agents launch agents — 10–100x workstreams</a:t>
            </a:r>
            <a:endParaRPr lang="en-US" sz="1600" dirty="0"/>
          </a:p>
        </p:txBody>
      </p:sp>
      <p:sp>
        <p:nvSpPr>
          <p:cNvPr id="29" name="Shape 27"/>
          <p:cNvSpPr/>
          <p:nvPr/>
        </p:nvSpPr>
        <p:spPr>
          <a:xfrm>
            <a:off x="8641080" y="4343400"/>
            <a:ext cx="2743200" cy="0"/>
          </a:xfrm>
          <a:prstGeom prst="line">
            <a:avLst/>
          </a:prstGeom>
          <a:noFill/>
          <a:ln w="9525">
            <a:solidFill>
              <a:srgbClr val="D5DCE8"/>
            </a:solidFill>
            <a:prstDash val="solid"/>
          </a:ln>
        </p:spPr>
        <p:txBody>
          <a:bodyPr/>
          <a:lstStyle/>
          <a:p>
            <a:endParaRPr lang="en-US" sz="2400"/>
          </a:p>
        </p:txBody>
      </p:sp>
      <p:sp>
        <p:nvSpPr>
          <p:cNvPr id="30" name="Text 28"/>
          <p:cNvSpPr/>
          <p:nvPr/>
        </p:nvSpPr>
        <p:spPr>
          <a:xfrm>
            <a:off x="8595360" y="4434840"/>
            <a:ext cx="2926080" cy="320040"/>
          </a:xfrm>
          <a:prstGeom prst="rect">
            <a:avLst/>
          </a:prstGeom>
          <a:noFill/>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3)  Always-on duty cycle</a:t>
            </a:r>
            <a:endParaRPr lang="en-US" sz="1600" dirty="0"/>
          </a:p>
        </p:txBody>
      </p:sp>
      <p:sp>
        <p:nvSpPr>
          <p:cNvPr id="31" name="Text 29"/>
          <p:cNvSpPr/>
          <p:nvPr/>
        </p:nvSpPr>
        <p:spPr>
          <a:xfrm>
            <a:off x="8595360" y="4736592"/>
            <a:ext cx="2926080" cy="502920"/>
          </a:xfrm>
          <a:prstGeom prst="rect">
            <a:avLst/>
          </a:prstGeom>
          <a:noFill/>
        </p:spPr>
        <p:txBody>
          <a:bodyPr wrap="square" lIns="0" tIns="0" rIns="0" bIns="0" rtlCol="0" anchor="ctr"/>
          <a:lstStyle/>
          <a:p>
            <a:pPr marL="0" indent="0">
              <a:lnSpc>
                <a:spcPct val="102000"/>
              </a:lnSpc>
              <a:buNone/>
            </a:pPr>
            <a:r>
              <a:rPr lang="en-US" sz="1600" i="1" dirty="0">
                <a:solidFill>
                  <a:srgbClr val="5A6478"/>
                </a:solidFill>
                <a:latin typeface="Calibri" pitchFamily="34" charset="0"/>
                <a:ea typeface="Calibri" pitchFamily="34" charset="-122"/>
                <a:cs typeface="Calibri" pitchFamily="34" charset="-120"/>
              </a:rPr>
              <a:t>40 attention-hours → 168 machine-hours a week</a:t>
            </a:r>
            <a:endParaRPr lang="en-US" sz="1600" dirty="0"/>
          </a:p>
        </p:txBody>
      </p:sp>
      <p:sp>
        <p:nvSpPr>
          <p:cNvPr id="32" name="Text 30"/>
          <p:cNvSpPr/>
          <p:nvPr/>
        </p:nvSpPr>
        <p:spPr>
          <a:xfrm>
            <a:off x="1234440" y="5897880"/>
            <a:ext cx="3017520" cy="274320"/>
          </a:xfrm>
          <a:prstGeom prst="rect">
            <a:avLst/>
          </a:prstGeom>
          <a:noFill/>
        </p:spPr>
        <p:txBody>
          <a:bodyPr wrap="square" lIns="0" tIns="0" rIns="0" bIns="0" rtlCol="0" anchor="ctr"/>
          <a:lstStyle/>
          <a:p>
            <a:pPr marL="0" indent="0">
              <a:buNone/>
            </a:pPr>
            <a:r>
              <a:rPr lang="en-US" sz="1600" b="1" dirty="0">
                <a:solidFill>
                  <a:srgbClr val="5A6478"/>
                </a:solidFill>
                <a:latin typeface="Calibri" pitchFamily="34" charset="0"/>
                <a:ea typeface="Calibri" pitchFamily="34" charset="-122"/>
                <a:cs typeface="Calibri" pitchFamily="34" charset="-120"/>
              </a:rPr>
              <a:t>1 analyst helping you</a:t>
            </a:r>
            <a:endParaRPr lang="en-US" sz="1600" dirty="0"/>
          </a:p>
        </p:txBody>
      </p:sp>
      <p:sp>
        <p:nvSpPr>
          <p:cNvPr id="33" name="Shape 31"/>
          <p:cNvSpPr/>
          <p:nvPr/>
        </p:nvSpPr>
        <p:spPr>
          <a:xfrm>
            <a:off x="3181082" y="6035040"/>
            <a:ext cx="5459998" cy="0"/>
          </a:xfrm>
          <a:prstGeom prst="line">
            <a:avLst/>
          </a:prstGeom>
          <a:noFill/>
          <a:ln w="19050">
            <a:solidFill>
              <a:srgbClr val="5A6478"/>
            </a:solidFill>
            <a:prstDash val="solid"/>
            <a:tailEnd type="arrow"/>
          </a:ln>
        </p:spPr>
        <p:txBody>
          <a:bodyPr/>
          <a:lstStyle/>
          <a:p>
            <a:endParaRPr lang="en-US" sz="2400"/>
          </a:p>
        </p:txBody>
      </p:sp>
      <p:sp>
        <p:nvSpPr>
          <p:cNvPr id="34" name="Text 32"/>
          <p:cNvSpPr/>
          <p:nvPr/>
        </p:nvSpPr>
        <p:spPr>
          <a:xfrm>
            <a:off x="8869680" y="5875342"/>
            <a:ext cx="3840480" cy="274320"/>
          </a:xfrm>
          <a:prstGeom prst="rect">
            <a:avLst/>
          </a:prstGeom>
          <a:noFill/>
        </p:spPr>
        <p:txBody>
          <a:bodyPr wrap="square" lIns="0" tIns="0" rIns="0" bIns="0" rtlCol="0" anchor="ctr"/>
          <a:lstStyle/>
          <a:p>
            <a:pPr marL="0" indent="0">
              <a:buNone/>
            </a:pPr>
            <a:r>
              <a:rPr lang="en-US" sz="1600" b="1" dirty="0">
                <a:solidFill>
                  <a:srgbClr val="2777EF"/>
                </a:solidFill>
                <a:latin typeface="Calibri" pitchFamily="34" charset="0"/>
                <a:ea typeface="Calibri" pitchFamily="34" charset="-122"/>
                <a:cs typeface="Calibri" pitchFamily="34" charset="-120"/>
              </a:rPr>
              <a:t>1,000 analysts working 24/7</a:t>
            </a:r>
            <a:endParaRPr lang="en-US" sz="1600" dirty="0"/>
          </a:p>
        </p:txBody>
      </p:sp>
      <p:sp>
        <p:nvSpPr>
          <p:cNvPr id="35" name="Text 33"/>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36" name="Text 34"/>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framework. Agent capabilities illustrative; reliability and supervision requirements remain constraints.</a:t>
            </a:r>
            <a:endParaRPr lang="en-US" sz="750" dirty="0"/>
          </a:p>
        </p:txBody>
      </p:sp>
      <p:sp>
        <p:nvSpPr>
          <p:cNvPr id="37"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11</a:t>
            </a:fld>
            <a:endParaRPr lang="en-US"/>
          </a:p>
        </p:txBody>
      </p:sp>
      <p:sp>
        <p:nvSpPr>
          <p:cNvPr id="38" name="Text 23">
            <a:extLst>
              <a:ext uri="{FF2B5EF4-FFF2-40B4-BE49-F238E27FC236}">
                <a16:creationId xmlns:a16="http://schemas.microsoft.com/office/drawing/2014/main" id="{67A301EE-7309-2EBA-98BA-0894984FF084}"/>
              </a:ext>
            </a:extLst>
          </p:cNvPr>
          <p:cNvSpPr/>
          <p:nvPr/>
        </p:nvSpPr>
        <p:spPr>
          <a:xfrm>
            <a:off x="8279397" y="6137794"/>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Tree>
    <p:extLst>
      <p:ext uri="{BB962C8B-B14F-4D97-AF65-F5344CB8AC3E}">
        <p14:creationId xmlns:p14="http://schemas.microsoft.com/office/powerpoint/2010/main" val="2151142691"/>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era is already measurable — the proof is public</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GROWTH IN MAKERS AND MACHINE-WRITTEN CODE, 2024 → 2026 — ALL THIRD-PARTY, ALL DATED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91640"/>
            <a:ext cx="3429000" cy="192024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856232"/>
            <a:ext cx="2926080" cy="502920"/>
          </a:xfrm>
          <a:prstGeom prst="rect">
            <a:avLst/>
          </a:prstGeom>
          <a:noFill/>
        </p:spPr>
        <p:txBody>
          <a:bodyPr wrap="square" lIns="0" rIns="0" tIns="0" bIns="0">
            <a:spAutoFit/>
          </a:bodyPr>
          <a:lstStyle/>
          <a:p>
            <a:pPr algn="l"/>
            <a:r>
              <a:rPr sz="2800" b="1" i="0">
                <a:solidFill>
                  <a:srgbClr val="2777EF"/>
                </a:solidFill>
                <a:latin typeface="Cambria"/>
              </a:rPr>
              <a:t>180M</a:t>
            </a:r>
          </a:p>
        </p:txBody>
      </p:sp>
      <p:sp>
        <p:nvSpPr>
          <p:cNvPr id="7" name="TextBox 6"/>
          <p:cNvSpPr txBox="1"/>
          <p:nvPr/>
        </p:nvSpPr>
        <p:spPr>
          <a:xfrm>
            <a:off x="1033271" y="2423160"/>
            <a:ext cx="2926080" cy="274320"/>
          </a:xfrm>
          <a:prstGeom prst="rect">
            <a:avLst/>
          </a:prstGeom>
          <a:noFill/>
        </p:spPr>
        <p:txBody>
          <a:bodyPr wrap="square" lIns="0" rIns="0" tIns="0" bIns="0">
            <a:spAutoFit/>
          </a:bodyPr>
          <a:lstStyle/>
          <a:p>
            <a:pPr algn="l"/>
            <a:r>
              <a:rPr sz="1250" b="1" i="0">
                <a:solidFill>
                  <a:srgbClr val="1A2233"/>
                </a:solidFill>
                <a:latin typeface="Calibri"/>
              </a:rPr>
              <a:t>developers on GitHub</a:t>
            </a:r>
          </a:p>
        </p:txBody>
      </p:sp>
      <p:sp>
        <p:nvSpPr>
          <p:cNvPr id="8" name="TextBox 7"/>
          <p:cNvSpPr txBox="1"/>
          <p:nvPr/>
        </p:nvSpPr>
        <p:spPr>
          <a:xfrm>
            <a:off x="1033271" y="2734056"/>
            <a:ext cx="2926080" cy="822960"/>
          </a:xfrm>
          <a:prstGeom prst="rect">
            <a:avLst/>
          </a:prstGeom>
          <a:noFill/>
        </p:spPr>
        <p:txBody>
          <a:bodyPr wrap="square" lIns="0" rIns="0" tIns="0" bIns="0">
            <a:spAutoFit/>
          </a:bodyPr>
          <a:lstStyle/>
          <a:p>
            <a:pPr algn="l"/>
            <a:r>
              <a:rPr sz="1050" b="0" i="0">
                <a:solidFill>
                  <a:srgbClr val="5A6478"/>
                </a:solidFill>
                <a:latin typeface="Calibri"/>
              </a:rPr>
              <a:t>+36M in one year — the fastest cohort ever; a new developer joins every second (Octoverse '25)</a:t>
            </a:r>
          </a:p>
        </p:txBody>
      </p:sp>
      <p:sp>
        <p:nvSpPr>
          <p:cNvPr id="9" name="Rounded Rectangle 8"/>
          <p:cNvSpPr/>
          <p:nvPr/>
        </p:nvSpPr>
        <p:spPr>
          <a:xfrm>
            <a:off x="4416552" y="1691640"/>
            <a:ext cx="3429000" cy="192024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72584" y="1856232"/>
            <a:ext cx="2926080" cy="502920"/>
          </a:xfrm>
          <a:prstGeom prst="rect">
            <a:avLst/>
          </a:prstGeom>
          <a:noFill/>
        </p:spPr>
        <p:txBody>
          <a:bodyPr wrap="square" lIns="0" rIns="0" tIns="0" bIns="0">
            <a:spAutoFit/>
          </a:bodyPr>
          <a:lstStyle/>
          <a:p>
            <a:pPr algn="l"/>
            <a:r>
              <a:rPr sz="2800" b="1" i="0">
                <a:solidFill>
                  <a:srgbClr val="2777EF"/>
                </a:solidFill>
                <a:latin typeface="Cambria"/>
              </a:rPr>
              <a:t>51%</a:t>
            </a:r>
          </a:p>
        </p:txBody>
      </p:sp>
      <p:sp>
        <p:nvSpPr>
          <p:cNvPr id="11" name="TextBox 10"/>
          <p:cNvSpPr txBox="1"/>
          <p:nvPr/>
        </p:nvSpPr>
        <p:spPr>
          <a:xfrm>
            <a:off x="4672584" y="2423160"/>
            <a:ext cx="2926080" cy="274320"/>
          </a:xfrm>
          <a:prstGeom prst="rect">
            <a:avLst/>
          </a:prstGeom>
          <a:noFill/>
        </p:spPr>
        <p:txBody>
          <a:bodyPr wrap="square" lIns="0" rIns="0" tIns="0" bIns="0">
            <a:spAutoFit/>
          </a:bodyPr>
          <a:lstStyle/>
          <a:p>
            <a:pPr algn="l"/>
            <a:r>
              <a:rPr sz="1250" b="1" i="0">
                <a:solidFill>
                  <a:srgbClr val="1A2233"/>
                </a:solidFill>
                <a:latin typeface="Calibri"/>
              </a:rPr>
              <a:t>of committed code is AI-written</a:t>
            </a:r>
          </a:p>
        </p:txBody>
      </p:sp>
      <p:sp>
        <p:nvSpPr>
          <p:cNvPr id="12" name="TextBox 11"/>
          <p:cNvSpPr txBox="1"/>
          <p:nvPr/>
        </p:nvSpPr>
        <p:spPr>
          <a:xfrm>
            <a:off x="4672584" y="2734056"/>
            <a:ext cx="2926080" cy="822960"/>
          </a:xfrm>
          <a:prstGeom prst="rect">
            <a:avLst/>
          </a:prstGeom>
          <a:noFill/>
        </p:spPr>
        <p:txBody>
          <a:bodyPr wrap="square" lIns="0" rIns="0" tIns="0" bIns="0">
            <a:spAutoFit/>
          </a:bodyPr>
          <a:lstStyle/>
          <a:p>
            <a:pPr algn="l"/>
            <a:r>
              <a:rPr sz="1050" b="0" i="0">
                <a:solidFill>
                  <a:srgbClr val="5A6478"/>
                </a:solidFill>
                <a:latin typeface="Calibri"/>
              </a:rPr>
              <a:t>GitHub, early 2026 — Google reports ~75% of its new code is AI-generated and engineer-approved</a:t>
            </a:r>
          </a:p>
        </p:txBody>
      </p:sp>
      <p:sp>
        <p:nvSpPr>
          <p:cNvPr id="13" name="Rounded Rectangle 12"/>
          <p:cNvSpPr/>
          <p:nvPr/>
        </p:nvSpPr>
        <p:spPr>
          <a:xfrm>
            <a:off x="8055864" y="1691640"/>
            <a:ext cx="3429000" cy="192024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1856232"/>
            <a:ext cx="2926080" cy="502920"/>
          </a:xfrm>
          <a:prstGeom prst="rect">
            <a:avLst/>
          </a:prstGeom>
          <a:noFill/>
        </p:spPr>
        <p:txBody>
          <a:bodyPr wrap="square" lIns="0" rIns="0" tIns="0" bIns="0">
            <a:spAutoFit/>
          </a:bodyPr>
          <a:lstStyle/>
          <a:p>
            <a:pPr algn="l"/>
            <a:r>
              <a:rPr sz="2800" b="1" i="0">
                <a:solidFill>
                  <a:srgbClr val="2777EF"/>
                </a:solidFill>
                <a:latin typeface="Cambria"/>
              </a:rPr>
              <a:t>630M</a:t>
            </a:r>
          </a:p>
        </p:txBody>
      </p:sp>
      <p:sp>
        <p:nvSpPr>
          <p:cNvPr id="15" name="TextBox 14"/>
          <p:cNvSpPr txBox="1"/>
          <p:nvPr/>
        </p:nvSpPr>
        <p:spPr>
          <a:xfrm>
            <a:off x="8311896" y="2423160"/>
            <a:ext cx="2926080" cy="274320"/>
          </a:xfrm>
          <a:prstGeom prst="rect">
            <a:avLst/>
          </a:prstGeom>
          <a:noFill/>
        </p:spPr>
        <p:txBody>
          <a:bodyPr wrap="square" lIns="0" rIns="0" tIns="0" bIns="0">
            <a:spAutoFit/>
          </a:bodyPr>
          <a:lstStyle/>
          <a:p>
            <a:pPr algn="l"/>
            <a:r>
              <a:rPr sz="1250" b="1" i="0">
                <a:solidFill>
                  <a:srgbClr val="1A2233"/>
                </a:solidFill>
                <a:latin typeface="Calibri"/>
              </a:rPr>
              <a:t>repositories</a:t>
            </a:r>
          </a:p>
        </p:txBody>
      </p:sp>
      <p:sp>
        <p:nvSpPr>
          <p:cNvPr id="16" name="TextBox 15"/>
          <p:cNvSpPr txBox="1"/>
          <p:nvPr/>
        </p:nvSpPr>
        <p:spPr>
          <a:xfrm>
            <a:off x="8311896" y="2734056"/>
            <a:ext cx="2926080" cy="822960"/>
          </a:xfrm>
          <a:prstGeom prst="rect">
            <a:avLst/>
          </a:prstGeom>
          <a:noFill/>
        </p:spPr>
        <p:txBody>
          <a:bodyPr wrap="square" lIns="0" rIns="0" tIns="0" bIns="0">
            <a:spAutoFit/>
          </a:bodyPr>
          <a:lstStyle/>
          <a:p>
            <a:pPr algn="l"/>
            <a:r>
              <a:rPr sz="1050" b="0" i="0">
                <a:solidFill>
                  <a:srgbClr val="5A6478"/>
                </a:solidFill>
                <a:latin typeface="Calibri"/>
              </a:rPr>
              <a:t>+121M projects in a single year — 230 new projects created every minute</a:t>
            </a:r>
          </a:p>
        </p:txBody>
      </p:sp>
      <p:sp>
        <p:nvSpPr>
          <p:cNvPr id="17" name="Rounded Rectangle 16"/>
          <p:cNvSpPr/>
          <p:nvPr/>
        </p:nvSpPr>
        <p:spPr>
          <a:xfrm>
            <a:off x="777240" y="3794760"/>
            <a:ext cx="3429000" cy="192024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1" y="3959352"/>
            <a:ext cx="2926080" cy="502920"/>
          </a:xfrm>
          <a:prstGeom prst="rect">
            <a:avLst/>
          </a:prstGeom>
          <a:noFill/>
        </p:spPr>
        <p:txBody>
          <a:bodyPr wrap="square" lIns="0" rIns="0" tIns="0" bIns="0">
            <a:spAutoFit/>
          </a:bodyPr>
          <a:lstStyle/>
          <a:p>
            <a:pPr algn="l"/>
            <a:r>
              <a:rPr sz="2800" b="1" i="0">
                <a:solidFill>
                  <a:srgbClr val="2777EF"/>
                </a:solidFill>
                <a:latin typeface="Cambria"/>
              </a:rPr>
              <a:t>20M</a:t>
            </a:r>
          </a:p>
        </p:txBody>
      </p:sp>
      <p:sp>
        <p:nvSpPr>
          <p:cNvPr id="19" name="TextBox 18"/>
          <p:cNvSpPr txBox="1"/>
          <p:nvPr/>
        </p:nvSpPr>
        <p:spPr>
          <a:xfrm>
            <a:off x="1033271" y="4526280"/>
            <a:ext cx="2926080" cy="274320"/>
          </a:xfrm>
          <a:prstGeom prst="rect">
            <a:avLst/>
          </a:prstGeom>
          <a:noFill/>
        </p:spPr>
        <p:txBody>
          <a:bodyPr wrap="square" lIns="0" rIns="0" tIns="0" bIns="0">
            <a:spAutoFit/>
          </a:bodyPr>
          <a:lstStyle/>
          <a:p>
            <a:pPr algn="l"/>
            <a:r>
              <a:rPr sz="1250" b="1" i="0">
                <a:solidFill>
                  <a:srgbClr val="1A2233"/>
                </a:solidFill>
                <a:latin typeface="Calibri"/>
              </a:rPr>
              <a:t>developers on Copilot</a:t>
            </a:r>
          </a:p>
        </p:txBody>
      </p:sp>
      <p:sp>
        <p:nvSpPr>
          <p:cNvPr id="20" name="TextBox 19"/>
          <p:cNvSpPr txBox="1"/>
          <p:nvPr/>
        </p:nvSpPr>
        <p:spPr>
          <a:xfrm>
            <a:off x="1033271" y="4837176"/>
            <a:ext cx="2926080" cy="822960"/>
          </a:xfrm>
          <a:prstGeom prst="rect">
            <a:avLst/>
          </a:prstGeom>
          <a:noFill/>
        </p:spPr>
        <p:txBody>
          <a:bodyPr wrap="square" lIns="0" rIns="0" tIns="0" bIns="0">
            <a:spAutoFit/>
          </a:bodyPr>
          <a:lstStyle/>
          <a:p>
            <a:pPr algn="l"/>
            <a:r>
              <a:rPr sz="1050" b="0" i="0">
                <a:solidFill>
                  <a:srgbClr val="5A6478"/>
                </a:solidFill>
                <a:latin typeface="Calibri"/>
              </a:rPr>
              <a:t>4.7M paid seats; 80% of new developers use it in their first week</a:t>
            </a:r>
          </a:p>
        </p:txBody>
      </p:sp>
      <p:sp>
        <p:nvSpPr>
          <p:cNvPr id="21" name="Rounded Rectangle 20"/>
          <p:cNvSpPr/>
          <p:nvPr/>
        </p:nvSpPr>
        <p:spPr>
          <a:xfrm>
            <a:off x="4416552" y="3794760"/>
            <a:ext cx="3429000" cy="192024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72584" y="3959352"/>
            <a:ext cx="2926080" cy="502920"/>
          </a:xfrm>
          <a:prstGeom prst="rect">
            <a:avLst/>
          </a:prstGeom>
          <a:noFill/>
        </p:spPr>
        <p:txBody>
          <a:bodyPr wrap="square" lIns="0" rIns="0" tIns="0" bIns="0">
            <a:spAutoFit/>
          </a:bodyPr>
          <a:lstStyle/>
          <a:p>
            <a:pPr algn="l"/>
            <a:r>
              <a:rPr sz="2800" b="1" i="0">
                <a:solidFill>
                  <a:srgbClr val="2777EF"/>
                </a:solidFill>
                <a:latin typeface="Cambria"/>
              </a:rPr>
              <a:t>8M</a:t>
            </a:r>
          </a:p>
        </p:txBody>
      </p:sp>
      <p:sp>
        <p:nvSpPr>
          <p:cNvPr id="23" name="TextBox 22"/>
          <p:cNvSpPr txBox="1"/>
          <p:nvPr/>
        </p:nvSpPr>
        <p:spPr>
          <a:xfrm>
            <a:off x="4672584" y="4526280"/>
            <a:ext cx="2926080" cy="274320"/>
          </a:xfrm>
          <a:prstGeom prst="rect">
            <a:avLst/>
          </a:prstGeom>
          <a:noFill/>
        </p:spPr>
        <p:txBody>
          <a:bodyPr wrap="square" lIns="0" rIns="0" tIns="0" bIns="0">
            <a:spAutoFit/>
          </a:bodyPr>
          <a:lstStyle/>
          <a:p>
            <a:pPr algn="l"/>
            <a:r>
              <a:rPr sz="1250" b="1" i="0">
                <a:solidFill>
                  <a:srgbClr val="1A2233"/>
                </a:solidFill>
                <a:latin typeface="Calibri"/>
              </a:rPr>
              <a:t>users on Lovable</a:t>
            </a:r>
          </a:p>
        </p:txBody>
      </p:sp>
      <p:sp>
        <p:nvSpPr>
          <p:cNvPr id="24" name="TextBox 23"/>
          <p:cNvSpPr txBox="1"/>
          <p:nvPr/>
        </p:nvSpPr>
        <p:spPr>
          <a:xfrm>
            <a:off x="4672584" y="4837176"/>
            <a:ext cx="2926080" cy="822960"/>
          </a:xfrm>
          <a:prstGeom prst="rect">
            <a:avLst/>
          </a:prstGeom>
          <a:noFill/>
        </p:spPr>
        <p:txBody>
          <a:bodyPr wrap="square" lIns="0" rIns="0" tIns="0" bIns="0">
            <a:spAutoFit/>
          </a:bodyPr>
          <a:lstStyle/>
          <a:p>
            <a:pPr algn="l"/>
            <a:r>
              <a:rPr sz="1050" b="0" i="0">
                <a:solidFill>
                  <a:srgbClr val="5A6478"/>
                </a:solidFill>
                <a:latin typeface="Calibri"/>
              </a:rPr>
              <a:t>$300M ARR building apps from plain English; Bolt $40M ARR in five months; Cursor $2B ARR</a:t>
            </a:r>
          </a:p>
        </p:txBody>
      </p:sp>
      <p:sp>
        <p:nvSpPr>
          <p:cNvPr id="25" name="Rounded Rectangle 24"/>
          <p:cNvSpPr/>
          <p:nvPr/>
        </p:nvSpPr>
        <p:spPr>
          <a:xfrm>
            <a:off x="8055864" y="3794760"/>
            <a:ext cx="3429000" cy="192024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11896" y="3959352"/>
            <a:ext cx="2926080" cy="502920"/>
          </a:xfrm>
          <a:prstGeom prst="rect">
            <a:avLst/>
          </a:prstGeom>
          <a:noFill/>
        </p:spPr>
        <p:txBody>
          <a:bodyPr wrap="square" lIns="0" rIns="0" tIns="0" bIns="0">
            <a:spAutoFit/>
          </a:bodyPr>
          <a:lstStyle/>
          <a:p>
            <a:pPr algn="l"/>
            <a:r>
              <a:rPr sz="2800" b="1" i="0">
                <a:solidFill>
                  <a:srgbClr val="2777EF"/>
                </a:solidFill>
                <a:latin typeface="Cambria"/>
              </a:rPr>
              <a:t>60%</a:t>
            </a:r>
          </a:p>
        </p:txBody>
      </p:sp>
      <p:sp>
        <p:nvSpPr>
          <p:cNvPr id="27" name="TextBox 26"/>
          <p:cNvSpPr txBox="1"/>
          <p:nvPr/>
        </p:nvSpPr>
        <p:spPr>
          <a:xfrm>
            <a:off x="8311896" y="4526280"/>
            <a:ext cx="2926080" cy="274320"/>
          </a:xfrm>
          <a:prstGeom prst="rect">
            <a:avLst/>
          </a:prstGeom>
          <a:noFill/>
        </p:spPr>
        <p:txBody>
          <a:bodyPr wrap="square" lIns="0" rIns="0" tIns="0" bIns="0">
            <a:spAutoFit/>
          </a:bodyPr>
          <a:lstStyle/>
          <a:p>
            <a:pPr algn="l"/>
            <a:r>
              <a:rPr sz="1250" b="1" i="0">
                <a:solidFill>
                  <a:srgbClr val="1A2233"/>
                </a:solidFill>
                <a:latin typeface="Calibri"/>
              </a:rPr>
              <a:t>of new code AI-generated by 2026</a:t>
            </a:r>
          </a:p>
        </p:txBody>
      </p:sp>
      <p:sp>
        <p:nvSpPr>
          <p:cNvPr id="28" name="TextBox 27"/>
          <p:cNvSpPr txBox="1"/>
          <p:nvPr/>
        </p:nvSpPr>
        <p:spPr>
          <a:xfrm>
            <a:off x="8311896" y="4837176"/>
            <a:ext cx="2926080" cy="822960"/>
          </a:xfrm>
          <a:prstGeom prst="rect">
            <a:avLst/>
          </a:prstGeom>
          <a:noFill/>
        </p:spPr>
        <p:txBody>
          <a:bodyPr wrap="square" lIns="0" rIns="0" tIns="0" bIns="0">
            <a:spAutoFit/>
          </a:bodyPr>
          <a:lstStyle/>
          <a:p>
            <a:pPr algn="l"/>
            <a:r>
              <a:rPr sz="1050" b="0" i="0">
                <a:solidFill>
                  <a:srgbClr val="5A6478"/>
                </a:solidFill>
                <a:latin typeface="Calibri"/>
              </a:rPr>
              <a:t>Gartner forecast — the machine share of production keeps compounding</a:t>
            </a:r>
          </a:p>
        </p:txBody>
      </p:sp>
      <p:sp>
        <p:nvSpPr>
          <p:cNvPr id="29" name="Rounded Rectangle 28"/>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Makers up ~2x, machine-written share up ~5x, in three years  </a:t>
            </a:r>
            <a:r>
              <a:rPr sz="1200">
                <a:solidFill>
                  <a:srgbClr val="1A2233"/>
                </a:solidFill>
                <a:latin typeface="Calibri"/>
              </a:rPr>
              <a:t>— infinite software is a measured trend, not a metaphor.</a:t>
            </a:r>
          </a:p>
        </p:txBody>
      </p:sp>
      <p:sp>
        <p:nvSpPr>
          <p:cNvPr id="30" name="TextBox 2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1" name="TextBox 3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12</a:t>
            </a:r>
          </a:p>
        </p:txBody>
      </p:sp>
      <p:sp>
        <p:nvSpPr>
          <p:cNvPr id="32" name="TextBox 31"/>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GitHub Octoverse 2025 and company disclosures (GitHub, Google, Microsoft, Lovable, Cursor, Bolt); Gartner forecast. Figures as reported, 2024–2026.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Everyone becomes a software developer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MAKER TAM — FROM 30M PROFESSIONALS TO EVERYONE WHO CAN DESCRIBE WHAT THEY WANT</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005839" y="1645919"/>
            <a:ext cx="4480560" cy="4480560"/>
          </a:xfrm>
          <a:prstGeom prst="ellipse">
            <a:avLst/>
          </a:prstGeom>
          <a:solidFill>
            <a:srgbClr val="F5F8FC"/>
          </a:solidFill>
          <a:ln w="1587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28799" y="2468880"/>
            <a:ext cx="2834640" cy="2834640"/>
          </a:xfrm>
          <a:prstGeom prst="ellipse">
            <a:avLst/>
          </a:prstGeom>
          <a:solidFill>
            <a:srgbClr val="EAF1FE"/>
          </a:solidFill>
          <a:ln w="1587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2587752" y="3227832"/>
            <a:ext cx="1316736" cy="1316736"/>
          </a:xfrm>
          <a:prstGeom prst="ellipse">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87752" y="3611880"/>
            <a:ext cx="1316736" cy="274320"/>
          </a:xfrm>
          <a:prstGeom prst="rect">
            <a:avLst/>
          </a:prstGeom>
          <a:noFill/>
        </p:spPr>
        <p:txBody>
          <a:bodyPr wrap="square" lIns="0" rIns="0" tIns="0" bIns="0">
            <a:spAutoFit/>
          </a:bodyPr>
          <a:lstStyle/>
          <a:p>
            <a:pPr algn="ctr"/>
            <a:r>
              <a:rPr sz="1500" b="1" i="0">
                <a:solidFill>
                  <a:srgbClr val="FFFFFF"/>
                </a:solidFill>
                <a:latin typeface="Calibri"/>
              </a:rPr>
              <a:t>30M</a:t>
            </a:r>
          </a:p>
        </p:txBody>
      </p:sp>
      <p:sp>
        <p:nvSpPr>
          <p:cNvPr id="9" name="TextBox 8"/>
          <p:cNvSpPr txBox="1"/>
          <p:nvPr/>
        </p:nvSpPr>
        <p:spPr>
          <a:xfrm>
            <a:off x="2587752" y="3904487"/>
            <a:ext cx="1316736" cy="219456"/>
          </a:xfrm>
          <a:prstGeom prst="rect">
            <a:avLst/>
          </a:prstGeom>
          <a:noFill/>
        </p:spPr>
        <p:txBody>
          <a:bodyPr wrap="square" lIns="0" rIns="0" tIns="0" bIns="0">
            <a:spAutoFit/>
          </a:bodyPr>
          <a:lstStyle/>
          <a:p>
            <a:pPr algn="ctr"/>
            <a:r>
              <a:rPr sz="950" b="0" i="0">
                <a:solidFill>
                  <a:srgbClr val="FFFFFF"/>
                </a:solidFill>
                <a:latin typeface="Calibri"/>
              </a:rPr>
              <a:t>professionals</a:t>
            </a:r>
          </a:p>
        </p:txBody>
      </p:sp>
      <p:sp>
        <p:nvSpPr>
          <p:cNvPr id="10" name="TextBox 9"/>
          <p:cNvSpPr txBox="1"/>
          <p:nvPr/>
        </p:nvSpPr>
        <p:spPr>
          <a:xfrm>
            <a:off x="2331720" y="2587752"/>
            <a:ext cx="1828800" cy="256032"/>
          </a:xfrm>
          <a:prstGeom prst="rect">
            <a:avLst/>
          </a:prstGeom>
          <a:noFill/>
        </p:spPr>
        <p:txBody>
          <a:bodyPr wrap="square" lIns="0" rIns="0" tIns="0" bIns="0">
            <a:spAutoFit/>
          </a:bodyPr>
          <a:lstStyle/>
          <a:p>
            <a:pPr algn="ctr"/>
            <a:r>
              <a:rPr sz="1150" b="1" i="0">
                <a:solidFill>
                  <a:srgbClr val="2777EF"/>
                </a:solidFill>
                <a:latin typeface="Calibri"/>
              </a:rPr>
              <a:t>180M on GitHub</a:t>
            </a:r>
          </a:p>
        </p:txBody>
      </p:sp>
      <p:sp>
        <p:nvSpPr>
          <p:cNvPr id="11" name="TextBox 10"/>
          <p:cNvSpPr txBox="1"/>
          <p:nvPr/>
        </p:nvSpPr>
        <p:spPr>
          <a:xfrm>
            <a:off x="2057400" y="1764792"/>
            <a:ext cx="2377440" cy="256032"/>
          </a:xfrm>
          <a:prstGeom prst="rect">
            <a:avLst/>
          </a:prstGeom>
          <a:noFill/>
        </p:spPr>
        <p:txBody>
          <a:bodyPr wrap="square" lIns="0" rIns="0" tIns="0" bIns="0">
            <a:spAutoFit/>
          </a:bodyPr>
          <a:lstStyle/>
          <a:p>
            <a:pPr algn="ctr"/>
            <a:r>
              <a:rPr sz="1150" b="1" i="0">
                <a:solidFill>
                  <a:srgbClr val="5A6478"/>
                </a:solidFill>
                <a:latin typeface="Calibri"/>
              </a:rPr>
              <a:t>1B+ knowledge workers</a:t>
            </a:r>
          </a:p>
        </p:txBody>
      </p:sp>
      <p:sp>
        <p:nvSpPr>
          <p:cNvPr id="12" name="TextBox 11"/>
          <p:cNvSpPr txBox="1"/>
          <p:nvPr/>
        </p:nvSpPr>
        <p:spPr>
          <a:xfrm>
            <a:off x="6172200" y="1737360"/>
            <a:ext cx="1417320" cy="256032"/>
          </a:xfrm>
          <a:prstGeom prst="rect">
            <a:avLst/>
          </a:prstGeom>
          <a:noFill/>
        </p:spPr>
        <p:txBody>
          <a:bodyPr wrap="square" lIns="0" rIns="0" tIns="0" bIns="0">
            <a:spAutoFit/>
          </a:bodyPr>
          <a:lstStyle/>
          <a:p>
            <a:pPr algn="l"/>
            <a:r>
              <a:rPr sz="1100" b="1" i="0">
                <a:solidFill>
                  <a:srgbClr val="2777EF"/>
                </a:solidFill>
                <a:latin typeface="Calibri"/>
              </a:rPr>
              <a:t>1990 – 2022</a:t>
            </a:r>
          </a:p>
        </p:txBody>
      </p:sp>
      <p:sp>
        <p:nvSpPr>
          <p:cNvPr id="13" name="TextBox 12"/>
          <p:cNvSpPr txBox="1"/>
          <p:nvPr/>
        </p:nvSpPr>
        <p:spPr>
          <a:xfrm>
            <a:off x="7680960" y="1737360"/>
            <a:ext cx="3840480" cy="256032"/>
          </a:xfrm>
          <a:prstGeom prst="rect">
            <a:avLst/>
          </a:prstGeom>
          <a:noFill/>
        </p:spPr>
        <p:txBody>
          <a:bodyPr wrap="square" lIns="0" rIns="0" tIns="0" bIns="0">
            <a:spAutoFit/>
          </a:bodyPr>
          <a:lstStyle/>
          <a:p>
            <a:pPr algn="l"/>
            <a:r>
              <a:rPr sz="1200" b="1" i="0">
                <a:solidFill>
                  <a:srgbClr val="1A2233"/>
                </a:solidFill>
                <a:latin typeface="Calibri"/>
              </a:rPr>
              <a:t>THE PRIESTHOOD — 30M</a:t>
            </a:r>
          </a:p>
        </p:txBody>
      </p:sp>
      <p:sp>
        <p:nvSpPr>
          <p:cNvPr id="14" name="TextBox 13"/>
          <p:cNvSpPr txBox="1"/>
          <p:nvPr/>
        </p:nvSpPr>
        <p:spPr>
          <a:xfrm>
            <a:off x="7680960" y="2029967"/>
            <a:ext cx="3840480" cy="822960"/>
          </a:xfrm>
          <a:prstGeom prst="rect">
            <a:avLst/>
          </a:prstGeom>
          <a:noFill/>
        </p:spPr>
        <p:txBody>
          <a:bodyPr wrap="square" lIns="0" rIns="0" tIns="0" bIns="0">
            <a:spAutoFit/>
          </a:bodyPr>
          <a:lstStyle/>
          <a:p>
            <a:pPr algn="l"/>
            <a:r>
              <a:rPr sz="1100" b="0" i="0">
                <a:solidFill>
                  <a:srgbClr val="5A6478"/>
                </a:solidFill>
                <a:latin typeface="Calibri"/>
              </a:rPr>
              <a:t>You hired a developer. Software creation was a profession with a syntax wall around it.</a:t>
            </a:r>
          </a:p>
        </p:txBody>
      </p:sp>
      <p:cxnSp>
        <p:nvCxnSpPr>
          <p:cNvPr id="15" name="Connector 14"/>
          <p:cNvCxnSpPr/>
          <p:nvPr/>
        </p:nvCxnSpPr>
        <p:spPr>
          <a:xfrm>
            <a:off x="6172200" y="2852928"/>
            <a:ext cx="534924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200" y="3035808"/>
            <a:ext cx="1417320" cy="256032"/>
          </a:xfrm>
          <a:prstGeom prst="rect">
            <a:avLst/>
          </a:prstGeom>
          <a:noFill/>
        </p:spPr>
        <p:txBody>
          <a:bodyPr wrap="square" lIns="0" rIns="0" tIns="0" bIns="0">
            <a:spAutoFit/>
          </a:bodyPr>
          <a:lstStyle/>
          <a:p>
            <a:pPr algn="l"/>
            <a:r>
              <a:rPr sz="1100" b="1" i="0">
                <a:solidFill>
                  <a:srgbClr val="2777EF"/>
                </a:solidFill>
                <a:latin typeface="Calibri"/>
              </a:rPr>
              <a:t>2022 – 2026</a:t>
            </a:r>
          </a:p>
        </p:txBody>
      </p:sp>
      <p:sp>
        <p:nvSpPr>
          <p:cNvPr id="17" name="TextBox 16"/>
          <p:cNvSpPr txBox="1"/>
          <p:nvPr/>
        </p:nvSpPr>
        <p:spPr>
          <a:xfrm>
            <a:off x="7680960" y="3035808"/>
            <a:ext cx="3840480" cy="256032"/>
          </a:xfrm>
          <a:prstGeom prst="rect">
            <a:avLst/>
          </a:prstGeom>
          <a:noFill/>
        </p:spPr>
        <p:txBody>
          <a:bodyPr wrap="square" lIns="0" rIns="0" tIns="0" bIns="0">
            <a:spAutoFit/>
          </a:bodyPr>
          <a:lstStyle/>
          <a:p>
            <a:pPr algn="l"/>
            <a:r>
              <a:rPr sz="1200" b="1" i="0">
                <a:solidFill>
                  <a:srgbClr val="1A2233"/>
                </a:solidFill>
                <a:latin typeface="Calibri"/>
              </a:rPr>
              <a:t>THE COPILOT ERA — 180M</a:t>
            </a:r>
          </a:p>
        </p:txBody>
      </p:sp>
      <p:sp>
        <p:nvSpPr>
          <p:cNvPr id="18" name="TextBox 17"/>
          <p:cNvSpPr txBox="1"/>
          <p:nvPr/>
        </p:nvSpPr>
        <p:spPr>
          <a:xfrm>
            <a:off x="7680960" y="3328415"/>
            <a:ext cx="3840480" cy="822960"/>
          </a:xfrm>
          <a:prstGeom prst="rect">
            <a:avLst/>
          </a:prstGeom>
          <a:noFill/>
        </p:spPr>
        <p:txBody>
          <a:bodyPr wrap="square" lIns="0" rIns="0" tIns="0" bIns="0">
            <a:spAutoFit/>
          </a:bodyPr>
          <a:lstStyle/>
          <a:p>
            <a:pPr algn="l"/>
            <a:r>
              <a:rPr sz="1100" b="0" i="0">
                <a:solidFill>
                  <a:srgbClr val="5A6478"/>
                </a:solidFill>
                <a:latin typeface="Calibri"/>
              </a:rPr>
              <a:t>The wall got lower: GitHub grew 80% in three years; half of all code is already machine-written.</a:t>
            </a:r>
          </a:p>
        </p:txBody>
      </p:sp>
      <p:cxnSp>
        <p:nvCxnSpPr>
          <p:cNvPr id="19" name="Connector 18"/>
          <p:cNvCxnSpPr/>
          <p:nvPr/>
        </p:nvCxnSpPr>
        <p:spPr>
          <a:xfrm>
            <a:off x="6172200" y="4151376"/>
            <a:ext cx="534924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172200" y="4334256"/>
            <a:ext cx="1417320" cy="256032"/>
          </a:xfrm>
          <a:prstGeom prst="rect">
            <a:avLst/>
          </a:prstGeom>
          <a:noFill/>
        </p:spPr>
        <p:txBody>
          <a:bodyPr wrap="square" lIns="0" rIns="0" tIns="0" bIns="0">
            <a:spAutoFit/>
          </a:bodyPr>
          <a:lstStyle/>
          <a:p>
            <a:pPr algn="l"/>
            <a:r>
              <a:rPr sz="1100" b="1" i="0">
                <a:solidFill>
                  <a:srgbClr val="2777EF"/>
                </a:solidFill>
                <a:latin typeface="Calibri"/>
              </a:rPr>
              <a:t>2026 →</a:t>
            </a:r>
          </a:p>
        </p:txBody>
      </p:sp>
      <p:sp>
        <p:nvSpPr>
          <p:cNvPr id="21" name="TextBox 20"/>
          <p:cNvSpPr txBox="1"/>
          <p:nvPr/>
        </p:nvSpPr>
        <p:spPr>
          <a:xfrm>
            <a:off x="7680960" y="4334256"/>
            <a:ext cx="3840480" cy="256032"/>
          </a:xfrm>
          <a:prstGeom prst="rect">
            <a:avLst/>
          </a:prstGeom>
          <a:noFill/>
        </p:spPr>
        <p:txBody>
          <a:bodyPr wrap="square" lIns="0" rIns="0" tIns="0" bIns="0">
            <a:spAutoFit/>
          </a:bodyPr>
          <a:lstStyle/>
          <a:p>
            <a:pPr algn="l"/>
            <a:r>
              <a:rPr sz="1200" b="1" i="0">
                <a:solidFill>
                  <a:srgbClr val="1A2233"/>
                </a:solidFill>
                <a:latin typeface="Calibri"/>
              </a:rPr>
              <a:t>THE NATURAL-LANGUAGE ERA — 1B+</a:t>
            </a:r>
          </a:p>
        </p:txBody>
      </p:sp>
      <p:sp>
        <p:nvSpPr>
          <p:cNvPr id="22" name="TextBox 21"/>
          <p:cNvSpPr txBox="1"/>
          <p:nvPr/>
        </p:nvSpPr>
        <p:spPr>
          <a:xfrm>
            <a:off x="7680960" y="4626864"/>
            <a:ext cx="3840480" cy="822960"/>
          </a:xfrm>
          <a:prstGeom prst="rect">
            <a:avLst/>
          </a:prstGeom>
          <a:noFill/>
        </p:spPr>
        <p:txBody>
          <a:bodyPr wrap="square" lIns="0" rIns="0" tIns="0" bIns="0">
            <a:spAutoFit/>
          </a:bodyPr>
          <a:lstStyle/>
          <a:p>
            <a:pPr algn="l"/>
            <a:r>
              <a:rPr sz="1100" b="0" i="0">
                <a:solidFill>
                  <a:srgbClr val="5A6478"/>
                </a:solidFill>
                <a:latin typeface="Calibri"/>
              </a:rPr>
              <a:t>The wall is gone: anyone who can describe software can make it. Every office worker becomes a maker — and every maker's software runs on rented, metered rails.</a:t>
            </a:r>
          </a:p>
        </p:txBody>
      </p:sp>
      <p:sp>
        <p:nvSpPr>
          <p:cNvPr id="23" name="TextBox 22"/>
          <p:cNvSpPr txBox="1"/>
          <p:nvPr/>
        </p:nvSpPr>
        <p:spPr>
          <a:xfrm>
            <a:off x="6172200" y="5623560"/>
            <a:ext cx="5349240" cy="274320"/>
          </a:xfrm>
          <a:prstGeom prst="rect">
            <a:avLst/>
          </a:prstGeom>
          <a:noFill/>
        </p:spPr>
        <p:txBody>
          <a:bodyPr wrap="square" lIns="0" rIns="0" tIns="0" bIns="0">
            <a:spAutoFit/>
          </a:bodyPr>
          <a:lstStyle/>
          <a:p>
            <a:pPr algn="l"/>
            <a:r>
              <a:rPr sz="1150" b="1" i="0">
                <a:solidFill>
                  <a:srgbClr val="1A2233"/>
                </a:solidFill>
                <a:latin typeface="Calibri"/>
              </a:rPr>
              <a:t>~33x more makers — and every one of them is a customer of the meters.</a:t>
            </a:r>
          </a:p>
        </p:txBody>
      </p:sp>
      <p:sp>
        <p:nvSpPr>
          <p:cNvPr id="24" name="Rounded Rectangle 23"/>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When everyone can make software  — the money moves to what all software must rent.</a:t>
            </a:r>
            <a:r>
              <a:rPr sz="1200">
                <a:solidFill>
                  <a:srgbClr val="1A2233"/>
                </a:solidFill>
                <a:latin typeface="Calibri"/>
              </a:rPr>
              <a:t/>
            </a:r>
          </a:p>
        </p:txBody>
      </p:sp>
      <p:sp>
        <p:nvSpPr>
          <p:cNvPr id="25" name="TextBox 24"/>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6" name="TextBox 25"/>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13</a:t>
            </a:r>
          </a:p>
        </p:txBody>
      </p:sp>
      <p:sp>
        <p:nvSpPr>
          <p:cNvPr id="27" name="TextBox 26"/>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Developer counts: GitHub Octoverse (180M, 2025); professional population per industry estimates (~30M); knowledge-worker population per ILO/industry estimates. Circles not to scale.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A Tuesday in the infinite software era</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ONE OPS MANAGER, ZERO ENGINEERS — WHAT ONE DISPOSABLE APP DOES TO THE METERS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37360"/>
            <a:ext cx="1417320" cy="329184"/>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9:00 AM</a:t>
            </a:r>
          </a:p>
        </p:txBody>
      </p:sp>
      <p:sp>
        <p:nvSpPr>
          <p:cNvPr id="6" name="TextBox 5"/>
          <p:cNvSpPr txBox="1"/>
          <p:nvPr/>
        </p:nvSpPr>
        <p:spPr>
          <a:xfrm>
            <a:off x="2514600" y="1691640"/>
            <a:ext cx="3246120" cy="548640"/>
          </a:xfrm>
          <a:prstGeom prst="rect">
            <a:avLst/>
          </a:prstGeom>
          <a:noFill/>
        </p:spPr>
        <p:txBody>
          <a:bodyPr wrap="square" lIns="0" rIns="0" tIns="0" bIns="0">
            <a:spAutoFit/>
          </a:bodyPr>
          <a:lstStyle/>
          <a:p>
            <a:pPr algn="l"/>
            <a:r>
              <a:rPr sz="1400" b="1" i="0">
                <a:solidFill>
                  <a:srgbClr val="1A2233"/>
                </a:solidFill>
                <a:latin typeface="Cambria"/>
              </a:rPr>
              <a:t>“I need a vendor-delay dashboard”</a:t>
            </a:r>
          </a:p>
        </p:txBody>
      </p:sp>
      <p:sp>
        <p:nvSpPr>
          <p:cNvPr id="7" name="TextBox 6"/>
          <p:cNvSpPr txBox="1"/>
          <p:nvPr/>
        </p:nvSpPr>
        <p:spPr>
          <a:xfrm>
            <a:off x="5989320" y="1691640"/>
            <a:ext cx="5486400" cy="868680"/>
          </a:xfrm>
          <a:prstGeom prst="rect">
            <a:avLst/>
          </a:prstGeom>
          <a:noFill/>
        </p:spPr>
        <p:txBody>
          <a:bodyPr wrap="square" lIns="0" rIns="0" tIns="0" bIns="0">
            <a:spAutoFit/>
          </a:bodyPr>
          <a:lstStyle/>
          <a:p>
            <a:pPr algn="l"/>
            <a:r>
              <a:rPr sz="1150" b="0" i="0">
                <a:solidFill>
                  <a:srgbClr val="5A6478"/>
                </a:solidFill>
                <a:latin typeface="Calibri"/>
              </a:rPr>
              <a:t>An ops manager describes the tool in plain English to an agent platform. No ticket, no sprint, no engineer.</a:t>
            </a:r>
          </a:p>
        </p:txBody>
      </p:sp>
      <p:cxnSp>
        <p:nvCxnSpPr>
          <p:cNvPr id="8" name="Connector 7"/>
          <p:cNvCxnSpPr/>
          <p:nvPr/>
        </p:nvCxnSpPr>
        <p:spPr>
          <a:xfrm>
            <a:off x="2514600" y="2624328"/>
            <a:ext cx="89611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77240" y="2798063"/>
            <a:ext cx="1417320" cy="329184"/>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9:40 AM</a:t>
            </a:r>
          </a:p>
        </p:txBody>
      </p:sp>
      <p:sp>
        <p:nvSpPr>
          <p:cNvPr id="10" name="TextBox 9"/>
          <p:cNvSpPr txBox="1"/>
          <p:nvPr/>
        </p:nvSpPr>
        <p:spPr>
          <a:xfrm>
            <a:off x="2514600" y="2752344"/>
            <a:ext cx="3246120" cy="548640"/>
          </a:xfrm>
          <a:prstGeom prst="rect">
            <a:avLst/>
          </a:prstGeom>
          <a:noFill/>
        </p:spPr>
        <p:txBody>
          <a:bodyPr wrap="square" lIns="0" rIns="0" tIns="0" bIns="0">
            <a:spAutoFit/>
          </a:bodyPr>
          <a:lstStyle/>
          <a:p>
            <a:pPr algn="l"/>
            <a:r>
              <a:rPr sz="1400" b="1" i="0">
                <a:solidFill>
                  <a:srgbClr val="1A2233"/>
                </a:solidFill>
                <a:latin typeface="Cambria"/>
              </a:rPr>
              <a:t>The agent ships it</a:t>
            </a:r>
          </a:p>
        </p:txBody>
      </p:sp>
      <p:sp>
        <p:nvSpPr>
          <p:cNvPr id="11" name="TextBox 10"/>
          <p:cNvSpPr txBox="1"/>
          <p:nvPr/>
        </p:nvSpPr>
        <p:spPr>
          <a:xfrm>
            <a:off x="5989320" y="2752344"/>
            <a:ext cx="5486400" cy="868680"/>
          </a:xfrm>
          <a:prstGeom prst="rect">
            <a:avLst/>
          </a:prstGeom>
          <a:noFill/>
        </p:spPr>
        <p:txBody>
          <a:bodyPr wrap="square" lIns="0" rIns="0" tIns="0" bIns="0">
            <a:spAutoFit/>
          </a:bodyPr>
          <a:lstStyle/>
          <a:p>
            <a:pPr algn="l"/>
            <a:r>
              <a:rPr sz="1150" b="0" i="0">
                <a:solidFill>
                  <a:srgbClr val="5A6478"/>
                </a:solidFill>
                <a:latin typeface="Calibri"/>
              </a:rPr>
              <a:t>Code written and tested, database provisioned, app deployed — 100K+ metered events before the coffee is cold.</a:t>
            </a:r>
          </a:p>
        </p:txBody>
      </p:sp>
      <p:cxnSp>
        <p:nvCxnSpPr>
          <p:cNvPr id="12" name="Connector 11"/>
          <p:cNvCxnSpPr/>
          <p:nvPr/>
        </p:nvCxnSpPr>
        <p:spPr>
          <a:xfrm>
            <a:off x="2514600" y="3685031"/>
            <a:ext cx="89611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 y="3858768"/>
            <a:ext cx="1417320" cy="329184"/>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2:00 PM</a:t>
            </a:r>
          </a:p>
        </p:txBody>
      </p:sp>
      <p:sp>
        <p:nvSpPr>
          <p:cNvPr id="14" name="TextBox 13"/>
          <p:cNvSpPr txBox="1"/>
          <p:nvPr/>
        </p:nvSpPr>
        <p:spPr>
          <a:xfrm>
            <a:off x="2514600" y="3813048"/>
            <a:ext cx="3246120" cy="548640"/>
          </a:xfrm>
          <a:prstGeom prst="rect">
            <a:avLst/>
          </a:prstGeom>
          <a:noFill/>
        </p:spPr>
        <p:txBody>
          <a:bodyPr wrap="square" lIns="0" rIns="0" tIns="0" bIns="0">
            <a:spAutoFit/>
          </a:bodyPr>
          <a:lstStyle/>
          <a:p>
            <a:pPr algn="l"/>
            <a:r>
              <a:rPr sz="1400" b="1" i="0">
                <a:solidFill>
                  <a:srgbClr val="1A2233"/>
                </a:solidFill>
                <a:latin typeface="Cambria"/>
              </a:rPr>
              <a:t>It becomes real software</a:t>
            </a:r>
          </a:p>
        </p:txBody>
      </p:sp>
      <p:sp>
        <p:nvSpPr>
          <p:cNvPr id="15" name="TextBox 14"/>
          <p:cNvSpPr txBox="1"/>
          <p:nvPr/>
        </p:nvSpPr>
        <p:spPr>
          <a:xfrm>
            <a:off x="5989320" y="3813048"/>
            <a:ext cx="5486400" cy="868680"/>
          </a:xfrm>
          <a:prstGeom prst="rect">
            <a:avLst/>
          </a:prstGeom>
          <a:noFill/>
        </p:spPr>
        <p:txBody>
          <a:bodyPr wrap="square" lIns="0" rIns="0" tIns="0" bIns="0">
            <a:spAutoFit/>
          </a:bodyPr>
          <a:lstStyle/>
          <a:p>
            <a:pPr algn="l"/>
            <a:r>
              <a:rPr sz="1150" b="0" i="0">
                <a:solidFill>
                  <a:srgbClr val="5A6478"/>
                </a:solidFill>
                <a:latin typeface="Calibri"/>
              </a:rPr>
              <a:t>Team adopts it; the agent adds SSO and audit logging on request. State accumulates in the operational DB — layer 2. Every action traced — layer 3.</a:t>
            </a:r>
          </a:p>
        </p:txBody>
      </p:sp>
      <p:cxnSp>
        <p:nvCxnSpPr>
          <p:cNvPr id="16" name="Connector 15"/>
          <p:cNvCxnSpPr/>
          <p:nvPr/>
        </p:nvCxnSpPr>
        <p:spPr>
          <a:xfrm>
            <a:off x="2514600" y="4745736"/>
            <a:ext cx="89611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4919472"/>
            <a:ext cx="1417320" cy="329184"/>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50" b="1">
                <a:solidFill>
                  <a:srgbClr val="FFFFFF"/>
                </a:solidFill>
                <a:latin typeface="Calibri"/>
              </a:rPr>
              <a:t>Next quarter</a:t>
            </a:r>
          </a:p>
        </p:txBody>
      </p:sp>
      <p:sp>
        <p:nvSpPr>
          <p:cNvPr id="18" name="TextBox 17"/>
          <p:cNvSpPr txBox="1"/>
          <p:nvPr/>
        </p:nvSpPr>
        <p:spPr>
          <a:xfrm>
            <a:off x="2514600" y="4873752"/>
            <a:ext cx="3246120" cy="548640"/>
          </a:xfrm>
          <a:prstGeom prst="rect">
            <a:avLst/>
          </a:prstGeom>
          <a:noFill/>
        </p:spPr>
        <p:txBody>
          <a:bodyPr wrap="square" lIns="0" rIns="0" tIns="0" bIns="0">
            <a:spAutoFit/>
          </a:bodyPr>
          <a:lstStyle/>
          <a:p>
            <a:pPr algn="l"/>
            <a:r>
              <a:rPr sz="1400" b="1" i="0">
                <a:solidFill>
                  <a:srgbClr val="1A2233"/>
                </a:solidFill>
                <a:latin typeface="Cambria"/>
              </a:rPr>
              <a:t>It gets thrown away</a:t>
            </a:r>
          </a:p>
        </p:txBody>
      </p:sp>
      <p:sp>
        <p:nvSpPr>
          <p:cNvPr id="19" name="TextBox 18"/>
          <p:cNvSpPr txBox="1"/>
          <p:nvPr/>
        </p:nvSpPr>
        <p:spPr>
          <a:xfrm>
            <a:off x="5989320" y="4873752"/>
            <a:ext cx="5486400" cy="868680"/>
          </a:xfrm>
          <a:prstGeom prst="rect">
            <a:avLst/>
          </a:prstGeom>
          <a:noFill/>
        </p:spPr>
        <p:txBody>
          <a:bodyPr wrap="square" lIns="0" rIns="0" tIns="0" bIns="0">
            <a:spAutoFit/>
          </a:bodyPr>
          <a:lstStyle/>
          <a:p>
            <a:pPr algn="l"/>
            <a:r>
              <a:rPr sz="1150" b="0" i="0">
                <a:solidFill>
                  <a:srgbClr val="5A6478"/>
                </a:solidFill>
                <a:latin typeface="Calibri"/>
              </a:rPr>
              <a:t>Requirements changed; a better version is summoned in an afternoon. The app was disposable — the state and audit trail moved forward.</a:t>
            </a:r>
          </a:p>
        </p:txBody>
      </p:sp>
      <p:sp>
        <p:nvSpPr>
          <p:cNvPr id="20" name="Rounded Rectangle 19"/>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The software was disposable; the state and the audit trail weren't  </a:t>
            </a:r>
            <a:r>
              <a:rPr sz="1200">
                <a:solidFill>
                  <a:srgbClr val="1A2233"/>
                </a:solidFill>
                <a:latin typeface="Calibri"/>
              </a:rPr>
              <a:t>— multiply this Tuesday by a billion makers. That's the royalty.</a:t>
            </a:r>
          </a:p>
        </p:txBody>
      </p:sp>
      <p:sp>
        <p:nvSpPr>
          <p:cNvPr id="21" name="TextBox 2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2" name="TextBox 21"/>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14</a:t>
            </a:r>
          </a:p>
        </p:txBody>
      </p:sp>
      <p:sp>
        <p:nvSpPr>
          <p:cNvPr id="23" name="TextBox 2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Composite use case; workflow per agent-platform product documentation (Lovable, Replit, Bolt). Event counts per the task-level traces in Part 02.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Making software is becoming free. Running it never is.</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THE SCARCITY INVERSION — WHERE THE MONEY GOES WHEN PRODUCTION COSTS COLLAPSE</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502920" y="1691640"/>
            <a:ext cx="5440680" cy="3977640"/>
          </a:xfrm>
          <a:prstGeom prst="roundRect">
            <a:avLst>
              <a:gd name="adj" fmla="val 1839"/>
            </a:avLst>
          </a:prstGeom>
          <a:solidFill>
            <a:srgbClr val="F5F8FC"/>
          </a:solidFill>
          <a:ln w="12700">
            <a:solidFill>
              <a:srgbClr val="D5DCE8"/>
            </a:solidFill>
            <a:prstDash val="solid"/>
          </a:ln>
        </p:spPr>
        <p:txBody>
          <a:bodyPr/>
          <a:lstStyle/>
          <a:p>
            <a:endParaRPr lang="en-US"/>
          </a:p>
        </p:txBody>
      </p:sp>
      <p:sp>
        <p:nvSpPr>
          <p:cNvPr id="6" name="Text 4"/>
          <p:cNvSpPr/>
          <p:nvPr/>
        </p:nvSpPr>
        <p:spPr>
          <a:xfrm>
            <a:off x="777240" y="1874520"/>
            <a:ext cx="4892040" cy="292608"/>
          </a:xfrm>
          <a:prstGeom prst="rect">
            <a:avLst/>
          </a:prstGeom>
          <a:noFill/>
        </p:spPr>
        <p:txBody>
          <a:bodyPr wrap="square" lIns="0" tIns="0" rIns="0" bIns="0" rtlCol="0" anchor="ctr"/>
          <a:lstStyle/>
          <a:p>
            <a:pPr marL="0" indent="0">
              <a:buNone/>
            </a:pPr>
            <a:r>
              <a:rPr lang="en-US" sz="1300" b="1" kern="0" spc="200" dirty="0">
                <a:solidFill>
                  <a:srgbClr val="5A6478"/>
                </a:solidFill>
                <a:latin typeface="Calibri" pitchFamily="34" charset="0"/>
                <a:ea typeface="Calibri" pitchFamily="34" charset="-122"/>
                <a:cs typeface="Calibri" pitchFamily="34" charset="-120"/>
              </a:rPr>
              <a:t>DEFLATES TO ZERO</a:t>
            </a:r>
            <a:endParaRPr lang="en-US" sz="1300" dirty="0"/>
          </a:p>
        </p:txBody>
      </p:sp>
      <p:sp>
        <p:nvSpPr>
          <p:cNvPr id="7" name="Text 5"/>
          <p:cNvSpPr/>
          <p:nvPr/>
        </p:nvSpPr>
        <p:spPr>
          <a:xfrm>
            <a:off x="822960" y="2331720"/>
            <a:ext cx="4800600" cy="411480"/>
          </a:xfrm>
          <a:prstGeom prst="rect">
            <a:avLst/>
          </a:prstGeom>
          <a:noFill/>
        </p:spPr>
        <p:txBody>
          <a:bodyPr wrap="square" lIns="0" tIns="0" rIns="0" bIns="0" rtlCol="0" anchor="ctr"/>
          <a:lstStyle/>
          <a:p>
            <a:pPr marL="0" indent="0">
              <a:buNone/>
            </a:pPr>
            <a:r>
              <a:rPr lang="en-US" sz="1600" dirty="0">
                <a:solidFill>
                  <a:srgbClr val="5A6478"/>
                </a:solidFill>
                <a:latin typeface="Cambria" pitchFamily="34" charset="0"/>
                <a:ea typeface="Cambria" pitchFamily="34" charset="-122"/>
                <a:cs typeface="Cambria" pitchFamily="34" charset="-120"/>
              </a:rPr>
              <a:t>—  Code, tests, documentation</a:t>
            </a:r>
            <a:endParaRPr lang="en-US" sz="1600" dirty="0"/>
          </a:p>
        </p:txBody>
      </p:sp>
      <p:sp>
        <p:nvSpPr>
          <p:cNvPr id="8" name="Text 6"/>
          <p:cNvSpPr/>
          <p:nvPr/>
        </p:nvSpPr>
        <p:spPr>
          <a:xfrm>
            <a:off x="822960" y="2898648"/>
            <a:ext cx="4800600" cy="411480"/>
          </a:xfrm>
          <a:prstGeom prst="rect">
            <a:avLst/>
          </a:prstGeom>
          <a:noFill/>
        </p:spPr>
        <p:txBody>
          <a:bodyPr wrap="square" lIns="0" tIns="0" rIns="0" bIns="0" rtlCol="0" anchor="ctr"/>
          <a:lstStyle/>
          <a:p>
            <a:pPr marL="0" indent="0">
              <a:buNone/>
            </a:pPr>
            <a:r>
              <a:rPr lang="en-US" sz="1600" dirty="0">
                <a:solidFill>
                  <a:srgbClr val="5A6478"/>
                </a:solidFill>
                <a:latin typeface="Cambria" pitchFamily="34" charset="0"/>
                <a:ea typeface="Cambria" pitchFamily="34" charset="-122"/>
                <a:cs typeface="Cambria" pitchFamily="34" charset="-120"/>
              </a:rPr>
              <a:t>—  Integration glue &amp; boilerplate</a:t>
            </a:r>
            <a:endParaRPr lang="en-US" sz="1600" dirty="0"/>
          </a:p>
        </p:txBody>
      </p:sp>
      <p:sp>
        <p:nvSpPr>
          <p:cNvPr id="9" name="Text 7"/>
          <p:cNvSpPr/>
          <p:nvPr/>
        </p:nvSpPr>
        <p:spPr>
          <a:xfrm>
            <a:off x="822960" y="3465576"/>
            <a:ext cx="4800600" cy="411480"/>
          </a:xfrm>
          <a:prstGeom prst="rect">
            <a:avLst/>
          </a:prstGeom>
          <a:noFill/>
        </p:spPr>
        <p:txBody>
          <a:bodyPr wrap="square" lIns="0" tIns="0" rIns="0" bIns="0" rtlCol="0" anchor="ctr"/>
          <a:lstStyle/>
          <a:p>
            <a:pPr marL="0" indent="0">
              <a:buNone/>
            </a:pPr>
            <a:r>
              <a:rPr lang="en-US" sz="1600" dirty="0">
                <a:solidFill>
                  <a:srgbClr val="5A6478"/>
                </a:solidFill>
                <a:latin typeface="Cambria" pitchFamily="34" charset="0"/>
                <a:ea typeface="Cambria" pitchFamily="34" charset="-122"/>
                <a:cs typeface="Cambria" pitchFamily="34" charset="-120"/>
              </a:rPr>
              <a:t>—  One-off tools &amp; scripts</a:t>
            </a:r>
            <a:endParaRPr lang="en-US" sz="1600" dirty="0"/>
          </a:p>
        </p:txBody>
      </p:sp>
      <p:sp>
        <p:nvSpPr>
          <p:cNvPr id="10" name="Text 8"/>
          <p:cNvSpPr/>
          <p:nvPr/>
        </p:nvSpPr>
        <p:spPr>
          <a:xfrm>
            <a:off x="822960" y="4032504"/>
            <a:ext cx="4800600" cy="411480"/>
          </a:xfrm>
          <a:prstGeom prst="rect">
            <a:avLst/>
          </a:prstGeom>
          <a:noFill/>
        </p:spPr>
        <p:txBody>
          <a:bodyPr wrap="square" lIns="0" tIns="0" rIns="0" bIns="0" rtlCol="0" anchor="ctr"/>
          <a:lstStyle/>
          <a:p>
            <a:pPr marL="0" indent="0">
              <a:buNone/>
            </a:pPr>
            <a:r>
              <a:rPr lang="en-US" sz="1600" dirty="0">
                <a:solidFill>
                  <a:srgbClr val="5A6478"/>
                </a:solidFill>
                <a:latin typeface="Cambria" pitchFamily="34" charset="0"/>
                <a:ea typeface="Cambria" pitchFamily="34" charset="-122"/>
                <a:cs typeface="Cambria" pitchFamily="34" charset="-120"/>
              </a:rPr>
              <a:t>—  Custom applications themselves</a:t>
            </a:r>
            <a:endParaRPr lang="en-US" sz="1600" dirty="0"/>
          </a:p>
        </p:txBody>
      </p:sp>
      <p:sp>
        <p:nvSpPr>
          <p:cNvPr id="11" name="Text 9"/>
          <p:cNvSpPr/>
          <p:nvPr/>
        </p:nvSpPr>
        <p:spPr>
          <a:xfrm>
            <a:off x="822960" y="4892040"/>
            <a:ext cx="4800600" cy="320040"/>
          </a:xfrm>
          <a:prstGeom prst="rect">
            <a:avLst/>
          </a:prstGeom>
          <a:noFill/>
        </p:spPr>
        <p:txBody>
          <a:bodyPr wrap="square" lIns="0" tIns="0" rIns="0" bIns="0" rtlCol="0" anchor="ctr"/>
          <a:lstStyle/>
          <a:p>
            <a:pPr marL="0" indent="0">
              <a:buNone/>
            </a:pPr>
            <a:r>
              <a:rPr lang="en-US" sz="1300" i="1" dirty="0">
                <a:solidFill>
                  <a:srgbClr val="8A97B0"/>
                </a:solidFill>
                <a:latin typeface="Calibri" pitchFamily="34" charset="0"/>
                <a:ea typeface="Calibri" pitchFamily="34" charset="-122"/>
                <a:cs typeface="Calibri" pitchFamily="34" charset="-120"/>
              </a:rPr>
              <a:t>an infinite knife-fight of entrants</a:t>
            </a:r>
            <a:endParaRPr lang="en-US" sz="1300" dirty="0"/>
          </a:p>
        </p:txBody>
      </p:sp>
      <p:sp>
        <p:nvSpPr>
          <p:cNvPr id="12" name="Shape 10"/>
          <p:cNvSpPr/>
          <p:nvPr/>
        </p:nvSpPr>
        <p:spPr>
          <a:xfrm>
            <a:off x="6263640" y="1691640"/>
            <a:ext cx="5440680" cy="3977640"/>
          </a:xfrm>
          <a:prstGeom prst="roundRect">
            <a:avLst>
              <a:gd name="adj" fmla="val 1839"/>
            </a:avLst>
          </a:prstGeom>
          <a:solidFill>
            <a:srgbClr val="EAF1FE"/>
          </a:solidFill>
          <a:ln w="15875">
            <a:solidFill>
              <a:srgbClr val="2777EF"/>
            </a:solidFill>
            <a:prstDash val="solid"/>
          </a:ln>
        </p:spPr>
        <p:txBody>
          <a:bodyPr/>
          <a:lstStyle/>
          <a:p>
            <a:endParaRPr lang="en-US"/>
          </a:p>
        </p:txBody>
      </p:sp>
      <p:sp>
        <p:nvSpPr>
          <p:cNvPr id="13" name="Text 11"/>
          <p:cNvSpPr/>
          <p:nvPr/>
        </p:nvSpPr>
        <p:spPr>
          <a:xfrm>
            <a:off x="6537960" y="1874520"/>
            <a:ext cx="4892040" cy="292608"/>
          </a:xfrm>
          <a:prstGeom prst="rect">
            <a:avLst/>
          </a:prstGeom>
          <a:noFill/>
        </p:spPr>
        <p:txBody>
          <a:bodyPr wrap="square" lIns="0" tIns="0" rIns="0" bIns="0" rtlCol="0" anchor="ctr"/>
          <a:lstStyle/>
          <a:p>
            <a:pPr marL="0" indent="0">
              <a:buNone/>
            </a:pPr>
            <a:r>
              <a:rPr lang="en-US" sz="1300" b="1" kern="0" spc="200" dirty="0">
                <a:solidFill>
                  <a:srgbClr val="2777EF"/>
                </a:solidFill>
                <a:latin typeface="Calibri" pitchFamily="34" charset="0"/>
                <a:ea typeface="Calibri" pitchFamily="34" charset="-122"/>
                <a:cs typeface="Calibri" pitchFamily="34" charset="-120"/>
              </a:rPr>
              <a:t>METERED FOREVER</a:t>
            </a:r>
            <a:endParaRPr lang="en-US" sz="1300" dirty="0"/>
          </a:p>
        </p:txBody>
      </p:sp>
      <p:sp>
        <p:nvSpPr>
          <p:cNvPr id="14" name="Text 12"/>
          <p:cNvSpPr/>
          <p:nvPr/>
        </p:nvSpPr>
        <p:spPr>
          <a:xfrm>
            <a:off x="6583680" y="2331720"/>
            <a:ext cx="4800600" cy="411480"/>
          </a:xfrm>
          <a:prstGeom prst="rect">
            <a:avLst/>
          </a:prstGeom>
          <a:noFill/>
        </p:spPr>
        <p:txBody>
          <a:bodyPr wrap="square" lIns="0" tIns="0" rIns="0" bIns="0" rtlCol="0" anchor="ctr"/>
          <a:lstStyle/>
          <a:p>
            <a:pPr marL="0" indent="0">
              <a:buNone/>
            </a:pPr>
            <a:r>
              <a:rPr lang="en-US" sz="1600" b="1" dirty="0">
                <a:solidFill>
                  <a:srgbClr val="1A2233"/>
                </a:solidFill>
                <a:latin typeface="Cambria" pitchFamily="34" charset="0"/>
                <a:ea typeface="Cambria" pitchFamily="34" charset="-122"/>
                <a:cs typeface="Cambria" pitchFamily="34" charset="-120"/>
              </a:rPr>
              <a:t>✓  Compute cycles &amp; runtime</a:t>
            </a:r>
            <a:endParaRPr lang="en-US" sz="1600" dirty="0"/>
          </a:p>
        </p:txBody>
      </p:sp>
      <p:sp>
        <p:nvSpPr>
          <p:cNvPr id="15" name="Text 13"/>
          <p:cNvSpPr/>
          <p:nvPr/>
        </p:nvSpPr>
        <p:spPr>
          <a:xfrm>
            <a:off x="6583680" y="2898648"/>
            <a:ext cx="4800600" cy="411480"/>
          </a:xfrm>
          <a:prstGeom prst="rect">
            <a:avLst/>
          </a:prstGeom>
          <a:noFill/>
        </p:spPr>
        <p:txBody>
          <a:bodyPr wrap="square" lIns="0" tIns="0" rIns="0" bIns="0" rtlCol="0" anchor="ctr"/>
          <a:lstStyle/>
          <a:p>
            <a:pPr marL="0" indent="0">
              <a:buNone/>
            </a:pPr>
            <a:r>
              <a:rPr lang="en-US" sz="1600" b="1" dirty="0">
                <a:solidFill>
                  <a:srgbClr val="1A2233"/>
                </a:solidFill>
                <a:latin typeface="Cambria" pitchFamily="34" charset="0"/>
                <a:ea typeface="Cambria" pitchFamily="34" charset="-122"/>
                <a:cs typeface="Cambria" pitchFamily="34" charset="-120"/>
              </a:rPr>
              <a:t>✓  State, memory &amp; context</a:t>
            </a:r>
            <a:endParaRPr lang="en-US" sz="1600" dirty="0"/>
          </a:p>
        </p:txBody>
      </p:sp>
      <p:sp>
        <p:nvSpPr>
          <p:cNvPr id="16" name="Text 14"/>
          <p:cNvSpPr/>
          <p:nvPr/>
        </p:nvSpPr>
        <p:spPr>
          <a:xfrm>
            <a:off x="6583680" y="3465576"/>
            <a:ext cx="4800600" cy="411480"/>
          </a:xfrm>
          <a:prstGeom prst="rect">
            <a:avLst/>
          </a:prstGeom>
          <a:noFill/>
        </p:spPr>
        <p:txBody>
          <a:bodyPr wrap="square" lIns="0" tIns="0" rIns="0" bIns="0" rtlCol="0" anchor="ctr"/>
          <a:lstStyle/>
          <a:p>
            <a:pPr marL="0" indent="0">
              <a:buNone/>
            </a:pPr>
            <a:r>
              <a:rPr lang="en-US" sz="1600" b="1" dirty="0">
                <a:solidFill>
                  <a:srgbClr val="1A2233"/>
                </a:solidFill>
                <a:latin typeface="Cambria" pitchFamily="34" charset="0"/>
                <a:ea typeface="Cambria" pitchFamily="34" charset="-122"/>
                <a:cs typeface="Cambria" pitchFamily="34" charset="-120"/>
              </a:rPr>
              <a:t>✓  Delivery &amp; network</a:t>
            </a:r>
            <a:endParaRPr lang="en-US" sz="1600" dirty="0"/>
          </a:p>
        </p:txBody>
      </p:sp>
      <p:sp>
        <p:nvSpPr>
          <p:cNvPr id="17" name="Text 15"/>
          <p:cNvSpPr/>
          <p:nvPr/>
        </p:nvSpPr>
        <p:spPr>
          <a:xfrm>
            <a:off x="6583680" y="4032504"/>
            <a:ext cx="4800600" cy="411480"/>
          </a:xfrm>
          <a:prstGeom prst="rect">
            <a:avLst/>
          </a:prstGeom>
          <a:noFill/>
        </p:spPr>
        <p:txBody>
          <a:bodyPr wrap="square" lIns="0" tIns="0" rIns="0" bIns="0" rtlCol="0" anchor="ctr"/>
          <a:lstStyle/>
          <a:p>
            <a:pPr marL="0" indent="0">
              <a:buNone/>
            </a:pPr>
            <a:r>
              <a:rPr lang="en-US" sz="1600" b="1" dirty="0">
                <a:solidFill>
                  <a:srgbClr val="1A2233"/>
                </a:solidFill>
                <a:latin typeface="Cambria" pitchFamily="34" charset="0"/>
                <a:ea typeface="Cambria" pitchFamily="34" charset="-122"/>
                <a:cs typeface="Cambria" pitchFamily="34" charset="-120"/>
              </a:rPr>
              <a:t>✓  Identity, audit &amp; billing rails</a:t>
            </a:r>
            <a:endParaRPr lang="en-US" sz="1600" dirty="0"/>
          </a:p>
        </p:txBody>
      </p:sp>
      <p:sp>
        <p:nvSpPr>
          <p:cNvPr id="18" name="Text 16"/>
          <p:cNvSpPr/>
          <p:nvPr/>
        </p:nvSpPr>
        <p:spPr>
          <a:xfrm>
            <a:off x="6583680" y="4892040"/>
            <a:ext cx="4800600" cy="320040"/>
          </a:xfrm>
          <a:prstGeom prst="rect">
            <a:avLst/>
          </a:prstGeom>
          <a:noFill/>
        </p:spPr>
        <p:txBody>
          <a:bodyPr wrap="square" lIns="0" tIns="0" rIns="0" bIns="0" rtlCol="0" anchor="ctr"/>
          <a:lstStyle/>
          <a:p>
            <a:pPr marL="0" indent="0">
              <a:buNone/>
            </a:pPr>
            <a:r>
              <a:rPr lang="en-US" sz="1300" b="1" i="1" dirty="0">
                <a:solidFill>
                  <a:srgbClr val="2777EF"/>
                </a:solidFill>
                <a:latin typeface="Calibri" pitchFamily="34" charset="0"/>
                <a:ea typeface="Calibri" pitchFamily="34" charset="-122"/>
                <a:cs typeface="Calibri" pitchFamily="34" charset="-120"/>
              </a:rPr>
              <a:t>billed per unit of use — scales with the software population</a:t>
            </a:r>
            <a:endParaRPr lang="en-US" sz="1300" dirty="0"/>
          </a:p>
        </p:txBody>
      </p:sp>
      <p:sp>
        <p:nvSpPr>
          <p:cNvPr id="19" name="Text 17"/>
          <p:cNvSpPr/>
          <p:nvPr/>
        </p:nvSpPr>
        <p:spPr>
          <a:xfrm>
            <a:off x="3813048" y="5669280"/>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20" name="Shape 18"/>
          <p:cNvSpPr/>
          <p:nvPr/>
        </p:nvSpPr>
        <p:spPr>
          <a:xfrm>
            <a:off x="3977640" y="5943600"/>
            <a:ext cx="4206240" cy="566928"/>
          </a:xfrm>
          <a:prstGeom prst="roundRect">
            <a:avLst>
              <a:gd name="adj" fmla="val 14516"/>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21" name="Text 19"/>
          <p:cNvSpPr/>
          <p:nvPr/>
        </p:nvSpPr>
        <p:spPr>
          <a:xfrm>
            <a:off x="4087368" y="5943600"/>
            <a:ext cx="3986784" cy="566928"/>
          </a:xfrm>
          <a:prstGeom prst="rect">
            <a:avLst/>
          </a:prstGeom>
          <a:noFill/>
        </p:spPr>
        <p:txBody>
          <a:bodyPr wrap="square" lIns="0" tIns="0" rIns="0" bIns="0" rtlCol="0" anchor="ctr"/>
          <a:lstStyle/>
          <a:p>
            <a:pPr marL="0" indent="0" algn="ctr">
              <a:lnSpc>
                <a:spcPct val="102000"/>
              </a:lnSpc>
              <a:buNone/>
            </a:pPr>
            <a:r>
              <a:rPr lang="en-US" sz="2400" b="1" dirty="0">
                <a:solidFill>
                  <a:srgbClr val="1A2233"/>
                </a:solidFill>
                <a:latin typeface="Calibri" pitchFamily="34" charset="0"/>
                <a:ea typeface="Calibri" pitchFamily="34" charset="-122"/>
                <a:cs typeface="Calibri" pitchFamily="34" charset="-120"/>
              </a:rPr>
              <a:t>The value moves to the right-hand column</a:t>
            </a:r>
            <a:endParaRPr lang="en-US" sz="2400" dirty="0"/>
          </a:p>
        </p:txBody>
      </p:sp>
      <p:sp>
        <p:nvSpPr>
          <p:cNvPr id="22" name="Text 20"/>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3" name="Text 21"/>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Jevons (1865): efficiency in an input expands rather than reduces its consumption. Nadella invoked the same law, Jan 2025.</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15</a:t>
            </a:fld>
            <a:endParaRPr lang="en-US"/>
          </a:p>
        </p:txBody>
      </p:sp>
    </p:spTree>
    <p:extLst>
      <p:ext uri="{BB962C8B-B14F-4D97-AF65-F5344CB8AC3E}">
        <p14:creationId xmlns:p14="http://schemas.microsoft.com/office/powerpoint/2010/main" val="8442321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Last time production costs collapsed, the rails got paid first</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TOTAL RETURN, 4 YEARS FOLLOWING THE INTERNET TIDAL WAVE MEMO (MAY 1995 – MAY 1999)</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1508760" y="4630783"/>
            <a:ext cx="1645920" cy="764177"/>
          </a:xfrm>
          <a:prstGeom prst="rect">
            <a:avLst/>
          </a:prstGeom>
          <a:solidFill>
            <a:srgbClr val="D8DCE3"/>
          </a:solidFill>
        </p:spPr>
        <p:txBody>
          <a:bodyPr/>
          <a:lstStyle/>
          <a:p>
            <a:endParaRPr lang="en-US"/>
          </a:p>
        </p:txBody>
      </p:sp>
      <p:sp>
        <p:nvSpPr>
          <p:cNvPr id="6" name="Text 4"/>
          <p:cNvSpPr/>
          <p:nvPr/>
        </p:nvSpPr>
        <p:spPr>
          <a:xfrm>
            <a:off x="1234440" y="4155295"/>
            <a:ext cx="2194560" cy="411480"/>
          </a:xfrm>
          <a:prstGeom prst="rect">
            <a:avLst/>
          </a:prstGeom>
          <a:noFill/>
        </p:spPr>
        <p:txBody>
          <a:bodyPr wrap="square" lIns="0" tIns="0" rIns="0" bIns="0" rtlCol="0" anchor="ctr"/>
          <a:lstStyle/>
          <a:p>
            <a:pPr marL="0" indent="0" algn="ctr">
              <a:buNone/>
            </a:pPr>
            <a:r>
              <a:rPr lang="en-US" sz="2400" b="1" dirty="0">
                <a:solidFill>
                  <a:srgbClr val="5A6478"/>
                </a:solidFill>
                <a:latin typeface="Cambria" pitchFamily="34" charset="0"/>
                <a:ea typeface="Cambria" pitchFamily="34" charset="-122"/>
                <a:cs typeface="Cambria" pitchFamily="34" charset="-120"/>
              </a:rPr>
              <a:t>~3x</a:t>
            </a:r>
            <a:endParaRPr lang="en-US" sz="2400" dirty="0"/>
          </a:p>
        </p:txBody>
      </p:sp>
      <p:sp>
        <p:nvSpPr>
          <p:cNvPr id="7" name="Text 5"/>
          <p:cNvSpPr/>
          <p:nvPr/>
        </p:nvSpPr>
        <p:spPr>
          <a:xfrm>
            <a:off x="1234440" y="5486400"/>
            <a:ext cx="2194560" cy="320040"/>
          </a:xfrm>
          <a:prstGeom prst="rect">
            <a:avLst/>
          </a:prstGeom>
          <a:noFill/>
        </p:spPr>
        <p:txBody>
          <a:bodyPr wrap="square" lIns="0" tIns="0" rIns="0" bIns="0" rtlCol="0" anchor="ctr"/>
          <a:lstStyle/>
          <a:p>
            <a:pPr marL="0" indent="0" algn="ctr">
              <a:buNone/>
            </a:pPr>
            <a:r>
              <a:rPr lang="en-US" sz="1450" b="1" dirty="0">
                <a:solidFill>
                  <a:srgbClr val="1A2233"/>
                </a:solidFill>
                <a:latin typeface="Cambria" pitchFamily="34" charset="0"/>
                <a:ea typeface="Cambria" pitchFamily="34" charset="-122"/>
                <a:cs typeface="Cambria" pitchFamily="34" charset="-120"/>
              </a:rPr>
              <a:t>NASDAQ</a:t>
            </a:r>
            <a:endParaRPr lang="en-US" sz="1450" dirty="0"/>
          </a:p>
        </p:txBody>
      </p:sp>
      <p:sp>
        <p:nvSpPr>
          <p:cNvPr id="8" name="Shape 6"/>
          <p:cNvSpPr/>
          <p:nvPr/>
        </p:nvSpPr>
        <p:spPr>
          <a:xfrm>
            <a:off x="4114800" y="3866606"/>
            <a:ext cx="1645920" cy="1528354"/>
          </a:xfrm>
          <a:prstGeom prst="rect">
            <a:avLst/>
          </a:prstGeom>
          <a:solidFill>
            <a:srgbClr val="A8C6F5"/>
          </a:solidFill>
        </p:spPr>
        <p:txBody>
          <a:bodyPr/>
          <a:lstStyle/>
          <a:p>
            <a:endParaRPr lang="en-US"/>
          </a:p>
        </p:txBody>
      </p:sp>
      <p:sp>
        <p:nvSpPr>
          <p:cNvPr id="9" name="Text 7"/>
          <p:cNvSpPr/>
          <p:nvPr/>
        </p:nvSpPr>
        <p:spPr>
          <a:xfrm>
            <a:off x="3840480" y="3391118"/>
            <a:ext cx="2194560" cy="411480"/>
          </a:xfrm>
          <a:prstGeom prst="rect">
            <a:avLst/>
          </a:prstGeom>
          <a:noFill/>
        </p:spPr>
        <p:txBody>
          <a:bodyPr wrap="square" lIns="0" tIns="0" rIns="0" bIns="0" rtlCol="0" anchor="ctr"/>
          <a:lstStyle/>
          <a:p>
            <a:pPr marL="0" indent="0" algn="ctr">
              <a:buNone/>
            </a:pPr>
            <a:r>
              <a:rPr lang="en-US" sz="2400" b="1" dirty="0">
                <a:solidFill>
                  <a:srgbClr val="1A2233"/>
                </a:solidFill>
                <a:latin typeface="Cambria" pitchFamily="34" charset="0"/>
                <a:ea typeface="Cambria" pitchFamily="34" charset="-122"/>
                <a:cs typeface="Cambria" pitchFamily="34" charset="-120"/>
              </a:rPr>
              <a:t>~6x</a:t>
            </a:r>
            <a:endParaRPr lang="en-US" sz="2400" dirty="0"/>
          </a:p>
        </p:txBody>
      </p:sp>
      <p:sp>
        <p:nvSpPr>
          <p:cNvPr id="10" name="Text 8"/>
          <p:cNvSpPr/>
          <p:nvPr/>
        </p:nvSpPr>
        <p:spPr>
          <a:xfrm>
            <a:off x="3840480" y="5486400"/>
            <a:ext cx="2194560" cy="320040"/>
          </a:xfrm>
          <a:prstGeom prst="rect">
            <a:avLst/>
          </a:prstGeom>
          <a:noFill/>
        </p:spPr>
        <p:txBody>
          <a:bodyPr wrap="square" lIns="0" tIns="0" rIns="0" bIns="0" rtlCol="0" anchor="ctr"/>
          <a:lstStyle/>
          <a:p>
            <a:pPr marL="0" indent="0" algn="ctr">
              <a:buNone/>
            </a:pPr>
            <a:r>
              <a:rPr lang="en-US" sz="1450" b="1" dirty="0">
                <a:solidFill>
                  <a:srgbClr val="1A2233"/>
                </a:solidFill>
                <a:latin typeface="Cambria" pitchFamily="34" charset="0"/>
                <a:ea typeface="Cambria" pitchFamily="34" charset="-122"/>
                <a:cs typeface="Cambria" pitchFamily="34" charset="-120"/>
              </a:rPr>
              <a:t>Intel</a:t>
            </a:r>
            <a:endParaRPr lang="en-US" sz="1450" dirty="0"/>
          </a:p>
        </p:txBody>
      </p:sp>
      <p:sp>
        <p:nvSpPr>
          <p:cNvPr id="11" name="Shape 9"/>
          <p:cNvSpPr/>
          <p:nvPr/>
        </p:nvSpPr>
        <p:spPr>
          <a:xfrm>
            <a:off x="6720840" y="3611880"/>
            <a:ext cx="1645920" cy="1783080"/>
          </a:xfrm>
          <a:prstGeom prst="rect">
            <a:avLst/>
          </a:prstGeom>
          <a:solidFill>
            <a:srgbClr val="A8C6F5"/>
          </a:solidFill>
        </p:spPr>
        <p:txBody>
          <a:bodyPr/>
          <a:lstStyle/>
          <a:p>
            <a:endParaRPr lang="en-US"/>
          </a:p>
        </p:txBody>
      </p:sp>
      <p:sp>
        <p:nvSpPr>
          <p:cNvPr id="12" name="Text 10"/>
          <p:cNvSpPr/>
          <p:nvPr/>
        </p:nvSpPr>
        <p:spPr>
          <a:xfrm>
            <a:off x="6446520" y="3136392"/>
            <a:ext cx="2194560" cy="411480"/>
          </a:xfrm>
          <a:prstGeom prst="rect">
            <a:avLst/>
          </a:prstGeom>
          <a:noFill/>
        </p:spPr>
        <p:txBody>
          <a:bodyPr wrap="square" lIns="0" tIns="0" rIns="0" bIns="0" rtlCol="0" anchor="ctr"/>
          <a:lstStyle/>
          <a:p>
            <a:pPr marL="0" indent="0" algn="ctr">
              <a:buNone/>
            </a:pPr>
            <a:r>
              <a:rPr lang="en-US" sz="2400" b="1" dirty="0">
                <a:solidFill>
                  <a:srgbClr val="1A2233"/>
                </a:solidFill>
                <a:latin typeface="Cambria" pitchFamily="34" charset="0"/>
                <a:ea typeface="Cambria" pitchFamily="34" charset="-122"/>
                <a:cs typeface="Cambria" pitchFamily="34" charset="-120"/>
              </a:rPr>
              <a:t>~7x</a:t>
            </a:r>
            <a:endParaRPr lang="en-US" sz="2400" dirty="0"/>
          </a:p>
        </p:txBody>
      </p:sp>
      <p:sp>
        <p:nvSpPr>
          <p:cNvPr id="13" name="Text 11"/>
          <p:cNvSpPr/>
          <p:nvPr/>
        </p:nvSpPr>
        <p:spPr>
          <a:xfrm>
            <a:off x="6446520" y="5486400"/>
            <a:ext cx="2194560" cy="320040"/>
          </a:xfrm>
          <a:prstGeom prst="rect">
            <a:avLst/>
          </a:prstGeom>
          <a:noFill/>
        </p:spPr>
        <p:txBody>
          <a:bodyPr wrap="square" lIns="0" tIns="0" rIns="0" bIns="0" rtlCol="0" anchor="ctr"/>
          <a:lstStyle/>
          <a:p>
            <a:pPr marL="0" indent="0" algn="ctr">
              <a:buNone/>
            </a:pPr>
            <a:r>
              <a:rPr lang="en-US" sz="1450" b="1" dirty="0">
                <a:solidFill>
                  <a:srgbClr val="1A2233"/>
                </a:solidFill>
                <a:latin typeface="Cambria" pitchFamily="34" charset="0"/>
                <a:ea typeface="Cambria" pitchFamily="34" charset="-122"/>
                <a:cs typeface="Cambria" pitchFamily="34" charset="-120"/>
              </a:rPr>
              <a:t>Microsoft</a:t>
            </a:r>
            <a:endParaRPr lang="en-US" sz="1450" dirty="0"/>
          </a:p>
        </p:txBody>
      </p:sp>
      <p:sp>
        <p:nvSpPr>
          <p:cNvPr id="14" name="Shape 12"/>
          <p:cNvSpPr/>
          <p:nvPr/>
        </p:nvSpPr>
        <p:spPr>
          <a:xfrm>
            <a:off x="9326880" y="2083526"/>
            <a:ext cx="1645920" cy="3311434"/>
          </a:xfrm>
          <a:prstGeom prst="rect">
            <a:avLst/>
          </a:prstGeom>
          <a:solidFill>
            <a:srgbClr val="2777EF"/>
          </a:solidFill>
        </p:spPr>
        <p:txBody>
          <a:bodyPr/>
          <a:lstStyle/>
          <a:p>
            <a:endParaRPr lang="en-US"/>
          </a:p>
        </p:txBody>
      </p:sp>
      <p:sp>
        <p:nvSpPr>
          <p:cNvPr id="15" name="Text 13"/>
          <p:cNvSpPr/>
          <p:nvPr/>
        </p:nvSpPr>
        <p:spPr>
          <a:xfrm>
            <a:off x="9052560" y="1608038"/>
            <a:ext cx="2194560" cy="411480"/>
          </a:xfrm>
          <a:prstGeom prst="rect">
            <a:avLst/>
          </a:prstGeom>
          <a:noFill/>
        </p:spPr>
        <p:txBody>
          <a:bodyPr wrap="square" lIns="0" tIns="0" rIns="0" bIns="0" rtlCol="0" anchor="ctr"/>
          <a:lstStyle/>
          <a:p>
            <a:pPr marL="0" indent="0" algn="ctr">
              <a:buNone/>
            </a:pPr>
            <a:r>
              <a:rPr lang="en-US" sz="2400" b="1" dirty="0">
                <a:solidFill>
                  <a:srgbClr val="2777EF"/>
                </a:solidFill>
                <a:latin typeface="Cambria" pitchFamily="34" charset="0"/>
                <a:ea typeface="Cambria" pitchFamily="34" charset="-122"/>
                <a:cs typeface="Cambria" pitchFamily="34" charset="-120"/>
              </a:rPr>
              <a:t>~13x</a:t>
            </a:r>
            <a:endParaRPr lang="en-US" sz="2400" dirty="0"/>
          </a:p>
        </p:txBody>
      </p:sp>
      <p:sp>
        <p:nvSpPr>
          <p:cNvPr id="16" name="Text 14"/>
          <p:cNvSpPr/>
          <p:nvPr/>
        </p:nvSpPr>
        <p:spPr>
          <a:xfrm>
            <a:off x="9052560" y="5486400"/>
            <a:ext cx="2194560" cy="320040"/>
          </a:xfrm>
          <a:prstGeom prst="rect">
            <a:avLst/>
          </a:prstGeom>
          <a:noFill/>
        </p:spPr>
        <p:txBody>
          <a:bodyPr wrap="square" lIns="0" tIns="0" rIns="0" bIns="0" rtlCol="0" anchor="ctr"/>
          <a:lstStyle/>
          <a:p>
            <a:pPr marL="0" indent="0" algn="ctr">
              <a:buNone/>
            </a:pPr>
            <a:r>
              <a:rPr lang="en-US" sz="1450" b="1" dirty="0">
                <a:solidFill>
                  <a:srgbClr val="1A2233"/>
                </a:solidFill>
                <a:latin typeface="Cambria" pitchFamily="34" charset="0"/>
                <a:ea typeface="Cambria" pitchFamily="34" charset="-122"/>
                <a:cs typeface="Cambria" pitchFamily="34" charset="-120"/>
              </a:rPr>
              <a:t>Cisco</a:t>
            </a:r>
            <a:endParaRPr lang="en-US" sz="1450" dirty="0"/>
          </a:p>
        </p:txBody>
      </p:sp>
      <p:sp>
        <p:nvSpPr>
          <p:cNvPr id="17" name="Text 15"/>
          <p:cNvSpPr/>
          <p:nvPr/>
        </p:nvSpPr>
        <p:spPr>
          <a:xfrm>
            <a:off x="4014517" y="1677171"/>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18" name="Shape 16"/>
          <p:cNvSpPr/>
          <p:nvPr/>
        </p:nvSpPr>
        <p:spPr>
          <a:xfrm>
            <a:off x="4315968" y="1973798"/>
            <a:ext cx="3520440" cy="914400"/>
          </a:xfrm>
          <a:prstGeom prst="roundRect">
            <a:avLst>
              <a:gd name="adj" fmla="val 9000"/>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19" name="Text 17"/>
          <p:cNvSpPr/>
          <p:nvPr/>
        </p:nvSpPr>
        <p:spPr>
          <a:xfrm>
            <a:off x="4436246" y="1937221"/>
            <a:ext cx="3300984" cy="914400"/>
          </a:xfrm>
          <a:prstGeom prst="rect">
            <a:avLst/>
          </a:prstGeom>
          <a:noFill/>
        </p:spPr>
        <p:txBody>
          <a:bodyPr wrap="square" lIns="0" tIns="0" rIns="0" bIns="0" rtlCol="0" anchor="ctr"/>
          <a:lstStyle/>
          <a:p>
            <a:pPr marL="0" indent="0" algn="ctr">
              <a:lnSpc>
                <a:spcPct val="102000"/>
              </a:lnSpc>
              <a:buNone/>
            </a:pPr>
            <a:r>
              <a:rPr lang="en-US" sz="1600" b="1" dirty="0">
                <a:solidFill>
                  <a:srgbClr val="1A2233"/>
                </a:solidFill>
                <a:latin typeface="Calibri" pitchFamily="34" charset="0"/>
                <a:ea typeface="Calibri" pitchFamily="34" charset="-122"/>
                <a:cs typeface="Calibri" pitchFamily="34" charset="-120"/>
              </a:rPr>
              <a:t>All before the 1999 mania began.</a:t>
            </a:r>
            <a:r>
              <a:rPr lang="en-US" sz="1600" dirty="0">
                <a:solidFill>
                  <a:srgbClr val="1A2233"/>
                </a:solidFill>
                <a:latin typeface="Calibri" pitchFamily="34" charset="0"/>
                <a:ea typeface="Calibri" pitchFamily="34" charset="-122"/>
                <a:cs typeface="Calibri" pitchFamily="34" charset="-120"/>
              </a:rPr>
              <a:t> The crowd debated; the rails compounded.</a:t>
            </a:r>
            <a:endParaRPr lang="en-US" sz="1600" dirty="0"/>
          </a:p>
        </p:txBody>
      </p:sp>
      <p:sp>
        <p:nvSpPr>
          <p:cNvPr id="20" name="Text 18"/>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1" name="Text 19"/>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Approximate total-return multiples from public market data, May 1995–May 1999. Past performance is not indicative of future results.</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16</a:t>
            </a:fld>
            <a:endParaRPr lang="en-US"/>
          </a:p>
        </p:txBody>
      </p:sp>
    </p:spTree>
    <p:extLst>
      <p:ext uri="{BB962C8B-B14F-4D97-AF65-F5344CB8AC3E}">
        <p14:creationId xmlns:p14="http://schemas.microsoft.com/office/powerpoint/2010/main" val="1960356941"/>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era, in three numbers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PART 01 RECAP — AND WHAT PART 02 MUST COUNT</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874519"/>
            <a:ext cx="3429000"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2880360" cy="640080"/>
          </a:xfrm>
          <a:prstGeom prst="rect">
            <a:avLst/>
          </a:prstGeom>
          <a:noFill/>
        </p:spPr>
        <p:txBody>
          <a:bodyPr wrap="square" lIns="0" rIns="0" tIns="0" bIns="0">
            <a:spAutoFit/>
          </a:bodyPr>
          <a:lstStyle/>
          <a:p>
            <a:pPr algn="l"/>
            <a:r>
              <a:rPr sz="3400" b="1" i="0">
                <a:solidFill>
                  <a:srgbClr val="2777EF"/>
                </a:solidFill>
                <a:latin typeface="Cambria"/>
              </a:rPr>
              <a:t>~4,000x</a:t>
            </a:r>
          </a:p>
        </p:txBody>
      </p:sp>
      <p:sp>
        <p:nvSpPr>
          <p:cNvPr id="7" name="TextBox 6"/>
          <p:cNvSpPr txBox="1"/>
          <p:nvPr/>
        </p:nvSpPr>
        <p:spPr>
          <a:xfrm>
            <a:off x="1051560" y="3017520"/>
            <a:ext cx="2880360" cy="320040"/>
          </a:xfrm>
          <a:prstGeom prst="rect">
            <a:avLst/>
          </a:prstGeom>
          <a:noFill/>
        </p:spPr>
        <p:txBody>
          <a:bodyPr wrap="square" lIns="0" rIns="0" tIns="0" bIns="0">
            <a:spAutoFit/>
          </a:bodyPr>
          <a:lstStyle/>
          <a:p>
            <a:pPr algn="l"/>
            <a:r>
              <a:rPr sz="1350" b="1" i="0">
                <a:solidFill>
                  <a:srgbClr val="1A2233"/>
                </a:solidFill>
                <a:latin typeface="Calibri"/>
              </a:rPr>
              <a:t>cheaper to make software</a:t>
            </a:r>
          </a:p>
        </p:txBody>
      </p:sp>
      <p:sp>
        <p:nvSpPr>
          <p:cNvPr id="8" name="TextBox 7"/>
          <p:cNvSpPr txBox="1"/>
          <p:nvPr/>
        </p:nvSpPr>
        <p:spPr>
          <a:xfrm>
            <a:off x="1051560" y="3429000"/>
            <a:ext cx="2880360" cy="1463040"/>
          </a:xfrm>
          <a:prstGeom prst="rect">
            <a:avLst/>
          </a:prstGeom>
          <a:noFill/>
        </p:spPr>
        <p:txBody>
          <a:bodyPr wrap="square" lIns="0" rIns="0" tIns="0" bIns="0">
            <a:spAutoFit/>
          </a:bodyPr>
          <a:lstStyle/>
          <a:p>
            <a:pPr algn="l"/>
            <a:r>
              <a:rPr sz="1200" b="0" i="0">
                <a:solidFill>
                  <a:srgbClr val="5A6478"/>
                </a:solidFill>
                <a:latin typeface="Calibri"/>
              </a:rPr>
              <a:t>agent-produced vs. copilot-assisted — production broke free of human hands</a:t>
            </a:r>
          </a:p>
        </p:txBody>
      </p:sp>
      <p:sp>
        <p:nvSpPr>
          <p:cNvPr id="9" name="Rounded Rectangle 8"/>
          <p:cNvSpPr/>
          <p:nvPr/>
        </p:nvSpPr>
        <p:spPr>
          <a:xfrm>
            <a:off x="4379976" y="1874519"/>
            <a:ext cx="3429000"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2286000"/>
            <a:ext cx="2880360" cy="640080"/>
          </a:xfrm>
          <a:prstGeom prst="rect">
            <a:avLst/>
          </a:prstGeom>
          <a:noFill/>
        </p:spPr>
        <p:txBody>
          <a:bodyPr wrap="square" lIns="0" rIns="0" tIns="0" bIns="0">
            <a:spAutoFit/>
          </a:bodyPr>
          <a:lstStyle/>
          <a:p>
            <a:pPr algn="l"/>
            <a:r>
              <a:rPr sz="3400" b="1" i="0">
                <a:solidFill>
                  <a:srgbClr val="2777EF"/>
                </a:solidFill>
                <a:latin typeface="Cambria"/>
              </a:rPr>
              <a:t>168 hrs</a:t>
            </a:r>
          </a:p>
        </p:txBody>
      </p:sp>
      <p:sp>
        <p:nvSpPr>
          <p:cNvPr id="11" name="TextBox 10"/>
          <p:cNvSpPr txBox="1"/>
          <p:nvPr/>
        </p:nvSpPr>
        <p:spPr>
          <a:xfrm>
            <a:off x="4654296" y="3017520"/>
            <a:ext cx="2880360" cy="320040"/>
          </a:xfrm>
          <a:prstGeom prst="rect">
            <a:avLst/>
          </a:prstGeom>
          <a:noFill/>
        </p:spPr>
        <p:txBody>
          <a:bodyPr wrap="square" lIns="0" rIns="0" tIns="0" bIns="0">
            <a:spAutoFit/>
          </a:bodyPr>
          <a:lstStyle/>
          <a:p>
            <a:pPr algn="l"/>
            <a:r>
              <a:rPr sz="1350" b="1" i="0">
                <a:solidFill>
                  <a:srgbClr val="1A2233"/>
                </a:solidFill>
                <a:latin typeface="Calibri"/>
              </a:rPr>
              <a:t>machine duty cycle per week</a:t>
            </a:r>
          </a:p>
        </p:txBody>
      </p:sp>
      <p:sp>
        <p:nvSpPr>
          <p:cNvPr id="12" name="TextBox 11"/>
          <p:cNvSpPr txBox="1"/>
          <p:nvPr/>
        </p:nvSpPr>
        <p:spPr>
          <a:xfrm>
            <a:off x="4654296" y="3429000"/>
            <a:ext cx="2880360" cy="1463040"/>
          </a:xfrm>
          <a:prstGeom prst="rect">
            <a:avLst/>
          </a:prstGeom>
          <a:noFill/>
        </p:spPr>
        <p:txBody>
          <a:bodyPr wrap="square" lIns="0" rIns="0" tIns="0" bIns="0">
            <a:spAutoFit/>
          </a:bodyPr>
          <a:lstStyle/>
          <a:p>
            <a:pPr algn="l"/>
            <a:r>
              <a:rPr sz="1200" b="0" i="0">
                <a:solidFill>
                  <a:srgbClr val="5A6478"/>
                </a:solidFill>
                <a:latin typeface="Calibri"/>
              </a:rPr>
              <a:t>vs ~40 human attention-hours — labor is no longer human-limited</a:t>
            </a:r>
          </a:p>
        </p:txBody>
      </p:sp>
      <p:sp>
        <p:nvSpPr>
          <p:cNvPr id="13" name="Rounded Rectangle 12"/>
          <p:cNvSpPr/>
          <p:nvPr/>
        </p:nvSpPr>
        <p:spPr>
          <a:xfrm>
            <a:off x="7982712" y="1874519"/>
            <a:ext cx="3429000"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2286000"/>
            <a:ext cx="2880360" cy="640080"/>
          </a:xfrm>
          <a:prstGeom prst="rect">
            <a:avLst/>
          </a:prstGeom>
          <a:noFill/>
        </p:spPr>
        <p:txBody>
          <a:bodyPr wrap="square" lIns="0" rIns="0" tIns="0" bIns="0">
            <a:spAutoFit/>
          </a:bodyPr>
          <a:lstStyle/>
          <a:p>
            <a:pPr algn="l"/>
            <a:r>
              <a:rPr sz="3400" b="1" i="0">
                <a:solidFill>
                  <a:srgbClr val="2777EF"/>
                </a:solidFill>
                <a:latin typeface="Cambria"/>
              </a:rPr>
              <a:t>5 layers</a:t>
            </a:r>
          </a:p>
        </p:txBody>
      </p:sp>
      <p:sp>
        <p:nvSpPr>
          <p:cNvPr id="15" name="TextBox 14"/>
          <p:cNvSpPr txBox="1"/>
          <p:nvPr/>
        </p:nvSpPr>
        <p:spPr>
          <a:xfrm>
            <a:off x="8257032" y="3017520"/>
            <a:ext cx="2880360" cy="320040"/>
          </a:xfrm>
          <a:prstGeom prst="rect">
            <a:avLst/>
          </a:prstGeom>
          <a:noFill/>
        </p:spPr>
        <p:txBody>
          <a:bodyPr wrap="square" lIns="0" rIns="0" tIns="0" bIns="0">
            <a:spAutoFit/>
          </a:bodyPr>
          <a:lstStyle/>
          <a:p>
            <a:pPr algn="l"/>
            <a:r>
              <a:rPr sz="1350" b="1" i="0">
                <a:solidFill>
                  <a:srgbClr val="1A2233"/>
                </a:solidFill>
                <a:latin typeface="Calibri"/>
              </a:rPr>
              <a:t>meter the running of it</a:t>
            </a:r>
          </a:p>
        </p:txBody>
      </p:sp>
      <p:sp>
        <p:nvSpPr>
          <p:cNvPr id="16" name="TextBox 15"/>
          <p:cNvSpPr txBox="1"/>
          <p:nvPr/>
        </p:nvSpPr>
        <p:spPr>
          <a:xfrm>
            <a:off x="8257032" y="3429000"/>
            <a:ext cx="2880360" cy="1463040"/>
          </a:xfrm>
          <a:prstGeom prst="rect">
            <a:avLst/>
          </a:prstGeom>
          <a:noFill/>
        </p:spPr>
        <p:txBody>
          <a:bodyPr wrap="square" lIns="0" rIns="0" tIns="0" bIns="0">
            <a:spAutoFit/>
          </a:bodyPr>
          <a:lstStyle/>
          <a:p>
            <a:pPr algn="l"/>
            <a:r>
              <a:rPr sz="1200" b="0" i="0">
                <a:solidFill>
                  <a:srgbClr val="5A6478"/>
                </a:solidFill>
                <a:latin typeface="Calibri"/>
              </a:rPr>
              <a:t>making deflates to zero; running is metered forever — the meters get paid</a:t>
            </a:r>
          </a:p>
        </p:txBody>
      </p:sp>
      <p:sp>
        <p:nvSpPr>
          <p:cNvPr id="17" name="Rounded Rectangle 16"/>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Infinite software is the era  </a:t>
            </a:r>
            <a:r>
              <a:rPr sz="1200">
                <a:solidFill>
                  <a:srgbClr val="1A2233"/>
                </a:solidFill>
                <a:latin typeface="Calibri"/>
              </a:rPr>
              <a:t>— part 02 counts the wave it unleashes, in tokens and events.</a:t>
            </a:r>
          </a:p>
        </p:txBody>
      </p:sp>
      <p:sp>
        <p:nvSpPr>
          <p:cNvPr id="18" name="TextBox 1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9" name="TextBox 1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874520"/>
            <a:ext cx="2377440" cy="1600200"/>
          </a:xfrm>
          <a:prstGeom prst="rect">
            <a:avLst/>
          </a:prstGeom>
          <a:noFill/>
        </p:spPr>
        <p:txBody>
          <a:bodyPr wrap="square" lIns="0" tIns="0" rIns="0" bIns="0" rtlCol="0" anchor="ctr"/>
          <a:lstStyle/>
          <a:p>
            <a:pPr marL="0" indent="0">
              <a:buNone/>
            </a:pPr>
            <a:r>
              <a:rPr lang="en-US" sz="9600" b="1" dirty="0">
                <a:solidFill>
                  <a:srgbClr val="2777EF"/>
                </a:solidFill>
                <a:latin typeface="Cambria" pitchFamily="34" charset="0"/>
                <a:ea typeface="Cambria" pitchFamily="34" charset="-122"/>
                <a:cs typeface="Cambria" pitchFamily="34" charset="-120"/>
              </a:rPr>
              <a:t>02</a:t>
            </a:r>
            <a:endParaRPr lang="en-US" sz="9600" dirty="0"/>
          </a:p>
        </p:txBody>
      </p:sp>
      <p:sp>
        <p:nvSpPr>
          <p:cNvPr id="3" name="Text 1"/>
          <p:cNvSpPr/>
          <p:nvPr/>
        </p:nvSpPr>
        <p:spPr>
          <a:xfrm>
            <a:off x="548640" y="3520440"/>
            <a:ext cx="7589520" cy="685800"/>
          </a:xfrm>
          <a:prstGeom prst="rect">
            <a:avLst/>
          </a:prstGeom>
          <a:noFill/>
        </p:spPr>
        <p:txBody>
          <a:bodyPr wrap="square" lIns="0" tIns="0" rIns="0" bIns="0" rtlCol="0" anchor="ctr"/>
          <a:lstStyle/>
          <a:p>
            <a:pPr marL="0" indent="0">
              <a:buNone/>
            </a:pPr>
            <a:r>
              <a:rPr lang="en-US" sz="3400" b="1" dirty="0">
                <a:solidFill>
                  <a:srgbClr val="1A2233"/>
                </a:solidFill>
                <a:latin typeface="Cambria" pitchFamily="34" charset="0"/>
                <a:ea typeface="Cambria" pitchFamily="34" charset="-122"/>
                <a:cs typeface="Cambria" pitchFamily="34" charset="-120"/>
              </a:rPr>
              <a:t>The Token Tidal Wave</a:t>
            </a:r>
            <a:endParaRPr lang="en-US" sz="3400" dirty="0"/>
          </a:p>
        </p:txBody>
      </p:sp>
      <p:sp>
        <p:nvSpPr>
          <p:cNvPr id="4" name="Text 2"/>
          <p:cNvSpPr/>
          <p:nvPr/>
        </p:nvSpPr>
        <p:spPr>
          <a:xfrm>
            <a:off x="548640" y="4224528"/>
            <a:ext cx="7315200" cy="502920"/>
          </a:xfrm>
          <a:prstGeom prst="rect">
            <a:avLst/>
          </a:prstGeom>
          <a:noFill/>
        </p:spPr>
        <p:txBody>
          <a:bodyPr wrap="square" lIns="0" tIns="0" rIns="0" bIns="0" rtlCol="0" anchor="ctr"/>
          <a:lstStyle/>
          <a:p>
            <a:pPr marL="0" indent="0">
              <a:buNone/>
            </a:pPr>
            <a:r>
              <a:rPr lang="en-US" sz="1500" dirty="0">
                <a:solidFill>
                  <a:srgbClr val="5A6478"/>
                </a:solidFill>
                <a:latin typeface="Calibri" pitchFamily="34" charset="0"/>
                <a:ea typeface="Calibri" pitchFamily="34" charset="-122"/>
                <a:cs typeface="Calibri" pitchFamily="34" charset="-120"/>
              </a:rPr>
              <a:t>the phenomenon — our ~40x call, landing on the rails</a:t>
            </a:r>
            <a:endParaRPr lang="en-US" sz="1500" dirty="0"/>
          </a:p>
        </p:txBody>
      </p:sp>
      <p:sp>
        <p:nvSpPr>
          <p:cNvPr id="5" name="Shape 3"/>
          <p:cNvSpPr/>
          <p:nvPr/>
        </p:nvSpPr>
        <p:spPr>
          <a:xfrm>
            <a:off x="8366760" y="1737360"/>
            <a:ext cx="0" cy="3383280"/>
          </a:xfrm>
          <a:prstGeom prst="line">
            <a:avLst/>
          </a:prstGeom>
          <a:noFill/>
          <a:ln w="12700">
            <a:solidFill>
              <a:srgbClr val="D5DCE8"/>
            </a:solidFill>
            <a:prstDash val="solid"/>
          </a:ln>
        </p:spPr>
        <p:txBody>
          <a:bodyPr/>
          <a:lstStyle/>
          <a:p>
            <a:endParaRPr lang="en-US"/>
          </a:p>
        </p:txBody>
      </p:sp>
      <p:sp>
        <p:nvSpPr>
          <p:cNvPr id="6" name="Shape 4"/>
          <p:cNvSpPr/>
          <p:nvPr/>
        </p:nvSpPr>
        <p:spPr>
          <a:xfrm>
            <a:off x="8686800" y="1897380"/>
            <a:ext cx="118872" cy="118872"/>
          </a:xfrm>
          <a:prstGeom prst="ellipse">
            <a:avLst/>
          </a:prstGeom>
          <a:solidFill>
            <a:srgbClr val="FFFFFF"/>
          </a:solidFill>
          <a:ln w="12700">
            <a:solidFill>
              <a:srgbClr val="8A97B0"/>
            </a:solidFill>
            <a:prstDash val="solid"/>
          </a:ln>
        </p:spPr>
        <p:txBody>
          <a:bodyPr/>
          <a:lstStyle/>
          <a:p>
            <a:endParaRPr lang="en-US"/>
          </a:p>
        </p:txBody>
      </p:sp>
      <p:sp>
        <p:nvSpPr>
          <p:cNvPr id="7" name="Text 5"/>
          <p:cNvSpPr/>
          <p:nvPr/>
        </p:nvSpPr>
        <p:spPr>
          <a:xfrm>
            <a:off x="8942832" y="1828800"/>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01  Infinite Software</a:t>
            </a:r>
            <a:endParaRPr lang="en-US" sz="1100" dirty="0"/>
          </a:p>
        </p:txBody>
      </p:sp>
      <p:sp>
        <p:nvSpPr>
          <p:cNvPr id="8" name="Shape 6"/>
          <p:cNvSpPr/>
          <p:nvPr/>
        </p:nvSpPr>
        <p:spPr>
          <a:xfrm>
            <a:off x="8686800" y="2555748"/>
            <a:ext cx="118872" cy="118872"/>
          </a:xfrm>
          <a:prstGeom prst="ellipse">
            <a:avLst/>
          </a:prstGeom>
          <a:solidFill>
            <a:srgbClr val="2777EF"/>
          </a:solidFill>
          <a:ln w="12700">
            <a:solidFill>
              <a:srgbClr val="2777EF"/>
            </a:solidFill>
            <a:prstDash val="solid"/>
          </a:ln>
        </p:spPr>
        <p:txBody>
          <a:bodyPr/>
          <a:lstStyle/>
          <a:p>
            <a:endParaRPr lang="en-US"/>
          </a:p>
        </p:txBody>
      </p:sp>
      <p:sp>
        <p:nvSpPr>
          <p:cNvPr id="9" name="Text 7"/>
          <p:cNvSpPr/>
          <p:nvPr/>
        </p:nvSpPr>
        <p:spPr>
          <a:xfrm>
            <a:off x="8942832" y="2487168"/>
            <a:ext cx="3108960" cy="292608"/>
          </a:xfrm>
          <a:prstGeom prst="rect">
            <a:avLst/>
          </a:prstGeom>
          <a:noFill/>
        </p:spPr>
        <p:txBody>
          <a:bodyPr wrap="square" lIns="0" tIns="0" rIns="0" bIns="0" rtlCol="0" anchor="ctr"/>
          <a:lstStyle/>
          <a:p>
            <a:pPr marL="0" indent="0">
              <a:buNone/>
            </a:pPr>
            <a:r>
              <a:rPr lang="en-US" sz="1250" b="1" dirty="0">
                <a:solidFill>
                  <a:srgbClr val="1A2233"/>
                </a:solidFill>
                <a:latin typeface="Calibri" pitchFamily="34" charset="0"/>
                <a:ea typeface="Calibri" pitchFamily="34" charset="-122"/>
                <a:cs typeface="Calibri" pitchFamily="34" charset="-120"/>
              </a:rPr>
              <a:t>02  The Token Tidal Wave</a:t>
            </a:r>
            <a:endParaRPr lang="en-US" sz="1250" dirty="0"/>
          </a:p>
        </p:txBody>
      </p:sp>
      <p:sp>
        <p:nvSpPr>
          <p:cNvPr id="10" name="Shape 8"/>
          <p:cNvSpPr/>
          <p:nvPr/>
        </p:nvSpPr>
        <p:spPr>
          <a:xfrm>
            <a:off x="8686800" y="3214116"/>
            <a:ext cx="118872" cy="118872"/>
          </a:xfrm>
          <a:prstGeom prst="ellipse">
            <a:avLst/>
          </a:prstGeom>
          <a:solidFill>
            <a:srgbClr val="FFFFFF"/>
          </a:solidFill>
          <a:ln w="12700">
            <a:solidFill>
              <a:srgbClr val="8A97B0"/>
            </a:solidFill>
            <a:prstDash val="solid"/>
          </a:ln>
        </p:spPr>
        <p:txBody>
          <a:bodyPr/>
          <a:lstStyle/>
          <a:p>
            <a:endParaRPr lang="en-US"/>
          </a:p>
        </p:txBody>
      </p:sp>
      <p:sp>
        <p:nvSpPr>
          <p:cNvPr id="11" name="Text 9"/>
          <p:cNvSpPr/>
          <p:nvPr/>
        </p:nvSpPr>
        <p:spPr>
          <a:xfrm>
            <a:off x="8942832" y="3145536"/>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03  A Royalty on Machine Labor</a:t>
            </a:r>
            <a:endParaRPr lang="en-US" sz="1100" dirty="0"/>
          </a:p>
        </p:txBody>
      </p:sp>
      <p:sp>
        <p:nvSpPr>
          <p:cNvPr id="12" name="Shape 10"/>
          <p:cNvSpPr/>
          <p:nvPr/>
        </p:nvSpPr>
        <p:spPr>
          <a:xfrm>
            <a:off x="8686800" y="3872484"/>
            <a:ext cx="118872" cy="118872"/>
          </a:xfrm>
          <a:prstGeom prst="ellipse">
            <a:avLst/>
          </a:prstGeom>
          <a:solidFill>
            <a:srgbClr val="FFFFFF"/>
          </a:solidFill>
          <a:ln w="12700">
            <a:solidFill>
              <a:srgbClr val="8A97B0"/>
            </a:solidFill>
            <a:prstDash val="solid"/>
          </a:ln>
        </p:spPr>
        <p:txBody>
          <a:bodyPr/>
          <a:lstStyle/>
          <a:p>
            <a:endParaRPr lang="en-US"/>
          </a:p>
        </p:txBody>
      </p:sp>
      <p:sp>
        <p:nvSpPr>
          <p:cNvPr id="13" name="Text 11"/>
          <p:cNvSpPr/>
          <p:nvPr/>
        </p:nvSpPr>
        <p:spPr>
          <a:xfrm>
            <a:off x="8942832" y="3803904"/>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04  Machine Oracle</a:t>
            </a:r>
            <a:endParaRPr lang="en-US" sz="1100" dirty="0"/>
          </a:p>
        </p:txBody>
      </p:sp>
      <p:sp>
        <p:nvSpPr>
          <p:cNvPr id="16" name="Text 14"/>
          <p:cNvSpPr/>
          <p:nvPr/>
        </p:nvSpPr>
        <p:spPr>
          <a:xfrm>
            <a:off x="502920" y="6309360"/>
            <a:ext cx="2743200" cy="274320"/>
          </a:xfrm>
          <a:prstGeom prst="rect">
            <a:avLst/>
          </a:prstGeom>
          <a:noFill/>
        </p:spPr>
        <p:txBody>
          <a:bodyPr wrap="square" lIns="0" tIns="0" rIns="0" bIns="0" rtlCol="0" anchor="ctr"/>
          <a:lstStyle/>
          <a:p>
            <a:pPr marL="0" indent="0">
              <a:buNone/>
            </a:pPr>
            <a:r>
              <a:rPr lang="en-US" sz="1000" b="1" kern="0" spc="30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3371362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Tokens grew ~2,000x in four years</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GLOBAL TOKEN CONSUMPTION, QUADRILLION TOKENS / YEAR (LOG SCALE, SKYCATCHER AGGREGATION OF PLATFORM DISCLOSURES)</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1143000" y="5222571"/>
            <a:ext cx="1463040" cy="355269"/>
          </a:xfrm>
          <a:prstGeom prst="rect">
            <a:avLst/>
          </a:prstGeom>
          <a:solidFill>
            <a:srgbClr val="D6E4FC"/>
          </a:solidFill>
        </p:spPr>
        <p:txBody>
          <a:bodyPr/>
          <a:lstStyle/>
          <a:p>
            <a:endParaRPr lang="en-US"/>
          </a:p>
        </p:txBody>
      </p:sp>
      <p:sp>
        <p:nvSpPr>
          <p:cNvPr id="6" name="Text 4"/>
          <p:cNvSpPr/>
          <p:nvPr/>
        </p:nvSpPr>
        <p:spPr>
          <a:xfrm>
            <a:off x="868680" y="4801947"/>
            <a:ext cx="2011680" cy="347472"/>
          </a:xfrm>
          <a:prstGeom prst="rect">
            <a:avLst/>
          </a:prstGeom>
          <a:noFill/>
        </p:spPr>
        <p:txBody>
          <a:bodyPr wrap="square" lIns="0" tIns="0" rIns="0" bIns="0" rtlCol="0" anchor="ctr"/>
          <a:lstStyle/>
          <a:p>
            <a:pPr marL="0" indent="0" algn="ctr">
              <a:buNone/>
            </a:pPr>
            <a:r>
              <a:rPr lang="en-US" sz="1500" b="1" dirty="0">
                <a:solidFill>
                  <a:srgbClr val="1A2233"/>
                </a:solidFill>
                <a:latin typeface="Cambria" pitchFamily="34" charset="0"/>
                <a:ea typeface="Cambria" pitchFamily="34" charset="-122"/>
                <a:cs typeface="Cambria" pitchFamily="34" charset="-120"/>
              </a:rPr>
              <a:t>0.05Q</a:t>
            </a:r>
            <a:endParaRPr lang="en-US" sz="1500" dirty="0"/>
          </a:p>
        </p:txBody>
      </p:sp>
      <p:sp>
        <p:nvSpPr>
          <p:cNvPr id="7" name="Text 5"/>
          <p:cNvSpPr/>
          <p:nvPr/>
        </p:nvSpPr>
        <p:spPr>
          <a:xfrm>
            <a:off x="960120" y="5669280"/>
            <a:ext cx="1828800" cy="274320"/>
          </a:xfrm>
          <a:prstGeom prst="rect">
            <a:avLst/>
          </a:prstGeom>
          <a:noFill/>
        </p:spPr>
        <p:txBody>
          <a:bodyPr wrap="square" lIns="0" tIns="0" rIns="0" bIns="0" rtlCol="0" anchor="ctr"/>
          <a:lstStyle/>
          <a:p>
            <a:pPr marL="0" indent="0" algn="ctr">
              <a:buNone/>
            </a:pPr>
            <a:r>
              <a:rPr lang="en-US" sz="1350" b="1" dirty="0">
                <a:solidFill>
                  <a:srgbClr val="5A6478"/>
                </a:solidFill>
                <a:latin typeface="Calibri" pitchFamily="34" charset="0"/>
                <a:ea typeface="Calibri" pitchFamily="34" charset="-122"/>
                <a:cs typeface="Calibri" pitchFamily="34" charset="-120"/>
              </a:rPr>
              <a:t>2022</a:t>
            </a:r>
            <a:endParaRPr lang="en-US" sz="1350" dirty="0"/>
          </a:p>
        </p:txBody>
      </p:sp>
      <p:sp>
        <p:nvSpPr>
          <p:cNvPr id="8" name="Shape 6"/>
          <p:cNvSpPr/>
          <p:nvPr/>
        </p:nvSpPr>
        <p:spPr>
          <a:xfrm>
            <a:off x="2697480" y="4832721"/>
            <a:ext cx="566928" cy="310896"/>
          </a:xfrm>
          <a:prstGeom prst="roundRect">
            <a:avLst>
              <a:gd name="adj" fmla="val 50000"/>
            </a:avLst>
          </a:prstGeom>
          <a:solidFill>
            <a:srgbClr val="1A2233"/>
          </a:solidFill>
        </p:spPr>
        <p:txBody>
          <a:bodyPr/>
          <a:lstStyle/>
          <a:p>
            <a:endParaRPr lang="en-US"/>
          </a:p>
        </p:txBody>
      </p:sp>
      <p:sp>
        <p:nvSpPr>
          <p:cNvPr id="9" name="Text 7"/>
          <p:cNvSpPr/>
          <p:nvPr/>
        </p:nvSpPr>
        <p:spPr>
          <a:xfrm>
            <a:off x="2697480" y="4823577"/>
            <a:ext cx="56692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10" name="Shape 8"/>
          <p:cNvSpPr/>
          <p:nvPr/>
        </p:nvSpPr>
        <p:spPr>
          <a:xfrm>
            <a:off x="3355848" y="4329801"/>
            <a:ext cx="1463040" cy="1248039"/>
          </a:xfrm>
          <a:prstGeom prst="rect">
            <a:avLst/>
          </a:prstGeom>
          <a:solidFill>
            <a:srgbClr val="D6E4FC"/>
          </a:solidFill>
        </p:spPr>
        <p:txBody>
          <a:bodyPr/>
          <a:lstStyle/>
          <a:p>
            <a:endParaRPr lang="en-US"/>
          </a:p>
        </p:txBody>
      </p:sp>
      <p:sp>
        <p:nvSpPr>
          <p:cNvPr id="11" name="Text 9"/>
          <p:cNvSpPr/>
          <p:nvPr/>
        </p:nvSpPr>
        <p:spPr>
          <a:xfrm>
            <a:off x="3081528" y="3909177"/>
            <a:ext cx="2011680" cy="347472"/>
          </a:xfrm>
          <a:prstGeom prst="rect">
            <a:avLst/>
          </a:prstGeom>
          <a:noFill/>
        </p:spPr>
        <p:txBody>
          <a:bodyPr wrap="square" lIns="0" tIns="0" rIns="0" bIns="0" rtlCol="0" anchor="ctr"/>
          <a:lstStyle/>
          <a:p>
            <a:pPr marL="0" indent="0" algn="ctr">
              <a:buNone/>
            </a:pPr>
            <a:r>
              <a:rPr lang="en-US" sz="1500" b="1" dirty="0">
                <a:solidFill>
                  <a:srgbClr val="1A2233"/>
                </a:solidFill>
                <a:latin typeface="Cambria" pitchFamily="34" charset="0"/>
                <a:ea typeface="Cambria" pitchFamily="34" charset="-122"/>
                <a:cs typeface="Cambria" pitchFamily="34" charset="-120"/>
              </a:rPr>
              <a:t>0.5Q</a:t>
            </a:r>
            <a:endParaRPr lang="en-US" sz="1500" dirty="0"/>
          </a:p>
        </p:txBody>
      </p:sp>
      <p:sp>
        <p:nvSpPr>
          <p:cNvPr id="12" name="Text 10"/>
          <p:cNvSpPr/>
          <p:nvPr/>
        </p:nvSpPr>
        <p:spPr>
          <a:xfrm>
            <a:off x="3172968" y="5669280"/>
            <a:ext cx="1828800" cy="274320"/>
          </a:xfrm>
          <a:prstGeom prst="rect">
            <a:avLst/>
          </a:prstGeom>
          <a:noFill/>
        </p:spPr>
        <p:txBody>
          <a:bodyPr wrap="square" lIns="0" tIns="0" rIns="0" bIns="0" rtlCol="0" anchor="ctr"/>
          <a:lstStyle/>
          <a:p>
            <a:pPr marL="0" indent="0" algn="ctr">
              <a:buNone/>
            </a:pPr>
            <a:r>
              <a:rPr lang="en-US" sz="1350" b="1" dirty="0">
                <a:solidFill>
                  <a:srgbClr val="5A6478"/>
                </a:solidFill>
                <a:latin typeface="Calibri" pitchFamily="34" charset="0"/>
                <a:ea typeface="Calibri" pitchFamily="34" charset="-122"/>
                <a:cs typeface="Calibri" pitchFamily="34" charset="-120"/>
              </a:rPr>
              <a:t>2023</a:t>
            </a:r>
            <a:endParaRPr lang="en-US" sz="1350" dirty="0"/>
          </a:p>
        </p:txBody>
      </p:sp>
      <p:sp>
        <p:nvSpPr>
          <p:cNvPr id="13" name="Shape 11"/>
          <p:cNvSpPr/>
          <p:nvPr/>
        </p:nvSpPr>
        <p:spPr>
          <a:xfrm>
            <a:off x="4910328" y="3939950"/>
            <a:ext cx="566928" cy="310896"/>
          </a:xfrm>
          <a:prstGeom prst="roundRect">
            <a:avLst>
              <a:gd name="adj" fmla="val 50000"/>
            </a:avLst>
          </a:prstGeom>
          <a:solidFill>
            <a:srgbClr val="1A2233"/>
          </a:solidFill>
        </p:spPr>
        <p:txBody>
          <a:bodyPr/>
          <a:lstStyle/>
          <a:p>
            <a:endParaRPr lang="en-US"/>
          </a:p>
        </p:txBody>
      </p:sp>
      <p:sp>
        <p:nvSpPr>
          <p:cNvPr id="14" name="Text 12"/>
          <p:cNvSpPr/>
          <p:nvPr/>
        </p:nvSpPr>
        <p:spPr>
          <a:xfrm>
            <a:off x="4910328" y="3930806"/>
            <a:ext cx="56692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15" name="Shape 13"/>
          <p:cNvSpPr/>
          <p:nvPr/>
        </p:nvSpPr>
        <p:spPr>
          <a:xfrm>
            <a:off x="5568696" y="3437030"/>
            <a:ext cx="1463040" cy="2140810"/>
          </a:xfrm>
          <a:prstGeom prst="rect">
            <a:avLst/>
          </a:prstGeom>
          <a:solidFill>
            <a:srgbClr val="D6E4FC"/>
          </a:solidFill>
        </p:spPr>
        <p:txBody>
          <a:bodyPr/>
          <a:lstStyle/>
          <a:p>
            <a:endParaRPr lang="en-US"/>
          </a:p>
        </p:txBody>
      </p:sp>
      <p:sp>
        <p:nvSpPr>
          <p:cNvPr id="16" name="Text 14"/>
          <p:cNvSpPr/>
          <p:nvPr/>
        </p:nvSpPr>
        <p:spPr>
          <a:xfrm>
            <a:off x="5294376" y="3016406"/>
            <a:ext cx="2011680" cy="347472"/>
          </a:xfrm>
          <a:prstGeom prst="rect">
            <a:avLst/>
          </a:prstGeom>
          <a:noFill/>
        </p:spPr>
        <p:txBody>
          <a:bodyPr wrap="square" lIns="0" tIns="0" rIns="0" bIns="0" rtlCol="0" anchor="ctr"/>
          <a:lstStyle/>
          <a:p>
            <a:pPr marL="0" indent="0" algn="ctr">
              <a:buNone/>
            </a:pPr>
            <a:r>
              <a:rPr lang="en-US" sz="1500" b="1" dirty="0">
                <a:solidFill>
                  <a:srgbClr val="1A2233"/>
                </a:solidFill>
                <a:latin typeface="Cambria" pitchFamily="34" charset="0"/>
                <a:ea typeface="Cambria" pitchFamily="34" charset="-122"/>
                <a:cs typeface="Cambria" pitchFamily="34" charset="-120"/>
              </a:rPr>
              <a:t>5Q</a:t>
            </a:r>
            <a:endParaRPr lang="en-US" sz="1500" dirty="0"/>
          </a:p>
        </p:txBody>
      </p:sp>
      <p:sp>
        <p:nvSpPr>
          <p:cNvPr id="17" name="Text 15"/>
          <p:cNvSpPr/>
          <p:nvPr/>
        </p:nvSpPr>
        <p:spPr>
          <a:xfrm>
            <a:off x="5385816" y="5669280"/>
            <a:ext cx="1828800" cy="274320"/>
          </a:xfrm>
          <a:prstGeom prst="rect">
            <a:avLst/>
          </a:prstGeom>
          <a:noFill/>
        </p:spPr>
        <p:txBody>
          <a:bodyPr wrap="square" lIns="0" tIns="0" rIns="0" bIns="0" rtlCol="0" anchor="ctr"/>
          <a:lstStyle/>
          <a:p>
            <a:pPr marL="0" indent="0" algn="ctr">
              <a:buNone/>
            </a:pPr>
            <a:r>
              <a:rPr lang="en-US" sz="1350" b="1" dirty="0">
                <a:solidFill>
                  <a:srgbClr val="5A6478"/>
                </a:solidFill>
                <a:latin typeface="Calibri" pitchFamily="34" charset="0"/>
                <a:ea typeface="Calibri" pitchFamily="34" charset="-122"/>
                <a:cs typeface="Calibri" pitchFamily="34" charset="-120"/>
              </a:rPr>
              <a:t>2024</a:t>
            </a:r>
            <a:endParaRPr lang="en-US" sz="1350" dirty="0"/>
          </a:p>
        </p:txBody>
      </p:sp>
      <p:sp>
        <p:nvSpPr>
          <p:cNvPr id="18" name="Shape 16"/>
          <p:cNvSpPr/>
          <p:nvPr/>
        </p:nvSpPr>
        <p:spPr>
          <a:xfrm>
            <a:off x="7123176" y="3315930"/>
            <a:ext cx="566928" cy="310896"/>
          </a:xfrm>
          <a:prstGeom prst="roundRect">
            <a:avLst>
              <a:gd name="adj" fmla="val 50000"/>
            </a:avLst>
          </a:prstGeom>
          <a:solidFill>
            <a:srgbClr val="1A2233"/>
          </a:solidFill>
        </p:spPr>
        <p:txBody>
          <a:bodyPr/>
          <a:lstStyle/>
          <a:p>
            <a:endParaRPr lang="en-US"/>
          </a:p>
        </p:txBody>
      </p:sp>
      <p:sp>
        <p:nvSpPr>
          <p:cNvPr id="19" name="Text 17"/>
          <p:cNvSpPr/>
          <p:nvPr/>
        </p:nvSpPr>
        <p:spPr>
          <a:xfrm>
            <a:off x="7123176" y="3306786"/>
            <a:ext cx="56692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Shape 18"/>
          <p:cNvSpPr/>
          <p:nvPr/>
        </p:nvSpPr>
        <p:spPr>
          <a:xfrm>
            <a:off x="7781544" y="2813010"/>
            <a:ext cx="1463040" cy="2764830"/>
          </a:xfrm>
          <a:prstGeom prst="rect">
            <a:avLst/>
          </a:prstGeom>
          <a:solidFill>
            <a:srgbClr val="D6E4FC"/>
          </a:solidFill>
        </p:spPr>
        <p:txBody>
          <a:bodyPr/>
          <a:lstStyle/>
          <a:p>
            <a:endParaRPr lang="en-US"/>
          </a:p>
        </p:txBody>
      </p:sp>
      <p:sp>
        <p:nvSpPr>
          <p:cNvPr id="21" name="Text 19"/>
          <p:cNvSpPr/>
          <p:nvPr/>
        </p:nvSpPr>
        <p:spPr>
          <a:xfrm>
            <a:off x="7507224" y="2392386"/>
            <a:ext cx="2011680" cy="347472"/>
          </a:xfrm>
          <a:prstGeom prst="rect">
            <a:avLst/>
          </a:prstGeom>
          <a:noFill/>
        </p:spPr>
        <p:txBody>
          <a:bodyPr wrap="square" lIns="0" tIns="0" rIns="0" bIns="0" rtlCol="0" anchor="ctr"/>
          <a:lstStyle/>
          <a:p>
            <a:pPr marL="0" indent="0" algn="ctr">
              <a:buNone/>
            </a:pPr>
            <a:r>
              <a:rPr lang="en-US" sz="1500" b="1" dirty="0">
                <a:solidFill>
                  <a:srgbClr val="1A2233"/>
                </a:solidFill>
                <a:latin typeface="Cambria" pitchFamily="34" charset="0"/>
                <a:ea typeface="Cambria" pitchFamily="34" charset="-122"/>
                <a:cs typeface="Cambria" pitchFamily="34" charset="-120"/>
              </a:rPr>
              <a:t>25Q</a:t>
            </a:r>
            <a:endParaRPr lang="en-US" sz="1500" dirty="0"/>
          </a:p>
        </p:txBody>
      </p:sp>
      <p:sp>
        <p:nvSpPr>
          <p:cNvPr id="22" name="Text 20"/>
          <p:cNvSpPr/>
          <p:nvPr/>
        </p:nvSpPr>
        <p:spPr>
          <a:xfrm>
            <a:off x="7598664" y="5669280"/>
            <a:ext cx="1828800" cy="274320"/>
          </a:xfrm>
          <a:prstGeom prst="rect">
            <a:avLst/>
          </a:prstGeom>
          <a:noFill/>
        </p:spPr>
        <p:txBody>
          <a:bodyPr wrap="square" lIns="0" tIns="0" rIns="0" bIns="0" rtlCol="0" anchor="ctr"/>
          <a:lstStyle/>
          <a:p>
            <a:pPr marL="0" indent="0" algn="ctr">
              <a:buNone/>
            </a:pPr>
            <a:r>
              <a:rPr lang="en-US" sz="1350" b="1" dirty="0">
                <a:solidFill>
                  <a:srgbClr val="5A6478"/>
                </a:solidFill>
                <a:latin typeface="Calibri" pitchFamily="34" charset="0"/>
                <a:ea typeface="Calibri" pitchFamily="34" charset="-122"/>
                <a:cs typeface="Calibri" pitchFamily="34" charset="-120"/>
              </a:rPr>
              <a:t>2025</a:t>
            </a:r>
            <a:endParaRPr lang="en-US" sz="1350" dirty="0"/>
          </a:p>
        </p:txBody>
      </p:sp>
      <p:sp>
        <p:nvSpPr>
          <p:cNvPr id="23" name="Shape 21"/>
          <p:cNvSpPr/>
          <p:nvPr/>
        </p:nvSpPr>
        <p:spPr>
          <a:xfrm>
            <a:off x="9336024" y="2778429"/>
            <a:ext cx="566928" cy="310896"/>
          </a:xfrm>
          <a:prstGeom prst="roundRect">
            <a:avLst>
              <a:gd name="adj" fmla="val 50000"/>
            </a:avLst>
          </a:prstGeom>
          <a:solidFill>
            <a:srgbClr val="1A2233"/>
          </a:solidFill>
        </p:spPr>
        <p:txBody>
          <a:bodyPr/>
          <a:lstStyle/>
          <a:p>
            <a:endParaRPr lang="en-US"/>
          </a:p>
        </p:txBody>
      </p:sp>
      <p:sp>
        <p:nvSpPr>
          <p:cNvPr id="24" name="Text 22"/>
          <p:cNvSpPr/>
          <p:nvPr/>
        </p:nvSpPr>
        <p:spPr>
          <a:xfrm>
            <a:off x="9336024" y="2769285"/>
            <a:ext cx="56692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Shape 23"/>
          <p:cNvSpPr/>
          <p:nvPr/>
        </p:nvSpPr>
        <p:spPr>
          <a:xfrm>
            <a:off x="9994392" y="2275509"/>
            <a:ext cx="1463040" cy="3302331"/>
          </a:xfrm>
          <a:prstGeom prst="rect">
            <a:avLst/>
          </a:prstGeom>
          <a:solidFill>
            <a:srgbClr val="2777EF"/>
          </a:solidFill>
        </p:spPr>
        <p:txBody>
          <a:bodyPr/>
          <a:lstStyle/>
          <a:p>
            <a:endParaRPr lang="en-US"/>
          </a:p>
        </p:txBody>
      </p:sp>
      <p:sp>
        <p:nvSpPr>
          <p:cNvPr id="26" name="Text 24"/>
          <p:cNvSpPr/>
          <p:nvPr/>
        </p:nvSpPr>
        <p:spPr>
          <a:xfrm>
            <a:off x="9720072" y="1854885"/>
            <a:ext cx="2011680" cy="347472"/>
          </a:xfrm>
          <a:prstGeom prst="rect">
            <a:avLst/>
          </a:prstGeom>
          <a:noFill/>
        </p:spPr>
        <p:txBody>
          <a:bodyPr wrap="square" lIns="0" tIns="0" rIns="0" bIns="0" rtlCol="0" anchor="ctr"/>
          <a:lstStyle/>
          <a:p>
            <a:pPr marL="0" indent="0" algn="ctr">
              <a:buNone/>
            </a:pPr>
            <a:r>
              <a:rPr lang="en-US" sz="1900" b="1" dirty="0">
                <a:solidFill>
                  <a:srgbClr val="2777EF"/>
                </a:solidFill>
                <a:latin typeface="Cambria" pitchFamily="34" charset="0"/>
                <a:ea typeface="Cambria" pitchFamily="34" charset="-122"/>
                <a:cs typeface="Cambria" pitchFamily="34" charset="-120"/>
              </a:rPr>
              <a:t>100Q</a:t>
            </a:r>
            <a:endParaRPr lang="en-US" sz="1900" dirty="0"/>
          </a:p>
        </p:txBody>
      </p:sp>
      <p:sp>
        <p:nvSpPr>
          <p:cNvPr id="27" name="Text 25"/>
          <p:cNvSpPr/>
          <p:nvPr/>
        </p:nvSpPr>
        <p:spPr>
          <a:xfrm>
            <a:off x="9811512" y="5669280"/>
            <a:ext cx="1828800" cy="274320"/>
          </a:xfrm>
          <a:prstGeom prst="rect">
            <a:avLst/>
          </a:prstGeom>
          <a:noFill/>
        </p:spPr>
        <p:txBody>
          <a:bodyPr wrap="square" lIns="0" tIns="0" rIns="0" bIns="0" rtlCol="0" anchor="ctr"/>
          <a:lstStyle/>
          <a:p>
            <a:pPr marL="0" indent="0" algn="ctr">
              <a:buNone/>
            </a:pPr>
            <a:r>
              <a:rPr lang="en-US" sz="1350" b="1" dirty="0">
                <a:solidFill>
                  <a:srgbClr val="5A6478"/>
                </a:solidFill>
                <a:latin typeface="Calibri" pitchFamily="34" charset="0"/>
                <a:ea typeface="Calibri" pitchFamily="34" charset="-122"/>
                <a:cs typeface="Calibri" pitchFamily="34" charset="-120"/>
              </a:rPr>
              <a:t>2026</a:t>
            </a:r>
            <a:endParaRPr lang="en-US" sz="1350" dirty="0"/>
          </a:p>
        </p:txBody>
      </p:sp>
      <p:sp>
        <p:nvSpPr>
          <p:cNvPr id="28" name="Text 26"/>
          <p:cNvSpPr/>
          <p:nvPr/>
        </p:nvSpPr>
        <p:spPr>
          <a:xfrm>
            <a:off x="886968" y="2011680"/>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29" name="Shape 27"/>
          <p:cNvSpPr/>
          <p:nvPr/>
        </p:nvSpPr>
        <p:spPr>
          <a:xfrm>
            <a:off x="1051560" y="2286000"/>
            <a:ext cx="4480560" cy="868680"/>
          </a:xfrm>
          <a:prstGeom prst="roundRect">
            <a:avLst>
              <a:gd name="adj" fmla="val 9474"/>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30" name="Text 28"/>
          <p:cNvSpPr/>
          <p:nvPr/>
        </p:nvSpPr>
        <p:spPr>
          <a:xfrm>
            <a:off x="1161288" y="2286000"/>
            <a:ext cx="4261104" cy="868680"/>
          </a:xfrm>
          <a:prstGeom prst="rect">
            <a:avLst/>
          </a:prstGeom>
          <a:noFill/>
        </p:spPr>
        <p:txBody>
          <a:bodyPr wrap="square" lIns="0" tIns="0" rIns="0" bIns="0" rtlCol="0" anchor="ctr"/>
          <a:lstStyle/>
          <a:p>
            <a:pPr marL="0" indent="0" algn="ctr">
              <a:lnSpc>
                <a:spcPct val="102000"/>
              </a:lnSpc>
              <a:buNone/>
            </a:pPr>
            <a:r>
              <a:rPr lang="en-US" dirty="0">
                <a:solidFill>
                  <a:srgbClr val="1A2233"/>
                </a:solidFill>
                <a:latin typeface="Calibri" pitchFamily="34" charset="0"/>
                <a:ea typeface="Calibri" pitchFamily="34" charset="-122"/>
                <a:cs typeface="Calibri" pitchFamily="34" charset="-120"/>
              </a:rPr>
              <a:t>Through two market corrections and one full-scale AI panic </a:t>
            </a:r>
            <a:r>
              <a:rPr lang="en-US" b="1" dirty="0">
                <a:solidFill>
                  <a:srgbClr val="1A2233"/>
                </a:solidFill>
                <a:latin typeface="Calibri" pitchFamily="34" charset="0"/>
                <a:ea typeface="Calibri" pitchFamily="34" charset="-122"/>
                <a:cs typeface="Calibri" pitchFamily="34" charset="-120"/>
              </a:rPr>
              <a:t>— demand never blinked</a:t>
            </a:r>
            <a:endParaRPr lang="en-US" dirty="0"/>
          </a:p>
        </p:txBody>
      </p:sp>
      <p:sp>
        <p:nvSpPr>
          <p:cNvPr id="31" name="Text 29"/>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32" name="Text 30"/>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Platform disclosures (e.g., 100T tokens/quarter, 1Q tokens/month anchors), Skycatcher aggregation; error bars apply. Illustrative.</a:t>
            </a:r>
            <a:endParaRPr lang="en-US" sz="750" dirty="0"/>
          </a:p>
        </p:txBody>
      </p:sp>
      <p:sp>
        <p:nvSpPr>
          <p:cNvPr id="33"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19</a:t>
            </a:fld>
            <a:endParaRPr lang="en-US"/>
          </a:p>
        </p:txBody>
      </p:sp>
    </p:spTree>
    <p:extLst>
      <p:ext uri="{BB962C8B-B14F-4D97-AF65-F5344CB8AC3E}">
        <p14:creationId xmlns:p14="http://schemas.microsoft.com/office/powerpoint/2010/main" val="25277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Every 10x price drop has bought 15–20x more demand</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WHAT HAPPENED, 2022–26 — PRICE DOWN ÷50x, VOLUME UP ×2,000x, ON THE MEASURED SLOPE</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Text 3"/>
          <p:cNvSpPr/>
          <p:nvPr/>
        </p:nvSpPr>
        <p:spPr>
          <a:xfrm>
            <a:off x="1215304" y="1463040"/>
            <a:ext cx="7315200" cy="237744"/>
          </a:xfrm>
          <a:prstGeom prst="rect">
            <a:avLst/>
          </a:prstGeom>
          <a:noFill/>
        </p:spPr>
        <p:txBody>
          <a:bodyPr wrap="square" lIns="0" tIns="0" rIns="0" bIns="0"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PRICE — $ / M TOKENS  ·  ÷50x SINCE 2022</a:t>
            </a:r>
            <a:endParaRPr lang="en-US" sz="1100" dirty="0"/>
          </a:p>
        </p:txBody>
      </p:sp>
      <p:sp>
        <p:nvSpPr>
          <p:cNvPr id="6" name="Shape 4"/>
          <p:cNvSpPr/>
          <p:nvPr/>
        </p:nvSpPr>
        <p:spPr>
          <a:xfrm>
            <a:off x="1535344" y="2046030"/>
            <a:ext cx="1005840" cy="1428690"/>
          </a:xfrm>
          <a:prstGeom prst="rect">
            <a:avLst/>
          </a:prstGeom>
          <a:solidFill>
            <a:srgbClr val="C9CED6"/>
          </a:solidFill>
        </p:spPr>
        <p:txBody>
          <a:bodyPr/>
          <a:lstStyle/>
          <a:p>
            <a:endParaRPr lang="en-US"/>
          </a:p>
        </p:txBody>
      </p:sp>
      <p:sp>
        <p:nvSpPr>
          <p:cNvPr id="7" name="Text 5"/>
          <p:cNvSpPr/>
          <p:nvPr/>
        </p:nvSpPr>
        <p:spPr>
          <a:xfrm>
            <a:off x="1306744" y="1735134"/>
            <a:ext cx="1463040" cy="256032"/>
          </a:xfrm>
          <a:prstGeom prst="rect">
            <a:avLst/>
          </a:prstGeom>
          <a:noFill/>
        </p:spPr>
        <p:txBody>
          <a:bodyPr wrap="square" lIns="0" tIns="0" rIns="0" bIns="0" rtlCol="0" anchor="ctr"/>
          <a:lstStyle/>
          <a:p>
            <a:pPr marL="0" indent="0" algn="ctr">
              <a:buNone/>
            </a:pPr>
            <a:r>
              <a:rPr lang="en-US" sz="1250" b="1" dirty="0">
                <a:solidFill>
                  <a:srgbClr val="1A2233"/>
                </a:solidFill>
                <a:latin typeface="Cambria" pitchFamily="34" charset="0"/>
                <a:ea typeface="Cambria" pitchFamily="34" charset="-122"/>
                <a:cs typeface="Cambria" pitchFamily="34" charset="-120"/>
              </a:rPr>
              <a:t>$20</a:t>
            </a:r>
            <a:endParaRPr lang="en-US" sz="1250" dirty="0"/>
          </a:p>
        </p:txBody>
      </p:sp>
      <p:sp>
        <p:nvSpPr>
          <p:cNvPr id="8" name="Shape 6"/>
          <p:cNvSpPr/>
          <p:nvPr/>
        </p:nvSpPr>
        <p:spPr>
          <a:xfrm>
            <a:off x="2925232" y="2330296"/>
            <a:ext cx="1005840" cy="1144424"/>
          </a:xfrm>
          <a:prstGeom prst="rect">
            <a:avLst/>
          </a:prstGeom>
          <a:solidFill>
            <a:srgbClr val="C9CED6"/>
          </a:solidFill>
        </p:spPr>
        <p:txBody>
          <a:bodyPr/>
          <a:lstStyle/>
          <a:p>
            <a:endParaRPr lang="en-US"/>
          </a:p>
        </p:txBody>
      </p:sp>
      <p:sp>
        <p:nvSpPr>
          <p:cNvPr id="9" name="Text 7"/>
          <p:cNvSpPr/>
          <p:nvPr/>
        </p:nvSpPr>
        <p:spPr>
          <a:xfrm>
            <a:off x="2696632" y="2019400"/>
            <a:ext cx="1463040" cy="256032"/>
          </a:xfrm>
          <a:prstGeom prst="rect">
            <a:avLst/>
          </a:prstGeom>
          <a:noFill/>
        </p:spPr>
        <p:txBody>
          <a:bodyPr wrap="square" lIns="0" tIns="0" rIns="0" bIns="0" rtlCol="0" anchor="ctr"/>
          <a:lstStyle/>
          <a:p>
            <a:pPr marL="0" indent="0" algn="ctr">
              <a:buNone/>
            </a:pPr>
            <a:r>
              <a:rPr lang="en-US" sz="1250" b="1" dirty="0">
                <a:solidFill>
                  <a:srgbClr val="1A2233"/>
                </a:solidFill>
                <a:latin typeface="Cambria" pitchFamily="34" charset="0"/>
                <a:ea typeface="Cambria" pitchFamily="34" charset="-122"/>
                <a:cs typeface="Cambria" pitchFamily="34" charset="-120"/>
              </a:rPr>
              <a:t>$8</a:t>
            </a:r>
            <a:endParaRPr lang="en-US" sz="1250" dirty="0"/>
          </a:p>
        </p:txBody>
      </p:sp>
      <p:sp>
        <p:nvSpPr>
          <p:cNvPr id="10" name="Shape 8"/>
          <p:cNvSpPr/>
          <p:nvPr/>
        </p:nvSpPr>
        <p:spPr>
          <a:xfrm>
            <a:off x="4315120" y="2760375"/>
            <a:ext cx="1005840" cy="714345"/>
          </a:xfrm>
          <a:prstGeom prst="rect">
            <a:avLst/>
          </a:prstGeom>
          <a:solidFill>
            <a:srgbClr val="C9CED6"/>
          </a:solidFill>
        </p:spPr>
        <p:txBody>
          <a:bodyPr/>
          <a:lstStyle/>
          <a:p>
            <a:endParaRPr lang="en-US"/>
          </a:p>
        </p:txBody>
      </p:sp>
      <p:sp>
        <p:nvSpPr>
          <p:cNvPr id="11" name="Text 9"/>
          <p:cNvSpPr/>
          <p:nvPr/>
        </p:nvSpPr>
        <p:spPr>
          <a:xfrm>
            <a:off x="4086520" y="2449479"/>
            <a:ext cx="1463040" cy="256032"/>
          </a:xfrm>
          <a:prstGeom prst="rect">
            <a:avLst/>
          </a:prstGeom>
          <a:noFill/>
        </p:spPr>
        <p:txBody>
          <a:bodyPr wrap="square" lIns="0" tIns="0" rIns="0" bIns="0" rtlCol="0" anchor="ctr"/>
          <a:lstStyle/>
          <a:p>
            <a:pPr marL="0" indent="0" algn="ctr">
              <a:buNone/>
            </a:pPr>
            <a:r>
              <a:rPr lang="en-US" sz="1250" b="1" dirty="0">
                <a:solidFill>
                  <a:srgbClr val="1A2233"/>
                </a:solidFill>
                <a:latin typeface="Cambria" pitchFamily="34" charset="0"/>
                <a:ea typeface="Cambria" pitchFamily="34" charset="-122"/>
                <a:cs typeface="Cambria" pitchFamily="34" charset="-120"/>
              </a:rPr>
              <a:t>$2</a:t>
            </a:r>
            <a:endParaRPr lang="en-US" sz="1250" dirty="0"/>
          </a:p>
        </p:txBody>
      </p:sp>
      <p:sp>
        <p:nvSpPr>
          <p:cNvPr id="12" name="Shape 10"/>
          <p:cNvSpPr/>
          <p:nvPr/>
        </p:nvSpPr>
        <p:spPr>
          <a:xfrm>
            <a:off x="5705008" y="2975414"/>
            <a:ext cx="1005840" cy="499306"/>
          </a:xfrm>
          <a:prstGeom prst="rect">
            <a:avLst/>
          </a:prstGeom>
          <a:solidFill>
            <a:srgbClr val="C9CED6"/>
          </a:solidFill>
        </p:spPr>
        <p:txBody>
          <a:bodyPr/>
          <a:lstStyle/>
          <a:p>
            <a:endParaRPr lang="en-US"/>
          </a:p>
        </p:txBody>
      </p:sp>
      <p:sp>
        <p:nvSpPr>
          <p:cNvPr id="13" name="Text 11"/>
          <p:cNvSpPr/>
          <p:nvPr/>
        </p:nvSpPr>
        <p:spPr>
          <a:xfrm>
            <a:off x="5476408" y="2664518"/>
            <a:ext cx="1463040" cy="256032"/>
          </a:xfrm>
          <a:prstGeom prst="rect">
            <a:avLst/>
          </a:prstGeom>
          <a:noFill/>
        </p:spPr>
        <p:txBody>
          <a:bodyPr wrap="square" lIns="0" tIns="0" rIns="0" bIns="0" rtlCol="0" anchor="ctr"/>
          <a:lstStyle/>
          <a:p>
            <a:pPr marL="0" indent="0" algn="ctr">
              <a:buNone/>
            </a:pPr>
            <a:r>
              <a:rPr lang="en-US" sz="1250" b="1" dirty="0">
                <a:solidFill>
                  <a:srgbClr val="1A2233"/>
                </a:solidFill>
                <a:latin typeface="Cambria" pitchFamily="34" charset="0"/>
                <a:ea typeface="Cambria" pitchFamily="34" charset="-122"/>
                <a:cs typeface="Cambria" pitchFamily="34" charset="-120"/>
              </a:rPr>
              <a:t>$1</a:t>
            </a:r>
            <a:endParaRPr lang="en-US" sz="1250" dirty="0"/>
          </a:p>
        </p:txBody>
      </p:sp>
      <p:sp>
        <p:nvSpPr>
          <p:cNvPr id="14" name="Shape 12"/>
          <p:cNvSpPr/>
          <p:nvPr/>
        </p:nvSpPr>
        <p:spPr>
          <a:xfrm>
            <a:off x="7094896" y="3259681"/>
            <a:ext cx="1005840" cy="215039"/>
          </a:xfrm>
          <a:prstGeom prst="rect">
            <a:avLst/>
          </a:prstGeom>
          <a:solidFill>
            <a:srgbClr val="C9CED6"/>
          </a:solidFill>
        </p:spPr>
        <p:txBody>
          <a:bodyPr/>
          <a:lstStyle/>
          <a:p>
            <a:endParaRPr lang="en-US"/>
          </a:p>
        </p:txBody>
      </p:sp>
      <p:sp>
        <p:nvSpPr>
          <p:cNvPr id="15" name="Text 13"/>
          <p:cNvSpPr/>
          <p:nvPr/>
        </p:nvSpPr>
        <p:spPr>
          <a:xfrm>
            <a:off x="6866296" y="2948785"/>
            <a:ext cx="1463040" cy="256032"/>
          </a:xfrm>
          <a:prstGeom prst="rect">
            <a:avLst/>
          </a:prstGeom>
          <a:noFill/>
        </p:spPr>
        <p:txBody>
          <a:bodyPr wrap="square" lIns="0" tIns="0" rIns="0" bIns="0" rtlCol="0" anchor="ctr"/>
          <a:lstStyle/>
          <a:p>
            <a:pPr marL="0" indent="0" algn="ctr">
              <a:buNone/>
            </a:pPr>
            <a:r>
              <a:rPr lang="en-US" sz="1250" b="1" dirty="0">
                <a:solidFill>
                  <a:srgbClr val="1A2233"/>
                </a:solidFill>
                <a:latin typeface="Cambria" pitchFamily="34" charset="0"/>
                <a:ea typeface="Cambria" pitchFamily="34" charset="-122"/>
                <a:cs typeface="Cambria" pitchFamily="34" charset="-120"/>
              </a:rPr>
              <a:t>$0.4</a:t>
            </a:r>
            <a:endParaRPr lang="en-US" sz="1250" dirty="0"/>
          </a:p>
        </p:txBody>
      </p:sp>
      <p:sp>
        <p:nvSpPr>
          <p:cNvPr id="18" name="Text 16"/>
          <p:cNvSpPr/>
          <p:nvPr/>
        </p:nvSpPr>
        <p:spPr>
          <a:xfrm>
            <a:off x="1215304" y="3703320"/>
            <a:ext cx="7772400" cy="237744"/>
          </a:xfrm>
          <a:prstGeom prst="rect">
            <a:avLst/>
          </a:prstGeom>
          <a:noFill/>
        </p:spPr>
        <p:txBody>
          <a:bodyPr wrap="square" lIns="0" tIns="0" rIns="0" bIns="0" rtlCol="0" anchor="ctr"/>
          <a:lstStyle/>
          <a:p>
            <a:pPr marL="0" indent="0">
              <a:buNone/>
            </a:pPr>
            <a:r>
              <a:rPr lang="en-US" sz="1100" b="1" kern="0" spc="100" dirty="0">
                <a:solidFill>
                  <a:srgbClr val="5A6478"/>
                </a:solidFill>
                <a:latin typeface="Calibri" pitchFamily="34" charset="0"/>
                <a:ea typeface="Calibri" pitchFamily="34" charset="-122"/>
                <a:cs typeface="Calibri" pitchFamily="34" charset="-120"/>
              </a:rPr>
              <a:t>VOLUME — QUADRILLION TOKENS / YR  ·  ×2,000x SINCE 2022</a:t>
            </a:r>
            <a:endParaRPr lang="en-US" sz="1100" dirty="0"/>
          </a:p>
        </p:txBody>
      </p:sp>
      <p:sp>
        <p:nvSpPr>
          <p:cNvPr id="19" name="Shape 17"/>
          <p:cNvSpPr/>
          <p:nvPr/>
        </p:nvSpPr>
        <p:spPr>
          <a:xfrm>
            <a:off x="1535344" y="5676019"/>
            <a:ext cx="1005840" cy="130421"/>
          </a:xfrm>
          <a:prstGeom prst="rect">
            <a:avLst/>
          </a:prstGeom>
          <a:solidFill>
            <a:srgbClr val="2777EF"/>
          </a:solidFill>
        </p:spPr>
        <p:txBody>
          <a:bodyPr/>
          <a:lstStyle/>
          <a:p>
            <a:endParaRPr lang="en-US"/>
          </a:p>
        </p:txBody>
      </p:sp>
      <p:sp>
        <p:nvSpPr>
          <p:cNvPr id="20" name="Text 18"/>
          <p:cNvSpPr/>
          <p:nvPr/>
        </p:nvSpPr>
        <p:spPr>
          <a:xfrm>
            <a:off x="1215304" y="5365123"/>
            <a:ext cx="1645920" cy="256032"/>
          </a:xfrm>
          <a:prstGeom prst="rect">
            <a:avLst/>
          </a:prstGeom>
          <a:noFill/>
        </p:spPr>
        <p:txBody>
          <a:bodyPr wrap="square" lIns="0" tIns="0" rIns="0" bIns="0" rtlCol="0" anchor="ctr"/>
          <a:lstStyle/>
          <a:p>
            <a:pPr marL="0" indent="0" algn="ctr">
              <a:buNone/>
            </a:pPr>
            <a:r>
              <a:rPr lang="en-US" sz="1250" b="1" dirty="0">
                <a:solidFill>
                  <a:srgbClr val="2777EF"/>
                </a:solidFill>
                <a:latin typeface="Cambria" pitchFamily="34" charset="0"/>
                <a:ea typeface="Cambria" pitchFamily="34" charset="-122"/>
                <a:cs typeface="Cambria" pitchFamily="34" charset="-120"/>
              </a:rPr>
              <a:t>0.05</a:t>
            </a:r>
            <a:endParaRPr lang="en-US" sz="1250" dirty="0"/>
          </a:p>
        </p:txBody>
      </p:sp>
      <p:sp>
        <p:nvSpPr>
          <p:cNvPr id="21" name="Text 19"/>
          <p:cNvSpPr/>
          <p:nvPr/>
        </p:nvSpPr>
        <p:spPr>
          <a:xfrm>
            <a:off x="1306744" y="5879592"/>
            <a:ext cx="1463040" cy="237744"/>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2022</a:t>
            </a:r>
            <a:endParaRPr lang="en-US" sz="1150" dirty="0"/>
          </a:p>
        </p:txBody>
      </p:sp>
      <p:sp>
        <p:nvSpPr>
          <p:cNvPr id="22" name="Shape 20"/>
          <p:cNvSpPr/>
          <p:nvPr/>
        </p:nvSpPr>
        <p:spPr>
          <a:xfrm>
            <a:off x="2925232" y="5348279"/>
            <a:ext cx="1005840" cy="458161"/>
          </a:xfrm>
          <a:prstGeom prst="rect">
            <a:avLst/>
          </a:prstGeom>
          <a:solidFill>
            <a:srgbClr val="2777EF"/>
          </a:solidFill>
        </p:spPr>
        <p:txBody>
          <a:bodyPr/>
          <a:lstStyle/>
          <a:p>
            <a:endParaRPr lang="en-US"/>
          </a:p>
        </p:txBody>
      </p:sp>
      <p:sp>
        <p:nvSpPr>
          <p:cNvPr id="23" name="Text 21"/>
          <p:cNvSpPr/>
          <p:nvPr/>
        </p:nvSpPr>
        <p:spPr>
          <a:xfrm>
            <a:off x="2605192" y="5037383"/>
            <a:ext cx="1645920" cy="256032"/>
          </a:xfrm>
          <a:prstGeom prst="rect">
            <a:avLst/>
          </a:prstGeom>
          <a:noFill/>
        </p:spPr>
        <p:txBody>
          <a:bodyPr wrap="square" lIns="0" tIns="0" rIns="0" bIns="0" rtlCol="0" anchor="ctr"/>
          <a:lstStyle/>
          <a:p>
            <a:pPr marL="0" indent="0" algn="ctr">
              <a:buNone/>
            </a:pPr>
            <a:r>
              <a:rPr lang="en-US" sz="1250" b="1" dirty="0">
                <a:solidFill>
                  <a:srgbClr val="2777EF"/>
                </a:solidFill>
                <a:latin typeface="Cambria" pitchFamily="34" charset="0"/>
                <a:ea typeface="Cambria" pitchFamily="34" charset="-122"/>
                <a:cs typeface="Cambria" pitchFamily="34" charset="-120"/>
              </a:rPr>
              <a:t>0.5</a:t>
            </a:r>
            <a:endParaRPr lang="en-US" sz="1250" dirty="0"/>
          </a:p>
        </p:txBody>
      </p:sp>
      <p:sp>
        <p:nvSpPr>
          <p:cNvPr id="24" name="Text 22"/>
          <p:cNvSpPr/>
          <p:nvPr/>
        </p:nvSpPr>
        <p:spPr>
          <a:xfrm>
            <a:off x="2696632" y="5879592"/>
            <a:ext cx="1463040" cy="237744"/>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2023</a:t>
            </a:r>
            <a:endParaRPr lang="en-US" sz="1150" dirty="0"/>
          </a:p>
        </p:txBody>
      </p:sp>
      <p:sp>
        <p:nvSpPr>
          <p:cNvPr id="25" name="Shape 23"/>
          <p:cNvSpPr/>
          <p:nvPr/>
        </p:nvSpPr>
        <p:spPr>
          <a:xfrm>
            <a:off x="4315120" y="5020539"/>
            <a:ext cx="1005840" cy="785901"/>
          </a:xfrm>
          <a:prstGeom prst="rect">
            <a:avLst/>
          </a:prstGeom>
          <a:solidFill>
            <a:srgbClr val="2777EF"/>
          </a:solidFill>
        </p:spPr>
        <p:txBody>
          <a:bodyPr/>
          <a:lstStyle/>
          <a:p>
            <a:endParaRPr lang="en-US"/>
          </a:p>
        </p:txBody>
      </p:sp>
      <p:sp>
        <p:nvSpPr>
          <p:cNvPr id="26" name="Text 24"/>
          <p:cNvSpPr/>
          <p:nvPr/>
        </p:nvSpPr>
        <p:spPr>
          <a:xfrm>
            <a:off x="3995080" y="4709643"/>
            <a:ext cx="1645920" cy="256032"/>
          </a:xfrm>
          <a:prstGeom prst="rect">
            <a:avLst/>
          </a:prstGeom>
          <a:noFill/>
        </p:spPr>
        <p:txBody>
          <a:bodyPr wrap="square" lIns="0" tIns="0" rIns="0" bIns="0" rtlCol="0" anchor="ctr"/>
          <a:lstStyle/>
          <a:p>
            <a:pPr marL="0" indent="0" algn="ctr">
              <a:buNone/>
            </a:pPr>
            <a:r>
              <a:rPr lang="en-US" sz="1250" b="1" dirty="0">
                <a:solidFill>
                  <a:srgbClr val="2777EF"/>
                </a:solidFill>
                <a:latin typeface="Cambria" pitchFamily="34" charset="0"/>
                <a:ea typeface="Cambria" pitchFamily="34" charset="-122"/>
                <a:cs typeface="Cambria" pitchFamily="34" charset="-120"/>
              </a:rPr>
              <a:t>5</a:t>
            </a:r>
            <a:endParaRPr lang="en-US" sz="1250" dirty="0"/>
          </a:p>
        </p:txBody>
      </p:sp>
      <p:sp>
        <p:nvSpPr>
          <p:cNvPr id="27" name="Text 25"/>
          <p:cNvSpPr/>
          <p:nvPr/>
        </p:nvSpPr>
        <p:spPr>
          <a:xfrm>
            <a:off x="4086520" y="5879592"/>
            <a:ext cx="1463040" cy="237744"/>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2024</a:t>
            </a:r>
            <a:endParaRPr lang="en-US" sz="1150" dirty="0"/>
          </a:p>
        </p:txBody>
      </p:sp>
      <p:sp>
        <p:nvSpPr>
          <p:cNvPr id="28" name="Shape 26"/>
          <p:cNvSpPr/>
          <p:nvPr/>
        </p:nvSpPr>
        <p:spPr>
          <a:xfrm>
            <a:off x="5705008" y="4791458"/>
            <a:ext cx="1005840" cy="1014982"/>
          </a:xfrm>
          <a:prstGeom prst="rect">
            <a:avLst/>
          </a:prstGeom>
          <a:solidFill>
            <a:srgbClr val="2777EF"/>
          </a:solidFill>
        </p:spPr>
        <p:txBody>
          <a:bodyPr/>
          <a:lstStyle/>
          <a:p>
            <a:endParaRPr lang="en-US"/>
          </a:p>
        </p:txBody>
      </p:sp>
      <p:sp>
        <p:nvSpPr>
          <p:cNvPr id="29" name="Text 27"/>
          <p:cNvSpPr/>
          <p:nvPr/>
        </p:nvSpPr>
        <p:spPr>
          <a:xfrm>
            <a:off x="5384968" y="4480562"/>
            <a:ext cx="1645920" cy="256032"/>
          </a:xfrm>
          <a:prstGeom prst="rect">
            <a:avLst/>
          </a:prstGeom>
          <a:noFill/>
        </p:spPr>
        <p:txBody>
          <a:bodyPr wrap="square" lIns="0" tIns="0" rIns="0" bIns="0" rtlCol="0" anchor="ctr"/>
          <a:lstStyle/>
          <a:p>
            <a:pPr marL="0" indent="0" algn="ctr">
              <a:buNone/>
            </a:pPr>
            <a:r>
              <a:rPr lang="en-US" sz="1250" b="1" dirty="0">
                <a:solidFill>
                  <a:srgbClr val="2777EF"/>
                </a:solidFill>
                <a:latin typeface="Cambria" pitchFamily="34" charset="0"/>
                <a:ea typeface="Cambria" pitchFamily="34" charset="-122"/>
                <a:cs typeface="Cambria" pitchFamily="34" charset="-120"/>
              </a:rPr>
              <a:t>25</a:t>
            </a:r>
            <a:endParaRPr lang="en-US" sz="1250" dirty="0"/>
          </a:p>
        </p:txBody>
      </p:sp>
      <p:sp>
        <p:nvSpPr>
          <p:cNvPr id="30" name="Text 28"/>
          <p:cNvSpPr/>
          <p:nvPr/>
        </p:nvSpPr>
        <p:spPr>
          <a:xfrm>
            <a:off x="5476408" y="5879592"/>
            <a:ext cx="1463040" cy="237744"/>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2025</a:t>
            </a:r>
            <a:endParaRPr lang="en-US" sz="1150" dirty="0"/>
          </a:p>
        </p:txBody>
      </p:sp>
      <p:sp>
        <p:nvSpPr>
          <p:cNvPr id="31" name="Shape 29"/>
          <p:cNvSpPr/>
          <p:nvPr/>
        </p:nvSpPr>
        <p:spPr>
          <a:xfrm>
            <a:off x="7094896" y="4594139"/>
            <a:ext cx="1005840" cy="1212301"/>
          </a:xfrm>
          <a:prstGeom prst="rect">
            <a:avLst/>
          </a:prstGeom>
          <a:solidFill>
            <a:srgbClr val="2777EF"/>
          </a:solidFill>
        </p:spPr>
        <p:txBody>
          <a:bodyPr/>
          <a:lstStyle/>
          <a:p>
            <a:endParaRPr lang="en-US"/>
          </a:p>
        </p:txBody>
      </p:sp>
      <p:sp>
        <p:nvSpPr>
          <p:cNvPr id="32" name="Text 30"/>
          <p:cNvSpPr/>
          <p:nvPr/>
        </p:nvSpPr>
        <p:spPr>
          <a:xfrm>
            <a:off x="6774856" y="4283243"/>
            <a:ext cx="1645920" cy="256032"/>
          </a:xfrm>
          <a:prstGeom prst="rect">
            <a:avLst/>
          </a:prstGeom>
          <a:noFill/>
        </p:spPr>
        <p:txBody>
          <a:bodyPr wrap="square" lIns="0" tIns="0" rIns="0" bIns="0" rtlCol="0" anchor="ctr"/>
          <a:lstStyle/>
          <a:p>
            <a:pPr marL="0" indent="0" algn="ctr">
              <a:buNone/>
            </a:pPr>
            <a:r>
              <a:rPr lang="en-US" sz="1250" b="1" dirty="0">
                <a:solidFill>
                  <a:srgbClr val="2777EF"/>
                </a:solidFill>
                <a:latin typeface="Cambria" pitchFamily="34" charset="0"/>
                <a:ea typeface="Cambria" pitchFamily="34" charset="-122"/>
                <a:cs typeface="Cambria" pitchFamily="34" charset="-120"/>
              </a:rPr>
              <a:t>100</a:t>
            </a:r>
            <a:endParaRPr lang="en-US" sz="1250" dirty="0"/>
          </a:p>
        </p:txBody>
      </p:sp>
      <p:sp>
        <p:nvSpPr>
          <p:cNvPr id="33" name="Text 31"/>
          <p:cNvSpPr/>
          <p:nvPr/>
        </p:nvSpPr>
        <p:spPr>
          <a:xfrm>
            <a:off x="6866296" y="5879592"/>
            <a:ext cx="1463040" cy="237744"/>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2026</a:t>
            </a:r>
            <a:endParaRPr lang="en-US" sz="1150" dirty="0"/>
          </a:p>
        </p:txBody>
      </p:sp>
      <p:sp>
        <p:nvSpPr>
          <p:cNvPr id="37" name="Shape 35"/>
          <p:cNvSpPr/>
          <p:nvPr/>
        </p:nvSpPr>
        <p:spPr>
          <a:xfrm>
            <a:off x="8931080" y="3017520"/>
            <a:ext cx="2181196" cy="1234440"/>
          </a:xfrm>
          <a:prstGeom prst="roundRect">
            <a:avLst>
              <a:gd name="adj" fmla="val 5926"/>
            </a:avLst>
          </a:prstGeom>
          <a:solidFill>
            <a:srgbClr val="FFFFFF"/>
          </a:solidFill>
          <a:ln w="12700">
            <a:solidFill>
              <a:srgbClr val="D5DCE8"/>
            </a:solidFill>
            <a:prstDash val="solid"/>
          </a:ln>
        </p:spPr>
        <p:txBody>
          <a:bodyPr/>
          <a:lstStyle/>
          <a:p>
            <a:endParaRPr lang="en-US" sz="1600"/>
          </a:p>
        </p:txBody>
      </p:sp>
      <p:sp>
        <p:nvSpPr>
          <p:cNvPr id="38" name="Text 36"/>
          <p:cNvSpPr/>
          <p:nvPr/>
        </p:nvSpPr>
        <p:spPr>
          <a:xfrm>
            <a:off x="9010684" y="3017520"/>
            <a:ext cx="2181196" cy="1234440"/>
          </a:xfrm>
          <a:prstGeom prst="rect">
            <a:avLst/>
          </a:prstGeom>
          <a:noFill/>
        </p:spPr>
        <p:txBody>
          <a:bodyPr wrap="square" lIns="0" tIns="0" rIns="0" bIns="0" rtlCol="0" anchor="ctr"/>
          <a:lstStyle/>
          <a:p>
            <a:pPr marL="0" indent="0">
              <a:buNone/>
            </a:pPr>
            <a:r>
              <a:rPr lang="en-US" sz="1600" b="1" dirty="0">
                <a:solidFill>
                  <a:srgbClr val="1A2233"/>
                </a:solidFill>
                <a:latin typeface="Calibri" pitchFamily="34" charset="0"/>
                <a:ea typeface="Calibri" pitchFamily="34" charset="-122"/>
                <a:cs typeface="Calibri" pitchFamily="34" charset="-120"/>
              </a:rPr>
              <a:t>Measured slope ≈ 1.2–1.3
</a:t>
            </a:r>
            <a:r>
              <a:rPr lang="en-US" sz="1600" dirty="0">
                <a:solidFill>
                  <a:srgbClr val="5A6478"/>
                </a:solidFill>
                <a:latin typeface="Calibri" pitchFamily="34" charset="0"/>
                <a:ea typeface="Calibri" pitchFamily="34" charset="-122"/>
                <a:cs typeface="Calibri" pitchFamily="34" charset="-120"/>
              </a:rPr>
              <a:t>every 10x price down → </a:t>
            </a:r>
          </a:p>
          <a:p>
            <a:pPr marL="0" indent="0">
              <a:buNone/>
            </a:pPr>
            <a:r>
              <a:rPr lang="en-US" sz="1600" dirty="0">
                <a:solidFill>
                  <a:srgbClr val="5A6478"/>
                </a:solidFill>
                <a:latin typeface="Calibri" pitchFamily="34" charset="0"/>
                <a:ea typeface="Calibri" pitchFamily="34" charset="-122"/>
                <a:cs typeface="Calibri" pitchFamily="34" charset="-120"/>
              </a:rPr>
              <a:t>15–20x up demand</a:t>
            </a:r>
            <a:endParaRPr lang="en-US" sz="1600" dirty="0"/>
          </a:p>
        </p:txBody>
      </p:sp>
      <p:sp>
        <p:nvSpPr>
          <p:cNvPr id="43" name="Text 41"/>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44" name="Text 42"/>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analysis of platform volume disclosures vs. frontier pricing, 2022–26. Historical only; capability-vs-price confound checked against constant-capability tiers.</a:t>
            </a:r>
            <a:endParaRPr lang="en-US" sz="750" dirty="0"/>
          </a:p>
        </p:txBody>
      </p:sp>
      <p:sp>
        <p:nvSpPr>
          <p:cNvPr id="4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20</a:t>
            </a:fld>
            <a:endParaRPr lang="en-US"/>
          </a:p>
        </p:txBody>
      </p:sp>
    </p:spTree>
    <p:extLst>
      <p:ext uri="{BB962C8B-B14F-4D97-AF65-F5344CB8AC3E}">
        <p14:creationId xmlns:p14="http://schemas.microsoft.com/office/powerpoint/2010/main" val="2148065963"/>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This movie has run before — three times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WHAT HAPPENS WHEN UNIT PRICES COLLAPSE 30–50% A YEAR — THE PRECEDENTS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00784"/>
            <a:ext cx="10634472" cy="1261872"/>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847088"/>
            <a:ext cx="2377440" cy="274320"/>
          </a:xfrm>
          <a:prstGeom prst="rect">
            <a:avLst/>
          </a:prstGeom>
          <a:noFill/>
        </p:spPr>
        <p:txBody>
          <a:bodyPr wrap="square" lIns="0" rIns="0" tIns="0" bIns="0">
            <a:spAutoFit/>
          </a:bodyPr>
          <a:lstStyle/>
          <a:p>
            <a:pPr algn="l"/>
            <a:r>
              <a:rPr sz="1200" b="1" i="0">
                <a:solidFill>
                  <a:srgbClr val="2777EF"/>
                </a:solidFill>
                <a:latin typeface="Calibri"/>
              </a:rPr>
              <a:t>INTERNET BANDWIDTH</a:t>
            </a:r>
          </a:p>
        </p:txBody>
      </p:sp>
      <p:sp>
        <p:nvSpPr>
          <p:cNvPr id="7" name="TextBox 6"/>
          <p:cNvSpPr txBox="1"/>
          <p:nvPr/>
        </p:nvSpPr>
        <p:spPr>
          <a:xfrm>
            <a:off x="1024128" y="2176272"/>
            <a:ext cx="2377440" cy="237744"/>
          </a:xfrm>
          <a:prstGeom prst="rect">
            <a:avLst/>
          </a:prstGeom>
          <a:noFill/>
        </p:spPr>
        <p:txBody>
          <a:bodyPr wrap="square" lIns="0" rIns="0" tIns="0" bIns="0">
            <a:spAutoFit/>
          </a:bodyPr>
          <a:lstStyle/>
          <a:p>
            <a:pPr algn="l"/>
            <a:r>
              <a:rPr sz="950" b="1" i="0">
                <a:solidFill>
                  <a:srgbClr val="8A97B0"/>
                </a:solidFill>
                <a:latin typeface="Calibri"/>
              </a:rPr>
              <a:t>1998 → 2010</a:t>
            </a:r>
          </a:p>
        </p:txBody>
      </p:sp>
      <p:sp>
        <p:nvSpPr>
          <p:cNvPr id="8" name="TextBox 7"/>
          <p:cNvSpPr txBox="1"/>
          <p:nvPr/>
        </p:nvSpPr>
        <p:spPr>
          <a:xfrm>
            <a:off x="3520440" y="1847088"/>
            <a:ext cx="2743200" cy="960120"/>
          </a:xfrm>
          <a:prstGeom prst="rect">
            <a:avLst/>
          </a:prstGeom>
          <a:noFill/>
        </p:spPr>
        <p:txBody>
          <a:bodyPr wrap="square" lIns="0" rIns="0" tIns="0" bIns="0">
            <a:spAutoFit/>
          </a:bodyPr>
          <a:lstStyle/>
          <a:p>
            <a:pPr algn="l"/>
            <a:r>
              <a:rPr sz="1050" b="1" i="0">
                <a:solidFill>
                  <a:srgbClr val="1A2233"/>
                </a:solidFill>
                <a:latin typeface="Calibri"/>
              </a:rPr>
              <a:t>$1,200 → &lt;$1 per Mbps of transit</a:t>
            </a:r>
          </a:p>
        </p:txBody>
      </p:sp>
      <p:sp>
        <p:nvSpPr>
          <p:cNvPr id="9" name="TextBox 8"/>
          <p:cNvSpPr txBox="1"/>
          <p:nvPr/>
        </p:nvSpPr>
        <p:spPr>
          <a:xfrm>
            <a:off x="6400800" y="1847088"/>
            <a:ext cx="2468880" cy="960120"/>
          </a:xfrm>
          <a:prstGeom prst="rect">
            <a:avLst/>
          </a:prstGeom>
          <a:noFill/>
        </p:spPr>
        <p:txBody>
          <a:bodyPr wrap="square" lIns="0" rIns="0" tIns="0" bIns="0">
            <a:spAutoFit/>
          </a:bodyPr>
          <a:lstStyle/>
          <a:p>
            <a:pPr algn="l"/>
            <a:r>
              <a:rPr sz="1000" b="0" i="0">
                <a:solidFill>
                  <a:srgbClr val="5A6478"/>
                </a:solidFill>
                <a:latin typeface="Calibri"/>
              </a:rPr>
              <a:t>traffic grew 60–100%/yr — demand never blinked</a:t>
            </a:r>
          </a:p>
        </p:txBody>
      </p:sp>
      <p:sp>
        <p:nvSpPr>
          <p:cNvPr id="10" name="TextBox 9"/>
          <p:cNvSpPr txBox="1"/>
          <p:nvPr/>
        </p:nvSpPr>
        <p:spPr>
          <a:xfrm>
            <a:off x="9006840" y="1847088"/>
            <a:ext cx="2194560" cy="960120"/>
          </a:xfrm>
          <a:prstGeom prst="rect">
            <a:avLst/>
          </a:prstGeom>
          <a:noFill/>
        </p:spPr>
        <p:txBody>
          <a:bodyPr wrap="square" lIns="0" rIns="0" tIns="0" bIns="0">
            <a:spAutoFit/>
          </a:bodyPr>
          <a:lstStyle/>
          <a:p>
            <a:pPr algn="l"/>
            <a:r>
              <a:rPr sz="1000" b="0" i="0">
                <a:solidFill>
                  <a:srgbClr val="5A6478"/>
                </a:solidFill>
                <a:latin typeface="Calibri"/>
              </a:rPr>
              <a:t>carrier &amp; CDN revenue grew through the entire collapse</a:t>
            </a:r>
          </a:p>
        </p:txBody>
      </p:sp>
      <p:sp>
        <p:nvSpPr>
          <p:cNvPr id="11" name="Rounded Rectangle 10"/>
          <p:cNvSpPr/>
          <p:nvPr/>
        </p:nvSpPr>
        <p:spPr>
          <a:xfrm>
            <a:off x="777240" y="3072384"/>
            <a:ext cx="10634472" cy="1261872"/>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218688"/>
            <a:ext cx="2377440" cy="274320"/>
          </a:xfrm>
          <a:prstGeom prst="rect">
            <a:avLst/>
          </a:prstGeom>
          <a:noFill/>
        </p:spPr>
        <p:txBody>
          <a:bodyPr wrap="square" lIns="0" rIns="0" tIns="0" bIns="0">
            <a:spAutoFit/>
          </a:bodyPr>
          <a:lstStyle/>
          <a:p>
            <a:pPr algn="l"/>
            <a:r>
              <a:rPr sz="1200" b="1" i="0">
                <a:solidFill>
                  <a:srgbClr val="2777EF"/>
                </a:solidFill>
                <a:latin typeface="Calibri"/>
              </a:rPr>
              <a:t>STORAGE</a:t>
            </a:r>
          </a:p>
        </p:txBody>
      </p:sp>
      <p:sp>
        <p:nvSpPr>
          <p:cNvPr id="13" name="TextBox 12"/>
          <p:cNvSpPr txBox="1"/>
          <p:nvPr/>
        </p:nvSpPr>
        <p:spPr>
          <a:xfrm>
            <a:off x="1024128" y="3547872"/>
            <a:ext cx="2377440" cy="237744"/>
          </a:xfrm>
          <a:prstGeom prst="rect">
            <a:avLst/>
          </a:prstGeom>
          <a:noFill/>
        </p:spPr>
        <p:txBody>
          <a:bodyPr wrap="square" lIns="0" rIns="0" tIns="0" bIns="0">
            <a:spAutoFit/>
          </a:bodyPr>
          <a:lstStyle/>
          <a:p>
            <a:pPr algn="l"/>
            <a:r>
              <a:rPr sz="950" b="1" i="0">
                <a:solidFill>
                  <a:srgbClr val="8A97B0"/>
                </a:solidFill>
                <a:latin typeface="Calibri"/>
              </a:rPr>
              <a:t>1990 → 2020</a:t>
            </a:r>
          </a:p>
        </p:txBody>
      </p:sp>
      <p:sp>
        <p:nvSpPr>
          <p:cNvPr id="14" name="TextBox 13"/>
          <p:cNvSpPr txBox="1"/>
          <p:nvPr/>
        </p:nvSpPr>
        <p:spPr>
          <a:xfrm>
            <a:off x="3520440" y="3218688"/>
            <a:ext cx="2743200" cy="960120"/>
          </a:xfrm>
          <a:prstGeom prst="rect">
            <a:avLst/>
          </a:prstGeom>
          <a:noFill/>
        </p:spPr>
        <p:txBody>
          <a:bodyPr wrap="square" lIns="0" rIns="0" tIns="0" bIns="0">
            <a:spAutoFit/>
          </a:bodyPr>
          <a:lstStyle/>
          <a:p>
            <a:pPr algn="l"/>
            <a:r>
              <a:rPr sz="1050" b="1" i="0">
                <a:solidFill>
                  <a:srgbClr val="1A2233"/>
                </a:solidFill>
                <a:latin typeface="Calibri"/>
              </a:rPr>
              <a:t>$/GB fell ~30%/yr for three decades</a:t>
            </a:r>
          </a:p>
        </p:txBody>
      </p:sp>
      <p:sp>
        <p:nvSpPr>
          <p:cNvPr id="15" name="TextBox 14"/>
          <p:cNvSpPr txBox="1"/>
          <p:nvPr/>
        </p:nvSpPr>
        <p:spPr>
          <a:xfrm>
            <a:off x="6400800" y="3218688"/>
            <a:ext cx="2468880" cy="960120"/>
          </a:xfrm>
          <a:prstGeom prst="rect">
            <a:avLst/>
          </a:prstGeom>
          <a:noFill/>
        </p:spPr>
        <p:txBody>
          <a:bodyPr wrap="square" lIns="0" rIns="0" tIns="0" bIns="0">
            <a:spAutoFit/>
          </a:bodyPr>
          <a:lstStyle/>
          <a:p>
            <a:pPr algn="l"/>
            <a:r>
              <a:rPr sz="1000" b="0" i="0">
                <a:solidFill>
                  <a:srgbClr val="5A6478"/>
                </a:solidFill>
                <a:latin typeface="Calibri"/>
              </a:rPr>
              <a:t>capacity demand grew faster than price fell, every decade</a:t>
            </a:r>
          </a:p>
        </p:txBody>
      </p:sp>
      <p:sp>
        <p:nvSpPr>
          <p:cNvPr id="16" name="TextBox 15"/>
          <p:cNvSpPr txBox="1"/>
          <p:nvPr/>
        </p:nvSpPr>
        <p:spPr>
          <a:xfrm>
            <a:off x="9006840" y="3218688"/>
            <a:ext cx="2194560" cy="960120"/>
          </a:xfrm>
          <a:prstGeom prst="rect">
            <a:avLst/>
          </a:prstGeom>
          <a:noFill/>
        </p:spPr>
        <p:txBody>
          <a:bodyPr wrap="square" lIns="0" rIns="0" tIns="0" bIns="0">
            <a:spAutoFit/>
          </a:bodyPr>
          <a:lstStyle/>
          <a:p>
            <a:pPr algn="l"/>
            <a:r>
              <a:rPr sz="1000" b="0" i="0">
                <a:solidFill>
                  <a:srgbClr val="5A6478"/>
                </a:solidFill>
                <a:latin typeface="Calibri"/>
              </a:rPr>
              <a:t>industry revenue compounded; the cheapest bit won the workload</a:t>
            </a:r>
          </a:p>
        </p:txBody>
      </p:sp>
      <p:sp>
        <p:nvSpPr>
          <p:cNvPr id="17" name="Rounded Rectangle 16"/>
          <p:cNvSpPr/>
          <p:nvPr/>
        </p:nvSpPr>
        <p:spPr>
          <a:xfrm>
            <a:off x="777240" y="4443984"/>
            <a:ext cx="10634472" cy="1261872"/>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590288"/>
            <a:ext cx="2377440" cy="274320"/>
          </a:xfrm>
          <a:prstGeom prst="rect">
            <a:avLst/>
          </a:prstGeom>
          <a:noFill/>
        </p:spPr>
        <p:txBody>
          <a:bodyPr wrap="square" lIns="0" rIns="0" tIns="0" bIns="0">
            <a:spAutoFit/>
          </a:bodyPr>
          <a:lstStyle/>
          <a:p>
            <a:pPr algn="l"/>
            <a:r>
              <a:rPr sz="1200" b="1" i="0">
                <a:solidFill>
                  <a:srgbClr val="2777EF"/>
                </a:solidFill>
                <a:latin typeface="Calibri"/>
              </a:rPr>
              <a:t>MOBILE DATA</a:t>
            </a:r>
          </a:p>
        </p:txBody>
      </p:sp>
      <p:sp>
        <p:nvSpPr>
          <p:cNvPr id="19" name="TextBox 18"/>
          <p:cNvSpPr txBox="1"/>
          <p:nvPr/>
        </p:nvSpPr>
        <p:spPr>
          <a:xfrm>
            <a:off x="1024128" y="4919472"/>
            <a:ext cx="2377440" cy="237744"/>
          </a:xfrm>
          <a:prstGeom prst="rect">
            <a:avLst/>
          </a:prstGeom>
          <a:noFill/>
        </p:spPr>
        <p:txBody>
          <a:bodyPr wrap="square" lIns="0" rIns="0" tIns="0" bIns="0">
            <a:spAutoFit/>
          </a:bodyPr>
          <a:lstStyle/>
          <a:p>
            <a:pPr algn="l"/>
            <a:r>
              <a:rPr sz="950" b="1" i="0">
                <a:solidFill>
                  <a:srgbClr val="8A97B0"/>
                </a:solidFill>
                <a:latin typeface="Calibri"/>
              </a:rPr>
              <a:t>2008 → 2020</a:t>
            </a:r>
          </a:p>
        </p:txBody>
      </p:sp>
      <p:sp>
        <p:nvSpPr>
          <p:cNvPr id="20" name="TextBox 19"/>
          <p:cNvSpPr txBox="1"/>
          <p:nvPr/>
        </p:nvSpPr>
        <p:spPr>
          <a:xfrm>
            <a:off x="3520440" y="4590288"/>
            <a:ext cx="2743200" cy="960120"/>
          </a:xfrm>
          <a:prstGeom prst="rect">
            <a:avLst/>
          </a:prstGeom>
          <a:noFill/>
        </p:spPr>
        <p:txBody>
          <a:bodyPr wrap="square" lIns="0" rIns="0" tIns="0" bIns="0">
            <a:spAutoFit/>
          </a:bodyPr>
          <a:lstStyle/>
          <a:p>
            <a:pPr algn="l"/>
            <a:r>
              <a:rPr sz="1050" b="1" i="0">
                <a:solidFill>
                  <a:srgbClr val="1A2233"/>
                </a:solidFill>
                <a:latin typeface="Calibri"/>
              </a:rPr>
              <a:t>$/GB fell ~40%/yr in the smartphone era</a:t>
            </a:r>
          </a:p>
        </p:txBody>
      </p:sp>
      <p:sp>
        <p:nvSpPr>
          <p:cNvPr id="21" name="TextBox 20"/>
          <p:cNvSpPr txBox="1"/>
          <p:nvPr/>
        </p:nvSpPr>
        <p:spPr>
          <a:xfrm>
            <a:off x="6400800" y="4590288"/>
            <a:ext cx="2468880" cy="960120"/>
          </a:xfrm>
          <a:prstGeom prst="rect">
            <a:avLst/>
          </a:prstGeom>
          <a:noFill/>
        </p:spPr>
        <p:txBody>
          <a:bodyPr wrap="square" lIns="0" rIns="0" tIns="0" bIns="0">
            <a:spAutoFit/>
          </a:bodyPr>
          <a:lstStyle/>
          <a:p>
            <a:pPr algn="l"/>
            <a:r>
              <a:rPr sz="1000" b="0" i="0">
                <a:solidFill>
                  <a:srgbClr val="5A6478"/>
                </a:solidFill>
                <a:latin typeface="Calibri"/>
              </a:rPr>
              <a:t>usage per user grew ~100x in a decade</a:t>
            </a:r>
          </a:p>
        </p:txBody>
      </p:sp>
      <p:sp>
        <p:nvSpPr>
          <p:cNvPr id="22" name="TextBox 21"/>
          <p:cNvSpPr txBox="1"/>
          <p:nvPr/>
        </p:nvSpPr>
        <p:spPr>
          <a:xfrm>
            <a:off x="9006840" y="4590288"/>
            <a:ext cx="2194560" cy="960120"/>
          </a:xfrm>
          <a:prstGeom prst="rect">
            <a:avLst/>
          </a:prstGeom>
          <a:noFill/>
        </p:spPr>
        <p:txBody>
          <a:bodyPr wrap="square" lIns="0" rIns="0" tIns="0" bIns="0">
            <a:spAutoFit/>
          </a:bodyPr>
          <a:lstStyle/>
          <a:p>
            <a:pPr algn="l"/>
            <a:r>
              <a:rPr sz="1000" b="0" i="0">
                <a:solidFill>
                  <a:srgbClr val="5A6478"/>
                </a:solidFill>
                <a:latin typeface="Calibri"/>
              </a:rPr>
              <a:t>data revenue rose as voice died — the meter migrated, spend grew</a:t>
            </a:r>
          </a:p>
        </p:txBody>
      </p:sp>
      <p:sp>
        <p:nvSpPr>
          <p:cNvPr id="23" name="TextBox 22"/>
          <p:cNvSpPr txBox="1"/>
          <p:nvPr/>
        </p:nvSpPr>
        <p:spPr>
          <a:xfrm>
            <a:off x="3520440" y="1481328"/>
            <a:ext cx="2743200" cy="201168"/>
          </a:xfrm>
          <a:prstGeom prst="rect">
            <a:avLst/>
          </a:prstGeom>
          <a:noFill/>
        </p:spPr>
        <p:txBody>
          <a:bodyPr wrap="square" lIns="0" rIns="0" tIns="0" bIns="0">
            <a:spAutoFit/>
          </a:bodyPr>
          <a:lstStyle/>
          <a:p>
            <a:pPr algn="l"/>
            <a:r>
              <a:rPr sz="900" b="1" i="0">
                <a:solidFill>
                  <a:srgbClr val="8A97B0"/>
                </a:solidFill>
                <a:latin typeface="Calibri"/>
              </a:rPr>
              <a:t>UNIT PRICE</a:t>
            </a:r>
          </a:p>
        </p:txBody>
      </p:sp>
      <p:sp>
        <p:nvSpPr>
          <p:cNvPr id="24" name="TextBox 23"/>
          <p:cNvSpPr txBox="1"/>
          <p:nvPr/>
        </p:nvSpPr>
        <p:spPr>
          <a:xfrm>
            <a:off x="6400800" y="1481328"/>
            <a:ext cx="2468880" cy="201168"/>
          </a:xfrm>
          <a:prstGeom prst="rect">
            <a:avLst/>
          </a:prstGeom>
          <a:noFill/>
        </p:spPr>
        <p:txBody>
          <a:bodyPr wrap="square" lIns="0" rIns="0" tIns="0" bIns="0">
            <a:spAutoFit/>
          </a:bodyPr>
          <a:lstStyle/>
          <a:p>
            <a:pPr algn="l"/>
            <a:r>
              <a:rPr sz="900" b="1" i="0">
                <a:solidFill>
                  <a:srgbClr val="8A97B0"/>
                </a:solidFill>
                <a:latin typeface="Calibri"/>
              </a:rPr>
              <a:t>DEMAND RESPONSE</a:t>
            </a:r>
          </a:p>
        </p:txBody>
      </p:sp>
      <p:sp>
        <p:nvSpPr>
          <p:cNvPr id="25" name="TextBox 24"/>
          <p:cNvSpPr txBox="1"/>
          <p:nvPr/>
        </p:nvSpPr>
        <p:spPr>
          <a:xfrm>
            <a:off x="9006840" y="1481328"/>
            <a:ext cx="2194560" cy="201168"/>
          </a:xfrm>
          <a:prstGeom prst="rect">
            <a:avLst/>
          </a:prstGeom>
          <a:noFill/>
        </p:spPr>
        <p:txBody>
          <a:bodyPr wrap="square" lIns="0" rIns="0" tIns="0" bIns="0">
            <a:spAutoFit/>
          </a:bodyPr>
          <a:lstStyle/>
          <a:p>
            <a:pPr algn="l"/>
            <a:r>
              <a:rPr sz="900" b="1" i="0">
                <a:solidFill>
                  <a:srgbClr val="8A97B0"/>
                </a:solidFill>
                <a:latin typeface="Calibri"/>
              </a:rPr>
              <a:t>REVENUE OUTCOME</a:t>
            </a:r>
          </a:p>
        </p:txBody>
      </p:sp>
      <p:sp>
        <p:nvSpPr>
          <p:cNvPr id="26" name="Rounded Rectangle 25"/>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Every time compute's inputs got 10x cheaper, spend grew anyway  </a:t>
            </a:r>
            <a:r>
              <a:rPr sz="1200">
                <a:solidFill>
                  <a:srgbClr val="1A2233"/>
                </a:solidFill>
                <a:latin typeface="Calibri"/>
              </a:rPr>
              <a:t>— tokens are running the same curve, faster.</a:t>
            </a:r>
          </a:p>
        </p:txBody>
      </p:sp>
      <p:sp>
        <p:nvSpPr>
          <p:cNvPr id="27" name="TextBox 26"/>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8" name="TextBox 27"/>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21</a:t>
            </a:r>
          </a:p>
        </p:txBody>
      </p:sp>
      <p:sp>
        <p:nvSpPr>
          <p:cNvPr id="29" name="TextBox 28"/>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Approximate historical rates per industry studies (transit pricing surveys, storage cost curves, carrier disclosures); directional, simplified. Precedents ≠ guarantees.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efficiency objections are already in the number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FOUR FORCES THAT REDUCE TOKENS PER TASK — AND WHY THE CALL SURVIVES ALL OF THEM</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82496"/>
            <a:ext cx="5230368" cy="1956816"/>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828800"/>
            <a:ext cx="4709160" cy="237744"/>
          </a:xfrm>
          <a:prstGeom prst="rect">
            <a:avLst/>
          </a:prstGeom>
          <a:noFill/>
        </p:spPr>
        <p:txBody>
          <a:bodyPr wrap="square" lIns="0" rIns="0" tIns="0" bIns="0">
            <a:spAutoFit/>
          </a:bodyPr>
          <a:lstStyle/>
          <a:p>
            <a:pPr algn="l"/>
            <a:r>
              <a:rPr sz="1100" b="1" i="0">
                <a:solidFill>
                  <a:srgbClr val="2777EF"/>
                </a:solidFill>
                <a:latin typeface="Calibri"/>
              </a:rPr>
              <a:t>DISTILLATION</a:t>
            </a:r>
          </a:p>
        </p:txBody>
      </p:sp>
      <p:sp>
        <p:nvSpPr>
          <p:cNvPr id="7" name="TextBox 6"/>
          <p:cNvSpPr txBox="1"/>
          <p:nvPr/>
        </p:nvSpPr>
        <p:spPr>
          <a:xfrm>
            <a:off x="1033271" y="2139696"/>
            <a:ext cx="4709160" cy="640080"/>
          </a:xfrm>
          <a:prstGeom prst="rect">
            <a:avLst/>
          </a:prstGeom>
          <a:noFill/>
        </p:spPr>
        <p:txBody>
          <a:bodyPr wrap="square" lIns="0" rIns="0" tIns="0" bIns="0">
            <a:spAutoFit/>
          </a:bodyPr>
          <a:lstStyle/>
          <a:p>
            <a:pPr algn="l"/>
            <a:r>
              <a:rPr sz="1080" b="0" i="0">
                <a:solidFill>
                  <a:srgbClr val="1A2233"/>
                </a:solidFill>
                <a:latin typeface="Calibri"/>
              </a:rPr>
              <a:t>Small models do yesterday's task with 10x fewer tokens.</a:t>
            </a:r>
          </a:p>
        </p:txBody>
      </p:sp>
      <p:sp>
        <p:nvSpPr>
          <p:cNvPr id="8" name="TextBox 7"/>
          <p:cNvSpPr txBox="1"/>
          <p:nvPr/>
        </p:nvSpPr>
        <p:spPr>
          <a:xfrm>
            <a:off x="1033271" y="2852928"/>
            <a:ext cx="4709160" cy="694944"/>
          </a:xfrm>
          <a:prstGeom prst="rect">
            <a:avLst/>
          </a:prstGeom>
          <a:noFill/>
        </p:spPr>
        <p:txBody>
          <a:bodyPr wrap="square" lIns="0" rIns="0" tIns="0" bIns="0">
            <a:spAutoFit/>
          </a:bodyPr>
          <a:lstStyle/>
          <a:p>
            <a:pPr algn="l"/>
            <a:r>
              <a:rPr sz="1030" b="0" i="1">
                <a:solidFill>
                  <a:srgbClr val="5A6478"/>
                </a:solidFill>
                <a:latin typeface="Calibri"/>
              </a:rPr>
              <a:t>…and the freed budget buys deeper tasks — reasoning chains got longer every time models got cheaper.</a:t>
            </a:r>
          </a:p>
        </p:txBody>
      </p:sp>
      <p:sp>
        <p:nvSpPr>
          <p:cNvPr id="9" name="Rounded Rectangle 8"/>
          <p:cNvSpPr/>
          <p:nvPr/>
        </p:nvSpPr>
        <p:spPr>
          <a:xfrm>
            <a:off x="6181344" y="1682496"/>
            <a:ext cx="5230368" cy="1956816"/>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28800"/>
            <a:ext cx="4709160" cy="237744"/>
          </a:xfrm>
          <a:prstGeom prst="rect">
            <a:avLst/>
          </a:prstGeom>
          <a:noFill/>
        </p:spPr>
        <p:txBody>
          <a:bodyPr wrap="square" lIns="0" rIns="0" tIns="0" bIns="0">
            <a:spAutoFit/>
          </a:bodyPr>
          <a:lstStyle/>
          <a:p>
            <a:pPr algn="l"/>
            <a:r>
              <a:rPr sz="1100" b="1" i="0">
                <a:solidFill>
                  <a:srgbClr val="2777EF"/>
                </a:solidFill>
                <a:latin typeface="Calibri"/>
              </a:rPr>
              <a:t>CACHING &amp; BATCHING</a:t>
            </a:r>
          </a:p>
        </p:txBody>
      </p:sp>
      <p:sp>
        <p:nvSpPr>
          <p:cNvPr id="11" name="TextBox 10"/>
          <p:cNvSpPr txBox="1"/>
          <p:nvPr/>
        </p:nvSpPr>
        <p:spPr>
          <a:xfrm>
            <a:off x="6437376" y="2139696"/>
            <a:ext cx="4709160" cy="640080"/>
          </a:xfrm>
          <a:prstGeom prst="rect">
            <a:avLst/>
          </a:prstGeom>
          <a:noFill/>
        </p:spPr>
        <p:txBody>
          <a:bodyPr wrap="square" lIns="0" rIns="0" tIns="0" bIns="0">
            <a:spAutoFit/>
          </a:bodyPr>
          <a:lstStyle/>
          <a:p>
            <a:pPr algn="l"/>
            <a:r>
              <a:rPr sz="1080" b="0" i="0">
                <a:solidFill>
                  <a:srgbClr val="1A2233"/>
                </a:solidFill>
                <a:latin typeface="Calibri"/>
              </a:rPr>
              <a:t>Repeated context stops being re-billed; providers discount batch 50%.</a:t>
            </a:r>
          </a:p>
        </p:txBody>
      </p:sp>
      <p:sp>
        <p:nvSpPr>
          <p:cNvPr id="12" name="TextBox 11"/>
          <p:cNvSpPr txBox="1"/>
          <p:nvPr/>
        </p:nvSpPr>
        <p:spPr>
          <a:xfrm>
            <a:off x="6437376" y="2852928"/>
            <a:ext cx="4709160" cy="694944"/>
          </a:xfrm>
          <a:prstGeom prst="rect">
            <a:avLst/>
          </a:prstGeom>
          <a:noFill/>
        </p:spPr>
        <p:txBody>
          <a:bodyPr wrap="square" lIns="0" rIns="0" tIns="0" bIns="0">
            <a:spAutoFit/>
          </a:bodyPr>
          <a:lstStyle/>
          <a:p>
            <a:pPr algn="l"/>
            <a:r>
              <a:rPr sz="1030" b="0" i="1">
                <a:solidFill>
                  <a:srgbClr val="5A6478"/>
                </a:solidFill>
                <a:latin typeface="Calibri"/>
              </a:rPr>
              <a:t>…already inside the ÷50x price line we model — cheaper tokens are the wave's engine, not a leak in it.</a:t>
            </a:r>
          </a:p>
        </p:txBody>
      </p:sp>
      <p:sp>
        <p:nvSpPr>
          <p:cNvPr id="13" name="Rounded Rectangle 12"/>
          <p:cNvSpPr/>
          <p:nvPr/>
        </p:nvSpPr>
        <p:spPr>
          <a:xfrm>
            <a:off x="777240" y="3785615"/>
            <a:ext cx="5230368" cy="1956816"/>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1" y="3931920"/>
            <a:ext cx="4709160" cy="237744"/>
          </a:xfrm>
          <a:prstGeom prst="rect">
            <a:avLst/>
          </a:prstGeom>
          <a:noFill/>
        </p:spPr>
        <p:txBody>
          <a:bodyPr wrap="square" lIns="0" rIns="0" tIns="0" bIns="0">
            <a:spAutoFit/>
          </a:bodyPr>
          <a:lstStyle/>
          <a:p>
            <a:pPr algn="l"/>
            <a:r>
              <a:rPr sz="1100" b="1" i="0">
                <a:solidFill>
                  <a:srgbClr val="2777EF"/>
                </a:solidFill>
                <a:latin typeface="Calibri"/>
              </a:rPr>
              <a:t>SMALL / ON-DEVICE MODELS</a:t>
            </a:r>
          </a:p>
        </p:txBody>
      </p:sp>
      <p:sp>
        <p:nvSpPr>
          <p:cNvPr id="15" name="TextBox 14"/>
          <p:cNvSpPr txBox="1"/>
          <p:nvPr/>
        </p:nvSpPr>
        <p:spPr>
          <a:xfrm>
            <a:off x="1033271" y="4242816"/>
            <a:ext cx="4709160" cy="640080"/>
          </a:xfrm>
          <a:prstGeom prst="rect">
            <a:avLst/>
          </a:prstGeom>
          <a:noFill/>
        </p:spPr>
        <p:txBody>
          <a:bodyPr wrap="square" lIns="0" rIns="0" tIns="0" bIns="0">
            <a:spAutoFit/>
          </a:bodyPr>
          <a:lstStyle/>
          <a:p>
            <a:pPr algn="l"/>
            <a:r>
              <a:rPr sz="1080" b="0" i="0">
                <a:solidFill>
                  <a:srgbClr val="1A2233"/>
                </a:solidFill>
                <a:latin typeface="Calibri"/>
              </a:rPr>
              <a:t>Trivial tasks leave the cloud meter entirely.</a:t>
            </a:r>
          </a:p>
        </p:txBody>
      </p:sp>
      <p:sp>
        <p:nvSpPr>
          <p:cNvPr id="16" name="TextBox 15"/>
          <p:cNvSpPr txBox="1"/>
          <p:nvPr/>
        </p:nvSpPr>
        <p:spPr>
          <a:xfrm>
            <a:off x="1033271" y="4956048"/>
            <a:ext cx="4709160" cy="694944"/>
          </a:xfrm>
          <a:prstGeom prst="rect">
            <a:avLst/>
          </a:prstGeom>
          <a:noFill/>
        </p:spPr>
        <p:txBody>
          <a:bodyPr wrap="square" lIns="0" rIns="0" tIns="0" bIns="0">
            <a:spAutoFit/>
          </a:bodyPr>
          <a:lstStyle/>
          <a:p>
            <a:pPr algn="l"/>
            <a:r>
              <a:rPr sz="1030" b="0" i="1">
                <a:solidFill>
                  <a:srgbClr val="5A6478"/>
                </a:solidFill>
                <a:latin typeface="Calibri"/>
              </a:rPr>
              <a:t>…and delegation replaces them with agent workflows that run 500–2,500x the tokens (p. 23).</a:t>
            </a:r>
          </a:p>
        </p:txBody>
      </p:sp>
      <p:sp>
        <p:nvSpPr>
          <p:cNvPr id="17" name="Rounded Rectangle 16"/>
          <p:cNvSpPr/>
          <p:nvPr/>
        </p:nvSpPr>
        <p:spPr>
          <a:xfrm>
            <a:off x="6181344" y="3785615"/>
            <a:ext cx="5230368" cy="1956816"/>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7376" y="3931920"/>
            <a:ext cx="4709160" cy="237744"/>
          </a:xfrm>
          <a:prstGeom prst="rect">
            <a:avLst/>
          </a:prstGeom>
          <a:noFill/>
        </p:spPr>
        <p:txBody>
          <a:bodyPr wrap="square" lIns="0" rIns="0" tIns="0" bIns="0">
            <a:spAutoFit/>
          </a:bodyPr>
          <a:lstStyle/>
          <a:p>
            <a:pPr algn="l"/>
            <a:r>
              <a:rPr sz="1100" b="1" i="0">
                <a:solidFill>
                  <a:srgbClr val="2777EF"/>
                </a:solidFill>
                <a:latin typeface="Calibri"/>
              </a:rPr>
              <a:t>SMARTER ROUTING</a:t>
            </a:r>
          </a:p>
        </p:txBody>
      </p:sp>
      <p:sp>
        <p:nvSpPr>
          <p:cNvPr id="19" name="TextBox 18"/>
          <p:cNvSpPr txBox="1"/>
          <p:nvPr/>
        </p:nvSpPr>
        <p:spPr>
          <a:xfrm>
            <a:off x="6437376" y="4242816"/>
            <a:ext cx="4709160" cy="640080"/>
          </a:xfrm>
          <a:prstGeom prst="rect">
            <a:avLst/>
          </a:prstGeom>
          <a:noFill/>
        </p:spPr>
        <p:txBody>
          <a:bodyPr wrap="square" lIns="0" rIns="0" tIns="0" bIns="0">
            <a:spAutoFit/>
          </a:bodyPr>
          <a:lstStyle/>
          <a:p>
            <a:pPr algn="l"/>
            <a:r>
              <a:rPr sz="1080" b="0" i="0">
                <a:solidFill>
                  <a:srgbClr val="1A2233"/>
                </a:solidFill>
                <a:latin typeface="Calibri"/>
              </a:rPr>
              <a:t>Model routers send easy queries to cheap models.</a:t>
            </a:r>
          </a:p>
        </p:txBody>
      </p:sp>
      <p:sp>
        <p:nvSpPr>
          <p:cNvPr id="20" name="TextBox 19"/>
          <p:cNvSpPr txBox="1"/>
          <p:nvPr/>
        </p:nvSpPr>
        <p:spPr>
          <a:xfrm>
            <a:off x="6437376" y="4956048"/>
            <a:ext cx="4709160" cy="694944"/>
          </a:xfrm>
          <a:prstGeom prst="rect">
            <a:avLst/>
          </a:prstGeom>
          <a:noFill/>
        </p:spPr>
        <p:txBody>
          <a:bodyPr wrap="square" lIns="0" rIns="0" tIns="0" bIns="0">
            <a:spAutoFit/>
          </a:bodyPr>
          <a:lstStyle/>
          <a:p>
            <a:pPr algn="l"/>
            <a:r>
              <a:rPr sz="1030" b="0" i="1">
                <a:solidFill>
                  <a:srgbClr val="5A6478"/>
                </a:solidFill>
                <a:latin typeface="Calibri"/>
              </a:rPr>
              <a:t>…which drops cost per task, raises tasks per user, and grows total tokens — Jevons, measured, four years running.</a:t>
            </a:r>
          </a:p>
        </p:txBody>
      </p:sp>
      <p:sp>
        <p:nvSpPr>
          <p:cNvPr id="21" name="Rounded Rectangle 20"/>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Efficiency is the mechanism of the wave, not its enemy  </a:t>
            </a:r>
            <a:r>
              <a:rPr sz="1200">
                <a:solidFill>
                  <a:srgbClr val="1A2233"/>
                </a:solidFill>
                <a:latin typeface="Calibri"/>
              </a:rPr>
              <a:t>— every force above cuts $/task, and cheaper tasks are how 40x happens.</a:t>
            </a:r>
          </a:p>
        </p:txBody>
      </p:sp>
      <p:sp>
        <p:nvSpPr>
          <p:cNvPr id="22" name="TextBox 2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3" name="TextBox 2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22</a:t>
            </a:r>
          </a:p>
        </p:txBody>
      </p:sp>
      <p:sp>
        <p:nvSpPr>
          <p:cNvPr id="24" name="TextBox 2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framing; token-intensity figures per the decomposition later this section. Full adversarial case in the appendix bear-case exhibit.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The heaviest users barely exist yet</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WHERE THE 40X COMES FROM — PENETRATION × INTENSITY</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Text 3"/>
          <p:cNvSpPr/>
          <p:nvPr/>
        </p:nvSpPr>
        <p:spPr>
          <a:xfrm>
            <a:off x="502920" y="2103120"/>
            <a:ext cx="3566160" cy="822960"/>
          </a:xfrm>
          <a:prstGeom prst="rect">
            <a:avLst/>
          </a:prstGeom>
          <a:noFill/>
        </p:spPr>
        <p:txBody>
          <a:bodyPr wrap="square" lIns="0" tIns="0" rIns="0" bIns="0" rtlCol="0" anchor="ctr"/>
          <a:lstStyle/>
          <a:p>
            <a:pPr marL="0" indent="0" algn="ctr">
              <a:buNone/>
            </a:pPr>
            <a:r>
              <a:rPr lang="en-US" sz="5400" b="1" dirty="0">
                <a:solidFill>
                  <a:srgbClr val="2777EF"/>
                </a:solidFill>
                <a:latin typeface="Cambria" pitchFamily="34" charset="0"/>
                <a:ea typeface="Cambria" pitchFamily="34" charset="-122"/>
                <a:cs typeface="Cambria" pitchFamily="34" charset="-120"/>
              </a:rPr>
              <a:t>2.5%</a:t>
            </a:r>
            <a:endParaRPr lang="en-US" sz="5400" dirty="0"/>
          </a:p>
        </p:txBody>
      </p:sp>
      <p:sp>
        <p:nvSpPr>
          <p:cNvPr id="6" name="Text 4"/>
          <p:cNvSpPr/>
          <p:nvPr/>
        </p:nvSpPr>
        <p:spPr>
          <a:xfrm>
            <a:off x="502920" y="2962656"/>
            <a:ext cx="3566160" cy="603504"/>
          </a:xfrm>
          <a:prstGeom prst="rect">
            <a:avLst/>
          </a:prstGeom>
          <a:noFill/>
        </p:spPr>
        <p:txBody>
          <a:bodyPr wrap="square" lIns="0" tIns="0" rIns="0" bIns="0" rtlCol="0" anchor="t"/>
          <a:lstStyle/>
          <a:p>
            <a:pPr marL="0" indent="0" algn="ctr">
              <a:lnSpc>
                <a:spcPct val="105000"/>
              </a:lnSpc>
              <a:buNone/>
            </a:pPr>
            <a:r>
              <a:rPr lang="en-US" sz="1600" dirty="0">
                <a:solidFill>
                  <a:srgbClr val="5A6478"/>
                </a:solidFill>
                <a:latin typeface="Calibri" pitchFamily="34" charset="0"/>
                <a:ea typeface="Calibri" pitchFamily="34" charset="-122"/>
                <a:cs typeface="Calibri" pitchFamily="34" charset="-120"/>
              </a:rPr>
              <a:t>of ~1B weekly AI users run agents today</a:t>
            </a:r>
            <a:endParaRPr lang="en-US" sz="1600" dirty="0"/>
          </a:p>
          <a:p>
            <a:pPr marL="0" indent="0" algn="ctr">
              <a:lnSpc>
                <a:spcPct val="105000"/>
              </a:lnSpc>
              <a:buNone/>
            </a:pPr>
            <a:r>
              <a:rPr lang="en-US" sz="1600" dirty="0">
                <a:solidFill>
                  <a:srgbClr val="5A6478"/>
                </a:solidFill>
                <a:latin typeface="Calibri" pitchFamily="34" charset="0"/>
                <a:ea typeface="Calibri" pitchFamily="34" charset="-122"/>
                <a:cs typeface="Calibri" pitchFamily="34" charset="-120"/>
              </a:rPr>
              <a:t>→ 40x headroom in users alone</a:t>
            </a:r>
            <a:endParaRPr lang="en-US" sz="1600" dirty="0"/>
          </a:p>
        </p:txBody>
      </p:sp>
      <p:sp>
        <p:nvSpPr>
          <p:cNvPr id="7" name="Text 5"/>
          <p:cNvSpPr/>
          <p:nvPr/>
        </p:nvSpPr>
        <p:spPr>
          <a:xfrm>
            <a:off x="4297680" y="2179320"/>
            <a:ext cx="3566160" cy="670560"/>
          </a:xfrm>
          <a:prstGeom prst="rect">
            <a:avLst/>
          </a:prstGeom>
          <a:noFill/>
        </p:spPr>
        <p:txBody>
          <a:bodyPr wrap="square" lIns="0" tIns="0" rIns="0" bIns="0" rtlCol="0" anchor="ctr"/>
          <a:lstStyle/>
          <a:p>
            <a:pPr marL="0" indent="0" algn="ctr">
              <a:buNone/>
            </a:pPr>
            <a:r>
              <a:rPr lang="en-US" sz="4400" b="1" dirty="0">
                <a:solidFill>
                  <a:srgbClr val="1A2233"/>
                </a:solidFill>
                <a:latin typeface="Cambria" pitchFamily="34" charset="0"/>
                <a:ea typeface="Cambria" pitchFamily="34" charset="-122"/>
                <a:cs typeface="Cambria" pitchFamily="34" charset="-120"/>
              </a:rPr>
              <a:t>500–2,500x</a:t>
            </a:r>
            <a:endParaRPr lang="en-US" sz="4400" dirty="0"/>
          </a:p>
        </p:txBody>
      </p:sp>
      <p:sp>
        <p:nvSpPr>
          <p:cNvPr id="8" name="Text 6"/>
          <p:cNvSpPr/>
          <p:nvPr/>
        </p:nvSpPr>
        <p:spPr>
          <a:xfrm>
            <a:off x="4297680" y="2926080"/>
            <a:ext cx="3566160" cy="603504"/>
          </a:xfrm>
          <a:prstGeom prst="rect">
            <a:avLst/>
          </a:prstGeom>
          <a:noFill/>
        </p:spPr>
        <p:txBody>
          <a:bodyPr wrap="square" lIns="0" tIns="0" rIns="0" bIns="0" rtlCol="0" anchor="t"/>
          <a:lstStyle/>
          <a:p>
            <a:pPr marL="0" indent="0" algn="ctr">
              <a:lnSpc>
                <a:spcPct val="105000"/>
              </a:lnSpc>
              <a:buNone/>
            </a:pPr>
            <a:r>
              <a:rPr lang="en-US" sz="1600" dirty="0">
                <a:solidFill>
                  <a:srgbClr val="5A6478"/>
                </a:solidFill>
                <a:latin typeface="Calibri" pitchFamily="34" charset="0"/>
                <a:ea typeface="Calibri" pitchFamily="34" charset="-122"/>
                <a:cs typeface="Calibri" pitchFamily="34" charset="-120"/>
              </a:rPr>
              <a:t>tokens per user-day: casual chat ~10K vs. always-on agent 5–25M</a:t>
            </a:r>
            <a:endParaRPr lang="en-US" sz="1600" dirty="0"/>
          </a:p>
        </p:txBody>
      </p:sp>
      <p:sp>
        <p:nvSpPr>
          <p:cNvPr id="9" name="Text 7"/>
          <p:cNvSpPr/>
          <p:nvPr/>
        </p:nvSpPr>
        <p:spPr>
          <a:xfrm>
            <a:off x="8138160" y="2103120"/>
            <a:ext cx="3566160" cy="822960"/>
          </a:xfrm>
          <a:prstGeom prst="rect">
            <a:avLst/>
          </a:prstGeom>
          <a:noFill/>
        </p:spPr>
        <p:txBody>
          <a:bodyPr wrap="square" lIns="0" tIns="0" rIns="0" bIns="0" rtlCol="0" anchor="ctr"/>
          <a:lstStyle/>
          <a:p>
            <a:pPr marL="0" indent="0" algn="ctr">
              <a:buNone/>
            </a:pPr>
            <a:r>
              <a:rPr lang="en-US" sz="5400" b="1" dirty="0">
                <a:solidFill>
                  <a:srgbClr val="2777EF"/>
                </a:solidFill>
                <a:latin typeface="Cambria" pitchFamily="34" charset="0"/>
                <a:ea typeface="Cambria" pitchFamily="34" charset="-122"/>
                <a:cs typeface="Cambria" pitchFamily="34" charset="-120"/>
              </a:rPr>
              <a:t>168 hrs</a:t>
            </a:r>
            <a:endParaRPr lang="en-US" sz="5400" dirty="0"/>
          </a:p>
        </p:txBody>
      </p:sp>
      <p:sp>
        <p:nvSpPr>
          <p:cNvPr id="10" name="Text 8"/>
          <p:cNvSpPr/>
          <p:nvPr/>
        </p:nvSpPr>
        <p:spPr>
          <a:xfrm>
            <a:off x="8138160" y="2962656"/>
            <a:ext cx="3566160" cy="603504"/>
          </a:xfrm>
          <a:prstGeom prst="rect">
            <a:avLst/>
          </a:prstGeom>
          <a:noFill/>
        </p:spPr>
        <p:txBody>
          <a:bodyPr wrap="square" lIns="0" tIns="0" rIns="0" bIns="0" rtlCol="0" anchor="t"/>
          <a:lstStyle/>
          <a:p>
            <a:pPr marL="0" indent="0" algn="ctr">
              <a:lnSpc>
                <a:spcPct val="105000"/>
              </a:lnSpc>
              <a:buNone/>
            </a:pPr>
            <a:r>
              <a:rPr lang="en-US" sz="1600" dirty="0">
                <a:solidFill>
                  <a:srgbClr val="5A6478"/>
                </a:solidFill>
                <a:latin typeface="Calibri" pitchFamily="34" charset="0"/>
                <a:ea typeface="Calibri" pitchFamily="34" charset="-122"/>
                <a:cs typeface="Calibri" pitchFamily="34" charset="-120"/>
              </a:rPr>
              <a:t>agent duty cycle per week vs. ~40 human attention-hours</a:t>
            </a:r>
            <a:endParaRPr lang="en-US" sz="1600" dirty="0"/>
          </a:p>
        </p:txBody>
      </p:sp>
      <p:sp>
        <p:nvSpPr>
          <p:cNvPr id="11" name="Shape 9"/>
          <p:cNvSpPr/>
          <p:nvPr/>
        </p:nvSpPr>
        <p:spPr>
          <a:xfrm>
            <a:off x="685800" y="4206240"/>
            <a:ext cx="10820095" cy="0"/>
          </a:xfrm>
          <a:prstGeom prst="line">
            <a:avLst/>
          </a:prstGeom>
          <a:noFill/>
          <a:ln w="12700">
            <a:solidFill>
              <a:srgbClr val="D5DCE8"/>
            </a:solidFill>
            <a:prstDash val="solid"/>
          </a:ln>
        </p:spPr>
        <p:txBody>
          <a:bodyPr/>
          <a:lstStyle/>
          <a:p>
            <a:endParaRPr lang="en-US"/>
          </a:p>
        </p:txBody>
      </p:sp>
      <p:sp>
        <p:nvSpPr>
          <p:cNvPr id="12" name="Text 10"/>
          <p:cNvSpPr/>
          <p:nvPr/>
        </p:nvSpPr>
        <p:spPr>
          <a:xfrm>
            <a:off x="2487168" y="4434840"/>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13" name="Shape 11"/>
          <p:cNvSpPr/>
          <p:nvPr/>
        </p:nvSpPr>
        <p:spPr>
          <a:xfrm>
            <a:off x="2651760" y="4709160"/>
            <a:ext cx="6858000" cy="960120"/>
          </a:xfrm>
          <a:prstGeom prst="roundRect">
            <a:avLst>
              <a:gd name="adj" fmla="val 8571"/>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14" name="Text 12"/>
          <p:cNvSpPr/>
          <p:nvPr/>
        </p:nvSpPr>
        <p:spPr>
          <a:xfrm>
            <a:off x="2761488" y="4709160"/>
            <a:ext cx="6638544" cy="960120"/>
          </a:xfrm>
          <a:prstGeom prst="rect">
            <a:avLst/>
          </a:prstGeom>
          <a:noFill/>
        </p:spPr>
        <p:txBody>
          <a:bodyPr wrap="square" lIns="0" tIns="0" rIns="0" bIns="0" rtlCol="0" anchor="ctr"/>
          <a:lstStyle/>
          <a:p>
            <a:pPr marL="0" indent="0" algn="ctr">
              <a:lnSpc>
                <a:spcPct val="102000"/>
              </a:lnSpc>
              <a:buNone/>
            </a:pPr>
            <a:r>
              <a:rPr lang="en-US" sz="2400" b="1" dirty="0">
                <a:solidFill>
                  <a:srgbClr val="1A2233"/>
                </a:solidFill>
                <a:latin typeface="Calibri" pitchFamily="34" charset="0"/>
                <a:ea typeface="Calibri" pitchFamily="34" charset="-122"/>
                <a:cs typeface="Calibri" pitchFamily="34" charset="-120"/>
              </a:rPr>
              <a:t>Same human, worth 500–2,500x more tokens </a:t>
            </a:r>
            <a:r>
              <a:rPr lang="en-US" sz="2400" dirty="0">
                <a:solidFill>
                  <a:srgbClr val="1A2233"/>
                </a:solidFill>
                <a:latin typeface="Calibri" pitchFamily="34" charset="0"/>
                <a:ea typeface="Calibri" pitchFamily="34" charset="-122"/>
                <a:cs typeface="Calibri" pitchFamily="34" charset="-120"/>
              </a:rPr>
              <a:t>the day software stops waiting for prompts</a:t>
            </a:r>
            <a:endParaRPr lang="en-US" sz="2400" dirty="0"/>
          </a:p>
        </p:txBody>
      </p:sp>
      <p:sp>
        <p:nvSpPr>
          <p:cNvPr id="15" name="Text 13"/>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16" name="Text 14"/>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estimates from platform usage disclosures; intensity band observed in the wild, illustrative.</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23</a:t>
            </a:fld>
            <a:endParaRPr lang="en-US"/>
          </a:p>
        </p:txBody>
      </p:sp>
    </p:spTree>
    <p:extLst>
      <p:ext uri="{BB962C8B-B14F-4D97-AF65-F5344CB8AC3E}">
        <p14:creationId xmlns:p14="http://schemas.microsoft.com/office/powerpoint/2010/main" val="1364086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Tokens are shifting from “asking” to “doing” — the key assumption</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SHARE OF TOKENS BY MODE — THE DELEGATION LADDER</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Text 3"/>
          <p:cNvSpPr/>
          <p:nvPr/>
        </p:nvSpPr>
        <p:spPr>
          <a:xfrm>
            <a:off x="502920" y="1618488"/>
            <a:ext cx="4572000" cy="274320"/>
          </a:xfrm>
          <a:prstGeom prst="rect">
            <a:avLst/>
          </a:prstGeom>
          <a:noFill/>
        </p:spPr>
        <p:txBody>
          <a:bodyPr wrap="square" lIns="0" tIns="0" rIns="0" bIns="0" rtlCol="0" anchor="ctr"/>
          <a:lstStyle/>
          <a:p>
            <a:pPr marL="0" indent="0">
              <a:buNone/>
            </a:pPr>
            <a:r>
              <a:rPr lang="en-US" sz="1600" b="1" kern="0" spc="150" dirty="0">
                <a:solidFill>
                  <a:srgbClr val="5A6478"/>
                </a:solidFill>
                <a:latin typeface="Calibri" pitchFamily="34" charset="0"/>
                <a:ea typeface="Calibri" pitchFamily="34" charset="-122"/>
                <a:cs typeface="Calibri" pitchFamily="34" charset="-120"/>
              </a:rPr>
              <a:t>TODAY</a:t>
            </a:r>
            <a:endParaRPr lang="en-US" sz="1600" dirty="0"/>
          </a:p>
        </p:txBody>
      </p:sp>
      <p:sp>
        <p:nvSpPr>
          <p:cNvPr id="6" name="Shape 4"/>
          <p:cNvSpPr/>
          <p:nvPr/>
        </p:nvSpPr>
        <p:spPr>
          <a:xfrm>
            <a:off x="502920" y="1965960"/>
            <a:ext cx="9430253" cy="777240"/>
          </a:xfrm>
          <a:prstGeom prst="rect">
            <a:avLst/>
          </a:prstGeom>
          <a:solidFill>
            <a:srgbClr val="D8DCE3"/>
          </a:solidFill>
          <a:ln w="19050">
            <a:solidFill>
              <a:srgbClr val="FFFFFF"/>
            </a:solidFill>
            <a:prstDash val="solid"/>
          </a:ln>
        </p:spPr>
        <p:txBody>
          <a:bodyPr/>
          <a:lstStyle/>
          <a:p>
            <a:endParaRPr lang="en-US" sz="2400"/>
          </a:p>
        </p:txBody>
      </p:sp>
      <p:sp>
        <p:nvSpPr>
          <p:cNvPr id="7" name="Text 5"/>
          <p:cNvSpPr/>
          <p:nvPr/>
        </p:nvSpPr>
        <p:spPr>
          <a:xfrm>
            <a:off x="502920" y="2075688"/>
            <a:ext cx="9430253" cy="365760"/>
          </a:xfrm>
          <a:prstGeom prst="rect">
            <a:avLst/>
          </a:prstGeom>
          <a:noFill/>
        </p:spPr>
        <p:txBody>
          <a:bodyPr wrap="square" lIns="0" tIns="0" rIns="0" bIns="0" rtlCol="0" anchor="ctr"/>
          <a:lstStyle/>
          <a:p>
            <a:pPr marL="0" indent="0" algn="ctr">
              <a:buNone/>
            </a:pPr>
            <a:r>
              <a:rPr lang="en-US" sz="2800" b="1" dirty="0">
                <a:solidFill>
                  <a:srgbClr val="1A2233"/>
                </a:solidFill>
                <a:latin typeface="Cambria" pitchFamily="34" charset="0"/>
                <a:ea typeface="Cambria" pitchFamily="34" charset="-122"/>
                <a:cs typeface="Cambria" pitchFamily="34" charset="-120"/>
              </a:rPr>
              <a:t>85%</a:t>
            </a:r>
            <a:endParaRPr lang="en-US" sz="2800" dirty="0"/>
          </a:p>
        </p:txBody>
      </p:sp>
      <p:sp>
        <p:nvSpPr>
          <p:cNvPr id="8" name="Text 6"/>
          <p:cNvSpPr/>
          <p:nvPr/>
        </p:nvSpPr>
        <p:spPr>
          <a:xfrm>
            <a:off x="502920" y="2423160"/>
            <a:ext cx="9430253" cy="274320"/>
          </a:xfrm>
          <a:prstGeom prst="rect">
            <a:avLst/>
          </a:prstGeom>
          <a:noFill/>
        </p:spPr>
        <p:txBody>
          <a:bodyPr wrap="square" lIns="0" tIns="0" rIns="0" bIns="0" rtlCol="0" anchor="ctr"/>
          <a:lstStyle/>
          <a:p>
            <a:pPr marL="0" indent="0" algn="ctr">
              <a:buNone/>
            </a:pPr>
            <a:r>
              <a:rPr lang="en-US" sz="1600" dirty="0">
                <a:solidFill>
                  <a:srgbClr val="1A2233"/>
                </a:solidFill>
                <a:latin typeface="Calibri" pitchFamily="34" charset="0"/>
                <a:ea typeface="Calibri" pitchFamily="34" charset="-122"/>
                <a:cs typeface="Calibri" pitchFamily="34" charset="-120"/>
              </a:rPr>
              <a:t>Ask (chat)</a:t>
            </a:r>
            <a:endParaRPr lang="en-US" sz="1600" dirty="0"/>
          </a:p>
        </p:txBody>
      </p:sp>
      <p:sp>
        <p:nvSpPr>
          <p:cNvPr id="9" name="Shape 7"/>
          <p:cNvSpPr/>
          <p:nvPr/>
        </p:nvSpPr>
        <p:spPr>
          <a:xfrm>
            <a:off x="9933173" y="1965960"/>
            <a:ext cx="1664162" cy="777240"/>
          </a:xfrm>
          <a:prstGeom prst="rect">
            <a:avLst/>
          </a:prstGeom>
          <a:solidFill>
            <a:srgbClr val="2777EF"/>
          </a:solidFill>
          <a:ln w="19050">
            <a:solidFill>
              <a:srgbClr val="FFFFFF"/>
            </a:solidFill>
            <a:prstDash val="solid"/>
          </a:ln>
        </p:spPr>
        <p:txBody>
          <a:bodyPr/>
          <a:lstStyle/>
          <a:p>
            <a:endParaRPr lang="en-US" sz="2400"/>
          </a:p>
        </p:txBody>
      </p:sp>
      <p:sp>
        <p:nvSpPr>
          <p:cNvPr id="10" name="Text 8"/>
          <p:cNvSpPr/>
          <p:nvPr/>
        </p:nvSpPr>
        <p:spPr>
          <a:xfrm>
            <a:off x="9933173" y="2075688"/>
            <a:ext cx="1664162" cy="365760"/>
          </a:xfrm>
          <a:prstGeom prst="rect">
            <a:avLst/>
          </a:prstGeom>
          <a:noFill/>
        </p:spPr>
        <p:txBody>
          <a:bodyPr wrap="square" lIns="0" tIns="0" rIns="0" bIns="0" rtlCol="0" anchor="ctr"/>
          <a:lstStyle/>
          <a:p>
            <a:pPr marL="0" indent="0" algn="ctr">
              <a:buNone/>
            </a:pPr>
            <a:r>
              <a:rPr lang="en-US" sz="2800" b="1" dirty="0">
                <a:solidFill>
                  <a:schemeClr val="bg1"/>
                </a:solidFill>
                <a:latin typeface="Cambria" pitchFamily="34" charset="0"/>
                <a:ea typeface="Cambria" pitchFamily="34" charset="-122"/>
                <a:cs typeface="Cambria" pitchFamily="34" charset="-120"/>
              </a:rPr>
              <a:t>15%</a:t>
            </a:r>
            <a:endParaRPr lang="en-US" sz="2800" dirty="0">
              <a:solidFill>
                <a:schemeClr val="bg1"/>
              </a:solidFill>
            </a:endParaRPr>
          </a:p>
        </p:txBody>
      </p:sp>
      <p:sp>
        <p:nvSpPr>
          <p:cNvPr id="11" name="Text 9"/>
          <p:cNvSpPr/>
          <p:nvPr/>
        </p:nvSpPr>
        <p:spPr>
          <a:xfrm>
            <a:off x="9933173" y="2423160"/>
            <a:ext cx="1664162" cy="274320"/>
          </a:xfrm>
          <a:prstGeom prst="rect">
            <a:avLst/>
          </a:prstGeom>
          <a:noFill/>
        </p:spPr>
        <p:txBody>
          <a:bodyPr wrap="square" lIns="0" tIns="0" rIns="0" bIns="0" rtlCol="0" anchor="ctr"/>
          <a:lstStyle/>
          <a:p>
            <a:pPr marL="0" indent="0" algn="ctr">
              <a:buNone/>
            </a:pPr>
            <a:r>
              <a:rPr lang="en-US" sz="1100" dirty="0">
                <a:solidFill>
                  <a:schemeClr val="bg1"/>
                </a:solidFill>
                <a:latin typeface="Calibri" pitchFamily="34" charset="0"/>
                <a:ea typeface="Calibri" pitchFamily="34" charset="-122"/>
                <a:cs typeface="Calibri" pitchFamily="34" charset="-120"/>
              </a:rPr>
              <a:t>Doing (delegate + automate)</a:t>
            </a:r>
            <a:endParaRPr lang="en-US" sz="1100" dirty="0">
              <a:solidFill>
                <a:schemeClr val="bg1"/>
              </a:solidFill>
            </a:endParaRPr>
          </a:p>
        </p:txBody>
      </p:sp>
      <p:sp>
        <p:nvSpPr>
          <p:cNvPr id="12" name="Text 10"/>
          <p:cNvSpPr/>
          <p:nvPr/>
        </p:nvSpPr>
        <p:spPr>
          <a:xfrm>
            <a:off x="502920" y="3355848"/>
            <a:ext cx="4572000" cy="274320"/>
          </a:xfrm>
          <a:prstGeom prst="rect">
            <a:avLst/>
          </a:prstGeom>
          <a:noFill/>
        </p:spPr>
        <p:txBody>
          <a:bodyPr wrap="square" lIns="0" tIns="0" rIns="0" bIns="0" rtlCol="0" anchor="ctr"/>
          <a:lstStyle/>
          <a:p>
            <a:pPr marL="0" indent="0">
              <a:buNone/>
            </a:pPr>
            <a:r>
              <a:rPr lang="en-US" sz="1600" b="1" kern="0" spc="150" dirty="0">
                <a:solidFill>
                  <a:srgbClr val="2777EF"/>
                </a:solidFill>
                <a:latin typeface="Calibri" pitchFamily="34" charset="0"/>
                <a:ea typeface="Calibri" pitchFamily="34" charset="-122"/>
                <a:cs typeface="Calibri" pitchFamily="34" charset="-120"/>
              </a:rPr>
              <a:t>2029 — OUR CASE</a:t>
            </a:r>
            <a:endParaRPr lang="en-US" sz="1600" dirty="0"/>
          </a:p>
        </p:txBody>
      </p:sp>
      <p:sp>
        <p:nvSpPr>
          <p:cNvPr id="13" name="Shape 11"/>
          <p:cNvSpPr/>
          <p:nvPr/>
        </p:nvSpPr>
        <p:spPr>
          <a:xfrm>
            <a:off x="502920" y="3703320"/>
            <a:ext cx="2773604" cy="777240"/>
          </a:xfrm>
          <a:prstGeom prst="rect">
            <a:avLst/>
          </a:prstGeom>
          <a:solidFill>
            <a:srgbClr val="D8DCE3"/>
          </a:solidFill>
          <a:ln w="19050">
            <a:solidFill>
              <a:srgbClr val="FFFFFF"/>
            </a:solidFill>
            <a:prstDash val="solid"/>
          </a:ln>
        </p:spPr>
        <p:txBody>
          <a:bodyPr/>
          <a:lstStyle/>
          <a:p>
            <a:endParaRPr lang="en-US" sz="2400"/>
          </a:p>
        </p:txBody>
      </p:sp>
      <p:sp>
        <p:nvSpPr>
          <p:cNvPr id="14" name="Text 12"/>
          <p:cNvSpPr/>
          <p:nvPr/>
        </p:nvSpPr>
        <p:spPr>
          <a:xfrm>
            <a:off x="502920" y="3813048"/>
            <a:ext cx="2773604" cy="365760"/>
          </a:xfrm>
          <a:prstGeom prst="rect">
            <a:avLst/>
          </a:prstGeom>
          <a:noFill/>
        </p:spPr>
        <p:txBody>
          <a:bodyPr wrap="square" lIns="0" tIns="0" rIns="0" bIns="0" rtlCol="0" anchor="ctr"/>
          <a:lstStyle/>
          <a:p>
            <a:pPr marL="0" indent="0" algn="ctr">
              <a:buNone/>
            </a:pPr>
            <a:r>
              <a:rPr lang="en-US" sz="2800" b="1" dirty="0">
                <a:solidFill>
                  <a:srgbClr val="1A2233"/>
                </a:solidFill>
                <a:latin typeface="Cambria" pitchFamily="34" charset="0"/>
                <a:ea typeface="Cambria" pitchFamily="34" charset="-122"/>
                <a:cs typeface="Cambria" pitchFamily="34" charset="-120"/>
              </a:rPr>
              <a:t>25%</a:t>
            </a:r>
            <a:endParaRPr lang="en-US" sz="2800" dirty="0"/>
          </a:p>
        </p:txBody>
      </p:sp>
      <p:sp>
        <p:nvSpPr>
          <p:cNvPr id="15" name="Text 13"/>
          <p:cNvSpPr/>
          <p:nvPr/>
        </p:nvSpPr>
        <p:spPr>
          <a:xfrm>
            <a:off x="502920" y="4160520"/>
            <a:ext cx="2773604" cy="274320"/>
          </a:xfrm>
          <a:prstGeom prst="rect">
            <a:avLst/>
          </a:prstGeom>
          <a:noFill/>
        </p:spPr>
        <p:txBody>
          <a:bodyPr wrap="square" lIns="0" tIns="0" rIns="0" bIns="0" rtlCol="0" anchor="ctr"/>
          <a:lstStyle/>
          <a:p>
            <a:pPr marL="0" indent="0" algn="ctr">
              <a:buNone/>
            </a:pPr>
            <a:r>
              <a:rPr lang="en-US" sz="1600" dirty="0">
                <a:solidFill>
                  <a:srgbClr val="1A2233"/>
                </a:solidFill>
                <a:latin typeface="Calibri" pitchFamily="34" charset="0"/>
                <a:ea typeface="Calibri" pitchFamily="34" charset="-122"/>
                <a:cs typeface="Calibri" pitchFamily="34" charset="-120"/>
              </a:rPr>
              <a:t>Ask (chat)</a:t>
            </a:r>
            <a:endParaRPr lang="en-US" sz="1600" dirty="0"/>
          </a:p>
        </p:txBody>
      </p:sp>
      <p:sp>
        <p:nvSpPr>
          <p:cNvPr id="16" name="Shape 14"/>
          <p:cNvSpPr/>
          <p:nvPr/>
        </p:nvSpPr>
        <p:spPr>
          <a:xfrm>
            <a:off x="3276524" y="3703320"/>
            <a:ext cx="8320811" cy="777240"/>
          </a:xfrm>
          <a:prstGeom prst="rect">
            <a:avLst/>
          </a:prstGeom>
          <a:solidFill>
            <a:srgbClr val="2777EF"/>
          </a:solidFill>
          <a:ln w="19050">
            <a:solidFill>
              <a:srgbClr val="FFFFFF"/>
            </a:solidFill>
            <a:prstDash val="solid"/>
          </a:ln>
        </p:spPr>
        <p:txBody>
          <a:bodyPr/>
          <a:lstStyle/>
          <a:p>
            <a:endParaRPr lang="en-US" sz="2400"/>
          </a:p>
        </p:txBody>
      </p:sp>
      <p:sp>
        <p:nvSpPr>
          <p:cNvPr id="17" name="Text 15"/>
          <p:cNvSpPr/>
          <p:nvPr/>
        </p:nvSpPr>
        <p:spPr>
          <a:xfrm>
            <a:off x="3276524" y="3813048"/>
            <a:ext cx="8320811" cy="365760"/>
          </a:xfrm>
          <a:prstGeom prst="rect">
            <a:avLst/>
          </a:prstGeom>
          <a:noFill/>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75%</a:t>
            </a:r>
            <a:endParaRPr lang="en-US" sz="2800" dirty="0"/>
          </a:p>
        </p:txBody>
      </p:sp>
      <p:sp>
        <p:nvSpPr>
          <p:cNvPr id="18" name="Text 16"/>
          <p:cNvSpPr/>
          <p:nvPr/>
        </p:nvSpPr>
        <p:spPr>
          <a:xfrm>
            <a:off x="3276524" y="4160520"/>
            <a:ext cx="8320811" cy="274320"/>
          </a:xfrm>
          <a:prstGeom prst="rect">
            <a:avLst/>
          </a:prstGeom>
          <a:noFill/>
        </p:spPr>
        <p:txBody>
          <a:bodyPr wrap="square" lIns="0" tIns="0" rIns="0" bIns="0"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Doing (delegate + automate)</a:t>
            </a:r>
            <a:endParaRPr lang="en-US" sz="1600" dirty="0"/>
          </a:p>
        </p:txBody>
      </p:sp>
      <p:sp>
        <p:nvSpPr>
          <p:cNvPr id="19" name="Text 17"/>
          <p:cNvSpPr/>
          <p:nvPr/>
        </p:nvSpPr>
        <p:spPr>
          <a:xfrm>
            <a:off x="1070879" y="5138666"/>
            <a:ext cx="3566160" cy="365760"/>
          </a:xfrm>
          <a:prstGeom prst="rect">
            <a:avLst/>
          </a:prstGeom>
          <a:noFill/>
        </p:spPr>
        <p:txBody>
          <a:bodyPr wrap="square" lIns="0" tIns="0" rIns="0" bIns="0" rtlCol="0" anchor="ctr"/>
          <a:lstStyle/>
          <a:p>
            <a:pPr marL="0" indent="0">
              <a:buNone/>
            </a:pPr>
            <a:r>
              <a:rPr lang="en-US" sz="2800" b="1" dirty="0">
                <a:solidFill>
                  <a:srgbClr val="2777EF"/>
                </a:solidFill>
                <a:latin typeface="Cambria" pitchFamily="34" charset="0"/>
                <a:ea typeface="Cambria" pitchFamily="34" charset="-122"/>
                <a:cs typeface="Cambria" pitchFamily="34" charset="-120"/>
              </a:rPr>
              <a:t>77%</a:t>
            </a:r>
            <a:endParaRPr lang="en-US" sz="2800" dirty="0"/>
          </a:p>
        </p:txBody>
      </p:sp>
      <p:sp>
        <p:nvSpPr>
          <p:cNvPr id="20" name="Text 18"/>
          <p:cNvSpPr/>
          <p:nvPr/>
        </p:nvSpPr>
        <p:spPr>
          <a:xfrm>
            <a:off x="1070879" y="5522714"/>
            <a:ext cx="3520440" cy="502920"/>
          </a:xfrm>
          <a:prstGeom prst="rect">
            <a:avLst/>
          </a:prstGeom>
          <a:noFill/>
        </p:spPr>
        <p:txBody>
          <a:bodyPr wrap="square" lIns="0" tIns="0" rIns="0" bIns="0" rtlCol="0" anchor="ctr"/>
          <a:lstStyle/>
          <a:p>
            <a:pPr marL="0" indent="0">
              <a:lnSpc>
                <a:spcPct val="102000"/>
              </a:lnSpc>
              <a:buNone/>
            </a:pPr>
            <a:r>
              <a:rPr lang="en-US" sz="1600" dirty="0">
                <a:solidFill>
                  <a:srgbClr val="5A6478"/>
                </a:solidFill>
                <a:latin typeface="Calibri" pitchFamily="34" charset="0"/>
                <a:ea typeface="Calibri" pitchFamily="34" charset="-122"/>
                <a:cs typeface="Calibri" pitchFamily="34" charset="-120"/>
              </a:rPr>
              <a:t>of a major lab's API traffic already classifies as automation</a:t>
            </a:r>
            <a:endParaRPr lang="en-US" sz="1600" dirty="0"/>
          </a:p>
        </p:txBody>
      </p:sp>
      <p:sp>
        <p:nvSpPr>
          <p:cNvPr id="21" name="Text 19"/>
          <p:cNvSpPr/>
          <p:nvPr/>
        </p:nvSpPr>
        <p:spPr>
          <a:xfrm>
            <a:off x="4838207" y="5138666"/>
            <a:ext cx="3566160" cy="365760"/>
          </a:xfrm>
          <a:prstGeom prst="rect">
            <a:avLst/>
          </a:prstGeom>
          <a:noFill/>
        </p:spPr>
        <p:txBody>
          <a:bodyPr wrap="square" lIns="0" tIns="0" rIns="0" bIns="0" rtlCol="0" anchor="ctr"/>
          <a:lstStyle/>
          <a:p>
            <a:pPr marL="0" indent="0">
              <a:buNone/>
            </a:pPr>
            <a:r>
              <a:rPr lang="en-US" sz="2800" b="1" dirty="0">
                <a:solidFill>
                  <a:srgbClr val="2777EF"/>
                </a:solidFill>
                <a:latin typeface="Cambria" pitchFamily="34" charset="0"/>
                <a:ea typeface="Cambria" pitchFamily="34" charset="-122"/>
                <a:cs typeface="Cambria" pitchFamily="34" charset="-120"/>
              </a:rPr>
              <a:t>11% → 50%+</a:t>
            </a:r>
            <a:endParaRPr lang="en-US" sz="2800" dirty="0"/>
          </a:p>
        </p:txBody>
      </p:sp>
      <p:sp>
        <p:nvSpPr>
          <p:cNvPr id="22" name="Text 20"/>
          <p:cNvSpPr/>
          <p:nvPr/>
        </p:nvSpPr>
        <p:spPr>
          <a:xfrm>
            <a:off x="4838207" y="5522714"/>
            <a:ext cx="2541388" cy="502920"/>
          </a:xfrm>
          <a:prstGeom prst="rect">
            <a:avLst/>
          </a:prstGeom>
          <a:noFill/>
        </p:spPr>
        <p:txBody>
          <a:bodyPr wrap="square" lIns="0" tIns="0" rIns="0" bIns="0" rtlCol="0" anchor="ctr"/>
          <a:lstStyle/>
          <a:p>
            <a:pPr marL="0" indent="0">
              <a:lnSpc>
                <a:spcPct val="102000"/>
              </a:lnSpc>
              <a:buNone/>
            </a:pPr>
            <a:r>
              <a:rPr lang="en-US" sz="1600" dirty="0">
                <a:solidFill>
                  <a:srgbClr val="5A6478"/>
                </a:solidFill>
                <a:latin typeface="Calibri" pitchFamily="34" charset="0"/>
                <a:ea typeface="Calibri" pitchFamily="34" charset="-122"/>
                <a:cs typeface="Calibri" pitchFamily="34" charset="-120"/>
              </a:rPr>
              <a:t>coding share of routed model traffic, in one year</a:t>
            </a:r>
            <a:endParaRPr lang="en-US" sz="1600" dirty="0"/>
          </a:p>
        </p:txBody>
      </p:sp>
      <p:sp>
        <p:nvSpPr>
          <p:cNvPr id="23" name="Text 21"/>
          <p:cNvSpPr/>
          <p:nvPr/>
        </p:nvSpPr>
        <p:spPr>
          <a:xfrm>
            <a:off x="8605535" y="5138666"/>
            <a:ext cx="3566160" cy="365760"/>
          </a:xfrm>
          <a:prstGeom prst="rect">
            <a:avLst/>
          </a:prstGeom>
          <a:noFill/>
        </p:spPr>
        <p:txBody>
          <a:bodyPr wrap="square" lIns="0" tIns="0" rIns="0" bIns="0" rtlCol="0" anchor="ctr"/>
          <a:lstStyle/>
          <a:p>
            <a:pPr marL="0" indent="0">
              <a:buNone/>
            </a:pPr>
            <a:r>
              <a:rPr lang="en-US" sz="2800" b="1" dirty="0">
                <a:solidFill>
                  <a:srgbClr val="2777EF"/>
                </a:solidFill>
                <a:latin typeface="Cambria" pitchFamily="34" charset="0"/>
                <a:ea typeface="Cambria" pitchFamily="34" charset="-122"/>
                <a:cs typeface="Cambria" pitchFamily="34" charset="-120"/>
              </a:rPr>
              <a:t>+150%</a:t>
            </a:r>
            <a:endParaRPr lang="en-US" sz="2800" dirty="0"/>
          </a:p>
        </p:txBody>
      </p:sp>
      <p:sp>
        <p:nvSpPr>
          <p:cNvPr id="24" name="Text 22"/>
          <p:cNvSpPr/>
          <p:nvPr/>
        </p:nvSpPr>
        <p:spPr>
          <a:xfrm>
            <a:off x="8605535" y="5522714"/>
            <a:ext cx="2354387" cy="502920"/>
          </a:xfrm>
          <a:prstGeom prst="rect">
            <a:avLst/>
          </a:prstGeom>
          <a:noFill/>
        </p:spPr>
        <p:txBody>
          <a:bodyPr wrap="square" lIns="0" tIns="0" rIns="0" bIns="0" rtlCol="0" anchor="ctr"/>
          <a:lstStyle/>
          <a:p>
            <a:pPr marL="0" indent="0">
              <a:lnSpc>
                <a:spcPct val="102000"/>
              </a:lnSpc>
              <a:buNone/>
            </a:pPr>
            <a:r>
              <a:rPr lang="en-US" sz="1600" dirty="0">
                <a:solidFill>
                  <a:srgbClr val="5A6478"/>
                </a:solidFill>
                <a:latin typeface="Calibri" pitchFamily="34" charset="0"/>
                <a:ea typeface="Calibri" pitchFamily="34" charset="-122"/>
                <a:cs typeface="Calibri" pitchFamily="34" charset="-120"/>
              </a:rPr>
              <a:t>enterprise API tokens at the leading lab, five months</a:t>
            </a:r>
            <a:endParaRPr lang="en-US" sz="1600" dirty="0"/>
          </a:p>
        </p:txBody>
      </p:sp>
      <p:sp>
        <p:nvSpPr>
          <p:cNvPr id="25" name="Text 23"/>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6" name="Text 24"/>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Lab and marketplace traffic disclosures, 2025–26. Our case needs doing-share ≥70% by 2029; anything above that already beats consensus.</a:t>
            </a:r>
            <a:endParaRPr lang="en-US" sz="750" dirty="0"/>
          </a:p>
        </p:txBody>
      </p:sp>
      <p:sp>
        <p:nvSpPr>
          <p:cNvPr id="27"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24</a:t>
            </a:fld>
            <a:endParaRPr lang="en-US"/>
          </a:p>
        </p:txBody>
      </p:sp>
      <p:sp>
        <p:nvSpPr>
          <p:cNvPr id="31" name="TextBox 30">
            <a:extLst>
              <a:ext uri="{FF2B5EF4-FFF2-40B4-BE49-F238E27FC236}">
                <a16:creationId xmlns:a16="http://schemas.microsoft.com/office/drawing/2014/main" id="{C5D31A84-0217-6BA7-C1FD-383141A51C47}"/>
              </a:ext>
            </a:extLst>
          </p:cNvPr>
          <p:cNvSpPr txBox="1"/>
          <p:nvPr/>
        </p:nvSpPr>
        <p:spPr>
          <a:xfrm>
            <a:off x="10400778" y="461122"/>
            <a:ext cx="509716" cy="461665"/>
          </a:xfrm>
          <a:prstGeom prst="rect">
            <a:avLst/>
          </a:prstGeom>
          <a:noFill/>
        </p:spPr>
        <p:txBody>
          <a:bodyPr wrap="square">
            <a:spAutoFit/>
          </a:bodyPr>
          <a:lstStyle/>
          <a:p>
            <a:r>
              <a:rPr lang="en-US" sz="2400" dirty="0">
                <a:solidFill/>
              </a:rPr>
              <a:t>🔑</a:t>
            </a:r>
          </a:p>
        </p:txBody>
      </p:sp>
    </p:spTree>
    <p:extLst>
      <p:ext uri="{BB962C8B-B14F-4D97-AF65-F5344CB8AC3E}">
        <p14:creationId xmlns:p14="http://schemas.microsoft.com/office/powerpoint/2010/main" val="39650379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Our call: ~4,000Q tokens by 2029 — a 40x from here</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QUADRILLION TOKENS / YEAR (LOG SCALE) — TIDAL-WAVE CASE VS. THE STREET'S FLOOR, WITH ANNUAL GROWTH</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1005840" y="5293349"/>
            <a:ext cx="868680" cy="417789"/>
          </a:xfrm>
          <a:prstGeom prst="rect">
            <a:avLst/>
          </a:prstGeom>
          <a:solidFill>
            <a:srgbClr val="2777EF"/>
          </a:solidFill>
        </p:spPr>
        <p:txBody>
          <a:bodyPr/>
          <a:lstStyle/>
          <a:p>
            <a:endParaRPr lang="en-US"/>
          </a:p>
        </p:txBody>
      </p:sp>
      <p:sp>
        <p:nvSpPr>
          <p:cNvPr id="6" name="Text 4"/>
          <p:cNvSpPr/>
          <p:nvPr/>
        </p:nvSpPr>
        <p:spPr>
          <a:xfrm>
            <a:off x="594360" y="4927589"/>
            <a:ext cx="1691640" cy="292608"/>
          </a:xfrm>
          <a:prstGeom prst="rect">
            <a:avLst/>
          </a:prstGeom>
          <a:noFill/>
        </p:spPr>
        <p:txBody>
          <a:bodyPr wrap="square" lIns="0" tIns="0" rIns="0" bIns="0" rtlCol="0" anchor="ctr"/>
          <a:lstStyle/>
          <a:p>
            <a:pPr marL="0" indent="0" algn="ctr">
              <a:buNone/>
            </a:pPr>
            <a:r>
              <a:rPr lang="en-US" sz="1300" b="1" dirty="0">
                <a:solidFill>
                  <a:srgbClr val="2777EF"/>
                </a:solidFill>
                <a:latin typeface="Cambria" pitchFamily="34" charset="0"/>
                <a:ea typeface="Cambria" pitchFamily="34" charset="-122"/>
                <a:cs typeface="Cambria" pitchFamily="34" charset="-120"/>
              </a:rPr>
              <a:t>100Q</a:t>
            </a:r>
            <a:endParaRPr lang="en-US" sz="1300" dirty="0"/>
          </a:p>
        </p:txBody>
      </p:sp>
      <p:sp>
        <p:nvSpPr>
          <p:cNvPr id="7" name="Shape 5"/>
          <p:cNvSpPr/>
          <p:nvPr/>
        </p:nvSpPr>
        <p:spPr>
          <a:xfrm>
            <a:off x="1965960" y="5293349"/>
            <a:ext cx="868680" cy="417789"/>
          </a:xfrm>
          <a:prstGeom prst="rect">
            <a:avLst/>
          </a:prstGeom>
          <a:solidFill>
            <a:srgbClr val="D8DCE3"/>
          </a:solidFill>
        </p:spPr>
        <p:txBody>
          <a:bodyPr/>
          <a:lstStyle/>
          <a:p>
            <a:endParaRPr lang="en-US"/>
          </a:p>
        </p:txBody>
      </p:sp>
      <p:sp>
        <p:nvSpPr>
          <p:cNvPr id="8" name="Text 6"/>
          <p:cNvSpPr/>
          <p:nvPr/>
        </p:nvSpPr>
        <p:spPr>
          <a:xfrm>
            <a:off x="1097280" y="5802578"/>
            <a:ext cx="1645920" cy="256032"/>
          </a:xfrm>
          <a:prstGeom prst="rect">
            <a:avLst/>
          </a:prstGeom>
          <a:noFill/>
        </p:spPr>
        <p:txBody>
          <a:bodyPr wrap="square" lIns="0" tIns="0" rIns="0" bIns="0" rtlCol="0" anchor="ctr"/>
          <a:lstStyle/>
          <a:p>
            <a:pPr marL="0" indent="0" algn="ctr">
              <a:buNone/>
            </a:pPr>
            <a:r>
              <a:rPr lang="en-US" sz="1300" b="1" dirty="0">
                <a:solidFill>
                  <a:srgbClr val="5A6478"/>
                </a:solidFill>
                <a:latin typeface="Calibri" pitchFamily="34" charset="0"/>
                <a:ea typeface="Calibri" pitchFamily="34" charset="-122"/>
                <a:cs typeface="Calibri" pitchFamily="34" charset="-120"/>
              </a:rPr>
              <a:t>2026</a:t>
            </a:r>
            <a:endParaRPr lang="en-US" sz="1300" dirty="0"/>
          </a:p>
        </p:txBody>
      </p:sp>
      <p:sp>
        <p:nvSpPr>
          <p:cNvPr id="9" name="Shape 7"/>
          <p:cNvSpPr/>
          <p:nvPr/>
        </p:nvSpPr>
        <p:spPr>
          <a:xfrm>
            <a:off x="2962656" y="4617720"/>
            <a:ext cx="566928" cy="310896"/>
          </a:xfrm>
          <a:prstGeom prst="roundRect">
            <a:avLst>
              <a:gd name="adj" fmla="val 50000"/>
            </a:avLst>
          </a:prstGeom>
          <a:solidFill>
            <a:srgbClr val="1A2233"/>
          </a:solidFill>
        </p:spPr>
        <p:txBody>
          <a:bodyPr/>
          <a:lstStyle/>
          <a:p>
            <a:endParaRPr lang="en-US"/>
          </a:p>
        </p:txBody>
      </p:sp>
      <p:sp>
        <p:nvSpPr>
          <p:cNvPr id="10" name="Text 8"/>
          <p:cNvSpPr/>
          <p:nvPr/>
        </p:nvSpPr>
        <p:spPr>
          <a:xfrm>
            <a:off x="2911140" y="4608576"/>
            <a:ext cx="56692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×3.4</a:t>
            </a:r>
            <a:endParaRPr lang="en-US" sz="1200" dirty="0"/>
          </a:p>
        </p:txBody>
      </p:sp>
      <p:sp>
        <p:nvSpPr>
          <p:cNvPr id="11" name="Shape 9"/>
          <p:cNvSpPr/>
          <p:nvPr/>
        </p:nvSpPr>
        <p:spPr>
          <a:xfrm>
            <a:off x="3337560" y="4297680"/>
            <a:ext cx="868680" cy="1417320"/>
          </a:xfrm>
          <a:prstGeom prst="rect">
            <a:avLst/>
          </a:prstGeom>
          <a:solidFill>
            <a:srgbClr val="2777EF"/>
          </a:solidFill>
        </p:spPr>
        <p:txBody>
          <a:bodyPr/>
          <a:lstStyle/>
          <a:p>
            <a:endParaRPr lang="en-US"/>
          </a:p>
        </p:txBody>
      </p:sp>
      <p:sp>
        <p:nvSpPr>
          <p:cNvPr id="12" name="Text 10"/>
          <p:cNvSpPr/>
          <p:nvPr/>
        </p:nvSpPr>
        <p:spPr>
          <a:xfrm>
            <a:off x="2926080" y="3931920"/>
            <a:ext cx="1691640" cy="292608"/>
          </a:xfrm>
          <a:prstGeom prst="rect">
            <a:avLst/>
          </a:prstGeom>
          <a:noFill/>
        </p:spPr>
        <p:txBody>
          <a:bodyPr wrap="square" lIns="0" tIns="0" rIns="0" bIns="0" rtlCol="0" anchor="ctr"/>
          <a:lstStyle/>
          <a:p>
            <a:pPr marL="0" indent="0" algn="ctr">
              <a:buNone/>
            </a:pPr>
            <a:r>
              <a:rPr lang="en-US" sz="1300" b="1" dirty="0">
                <a:solidFill>
                  <a:srgbClr val="2777EF"/>
                </a:solidFill>
                <a:latin typeface="Cambria" pitchFamily="34" charset="0"/>
                <a:ea typeface="Cambria" pitchFamily="34" charset="-122"/>
                <a:cs typeface="Cambria" pitchFamily="34" charset="-120"/>
              </a:rPr>
              <a:t>~340Q</a:t>
            </a:r>
            <a:endParaRPr lang="en-US" sz="1300" dirty="0"/>
          </a:p>
        </p:txBody>
      </p:sp>
      <p:sp>
        <p:nvSpPr>
          <p:cNvPr id="13" name="Shape 11"/>
          <p:cNvSpPr/>
          <p:nvPr/>
        </p:nvSpPr>
        <p:spPr>
          <a:xfrm>
            <a:off x="4297680" y="4630113"/>
            <a:ext cx="868680" cy="1081025"/>
          </a:xfrm>
          <a:prstGeom prst="rect">
            <a:avLst/>
          </a:prstGeom>
          <a:solidFill>
            <a:srgbClr val="D8DCE3"/>
          </a:solidFill>
        </p:spPr>
        <p:txBody>
          <a:bodyPr/>
          <a:lstStyle/>
          <a:p>
            <a:endParaRPr lang="en-US"/>
          </a:p>
        </p:txBody>
      </p:sp>
      <p:sp>
        <p:nvSpPr>
          <p:cNvPr id="14" name="Text 12"/>
          <p:cNvSpPr/>
          <p:nvPr/>
        </p:nvSpPr>
        <p:spPr>
          <a:xfrm>
            <a:off x="3886200" y="4300929"/>
            <a:ext cx="1691640" cy="274320"/>
          </a:xfrm>
          <a:prstGeom prst="rect">
            <a:avLst/>
          </a:prstGeom>
          <a:noFill/>
        </p:spPr>
        <p:txBody>
          <a:bodyPr wrap="square" lIns="0" tIns="0" rIns="0" bIns="0" rtlCol="0" anchor="ctr"/>
          <a:lstStyle/>
          <a:p>
            <a:pPr marL="0" indent="0" algn="ctr">
              <a:buNone/>
            </a:pPr>
            <a:r>
              <a:rPr lang="en-US" sz="1100" b="1" dirty="0">
                <a:solidFill>
                  <a:srgbClr val="5A6478"/>
                </a:solidFill>
                <a:latin typeface="Calibri" pitchFamily="34" charset="0"/>
                <a:ea typeface="Calibri" pitchFamily="34" charset="-122"/>
                <a:cs typeface="Calibri" pitchFamily="34" charset="-120"/>
              </a:rPr>
              <a:t>~225Q</a:t>
            </a:r>
            <a:endParaRPr lang="en-US" sz="1100" dirty="0"/>
          </a:p>
        </p:txBody>
      </p:sp>
      <p:sp>
        <p:nvSpPr>
          <p:cNvPr id="15" name="Text 13"/>
          <p:cNvSpPr/>
          <p:nvPr/>
        </p:nvSpPr>
        <p:spPr>
          <a:xfrm>
            <a:off x="3429000" y="5802578"/>
            <a:ext cx="1645920" cy="256032"/>
          </a:xfrm>
          <a:prstGeom prst="rect">
            <a:avLst/>
          </a:prstGeom>
          <a:noFill/>
        </p:spPr>
        <p:txBody>
          <a:bodyPr wrap="square" lIns="0" tIns="0" rIns="0" bIns="0" rtlCol="0" anchor="ctr"/>
          <a:lstStyle/>
          <a:p>
            <a:pPr marL="0" indent="0" algn="ctr">
              <a:buNone/>
            </a:pPr>
            <a:r>
              <a:rPr lang="en-US" sz="1300" b="1" dirty="0">
                <a:solidFill>
                  <a:srgbClr val="5A6478"/>
                </a:solidFill>
                <a:latin typeface="Calibri" pitchFamily="34" charset="0"/>
                <a:ea typeface="Calibri" pitchFamily="34" charset="-122"/>
                <a:cs typeface="Calibri" pitchFamily="34" charset="-120"/>
              </a:rPr>
              <a:t>2027</a:t>
            </a:r>
            <a:endParaRPr lang="en-US" sz="1300" dirty="0"/>
          </a:p>
        </p:txBody>
      </p:sp>
      <p:sp>
        <p:nvSpPr>
          <p:cNvPr id="16" name="Shape 14"/>
          <p:cNvSpPr/>
          <p:nvPr/>
        </p:nvSpPr>
        <p:spPr>
          <a:xfrm>
            <a:off x="5294376" y="3630168"/>
            <a:ext cx="566928" cy="310896"/>
          </a:xfrm>
          <a:prstGeom prst="roundRect">
            <a:avLst>
              <a:gd name="adj" fmla="val 50000"/>
            </a:avLst>
          </a:prstGeom>
          <a:solidFill>
            <a:srgbClr val="1A2233"/>
          </a:solidFill>
        </p:spPr>
        <p:txBody>
          <a:bodyPr/>
          <a:lstStyle/>
          <a:p>
            <a:endParaRPr lang="en-US"/>
          </a:p>
        </p:txBody>
      </p:sp>
      <p:sp>
        <p:nvSpPr>
          <p:cNvPr id="17" name="Text 15"/>
          <p:cNvSpPr/>
          <p:nvPr/>
        </p:nvSpPr>
        <p:spPr>
          <a:xfrm>
            <a:off x="5242860" y="3621024"/>
            <a:ext cx="56692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×3.4</a:t>
            </a:r>
            <a:endParaRPr lang="en-US" sz="1200" dirty="0"/>
          </a:p>
        </p:txBody>
      </p:sp>
      <p:sp>
        <p:nvSpPr>
          <p:cNvPr id="18" name="Shape 16"/>
          <p:cNvSpPr/>
          <p:nvPr/>
        </p:nvSpPr>
        <p:spPr>
          <a:xfrm>
            <a:off x="5669280" y="3310128"/>
            <a:ext cx="868680" cy="2404872"/>
          </a:xfrm>
          <a:prstGeom prst="rect">
            <a:avLst/>
          </a:prstGeom>
          <a:solidFill>
            <a:srgbClr val="2777EF"/>
          </a:solidFill>
        </p:spPr>
        <p:txBody>
          <a:bodyPr/>
          <a:lstStyle/>
          <a:p>
            <a:endParaRPr lang="en-US"/>
          </a:p>
        </p:txBody>
      </p:sp>
      <p:sp>
        <p:nvSpPr>
          <p:cNvPr id="19" name="Text 17"/>
          <p:cNvSpPr/>
          <p:nvPr/>
        </p:nvSpPr>
        <p:spPr>
          <a:xfrm>
            <a:off x="5257800" y="2944368"/>
            <a:ext cx="1691640" cy="292608"/>
          </a:xfrm>
          <a:prstGeom prst="rect">
            <a:avLst/>
          </a:prstGeom>
          <a:noFill/>
        </p:spPr>
        <p:txBody>
          <a:bodyPr wrap="square" lIns="0" tIns="0" rIns="0" bIns="0" rtlCol="0" anchor="ctr"/>
          <a:lstStyle/>
          <a:p>
            <a:pPr marL="0" indent="0" algn="ctr">
              <a:buNone/>
            </a:pPr>
            <a:r>
              <a:rPr lang="en-US" sz="1300" b="1" dirty="0">
                <a:solidFill>
                  <a:srgbClr val="2777EF"/>
                </a:solidFill>
                <a:latin typeface="Cambria" pitchFamily="34" charset="0"/>
                <a:ea typeface="Cambria" pitchFamily="34" charset="-122"/>
                <a:cs typeface="Cambria" pitchFamily="34" charset="-120"/>
              </a:rPr>
              <a:t>~1,150Q</a:t>
            </a:r>
            <a:endParaRPr lang="en-US" sz="1300" dirty="0"/>
          </a:p>
        </p:txBody>
      </p:sp>
      <p:sp>
        <p:nvSpPr>
          <p:cNvPr id="20" name="Shape 18"/>
          <p:cNvSpPr/>
          <p:nvPr/>
        </p:nvSpPr>
        <p:spPr>
          <a:xfrm>
            <a:off x="6629400" y="3977036"/>
            <a:ext cx="868680" cy="1734102"/>
          </a:xfrm>
          <a:prstGeom prst="rect">
            <a:avLst/>
          </a:prstGeom>
          <a:solidFill>
            <a:srgbClr val="D8DCE3"/>
          </a:solidFill>
        </p:spPr>
        <p:txBody>
          <a:bodyPr/>
          <a:lstStyle/>
          <a:p>
            <a:endParaRPr lang="en-US"/>
          </a:p>
        </p:txBody>
      </p:sp>
      <p:sp>
        <p:nvSpPr>
          <p:cNvPr id="21" name="Text 19"/>
          <p:cNvSpPr/>
          <p:nvPr/>
        </p:nvSpPr>
        <p:spPr>
          <a:xfrm>
            <a:off x="6217920" y="3647852"/>
            <a:ext cx="1691640" cy="274320"/>
          </a:xfrm>
          <a:prstGeom prst="rect">
            <a:avLst/>
          </a:prstGeom>
          <a:noFill/>
        </p:spPr>
        <p:txBody>
          <a:bodyPr wrap="square" lIns="0" tIns="0" rIns="0" bIns="0" rtlCol="0" anchor="ctr"/>
          <a:lstStyle/>
          <a:p>
            <a:pPr marL="0" indent="0" algn="ctr">
              <a:buNone/>
            </a:pPr>
            <a:r>
              <a:rPr lang="en-US" sz="1100" b="1" dirty="0">
                <a:solidFill>
                  <a:srgbClr val="5A6478"/>
                </a:solidFill>
                <a:latin typeface="Calibri" pitchFamily="34" charset="0"/>
                <a:ea typeface="Calibri" pitchFamily="34" charset="-122"/>
                <a:cs typeface="Calibri" pitchFamily="34" charset="-120"/>
              </a:rPr>
              <a:t>~500Q</a:t>
            </a:r>
            <a:endParaRPr lang="en-US" sz="1100" dirty="0"/>
          </a:p>
        </p:txBody>
      </p:sp>
      <p:sp>
        <p:nvSpPr>
          <p:cNvPr id="22" name="Text 20"/>
          <p:cNvSpPr/>
          <p:nvPr/>
        </p:nvSpPr>
        <p:spPr>
          <a:xfrm>
            <a:off x="5760720" y="5802578"/>
            <a:ext cx="1645920" cy="256032"/>
          </a:xfrm>
          <a:prstGeom prst="rect">
            <a:avLst/>
          </a:prstGeom>
          <a:noFill/>
        </p:spPr>
        <p:txBody>
          <a:bodyPr wrap="square" lIns="0" tIns="0" rIns="0" bIns="0" rtlCol="0" anchor="ctr"/>
          <a:lstStyle/>
          <a:p>
            <a:pPr marL="0" indent="0" algn="ctr">
              <a:buNone/>
            </a:pPr>
            <a:r>
              <a:rPr lang="en-US" sz="1300" b="1" dirty="0">
                <a:solidFill>
                  <a:srgbClr val="5A6478"/>
                </a:solidFill>
                <a:latin typeface="Calibri" pitchFamily="34" charset="0"/>
                <a:ea typeface="Calibri" pitchFamily="34" charset="-122"/>
                <a:cs typeface="Calibri" pitchFamily="34" charset="-120"/>
              </a:rPr>
              <a:t>2028</a:t>
            </a:r>
            <a:endParaRPr lang="en-US" sz="1300" dirty="0"/>
          </a:p>
        </p:txBody>
      </p:sp>
      <p:sp>
        <p:nvSpPr>
          <p:cNvPr id="23" name="Shape 21"/>
          <p:cNvSpPr/>
          <p:nvPr/>
        </p:nvSpPr>
        <p:spPr>
          <a:xfrm>
            <a:off x="7626096" y="2615184"/>
            <a:ext cx="566928" cy="310896"/>
          </a:xfrm>
          <a:prstGeom prst="roundRect">
            <a:avLst>
              <a:gd name="adj" fmla="val 50000"/>
            </a:avLst>
          </a:prstGeom>
          <a:solidFill>
            <a:srgbClr val="1A2233"/>
          </a:solidFill>
        </p:spPr>
        <p:txBody>
          <a:bodyPr/>
          <a:lstStyle/>
          <a:p>
            <a:endParaRPr lang="en-US"/>
          </a:p>
        </p:txBody>
      </p:sp>
      <p:sp>
        <p:nvSpPr>
          <p:cNvPr id="24" name="Text 22"/>
          <p:cNvSpPr/>
          <p:nvPr/>
        </p:nvSpPr>
        <p:spPr>
          <a:xfrm>
            <a:off x="7574580" y="2606040"/>
            <a:ext cx="56692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×3.4</a:t>
            </a:r>
            <a:endParaRPr lang="en-US" sz="1200" dirty="0"/>
          </a:p>
        </p:txBody>
      </p:sp>
      <p:sp>
        <p:nvSpPr>
          <p:cNvPr id="25" name="Shape 23"/>
          <p:cNvSpPr/>
          <p:nvPr/>
        </p:nvSpPr>
        <p:spPr>
          <a:xfrm>
            <a:off x="8001000" y="2295144"/>
            <a:ext cx="868680" cy="3419856"/>
          </a:xfrm>
          <a:prstGeom prst="rect">
            <a:avLst/>
          </a:prstGeom>
          <a:solidFill>
            <a:srgbClr val="2777EF"/>
          </a:solidFill>
        </p:spPr>
        <p:txBody>
          <a:bodyPr/>
          <a:lstStyle/>
          <a:p>
            <a:endParaRPr lang="en-US"/>
          </a:p>
        </p:txBody>
      </p:sp>
      <p:sp>
        <p:nvSpPr>
          <p:cNvPr id="26" name="Text 24"/>
          <p:cNvSpPr/>
          <p:nvPr/>
        </p:nvSpPr>
        <p:spPr>
          <a:xfrm>
            <a:off x="7589520" y="1929384"/>
            <a:ext cx="1691640" cy="292608"/>
          </a:xfrm>
          <a:prstGeom prst="rect">
            <a:avLst/>
          </a:prstGeom>
          <a:noFill/>
        </p:spPr>
        <p:txBody>
          <a:bodyPr wrap="square" lIns="0" tIns="0" rIns="0" bIns="0" rtlCol="0" anchor="ctr"/>
          <a:lstStyle/>
          <a:p>
            <a:pPr marL="0" indent="0" algn="ctr">
              <a:buNone/>
            </a:pPr>
            <a:r>
              <a:rPr lang="en-US" sz="1600" b="1" dirty="0">
                <a:solidFill>
                  <a:srgbClr val="2777EF"/>
                </a:solidFill>
                <a:latin typeface="Cambria" pitchFamily="34" charset="0"/>
                <a:ea typeface="Cambria" pitchFamily="34" charset="-122"/>
                <a:cs typeface="Cambria" pitchFamily="34" charset="-120"/>
              </a:rPr>
              <a:t>~4,000Q</a:t>
            </a:r>
            <a:endParaRPr lang="en-US" sz="1600" dirty="0"/>
          </a:p>
        </p:txBody>
      </p:sp>
      <p:sp>
        <p:nvSpPr>
          <p:cNvPr id="27" name="Shape 25"/>
          <p:cNvSpPr/>
          <p:nvPr/>
        </p:nvSpPr>
        <p:spPr>
          <a:xfrm>
            <a:off x="8961120" y="3332180"/>
            <a:ext cx="868680" cy="2378958"/>
          </a:xfrm>
          <a:prstGeom prst="rect">
            <a:avLst/>
          </a:prstGeom>
          <a:solidFill>
            <a:srgbClr val="D8DCE3"/>
          </a:solidFill>
        </p:spPr>
        <p:txBody>
          <a:bodyPr/>
          <a:lstStyle/>
          <a:p>
            <a:endParaRPr lang="en-US"/>
          </a:p>
        </p:txBody>
      </p:sp>
      <p:sp>
        <p:nvSpPr>
          <p:cNvPr id="28" name="Text 26"/>
          <p:cNvSpPr/>
          <p:nvPr/>
        </p:nvSpPr>
        <p:spPr>
          <a:xfrm>
            <a:off x="8549640" y="3002996"/>
            <a:ext cx="1691640" cy="274320"/>
          </a:xfrm>
          <a:prstGeom prst="rect">
            <a:avLst/>
          </a:prstGeom>
          <a:noFill/>
        </p:spPr>
        <p:txBody>
          <a:bodyPr wrap="square" lIns="0" tIns="0" rIns="0" bIns="0" rtlCol="0" anchor="ctr"/>
          <a:lstStyle/>
          <a:p>
            <a:pPr marL="0" indent="0" algn="ctr">
              <a:buNone/>
            </a:pPr>
            <a:r>
              <a:rPr lang="en-US" sz="1100" b="1" dirty="0">
                <a:solidFill>
                  <a:srgbClr val="5A6478"/>
                </a:solidFill>
                <a:latin typeface="Calibri" pitchFamily="34" charset="0"/>
                <a:ea typeface="Calibri" pitchFamily="34" charset="-122"/>
                <a:cs typeface="Calibri" pitchFamily="34" charset="-120"/>
              </a:rPr>
              <a:t>~1,100Q</a:t>
            </a:r>
            <a:endParaRPr lang="en-US" sz="1100" dirty="0"/>
          </a:p>
        </p:txBody>
      </p:sp>
      <p:sp>
        <p:nvSpPr>
          <p:cNvPr id="29" name="Text 27"/>
          <p:cNvSpPr/>
          <p:nvPr/>
        </p:nvSpPr>
        <p:spPr>
          <a:xfrm>
            <a:off x="8092440" y="5802578"/>
            <a:ext cx="1645920" cy="256032"/>
          </a:xfrm>
          <a:prstGeom prst="rect">
            <a:avLst/>
          </a:prstGeom>
          <a:noFill/>
        </p:spPr>
        <p:txBody>
          <a:bodyPr wrap="square" lIns="0" tIns="0" rIns="0" bIns="0" rtlCol="0" anchor="ctr"/>
          <a:lstStyle/>
          <a:p>
            <a:pPr marL="0" indent="0" algn="ctr">
              <a:buNone/>
            </a:pPr>
            <a:r>
              <a:rPr lang="en-US" sz="1300" b="1" dirty="0">
                <a:solidFill>
                  <a:srgbClr val="5A6478"/>
                </a:solidFill>
                <a:latin typeface="Calibri" pitchFamily="34" charset="0"/>
                <a:ea typeface="Calibri" pitchFamily="34" charset="-122"/>
                <a:cs typeface="Calibri" pitchFamily="34" charset="-120"/>
              </a:rPr>
              <a:t>2029</a:t>
            </a:r>
            <a:endParaRPr lang="en-US" sz="1300" dirty="0"/>
          </a:p>
        </p:txBody>
      </p:sp>
      <p:sp>
        <p:nvSpPr>
          <p:cNvPr id="32" name="Shape 30"/>
          <p:cNvSpPr/>
          <p:nvPr/>
        </p:nvSpPr>
        <p:spPr>
          <a:xfrm>
            <a:off x="10058400" y="2327858"/>
            <a:ext cx="256032" cy="256032"/>
          </a:xfrm>
          <a:prstGeom prst="rect">
            <a:avLst/>
          </a:prstGeom>
          <a:solidFill>
            <a:srgbClr val="2777EF"/>
          </a:solidFill>
        </p:spPr>
        <p:txBody>
          <a:bodyPr/>
          <a:lstStyle/>
          <a:p>
            <a:endParaRPr lang="en-US"/>
          </a:p>
        </p:txBody>
      </p:sp>
      <p:sp>
        <p:nvSpPr>
          <p:cNvPr id="33" name="Text 31"/>
          <p:cNvSpPr/>
          <p:nvPr/>
        </p:nvSpPr>
        <p:spPr>
          <a:xfrm>
            <a:off x="10378440" y="2318714"/>
            <a:ext cx="1813560" cy="256031"/>
          </a:xfrm>
          <a:prstGeom prst="rect">
            <a:avLst/>
          </a:prstGeom>
          <a:noFill/>
        </p:spPr>
        <p:txBody>
          <a:bodyPr wrap="square" lIns="0" tIns="0" rIns="0" bIns="0" rtlCol="0" anchor="ctr"/>
          <a:lstStyle/>
          <a:p>
            <a:pPr marL="0" indent="0">
              <a:buNone/>
            </a:pPr>
            <a:r>
              <a:rPr lang="en-US" sz="1150" b="1" dirty="0">
                <a:solidFill>
                  <a:srgbClr val="1A2233"/>
                </a:solidFill>
                <a:latin typeface="Calibri" pitchFamily="34" charset="0"/>
                <a:ea typeface="Calibri" pitchFamily="34" charset="-122"/>
                <a:cs typeface="Calibri" pitchFamily="34" charset="-120"/>
              </a:rPr>
              <a:t>tidal-wave case — ×3.4 / yr</a:t>
            </a:r>
            <a:endParaRPr lang="en-US" sz="1150" dirty="0"/>
          </a:p>
        </p:txBody>
      </p:sp>
      <p:sp>
        <p:nvSpPr>
          <p:cNvPr id="34" name="Shape 32"/>
          <p:cNvSpPr/>
          <p:nvPr/>
        </p:nvSpPr>
        <p:spPr>
          <a:xfrm>
            <a:off x="10058400" y="2693618"/>
            <a:ext cx="256032" cy="256032"/>
          </a:xfrm>
          <a:prstGeom prst="rect">
            <a:avLst/>
          </a:prstGeom>
          <a:solidFill>
            <a:srgbClr val="D8DCE3"/>
          </a:solidFill>
        </p:spPr>
        <p:txBody>
          <a:bodyPr/>
          <a:lstStyle/>
          <a:p>
            <a:endParaRPr lang="en-US"/>
          </a:p>
        </p:txBody>
      </p:sp>
      <p:sp>
        <p:nvSpPr>
          <p:cNvPr id="35" name="Text 33"/>
          <p:cNvSpPr/>
          <p:nvPr/>
        </p:nvSpPr>
        <p:spPr>
          <a:xfrm>
            <a:off x="10378440" y="2684474"/>
            <a:ext cx="1554480" cy="274320"/>
          </a:xfrm>
          <a:prstGeom prst="rect">
            <a:avLst/>
          </a:prstGeom>
          <a:noFill/>
        </p:spPr>
        <p:txBody>
          <a:bodyPr wrap="square" lIns="0" tIns="0" rIns="0" bIns="0" rtlCol="0" anchor="ctr"/>
          <a:lstStyle/>
          <a:p>
            <a:pPr marL="0" indent="0">
              <a:buNone/>
            </a:pPr>
            <a:r>
              <a:rPr lang="en-US" sz="1150" dirty="0">
                <a:solidFill>
                  <a:srgbClr val="5A6478"/>
                </a:solidFill>
                <a:latin typeface="Calibri" pitchFamily="34" charset="0"/>
                <a:ea typeface="Calibri" pitchFamily="34" charset="-122"/>
                <a:cs typeface="Calibri" pitchFamily="34" charset="-120"/>
              </a:rPr>
              <a:t>street floor — ×2.2 / yr</a:t>
            </a:r>
            <a:endParaRPr lang="en-US" sz="1150" dirty="0"/>
          </a:p>
        </p:txBody>
      </p:sp>
      <p:sp>
        <p:nvSpPr>
          <p:cNvPr id="36" name="Text 34"/>
          <p:cNvSpPr/>
          <p:nvPr/>
        </p:nvSpPr>
        <p:spPr>
          <a:xfrm>
            <a:off x="2468880" y="1525771"/>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37" name="Shape 35"/>
          <p:cNvSpPr/>
          <p:nvPr/>
        </p:nvSpPr>
        <p:spPr>
          <a:xfrm>
            <a:off x="2633472" y="1800091"/>
            <a:ext cx="2788920" cy="1234440"/>
          </a:xfrm>
          <a:prstGeom prst="roundRect">
            <a:avLst>
              <a:gd name="adj" fmla="val 6667"/>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38" name="Text 36"/>
          <p:cNvSpPr/>
          <p:nvPr/>
        </p:nvSpPr>
        <p:spPr>
          <a:xfrm>
            <a:off x="2743200" y="1800091"/>
            <a:ext cx="2569464" cy="1234440"/>
          </a:xfrm>
          <a:prstGeom prst="rect">
            <a:avLst/>
          </a:prstGeom>
          <a:noFill/>
        </p:spPr>
        <p:txBody>
          <a:bodyPr wrap="square" lIns="0" tIns="0" rIns="0" bIns="0" rtlCol="0" anchor="ctr"/>
          <a:lstStyle/>
          <a:p>
            <a:pPr marL="0" indent="0" algn="ctr">
              <a:lnSpc>
                <a:spcPct val="102000"/>
              </a:lnSpc>
              <a:buNone/>
            </a:pPr>
            <a:r>
              <a:rPr lang="en-US" b="1" dirty="0">
                <a:solidFill>
                  <a:srgbClr val="1A2233"/>
                </a:solidFill>
                <a:latin typeface="Calibri" pitchFamily="34" charset="0"/>
                <a:ea typeface="Calibri" pitchFamily="34" charset="-122"/>
                <a:cs typeface="Calibri" pitchFamily="34" charset="-120"/>
              </a:rPr>
              <a:t>History ran ×7 / yr. </a:t>
            </a:r>
            <a:r>
              <a:rPr lang="en-US" sz="1600" dirty="0">
                <a:solidFill>
                  <a:srgbClr val="1A2233"/>
                </a:solidFill>
                <a:latin typeface="Calibri" pitchFamily="34" charset="0"/>
                <a:ea typeface="Calibri" pitchFamily="34" charset="-122"/>
                <a:cs typeface="Calibri" pitchFamily="34" charset="-120"/>
              </a:rPr>
              <a:t>The wave case is a deceleration by half.</a:t>
            </a:r>
            <a:endParaRPr lang="en-US" dirty="0"/>
          </a:p>
        </p:txBody>
      </p:sp>
      <p:sp>
        <p:nvSpPr>
          <p:cNvPr id="39" name="Text 37"/>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40" name="Text 38"/>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scenarios. Floor applies unit elasticity to the announced price path; call applies the measured slope at roughly half its trailing pace.</a:t>
            </a:r>
            <a:endParaRPr lang="en-US" sz="750" dirty="0"/>
          </a:p>
        </p:txBody>
      </p:sp>
      <p:sp>
        <p:nvSpPr>
          <p:cNvPr id="41"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25</a:t>
            </a:fld>
            <a:endParaRPr lang="en-US"/>
          </a:p>
        </p:txBody>
      </p:sp>
      <p:sp>
        <p:nvSpPr>
          <p:cNvPr id="42" name="TextBox 41"/>
          <p:cNvSpPr txBox="1"/>
          <p:nvPr/>
        </p:nvSpPr>
        <p:spPr>
          <a:xfrm>
            <a:off x="822960" y="3127248"/>
            <a:ext cx="3291840" cy="402336"/>
          </a:xfrm>
          <a:prstGeom prst="rect">
            <a:avLst/>
          </a:prstGeom>
          <a:noFill/>
        </p:spPr>
        <p:txBody>
          <a:bodyPr wrap="square">
            <a:spAutoFit/>
          </a:bodyPr>
          <a:lstStyle/>
          <a:p>
            <a:r>
              <a:rPr sz="1050" b="1">
                <a:solidFill>
                  <a:srgbClr val="8A97B0"/>
                </a:solidFill>
                <a:latin typeface="Segoe UI"/>
              </a:rPr>
              <a:t>✶ SA case ~6,000Q — their map, power-bounded (p. 31)</a:t>
            </a:r>
          </a:p>
        </p:txBody>
      </p:sp>
    </p:spTree>
    <p:extLst>
      <p:ext uri="{BB962C8B-B14F-4D97-AF65-F5344CB8AC3E}">
        <p14:creationId xmlns:p14="http://schemas.microsoft.com/office/powerpoint/2010/main" val="13508388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4,000Q, decomposed: three assumptions, multiplied</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THE 2029 END STATE, BOTTOM-UP — EACH FACTOR AGAINST TODAY</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502920" y="1783080"/>
            <a:ext cx="2487168" cy="3154680"/>
          </a:xfrm>
          <a:prstGeom prst="roundRect">
            <a:avLst>
              <a:gd name="adj" fmla="val 3309"/>
            </a:avLst>
          </a:prstGeom>
          <a:solidFill>
            <a:srgbClr val="F5F8FC"/>
          </a:solidFill>
          <a:ln w="11430">
            <a:solidFill>
              <a:srgbClr val="D5DCE8"/>
            </a:solidFill>
            <a:prstDash val="solid"/>
          </a:ln>
        </p:spPr>
        <p:txBody>
          <a:bodyPr/>
          <a:lstStyle/>
          <a:p>
            <a:endParaRPr lang="en-US"/>
          </a:p>
        </p:txBody>
      </p:sp>
      <p:sp>
        <p:nvSpPr>
          <p:cNvPr id="6" name="Text 4"/>
          <p:cNvSpPr/>
          <p:nvPr/>
        </p:nvSpPr>
        <p:spPr>
          <a:xfrm>
            <a:off x="685800" y="1929384"/>
            <a:ext cx="2121408" cy="566928"/>
          </a:xfrm>
          <a:prstGeom prst="rect">
            <a:avLst/>
          </a:prstGeom>
          <a:noFill/>
        </p:spPr>
        <p:txBody>
          <a:bodyPr wrap="square" lIns="0" tIns="0" rIns="0" bIns="0" rtlCol="0" anchor="ctr"/>
          <a:lstStyle/>
          <a:p>
            <a:pPr marL="0" indent="0">
              <a:buNone/>
            </a:pPr>
            <a:r>
              <a:rPr lang="en-US" sz="2800" b="1" dirty="0">
                <a:solidFill>
                  <a:srgbClr val="1A2233"/>
                </a:solidFill>
                <a:latin typeface="Cambria" pitchFamily="34" charset="0"/>
                <a:ea typeface="Cambria" pitchFamily="34" charset="-122"/>
                <a:cs typeface="Cambria" pitchFamily="34" charset="-120"/>
              </a:rPr>
              <a:t>~2B</a:t>
            </a:r>
            <a:endParaRPr lang="en-US" sz="2800" dirty="0"/>
          </a:p>
        </p:txBody>
      </p:sp>
      <p:sp>
        <p:nvSpPr>
          <p:cNvPr id="7" name="Text 5"/>
          <p:cNvSpPr/>
          <p:nvPr/>
        </p:nvSpPr>
        <p:spPr>
          <a:xfrm>
            <a:off x="685800" y="2514600"/>
            <a:ext cx="2121408" cy="274320"/>
          </a:xfrm>
          <a:prstGeom prst="rect">
            <a:avLst/>
          </a:prstGeom>
          <a:noFill/>
        </p:spPr>
        <p:txBody>
          <a:bodyPr wrap="square" lIns="0" tIns="0" rIns="0" bIns="0" rtlCol="0" anchor="ctr"/>
          <a:lstStyle/>
          <a:p>
            <a:pPr marL="0" indent="0">
              <a:buNone/>
            </a:pPr>
            <a:r>
              <a:rPr lang="en-US" sz="1250" b="1" dirty="0">
                <a:solidFill>
                  <a:srgbClr val="1A2233"/>
                </a:solidFill>
                <a:latin typeface="Calibri" pitchFamily="34" charset="0"/>
                <a:ea typeface="Calibri" pitchFamily="34" charset="-122"/>
                <a:cs typeface="Calibri" pitchFamily="34" charset="-120"/>
              </a:rPr>
              <a:t>weekly AI users</a:t>
            </a:r>
            <a:endParaRPr lang="en-US" sz="1250" dirty="0"/>
          </a:p>
        </p:txBody>
      </p:sp>
      <p:sp>
        <p:nvSpPr>
          <p:cNvPr id="8" name="Shape 6"/>
          <p:cNvSpPr/>
          <p:nvPr/>
        </p:nvSpPr>
        <p:spPr>
          <a:xfrm>
            <a:off x="685800" y="2862072"/>
            <a:ext cx="1481328" cy="274320"/>
          </a:xfrm>
          <a:prstGeom prst="roundRect">
            <a:avLst>
              <a:gd name="adj" fmla="val 50000"/>
            </a:avLst>
          </a:prstGeom>
          <a:solidFill>
            <a:srgbClr val="1A2233"/>
          </a:solidFill>
        </p:spPr>
        <p:txBody>
          <a:bodyPr/>
          <a:lstStyle/>
          <a:p>
            <a:endParaRPr lang="en-US"/>
          </a:p>
        </p:txBody>
      </p:sp>
      <p:sp>
        <p:nvSpPr>
          <p:cNvPr id="9" name="Text 7"/>
          <p:cNvSpPr/>
          <p:nvPr/>
        </p:nvSpPr>
        <p:spPr>
          <a:xfrm>
            <a:off x="685800" y="2852928"/>
            <a:ext cx="1481328" cy="274320"/>
          </a:xfrm>
          <a:prstGeom prst="rect">
            <a:avLst/>
          </a:prstGeom>
          <a:noFill/>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×2 vs today</a:t>
            </a:r>
            <a:endParaRPr lang="en-US" sz="1050" dirty="0"/>
          </a:p>
        </p:txBody>
      </p:sp>
      <p:sp>
        <p:nvSpPr>
          <p:cNvPr id="10" name="Shape 8"/>
          <p:cNvSpPr/>
          <p:nvPr/>
        </p:nvSpPr>
        <p:spPr>
          <a:xfrm>
            <a:off x="822960" y="3954780"/>
            <a:ext cx="777240" cy="571500"/>
          </a:xfrm>
          <a:prstGeom prst="rect">
            <a:avLst/>
          </a:prstGeom>
          <a:solidFill>
            <a:srgbClr val="C9CED6"/>
          </a:solidFill>
        </p:spPr>
        <p:txBody>
          <a:bodyPr/>
          <a:lstStyle/>
          <a:p>
            <a:endParaRPr lang="en-US"/>
          </a:p>
        </p:txBody>
      </p:sp>
      <p:sp>
        <p:nvSpPr>
          <p:cNvPr id="11" name="Text 9"/>
          <p:cNvSpPr/>
          <p:nvPr/>
        </p:nvSpPr>
        <p:spPr>
          <a:xfrm>
            <a:off x="594360" y="3698748"/>
            <a:ext cx="1234440" cy="219456"/>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~1B</a:t>
            </a:r>
            <a:endParaRPr lang="en-US" sz="1150" dirty="0"/>
          </a:p>
        </p:txBody>
      </p:sp>
      <p:sp>
        <p:nvSpPr>
          <p:cNvPr id="12" name="Text 10"/>
          <p:cNvSpPr/>
          <p:nvPr/>
        </p:nvSpPr>
        <p:spPr>
          <a:xfrm>
            <a:off x="594360"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today</a:t>
            </a:r>
            <a:endParaRPr lang="en-US" sz="1050" dirty="0"/>
          </a:p>
        </p:txBody>
      </p:sp>
      <p:sp>
        <p:nvSpPr>
          <p:cNvPr id="13" name="Shape 11"/>
          <p:cNvSpPr/>
          <p:nvPr/>
        </p:nvSpPr>
        <p:spPr>
          <a:xfrm>
            <a:off x="1920240" y="3383280"/>
            <a:ext cx="777240" cy="1143000"/>
          </a:xfrm>
          <a:prstGeom prst="rect">
            <a:avLst/>
          </a:prstGeom>
          <a:solidFill>
            <a:srgbClr val="2777EF"/>
          </a:solidFill>
        </p:spPr>
        <p:txBody>
          <a:bodyPr/>
          <a:lstStyle/>
          <a:p>
            <a:endParaRPr lang="en-US"/>
          </a:p>
        </p:txBody>
      </p:sp>
      <p:sp>
        <p:nvSpPr>
          <p:cNvPr id="14" name="Text 12"/>
          <p:cNvSpPr/>
          <p:nvPr/>
        </p:nvSpPr>
        <p:spPr>
          <a:xfrm>
            <a:off x="1691640" y="3127248"/>
            <a:ext cx="1234440" cy="219456"/>
          </a:xfrm>
          <a:prstGeom prst="rect">
            <a:avLst/>
          </a:prstGeom>
          <a:noFill/>
        </p:spPr>
        <p:txBody>
          <a:bodyPr wrap="square" lIns="0" tIns="0" rIns="0" bIns="0" rtlCol="0" anchor="ctr"/>
          <a:lstStyle/>
          <a:p>
            <a:pPr marL="0" indent="0" algn="ctr">
              <a:buNone/>
            </a:pPr>
            <a:r>
              <a:rPr lang="en-US" sz="1150" b="1" dirty="0">
                <a:solidFill>
                  <a:srgbClr val="2777EF"/>
                </a:solidFill>
                <a:latin typeface="Calibri" pitchFamily="34" charset="0"/>
                <a:ea typeface="Calibri" pitchFamily="34" charset="-122"/>
                <a:cs typeface="Calibri" pitchFamily="34" charset="-120"/>
              </a:rPr>
              <a:t>~2B</a:t>
            </a:r>
            <a:endParaRPr lang="en-US" sz="1150" dirty="0"/>
          </a:p>
        </p:txBody>
      </p:sp>
      <p:sp>
        <p:nvSpPr>
          <p:cNvPr id="15" name="Text 13"/>
          <p:cNvSpPr/>
          <p:nvPr/>
        </p:nvSpPr>
        <p:spPr>
          <a:xfrm>
            <a:off x="1691640"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2029e</a:t>
            </a:r>
            <a:endParaRPr lang="en-US" sz="1050" dirty="0"/>
          </a:p>
        </p:txBody>
      </p:sp>
      <p:sp>
        <p:nvSpPr>
          <p:cNvPr id="16" name="Text 14"/>
          <p:cNvSpPr/>
          <p:nvPr/>
        </p:nvSpPr>
        <p:spPr>
          <a:xfrm>
            <a:off x="3008376" y="3017520"/>
            <a:ext cx="384048" cy="502920"/>
          </a:xfrm>
          <a:prstGeom prst="rect">
            <a:avLst/>
          </a:prstGeom>
          <a:noFill/>
        </p:spPr>
        <p:txBody>
          <a:bodyPr wrap="square" lIns="0" tIns="0" rIns="0" bIns="0" rtlCol="0" anchor="ctr"/>
          <a:lstStyle/>
          <a:p>
            <a:pPr marL="0" indent="0" algn="ctr">
              <a:buNone/>
            </a:pPr>
            <a:r>
              <a:rPr lang="en-US" sz="3000" b="1" dirty="0">
                <a:solidFill>
                  <a:srgbClr val="5A6478"/>
                </a:solidFill>
                <a:latin typeface="Cambria" pitchFamily="34" charset="0"/>
                <a:ea typeface="Cambria" pitchFamily="34" charset="-122"/>
                <a:cs typeface="Cambria" pitchFamily="34" charset="-120"/>
              </a:rPr>
              <a:t>×</a:t>
            </a:r>
            <a:endParaRPr lang="en-US" sz="3000" dirty="0"/>
          </a:p>
        </p:txBody>
      </p:sp>
      <p:sp>
        <p:nvSpPr>
          <p:cNvPr id="17" name="Shape 15"/>
          <p:cNvSpPr/>
          <p:nvPr/>
        </p:nvSpPr>
        <p:spPr>
          <a:xfrm>
            <a:off x="3401568" y="1783080"/>
            <a:ext cx="2487168" cy="3154680"/>
          </a:xfrm>
          <a:prstGeom prst="roundRect">
            <a:avLst>
              <a:gd name="adj" fmla="val 3309"/>
            </a:avLst>
          </a:prstGeom>
          <a:solidFill>
            <a:srgbClr val="F5F8FC"/>
          </a:solidFill>
          <a:ln w="11430">
            <a:solidFill>
              <a:srgbClr val="D5DCE8"/>
            </a:solidFill>
            <a:prstDash val="solid"/>
          </a:ln>
        </p:spPr>
        <p:txBody>
          <a:bodyPr/>
          <a:lstStyle/>
          <a:p>
            <a:endParaRPr lang="en-US"/>
          </a:p>
        </p:txBody>
      </p:sp>
      <p:sp>
        <p:nvSpPr>
          <p:cNvPr id="18" name="Text 16"/>
          <p:cNvSpPr/>
          <p:nvPr/>
        </p:nvSpPr>
        <p:spPr>
          <a:xfrm>
            <a:off x="3584448" y="1929384"/>
            <a:ext cx="2121408" cy="566928"/>
          </a:xfrm>
          <a:prstGeom prst="rect">
            <a:avLst/>
          </a:prstGeom>
          <a:noFill/>
        </p:spPr>
        <p:txBody>
          <a:bodyPr wrap="square" lIns="0" tIns="0" rIns="0" bIns="0" rtlCol="0" anchor="ctr"/>
          <a:lstStyle/>
          <a:p>
            <a:pPr marL="0" indent="0">
              <a:buNone/>
            </a:pPr>
            <a:r>
              <a:rPr lang="en-US" sz="2800" b="1" dirty="0">
                <a:solidFill>
                  <a:srgbClr val="1A2233"/>
                </a:solidFill>
                <a:latin typeface="Cambria" pitchFamily="34" charset="0"/>
                <a:ea typeface="Cambria" pitchFamily="34" charset="-122"/>
                <a:cs typeface="Cambria" pitchFamily="34" charset="-120"/>
              </a:rPr>
              <a:t>~22%</a:t>
            </a:r>
            <a:endParaRPr lang="en-US" sz="2800" dirty="0"/>
          </a:p>
        </p:txBody>
      </p:sp>
      <p:sp>
        <p:nvSpPr>
          <p:cNvPr id="19" name="Text 17"/>
          <p:cNvSpPr/>
          <p:nvPr/>
        </p:nvSpPr>
        <p:spPr>
          <a:xfrm>
            <a:off x="3584448" y="2514600"/>
            <a:ext cx="2121408" cy="274320"/>
          </a:xfrm>
          <a:prstGeom prst="rect">
            <a:avLst/>
          </a:prstGeom>
          <a:noFill/>
        </p:spPr>
        <p:txBody>
          <a:bodyPr wrap="square" lIns="0" tIns="0" rIns="0" bIns="0" rtlCol="0" anchor="ctr"/>
          <a:lstStyle/>
          <a:p>
            <a:pPr marL="0" indent="0">
              <a:buNone/>
            </a:pPr>
            <a:r>
              <a:rPr lang="en-US" sz="1250" b="1" dirty="0">
                <a:solidFill>
                  <a:srgbClr val="1A2233"/>
                </a:solidFill>
                <a:latin typeface="Calibri" pitchFamily="34" charset="0"/>
                <a:ea typeface="Calibri" pitchFamily="34" charset="-122"/>
                <a:cs typeface="Calibri" pitchFamily="34" charset="-120"/>
              </a:rPr>
              <a:t>run always-on agents</a:t>
            </a:r>
            <a:endParaRPr lang="en-US" sz="1250" dirty="0"/>
          </a:p>
        </p:txBody>
      </p:sp>
      <p:sp>
        <p:nvSpPr>
          <p:cNvPr id="20" name="Shape 18"/>
          <p:cNvSpPr/>
          <p:nvPr/>
        </p:nvSpPr>
        <p:spPr>
          <a:xfrm>
            <a:off x="3584448" y="2862072"/>
            <a:ext cx="1481328" cy="274320"/>
          </a:xfrm>
          <a:prstGeom prst="roundRect">
            <a:avLst>
              <a:gd name="adj" fmla="val 50000"/>
            </a:avLst>
          </a:prstGeom>
          <a:solidFill>
            <a:srgbClr val="1A2233"/>
          </a:solidFill>
        </p:spPr>
        <p:txBody>
          <a:bodyPr/>
          <a:lstStyle/>
          <a:p>
            <a:endParaRPr lang="en-US"/>
          </a:p>
        </p:txBody>
      </p:sp>
      <p:sp>
        <p:nvSpPr>
          <p:cNvPr id="21" name="Text 19"/>
          <p:cNvSpPr/>
          <p:nvPr/>
        </p:nvSpPr>
        <p:spPr>
          <a:xfrm>
            <a:off x="3584448" y="2852928"/>
            <a:ext cx="1481328" cy="274320"/>
          </a:xfrm>
          <a:prstGeom prst="rect">
            <a:avLst/>
          </a:prstGeom>
          <a:noFill/>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×9 vs today</a:t>
            </a:r>
            <a:endParaRPr lang="en-US" sz="1050" dirty="0"/>
          </a:p>
        </p:txBody>
      </p:sp>
      <p:sp>
        <p:nvSpPr>
          <p:cNvPr id="22" name="Shape 20"/>
          <p:cNvSpPr/>
          <p:nvPr/>
        </p:nvSpPr>
        <p:spPr>
          <a:xfrm>
            <a:off x="3721608" y="4320540"/>
            <a:ext cx="777240" cy="205740"/>
          </a:xfrm>
          <a:prstGeom prst="rect">
            <a:avLst/>
          </a:prstGeom>
          <a:solidFill>
            <a:srgbClr val="C9CED6"/>
          </a:solidFill>
        </p:spPr>
        <p:txBody>
          <a:bodyPr/>
          <a:lstStyle/>
          <a:p>
            <a:endParaRPr lang="en-US"/>
          </a:p>
        </p:txBody>
      </p:sp>
      <p:sp>
        <p:nvSpPr>
          <p:cNvPr id="23" name="Text 21"/>
          <p:cNvSpPr/>
          <p:nvPr/>
        </p:nvSpPr>
        <p:spPr>
          <a:xfrm>
            <a:off x="3493008" y="4064508"/>
            <a:ext cx="1234440" cy="219456"/>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2.5%</a:t>
            </a:r>
            <a:endParaRPr lang="en-US" sz="1150" dirty="0"/>
          </a:p>
        </p:txBody>
      </p:sp>
      <p:sp>
        <p:nvSpPr>
          <p:cNvPr id="24" name="Text 22"/>
          <p:cNvSpPr/>
          <p:nvPr/>
        </p:nvSpPr>
        <p:spPr>
          <a:xfrm>
            <a:off x="3493008"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today</a:t>
            </a:r>
            <a:endParaRPr lang="en-US" sz="1050" dirty="0"/>
          </a:p>
        </p:txBody>
      </p:sp>
      <p:sp>
        <p:nvSpPr>
          <p:cNvPr id="25" name="Shape 23"/>
          <p:cNvSpPr/>
          <p:nvPr/>
        </p:nvSpPr>
        <p:spPr>
          <a:xfrm>
            <a:off x="4818888" y="2852928"/>
            <a:ext cx="777240" cy="1673352"/>
          </a:xfrm>
          <a:prstGeom prst="rect">
            <a:avLst/>
          </a:prstGeom>
          <a:solidFill>
            <a:srgbClr val="2777EF"/>
          </a:solidFill>
        </p:spPr>
        <p:txBody>
          <a:bodyPr/>
          <a:lstStyle/>
          <a:p>
            <a:endParaRPr lang="en-US"/>
          </a:p>
        </p:txBody>
      </p:sp>
      <p:sp>
        <p:nvSpPr>
          <p:cNvPr id="26" name="Text 24"/>
          <p:cNvSpPr/>
          <p:nvPr/>
        </p:nvSpPr>
        <p:spPr>
          <a:xfrm>
            <a:off x="4590288" y="2596896"/>
            <a:ext cx="1234440" cy="219456"/>
          </a:xfrm>
          <a:prstGeom prst="rect">
            <a:avLst/>
          </a:prstGeom>
          <a:noFill/>
        </p:spPr>
        <p:txBody>
          <a:bodyPr wrap="square" lIns="0" tIns="0" rIns="0" bIns="0" rtlCol="0" anchor="ctr"/>
          <a:lstStyle/>
          <a:p>
            <a:pPr marL="0" indent="0" algn="ctr">
              <a:buNone/>
            </a:pPr>
            <a:r>
              <a:rPr lang="en-US" sz="1150" b="1" dirty="0">
                <a:solidFill>
                  <a:srgbClr val="2777EF"/>
                </a:solidFill>
                <a:latin typeface="Calibri" pitchFamily="34" charset="0"/>
                <a:ea typeface="Calibri" pitchFamily="34" charset="-122"/>
                <a:cs typeface="Calibri" pitchFamily="34" charset="-120"/>
              </a:rPr>
              <a:t>22%</a:t>
            </a:r>
            <a:endParaRPr lang="en-US" sz="1150" dirty="0"/>
          </a:p>
        </p:txBody>
      </p:sp>
      <p:sp>
        <p:nvSpPr>
          <p:cNvPr id="27" name="Text 25"/>
          <p:cNvSpPr/>
          <p:nvPr/>
        </p:nvSpPr>
        <p:spPr>
          <a:xfrm>
            <a:off x="4590288"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2029e</a:t>
            </a:r>
            <a:endParaRPr lang="en-US" sz="1050" dirty="0"/>
          </a:p>
        </p:txBody>
      </p:sp>
      <p:sp>
        <p:nvSpPr>
          <p:cNvPr id="28" name="Text 26"/>
          <p:cNvSpPr/>
          <p:nvPr/>
        </p:nvSpPr>
        <p:spPr>
          <a:xfrm>
            <a:off x="5907024" y="3017520"/>
            <a:ext cx="384048" cy="502920"/>
          </a:xfrm>
          <a:prstGeom prst="rect">
            <a:avLst/>
          </a:prstGeom>
          <a:noFill/>
        </p:spPr>
        <p:txBody>
          <a:bodyPr wrap="square" lIns="0" tIns="0" rIns="0" bIns="0" rtlCol="0" anchor="ctr"/>
          <a:lstStyle/>
          <a:p>
            <a:pPr marL="0" indent="0" algn="ctr">
              <a:buNone/>
            </a:pPr>
            <a:r>
              <a:rPr lang="en-US" sz="3000" b="1" dirty="0">
                <a:solidFill>
                  <a:srgbClr val="5A6478"/>
                </a:solidFill>
                <a:latin typeface="Cambria" pitchFamily="34" charset="0"/>
                <a:ea typeface="Cambria" pitchFamily="34" charset="-122"/>
                <a:cs typeface="Cambria" pitchFamily="34" charset="-120"/>
              </a:rPr>
              <a:t>×</a:t>
            </a:r>
            <a:endParaRPr lang="en-US" sz="3000" dirty="0"/>
          </a:p>
        </p:txBody>
      </p:sp>
      <p:sp>
        <p:nvSpPr>
          <p:cNvPr id="29" name="Shape 27"/>
          <p:cNvSpPr/>
          <p:nvPr/>
        </p:nvSpPr>
        <p:spPr>
          <a:xfrm>
            <a:off x="6300216" y="1783080"/>
            <a:ext cx="2487168" cy="3154680"/>
          </a:xfrm>
          <a:prstGeom prst="roundRect">
            <a:avLst>
              <a:gd name="adj" fmla="val 3309"/>
            </a:avLst>
          </a:prstGeom>
          <a:solidFill>
            <a:srgbClr val="F5F8FC"/>
          </a:solidFill>
          <a:ln w="11430">
            <a:solidFill>
              <a:srgbClr val="D5DCE8"/>
            </a:solidFill>
            <a:prstDash val="solid"/>
          </a:ln>
        </p:spPr>
        <p:txBody>
          <a:bodyPr/>
          <a:lstStyle/>
          <a:p>
            <a:endParaRPr lang="en-US"/>
          </a:p>
        </p:txBody>
      </p:sp>
      <p:sp>
        <p:nvSpPr>
          <p:cNvPr id="30" name="Text 28"/>
          <p:cNvSpPr/>
          <p:nvPr/>
        </p:nvSpPr>
        <p:spPr>
          <a:xfrm>
            <a:off x="6483096" y="1929384"/>
            <a:ext cx="2121408" cy="566928"/>
          </a:xfrm>
          <a:prstGeom prst="rect">
            <a:avLst/>
          </a:prstGeom>
          <a:noFill/>
        </p:spPr>
        <p:txBody>
          <a:bodyPr wrap="square" lIns="0" tIns="0" rIns="0" bIns="0" rtlCol="0" anchor="ctr"/>
          <a:lstStyle/>
          <a:p>
            <a:pPr marL="0" indent="0">
              <a:buNone/>
            </a:pPr>
            <a:r>
              <a:rPr lang="en-US" sz="2800" b="1" dirty="0">
                <a:solidFill>
                  <a:srgbClr val="1A2233"/>
                </a:solidFill>
                <a:latin typeface="Cambria" pitchFamily="34" charset="0"/>
                <a:ea typeface="Cambria" pitchFamily="34" charset="-122"/>
                <a:cs typeface="Cambria" pitchFamily="34" charset="-120"/>
              </a:rPr>
              <a:t>10–25M</a:t>
            </a:r>
            <a:endParaRPr lang="en-US" sz="2800" dirty="0"/>
          </a:p>
        </p:txBody>
      </p:sp>
      <p:sp>
        <p:nvSpPr>
          <p:cNvPr id="31" name="Text 29"/>
          <p:cNvSpPr/>
          <p:nvPr/>
        </p:nvSpPr>
        <p:spPr>
          <a:xfrm>
            <a:off x="6483096" y="2514600"/>
            <a:ext cx="2121408" cy="274320"/>
          </a:xfrm>
          <a:prstGeom prst="rect">
            <a:avLst/>
          </a:prstGeom>
          <a:noFill/>
        </p:spPr>
        <p:txBody>
          <a:bodyPr wrap="square" lIns="0" tIns="0" rIns="0" bIns="0" rtlCol="0" anchor="ctr"/>
          <a:lstStyle/>
          <a:p>
            <a:pPr marL="0" indent="0">
              <a:buNone/>
            </a:pPr>
            <a:r>
              <a:rPr lang="en-US" sz="1250" b="1" dirty="0">
                <a:solidFill>
                  <a:srgbClr val="1A2233"/>
                </a:solidFill>
                <a:latin typeface="Calibri" pitchFamily="34" charset="0"/>
                <a:ea typeface="Calibri" pitchFamily="34" charset="-122"/>
                <a:cs typeface="Calibri" pitchFamily="34" charset="-120"/>
              </a:rPr>
              <a:t>tokens per agent-day</a:t>
            </a:r>
            <a:endParaRPr lang="en-US" sz="1250" dirty="0"/>
          </a:p>
        </p:txBody>
      </p:sp>
      <p:sp>
        <p:nvSpPr>
          <p:cNvPr id="32" name="Shape 30"/>
          <p:cNvSpPr/>
          <p:nvPr/>
        </p:nvSpPr>
        <p:spPr>
          <a:xfrm>
            <a:off x="6483096" y="2862072"/>
            <a:ext cx="1481328" cy="274320"/>
          </a:xfrm>
          <a:prstGeom prst="roundRect">
            <a:avLst>
              <a:gd name="adj" fmla="val 50000"/>
            </a:avLst>
          </a:prstGeom>
          <a:solidFill>
            <a:srgbClr val="1A2233"/>
          </a:solidFill>
        </p:spPr>
        <p:txBody>
          <a:bodyPr/>
          <a:lstStyle/>
          <a:p>
            <a:endParaRPr lang="en-US"/>
          </a:p>
        </p:txBody>
      </p:sp>
      <p:sp>
        <p:nvSpPr>
          <p:cNvPr id="33" name="Text 31"/>
          <p:cNvSpPr/>
          <p:nvPr/>
        </p:nvSpPr>
        <p:spPr>
          <a:xfrm>
            <a:off x="6483096" y="2852928"/>
            <a:ext cx="1481328" cy="274320"/>
          </a:xfrm>
          <a:prstGeom prst="rect">
            <a:avLst/>
          </a:prstGeom>
          <a:noFill/>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the observed band</a:t>
            </a:r>
            <a:endParaRPr lang="en-US" sz="1050" dirty="0"/>
          </a:p>
        </p:txBody>
      </p:sp>
      <p:sp>
        <p:nvSpPr>
          <p:cNvPr id="34" name="Shape 32"/>
          <p:cNvSpPr/>
          <p:nvPr/>
        </p:nvSpPr>
        <p:spPr>
          <a:xfrm>
            <a:off x="6620256" y="4011930"/>
            <a:ext cx="777240" cy="514350"/>
          </a:xfrm>
          <a:prstGeom prst="rect">
            <a:avLst/>
          </a:prstGeom>
          <a:solidFill>
            <a:srgbClr val="C9CED6"/>
          </a:solidFill>
        </p:spPr>
        <p:txBody>
          <a:bodyPr/>
          <a:lstStyle/>
          <a:p>
            <a:endParaRPr lang="en-US"/>
          </a:p>
        </p:txBody>
      </p:sp>
      <p:sp>
        <p:nvSpPr>
          <p:cNvPr id="35" name="Text 33"/>
          <p:cNvSpPr/>
          <p:nvPr/>
        </p:nvSpPr>
        <p:spPr>
          <a:xfrm>
            <a:off x="6391656" y="3755898"/>
            <a:ext cx="1234440" cy="219456"/>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10M</a:t>
            </a:r>
            <a:endParaRPr lang="en-US" sz="1150" dirty="0"/>
          </a:p>
        </p:txBody>
      </p:sp>
      <p:sp>
        <p:nvSpPr>
          <p:cNvPr id="36" name="Text 34"/>
          <p:cNvSpPr/>
          <p:nvPr/>
        </p:nvSpPr>
        <p:spPr>
          <a:xfrm>
            <a:off x="6391656"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floor</a:t>
            </a:r>
            <a:endParaRPr lang="en-US" sz="1050" dirty="0"/>
          </a:p>
        </p:txBody>
      </p:sp>
      <p:sp>
        <p:nvSpPr>
          <p:cNvPr id="37" name="Shape 35"/>
          <p:cNvSpPr/>
          <p:nvPr/>
        </p:nvSpPr>
        <p:spPr>
          <a:xfrm>
            <a:off x="7717536" y="3383280"/>
            <a:ext cx="777240" cy="1143000"/>
          </a:xfrm>
          <a:prstGeom prst="rect">
            <a:avLst/>
          </a:prstGeom>
          <a:solidFill>
            <a:srgbClr val="2777EF"/>
          </a:solidFill>
        </p:spPr>
        <p:txBody>
          <a:bodyPr/>
          <a:lstStyle/>
          <a:p>
            <a:endParaRPr lang="en-US"/>
          </a:p>
        </p:txBody>
      </p:sp>
      <p:sp>
        <p:nvSpPr>
          <p:cNvPr id="38" name="Text 36"/>
          <p:cNvSpPr/>
          <p:nvPr/>
        </p:nvSpPr>
        <p:spPr>
          <a:xfrm>
            <a:off x="7488936" y="3127248"/>
            <a:ext cx="1234440" cy="219456"/>
          </a:xfrm>
          <a:prstGeom prst="rect">
            <a:avLst/>
          </a:prstGeom>
          <a:noFill/>
        </p:spPr>
        <p:txBody>
          <a:bodyPr wrap="square" lIns="0" tIns="0" rIns="0" bIns="0" rtlCol="0" anchor="ctr"/>
          <a:lstStyle/>
          <a:p>
            <a:pPr marL="0" indent="0" algn="ctr">
              <a:buNone/>
            </a:pPr>
            <a:r>
              <a:rPr lang="en-US" sz="1150" b="1" dirty="0">
                <a:solidFill>
                  <a:srgbClr val="2777EF"/>
                </a:solidFill>
                <a:latin typeface="Calibri" pitchFamily="34" charset="0"/>
                <a:ea typeface="Calibri" pitchFamily="34" charset="-122"/>
                <a:cs typeface="Calibri" pitchFamily="34" charset="-120"/>
              </a:rPr>
              <a:t>25M</a:t>
            </a:r>
            <a:endParaRPr lang="en-US" sz="1150" dirty="0"/>
          </a:p>
        </p:txBody>
      </p:sp>
      <p:sp>
        <p:nvSpPr>
          <p:cNvPr id="39" name="Text 37"/>
          <p:cNvSpPr/>
          <p:nvPr/>
        </p:nvSpPr>
        <p:spPr>
          <a:xfrm>
            <a:off x="7488936"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wave</a:t>
            </a:r>
            <a:endParaRPr lang="en-US" sz="1050" dirty="0"/>
          </a:p>
        </p:txBody>
      </p:sp>
      <p:sp>
        <p:nvSpPr>
          <p:cNvPr id="40" name="Text 38"/>
          <p:cNvSpPr/>
          <p:nvPr/>
        </p:nvSpPr>
        <p:spPr>
          <a:xfrm>
            <a:off x="8805672" y="3017520"/>
            <a:ext cx="384048" cy="502920"/>
          </a:xfrm>
          <a:prstGeom prst="rect">
            <a:avLst/>
          </a:prstGeom>
          <a:noFill/>
        </p:spPr>
        <p:txBody>
          <a:bodyPr wrap="square" lIns="0" tIns="0" rIns="0" bIns="0" rtlCol="0" anchor="ctr"/>
          <a:lstStyle/>
          <a:p>
            <a:pPr marL="0" indent="0" algn="ctr">
              <a:buNone/>
            </a:pPr>
            <a:r>
              <a:rPr lang="en-US" sz="3000" b="1" dirty="0">
                <a:solidFill>
                  <a:srgbClr val="5A6478"/>
                </a:solidFill>
                <a:latin typeface="Cambria" pitchFamily="34" charset="0"/>
                <a:ea typeface="Cambria" pitchFamily="34" charset="-122"/>
                <a:cs typeface="Cambria" pitchFamily="34" charset="-120"/>
              </a:rPr>
              <a:t>=</a:t>
            </a:r>
            <a:endParaRPr lang="en-US" sz="3000" dirty="0"/>
          </a:p>
        </p:txBody>
      </p:sp>
      <p:sp>
        <p:nvSpPr>
          <p:cNvPr id="41" name="Shape 39"/>
          <p:cNvSpPr/>
          <p:nvPr/>
        </p:nvSpPr>
        <p:spPr>
          <a:xfrm>
            <a:off x="9198864" y="1783080"/>
            <a:ext cx="2487168" cy="3154680"/>
          </a:xfrm>
          <a:prstGeom prst="roundRect">
            <a:avLst>
              <a:gd name="adj" fmla="val 3309"/>
            </a:avLst>
          </a:prstGeom>
          <a:solidFill>
            <a:srgbClr val="EAF1FE"/>
          </a:solidFill>
          <a:ln w="19050">
            <a:solidFill>
              <a:srgbClr val="2777EF"/>
            </a:solidFill>
            <a:prstDash val="solid"/>
          </a:ln>
        </p:spPr>
        <p:txBody>
          <a:bodyPr/>
          <a:lstStyle/>
          <a:p>
            <a:endParaRPr lang="en-US"/>
          </a:p>
        </p:txBody>
      </p:sp>
      <p:sp>
        <p:nvSpPr>
          <p:cNvPr id="42" name="Text 40"/>
          <p:cNvSpPr/>
          <p:nvPr/>
        </p:nvSpPr>
        <p:spPr>
          <a:xfrm>
            <a:off x="9381744" y="1929384"/>
            <a:ext cx="2121408" cy="566928"/>
          </a:xfrm>
          <a:prstGeom prst="rect">
            <a:avLst/>
          </a:prstGeom>
          <a:noFill/>
        </p:spPr>
        <p:txBody>
          <a:bodyPr wrap="square" lIns="0" tIns="0" rIns="0" bIns="0" rtlCol="0" anchor="ctr"/>
          <a:lstStyle/>
          <a:p>
            <a:pPr marL="0" indent="0">
              <a:buNone/>
            </a:pPr>
            <a:r>
              <a:rPr lang="en-US" sz="3000" b="1" dirty="0">
                <a:solidFill>
                  <a:srgbClr val="2777EF"/>
                </a:solidFill>
                <a:latin typeface="Cambria" pitchFamily="34" charset="0"/>
                <a:ea typeface="Cambria" pitchFamily="34" charset="-122"/>
                <a:cs typeface="Cambria" pitchFamily="34" charset="-120"/>
              </a:rPr>
              <a:t>~4,000Q</a:t>
            </a:r>
            <a:endParaRPr lang="en-US" sz="3000" dirty="0"/>
          </a:p>
        </p:txBody>
      </p:sp>
      <p:sp>
        <p:nvSpPr>
          <p:cNvPr id="43" name="Text 41"/>
          <p:cNvSpPr/>
          <p:nvPr/>
        </p:nvSpPr>
        <p:spPr>
          <a:xfrm>
            <a:off x="9381744" y="2514600"/>
            <a:ext cx="2121408" cy="274320"/>
          </a:xfrm>
          <a:prstGeom prst="rect">
            <a:avLst/>
          </a:prstGeom>
          <a:noFill/>
        </p:spPr>
        <p:txBody>
          <a:bodyPr wrap="square" lIns="0" tIns="0" rIns="0" bIns="0" rtlCol="0" anchor="ctr"/>
          <a:lstStyle/>
          <a:p>
            <a:pPr marL="0" indent="0">
              <a:buNone/>
            </a:pPr>
            <a:r>
              <a:rPr lang="en-US" sz="1250" b="1" dirty="0">
                <a:solidFill>
                  <a:srgbClr val="1A2233"/>
                </a:solidFill>
                <a:latin typeface="Calibri" pitchFamily="34" charset="0"/>
                <a:ea typeface="Calibri" pitchFamily="34" charset="-122"/>
                <a:cs typeface="Calibri" pitchFamily="34" charset="-120"/>
              </a:rPr>
              <a:t>tokens per year</a:t>
            </a:r>
            <a:endParaRPr lang="en-US" sz="1250" dirty="0"/>
          </a:p>
        </p:txBody>
      </p:sp>
      <p:sp>
        <p:nvSpPr>
          <p:cNvPr id="44" name="Shape 42"/>
          <p:cNvSpPr/>
          <p:nvPr/>
        </p:nvSpPr>
        <p:spPr>
          <a:xfrm>
            <a:off x="9381744" y="2862072"/>
            <a:ext cx="1481328" cy="274320"/>
          </a:xfrm>
          <a:prstGeom prst="roundRect">
            <a:avLst>
              <a:gd name="adj" fmla="val 50000"/>
            </a:avLst>
          </a:prstGeom>
          <a:solidFill>
            <a:srgbClr val="2777EF"/>
          </a:solidFill>
        </p:spPr>
        <p:txBody>
          <a:bodyPr/>
          <a:lstStyle/>
          <a:p>
            <a:endParaRPr lang="en-US"/>
          </a:p>
        </p:txBody>
      </p:sp>
      <p:sp>
        <p:nvSpPr>
          <p:cNvPr id="45" name="Text 43"/>
          <p:cNvSpPr/>
          <p:nvPr/>
        </p:nvSpPr>
        <p:spPr>
          <a:xfrm>
            <a:off x="9381744" y="2852928"/>
            <a:ext cx="1481328" cy="274320"/>
          </a:xfrm>
          <a:prstGeom prst="rect">
            <a:avLst/>
          </a:prstGeom>
          <a:noFill/>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×40 vs today</a:t>
            </a:r>
            <a:endParaRPr lang="en-US" sz="1050" dirty="0"/>
          </a:p>
        </p:txBody>
      </p:sp>
      <p:sp>
        <p:nvSpPr>
          <p:cNvPr id="46" name="Shape 44"/>
          <p:cNvSpPr/>
          <p:nvPr/>
        </p:nvSpPr>
        <p:spPr>
          <a:xfrm>
            <a:off x="9518904" y="4389120"/>
            <a:ext cx="777240" cy="137160"/>
          </a:xfrm>
          <a:prstGeom prst="rect">
            <a:avLst/>
          </a:prstGeom>
          <a:solidFill>
            <a:srgbClr val="C9CED6"/>
          </a:solidFill>
        </p:spPr>
        <p:txBody>
          <a:bodyPr/>
          <a:lstStyle/>
          <a:p>
            <a:endParaRPr lang="en-US"/>
          </a:p>
        </p:txBody>
      </p:sp>
      <p:sp>
        <p:nvSpPr>
          <p:cNvPr id="47" name="Text 45"/>
          <p:cNvSpPr/>
          <p:nvPr/>
        </p:nvSpPr>
        <p:spPr>
          <a:xfrm>
            <a:off x="9290304" y="4133088"/>
            <a:ext cx="1234440" cy="219456"/>
          </a:xfrm>
          <a:prstGeom prst="rect">
            <a:avLst/>
          </a:prstGeom>
          <a:noFill/>
        </p:spPr>
        <p:txBody>
          <a:bodyPr wrap="square" lIns="0" tIns="0" rIns="0" bIns="0" rtlCol="0" anchor="ctr"/>
          <a:lstStyle/>
          <a:p>
            <a:pPr marL="0" indent="0" algn="ctr">
              <a:buNone/>
            </a:pPr>
            <a:r>
              <a:rPr lang="en-US" sz="1150" b="1" dirty="0">
                <a:solidFill>
                  <a:srgbClr val="5A6478"/>
                </a:solidFill>
                <a:latin typeface="Calibri" pitchFamily="34" charset="0"/>
                <a:ea typeface="Calibri" pitchFamily="34" charset="-122"/>
                <a:cs typeface="Calibri" pitchFamily="34" charset="-120"/>
              </a:rPr>
              <a:t>100Q</a:t>
            </a:r>
            <a:endParaRPr lang="en-US" sz="1150" dirty="0"/>
          </a:p>
        </p:txBody>
      </p:sp>
      <p:sp>
        <p:nvSpPr>
          <p:cNvPr id="48" name="Text 46"/>
          <p:cNvSpPr/>
          <p:nvPr/>
        </p:nvSpPr>
        <p:spPr>
          <a:xfrm>
            <a:off x="9290304"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today</a:t>
            </a:r>
            <a:endParaRPr lang="en-US" sz="1050" dirty="0"/>
          </a:p>
        </p:txBody>
      </p:sp>
      <p:sp>
        <p:nvSpPr>
          <p:cNvPr id="49" name="Shape 47"/>
          <p:cNvSpPr/>
          <p:nvPr/>
        </p:nvSpPr>
        <p:spPr>
          <a:xfrm>
            <a:off x="10616184" y="3383280"/>
            <a:ext cx="777240" cy="1143000"/>
          </a:xfrm>
          <a:prstGeom prst="rect">
            <a:avLst/>
          </a:prstGeom>
          <a:solidFill>
            <a:srgbClr val="2777EF"/>
          </a:solidFill>
        </p:spPr>
        <p:txBody>
          <a:bodyPr/>
          <a:lstStyle/>
          <a:p>
            <a:endParaRPr lang="en-US"/>
          </a:p>
        </p:txBody>
      </p:sp>
      <p:sp>
        <p:nvSpPr>
          <p:cNvPr id="50" name="Text 48"/>
          <p:cNvSpPr/>
          <p:nvPr/>
        </p:nvSpPr>
        <p:spPr>
          <a:xfrm>
            <a:off x="10387584" y="3127248"/>
            <a:ext cx="1234440" cy="219456"/>
          </a:xfrm>
          <a:prstGeom prst="rect">
            <a:avLst/>
          </a:prstGeom>
          <a:noFill/>
        </p:spPr>
        <p:txBody>
          <a:bodyPr wrap="square" lIns="0" tIns="0" rIns="0" bIns="0" rtlCol="0" anchor="ctr"/>
          <a:lstStyle/>
          <a:p>
            <a:pPr marL="0" indent="0" algn="ctr">
              <a:buNone/>
            </a:pPr>
            <a:r>
              <a:rPr lang="en-US" sz="1150" b="1" dirty="0">
                <a:solidFill>
                  <a:srgbClr val="2777EF"/>
                </a:solidFill>
                <a:latin typeface="Calibri" pitchFamily="34" charset="0"/>
                <a:ea typeface="Calibri" pitchFamily="34" charset="-122"/>
                <a:cs typeface="Calibri" pitchFamily="34" charset="-120"/>
              </a:rPr>
              <a:t>4,000Q</a:t>
            </a:r>
            <a:endParaRPr lang="en-US" sz="1150" dirty="0"/>
          </a:p>
        </p:txBody>
      </p:sp>
      <p:sp>
        <p:nvSpPr>
          <p:cNvPr id="51" name="Text 49"/>
          <p:cNvSpPr/>
          <p:nvPr/>
        </p:nvSpPr>
        <p:spPr>
          <a:xfrm>
            <a:off x="10387584" y="4572000"/>
            <a:ext cx="1234440" cy="201168"/>
          </a:xfrm>
          <a:prstGeom prst="rect">
            <a:avLst/>
          </a:prstGeom>
          <a:noFill/>
        </p:spPr>
        <p:txBody>
          <a:bodyPr wrap="square" lIns="0" tIns="0" rIns="0" bIns="0" rtlCol="0" anchor="ctr"/>
          <a:lstStyle/>
          <a:p>
            <a:pPr marL="0" indent="0" algn="ctr">
              <a:buNone/>
            </a:pPr>
            <a:r>
              <a:rPr lang="en-US" sz="1050" dirty="0">
                <a:solidFill>
                  <a:srgbClr val="8A97B0"/>
                </a:solidFill>
                <a:latin typeface="Calibri" pitchFamily="34" charset="0"/>
                <a:ea typeface="Calibri" pitchFamily="34" charset="-122"/>
                <a:cs typeface="Calibri" pitchFamily="34" charset="-120"/>
              </a:rPr>
              <a:t>2029e</a:t>
            </a:r>
            <a:endParaRPr lang="en-US" sz="1050" dirty="0"/>
          </a:p>
        </p:txBody>
      </p:sp>
      <p:sp>
        <p:nvSpPr>
          <p:cNvPr id="52" name="Shape 50"/>
          <p:cNvSpPr/>
          <p:nvPr/>
        </p:nvSpPr>
        <p:spPr>
          <a:xfrm>
            <a:off x="777240" y="5154931"/>
            <a:ext cx="10637215" cy="1008124"/>
          </a:xfrm>
          <a:prstGeom prst="roundRect">
            <a:avLst>
              <a:gd name="adj" fmla="val 10588"/>
            </a:avLst>
          </a:prstGeom>
          <a:solidFill>
            <a:srgbClr val="FFFFFF"/>
          </a:solidFill>
          <a:ln w="15875">
            <a:solidFill>
              <a:srgbClr val="2777EF"/>
            </a:solidFill>
            <a:prstDash val="dash"/>
          </a:ln>
        </p:spPr>
        <p:txBody>
          <a:bodyPr/>
          <a:lstStyle/>
          <a:p>
            <a:endParaRPr lang="en-US" sz="2400"/>
          </a:p>
        </p:txBody>
      </p:sp>
      <p:sp>
        <p:nvSpPr>
          <p:cNvPr id="53" name="Text 51"/>
          <p:cNvSpPr/>
          <p:nvPr/>
        </p:nvSpPr>
        <p:spPr>
          <a:xfrm>
            <a:off x="1051560" y="5257800"/>
            <a:ext cx="10088575" cy="777240"/>
          </a:xfrm>
          <a:prstGeom prst="rect">
            <a:avLst/>
          </a:prstGeom>
          <a:noFill/>
        </p:spPr>
        <p:txBody>
          <a:bodyPr wrap="square" lIns="0" tIns="0" rIns="0" bIns="0" rtlCol="0" anchor="ctr"/>
          <a:lstStyle/>
          <a:p>
            <a:pPr marL="0" indent="0">
              <a:lnSpc>
                <a:spcPct val="105000"/>
              </a:lnSpc>
              <a:buNone/>
            </a:pPr>
            <a:r>
              <a:rPr lang="en-US" sz="2400" b="1" dirty="0">
                <a:solidFill>
                  <a:srgbClr val="2777EF"/>
                </a:solidFill>
                <a:latin typeface="Calibri" pitchFamily="34" charset="0"/>
                <a:ea typeface="Calibri" pitchFamily="34" charset="-122"/>
                <a:cs typeface="Calibri" pitchFamily="34" charset="-120"/>
              </a:rPr>
              <a:t>At the street's ~15% share and 10M/day you get its ~1,100Q floor; at 22% and 25M/day you get our ~4,000Q — the debate is adoption and intensity.</a:t>
            </a:r>
            <a:r>
              <a:rPr lang="en-US" sz="2000" dirty="0">
                <a:solidFill>
                  <a:srgbClr val="1A2233"/>
                </a:solidFill>
                <a:latin typeface="Calibri" pitchFamily="34" charset="0"/>
                <a:ea typeface="Calibri" pitchFamily="34" charset="-122"/>
                <a:cs typeface="Calibri" pitchFamily="34" charset="-120"/>
              </a:rPr>
              <a:t/>
            </a:r>
            <a:r>
              <a:rPr lang="en-US" sz="2000" b="1" dirty="0">
                <a:solidFill>
                  <a:srgbClr val="1A2233"/>
                </a:solidFill>
                <a:latin typeface="Calibri" pitchFamily="34" charset="0"/>
                <a:ea typeface="Calibri" pitchFamily="34" charset="-122"/>
                <a:cs typeface="Calibri" pitchFamily="34" charset="-120"/>
              </a:rPr>
              <a:t/>
            </a:r>
            <a:r>
              <a:rPr lang="en-US" sz="2000" dirty="0">
                <a:solidFill>
                  <a:srgbClr val="1A2233"/>
                </a:solidFill>
                <a:latin typeface="Calibri" pitchFamily="34" charset="0"/>
                <a:ea typeface="Calibri" pitchFamily="34" charset="-122"/>
                <a:cs typeface="Calibri" pitchFamily="34" charset="-120"/>
              </a:rPr>
              <a:t/>
            </a:r>
            <a:endParaRPr lang="en-US" sz="2400" dirty="0"/>
          </a:p>
        </p:txBody>
      </p:sp>
      <p:sp>
        <p:nvSpPr>
          <p:cNvPr id="54" name="Text 52"/>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55" name="Text 53"/>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estimates, illustrative: 2B × 22% × 25M tokens/day × 365 ≈ 4,000Q; at 15% share and 10M/day ≈ 1,100Q (the floor). Equivalent to ~×3.4/yr for three years vs. the trailing ~×7/yr.</a:t>
            </a:r>
            <a:endParaRPr lang="en-US" sz="750" dirty="0"/>
          </a:p>
        </p:txBody>
      </p:sp>
      <p:sp>
        <p:nvSpPr>
          <p:cNvPr id="56"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26</a:t>
            </a:fld>
            <a:endParaRPr lang="en-US"/>
          </a:p>
        </p:txBody>
      </p:sp>
    </p:spTree>
    <p:extLst>
      <p:ext uri="{BB962C8B-B14F-4D97-AF65-F5344CB8AC3E}">
        <p14:creationId xmlns:p14="http://schemas.microsoft.com/office/powerpoint/2010/main" val="960698260"/>
      </p:ext>
    </p:extLst>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prints keep landing on our curve — or above it</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DATED, PUBLIC TOKEN DISCLOSURES VS. THE SKYCATCHER PATH — ALL THIRD-PARTY, ALL ON THE RECORD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45920"/>
            <a:ext cx="10634472" cy="731520"/>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73936"/>
            <a:ext cx="1005840" cy="274320"/>
          </a:xfrm>
          <a:prstGeom prst="rect">
            <a:avLst/>
          </a:prstGeom>
          <a:noFill/>
        </p:spPr>
        <p:txBody>
          <a:bodyPr wrap="square" lIns="0" rIns="0" tIns="0" bIns="0">
            <a:spAutoFit/>
          </a:bodyPr>
          <a:lstStyle/>
          <a:p>
            <a:pPr algn="l"/>
            <a:r>
              <a:rPr sz="1050" b="1" i="0">
                <a:solidFill>
                  <a:srgbClr val="2777EF"/>
                </a:solidFill>
                <a:latin typeface="Calibri"/>
              </a:rPr>
              <a:t>APR '25</a:t>
            </a:r>
          </a:p>
        </p:txBody>
      </p:sp>
      <p:sp>
        <p:nvSpPr>
          <p:cNvPr id="7" name="TextBox 6"/>
          <p:cNvSpPr txBox="1"/>
          <p:nvPr/>
        </p:nvSpPr>
        <p:spPr>
          <a:xfrm>
            <a:off x="2148840" y="1773936"/>
            <a:ext cx="2651760" cy="502920"/>
          </a:xfrm>
          <a:prstGeom prst="rect">
            <a:avLst/>
          </a:prstGeom>
          <a:noFill/>
        </p:spPr>
        <p:txBody>
          <a:bodyPr wrap="square" lIns="0" rIns="0" tIns="0" bIns="0">
            <a:spAutoFit/>
          </a:bodyPr>
          <a:lstStyle/>
          <a:p>
            <a:pPr algn="l"/>
            <a:r>
              <a:rPr sz="1050" b="1" i="0">
                <a:solidFill>
                  <a:srgbClr val="1A2233"/>
                </a:solidFill>
                <a:latin typeface="Calibri"/>
              </a:rPr>
              <a:t>Microsoft, FY25 Q3 earnings</a:t>
            </a:r>
          </a:p>
        </p:txBody>
      </p:sp>
      <p:sp>
        <p:nvSpPr>
          <p:cNvPr id="8" name="TextBox 7"/>
          <p:cNvSpPr txBox="1"/>
          <p:nvPr/>
        </p:nvSpPr>
        <p:spPr>
          <a:xfrm>
            <a:off x="4983480" y="1737360"/>
            <a:ext cx="3017520" cy="502920"/>
          </a:xfrm>
          <a:prstGeom prst="rect">
            <a:avLst/>
          </a:prstGeom>
          <a:noFill/>
        </p:spPr>
        <p:txBody>
          <a:bodyPr wrap="square" lIns="0" rIns="0" tIns="0" bIns="0">
            <a:spAutoFit/>
          </a:bodyPr>
          <a:lstStyle/>
          <a:p>
            <a:pPr algn="l"/>
            <a:r>
              <a:rPr sz="1500" b="1" i="0">
                <a:solidFill>
                  <a:srgbClr val="1A2233"/>
                </a:solidFill>
                <a:latin typeface="Cambria"/>
              </a:rPr>
              <a:t>&gt;100T tokens / quarter</a:t>
            </a:r>
          </a:p>
        </p:txBody>
      </p:sp>
      <p:sp>
        <p:nvSpPr>
          <p:cNvPr id="9" name="TextBox 8"/>
          <p:cNvSpPr txBox="1"/>
          <p:nvPr/>
        </p:nvSpPr>
        <p:spPr>
          <a:xfrm>
            <a:off x="8092440" y="1773936"/>
            <a:ext cx="3108960" cy="502920"/>
          </a:xfrm>
          <a:prstGeom prst="rect">
            <a:avLst/>
          </a:prstGeom>
          <a:noFill/>
        </p:spPr>
        <p:txBody>
          <a:bodyPr wrap="square" lIns="0" rIns="0" tIns="0" bIns="0">
            <a:spAutoFit/>
          </a:bodyPr>
          <a:lstStyle/>
          <a:p>
            <a:pPr algn="l"/>
            <a:r>
              <a:rPr sz="950" b="0" i="0">
                <a:solidFill>
                  <a:srgbClr val="5A6478"/>
                </a:solidFill>
                <a:latin typeface="Calibri"/>
              </a:rPr>
              <a:t>50T in March alone — ×5 y/y</a:t>
            </a:r>
          </a:p>
        </p:txBody>
      </p:sp>
      <p:sp>
        <p:nvSpPr>
          <p:cNvPr id="10" name="Rounded Rectangle 9"/>
          <p:cNvSpPr/>
          <p:nvPr/>
        </p:nvSpPr>
        <p:spPr>
          <a:xfrm>
            <a:off x="777240" y="2468880"/>
            <a:ext cx="10634472" cy="731520"/>
          </a:xfrm>
          <a:prstGeom prst="roundRect">
            <a:avLst>
              <a:gd name="adj" fmla="val 10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96896"/>
            <a:ext cx="1005840" cy="274320"/>
          </a:xfrm>
          <a:prstGeom prst="rect">
            <a:avLst/>
          </a:prstGeom>
          <a:noFill/>
        </p:spPr>
        <p:txBody>
          <a:bodyPr wrap="square" lIns="0" rIns="0" tIns="0" bIns="0">
            <a:spAutoFit/>
          </a:bodyPr>
          <a:lstStyle/>
          <a:p>
            <a:pPr algn="l"/>
            <a:r>
              <a:rPr sz="1050" b="1" i="0">
                <a:solidFill>
                  <a:srgbClr val="2777EF"/>
                </a:solidFill>
                <a:latin typeface="Calibri"/>
              </a:rPr>
              <a:t>MAY '25</a:t>
            </a:r>
          </a:p>
        </p:txBody>
      </p:sp>
      <p:sp>
        <p:nvSpPr>
          <p:cNvPr id="12" name="TextBox 11"/>
          <p:cNvSpPr txBox="1"/>
          <p:nvPr/>
        </p:nvSpPr>
        <p:spPr>
          <a:xfrm>
            <a:off x="2148840" y="2596896"/>
            <a:ext cx="2651760" cy="502920"/>
          </a:xfrm>
          <a:prstGeom prst="rect">
            <a:avLst/>
          </a:prstGeom>
          <a:noFill/>
        </p:spPr>
        <p:txBody>
          <a:bodyPr wrap="square" lIns="0" rIns="0" tIns="0" bIns="0">
            <a:spAutoFit/>
          </a:bodyPr>
          <a:lstStyle/>
          <a:p>
            <a:pPr algn="l"/>
            <a:r>
              <a:rPr sz="1050" b="1" i="0">
                <a:solidFill>
                  <a:srgbClr val="1A2233"/>
                </a:solidFill>
                <a:latin typeface="Calibri"/>
              </a:rPr>
              <a:t>Google, I/O keynote</a:t>
            </a:r>
          </a:p>
        </p:txBody>
      </p:sp>
      <p:sp>
        <p:nvSpPr>
          <p:cNvPr id="13" name="TextBox 12"/>
          <p:cNvSpPr txBox="1"/>
          <p:nvPr/>
        </p:nvSpPr>
        <p:spPr>
          <a:xfrm>
            <a:off x="4983480" y="2560320"/>
            <a:ext cx="3017520" cy="502920"/>
          </a:xfrm>
          <a:prstGeom prst="rect">
            <a:avLst/>
          </a:prstGeom>
          <a:noFill/>
        </p:spPr>
        <p:txBody>
          <a:bodyPr wrap="square" lIns="0" rIns="0" tIns="0" bIns="0">
            <a:spAutoFit/>
          </a:bodyPr>
          <a:lstStyle/>
          <a:p>
            <a:pPr algn="l"/>
            <a:r>
              <a:rPr sz="1500" b="1" i="0">
                <a:solidFill>
                  <a:srgbClr val="1A2233"/>
                </a:solidFill>
                <a:latin typeface="Cambria"/>
              </a:rPr>
              <a:t>~480T tokens / month</a:t>
            </a:r>
          </a:p>
        </p:txBody>
      </p:sp>
      <p:sp>
        <p:nvSpPr>
          <p:cNvPr id="14" name="TextBox 13"/>
          <p:cNvSpPr txBox="1"/>
          <p:nvPr/>
        </p:nvSpPr>
        <p:spPr>
          <a:xfrm>
            <a:off x="8092440" y="2596896"/>
            <a:ext cx="3108960" cy="502920"/>
          </a:xfrm>
          <a:prstGeom prst="rect">
            <a:avLst/>
          </a:prstGeom>
          <a:noFill/>
        </p:spPr>
        <p:txBody>
          <a:bodyPr wrap="square" lIns="0" rIns="0" tIns="0" bIns="0">
            <a:spAutoFit/>
          </a:bodyPr>
          <a:lstStyle/>
          <a:p>
            <a:pPr algn="l"/>
            <a:r>
              <a:rPr sz="950" b="0" i="0">
                <a:solidFill>
                  <a:srgbClr val="5A6478"/>
                </a:solidFill>
                <a:latin typeface="Calibri"/>
              </a:rPr>
              <a:t>×50 y/y — the first platform-scale print</a:t>
            </a:r>
          </a:p>
        </p:txBody>
      </p:sp>
      <p:sp>
        <p:nvSpPr>
          <p:cNvPr id="15" name="Rounded Rectangle 14"/>
          <p:cNvSpPr/>
          <p:nvPr/>
        </p:nvSpPr>
        <p:spPr>
          <a:xfrm>
            <a:off x="777240" y="3291840"/>
            <a:ext cx="10634472" cy="731520"/>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419856"/>
            <a:ext cx="1005840" cy="274320"/>
          </a:xfrm>
          <a:prstGeom prst="rect">
            <a:avLst/>
          </a:prstGeom>
          <a:noFill/>
        </p:spPr>
        <p:txBody>
          <a:bodyPr wrap="square" lIns="0" rIns="0" tIns="0" bIns="0">
            <a:spAutoFit/>
          </a:bodyPr>
          <a:lstStyle/>
          <a:p>
            <a:pPr algn="l"/>
            <a:r>
              <a:rPr sz="1050" b="1" i="0">
                <a:solidFill>
                  <a:srgbClr val="2777EF"/>
                </a:solidFill>
                <a:latin typeface="Calibri"/>
              </a:rPr>
              <a:t>JUL '25</a:t>
            </a:r>
          </a:p>
        </p:txBody>
      </p:sp>
      <p:sp>
        <p:nvSpPr>
          <p:cNvPr id="17" name="TextBox 16"/>
          <p:cNvSpPr txBox="1"/>
          <p:nvPr/>
        </p:nvSpPr>
        <p:spPr>
          <a:xfrm>
            <a:off x="2148840" y="3419856"/>
            <a:ext cx="2651760" cy="502920"/>
          </a:xfrm>
          <a:prstGeom prst="rect">
            <a:avLst/>
          </a:prstGeom>
          <a:noFill/>
        </p:spPr>
        <p:txBody>
          <a:bodyPr wrap="square" lIns="0" rIns="0" tIns="0" bIns="0">
            <a:spAutoFit/>
          </a:bodyPr>
          <a:lstStyle/>
          <a:p>
            <a:pPr algn="l"/>
            <a:r>
              <a:rPr sz="1050" b="1" i="0">
                <a:solidFill>
                  <a:srgbClr val="1A2233"/>
                </a:solidFill>
                <a:latin typeface="Calibri"/>
              </a:rPr>
              <a:t>Alphabet, Q2 earnings</a:t>
            </a:r>
          </a:p>
        </p:txBody>
      </p:sp>
      <p:sp>
        <p:nvSpPr>
          <p:cNvPr id="18" name="TextBox 17"/>
          <p:cNvSpPr txBox="1"/>
          <p:nvPr/>
        </p:nvSpPr>
        <p:spPr>
          <a:xfrm>
            <a:off x="4983480" y="3383280"/>
            <a:ext cx="3017520" cy="502920"/>
          </a:xfrm>
          <a:prstGeom prst="rect">
            <a:avLst/>
          </a:prstGeom>
          <a:noFill/>
        </p:spPr>
        <p:txBody>
          <a:bodyPr wrap="square" lIns="0" rIns="0" tIns="0" bIns="0">
            <a:spAutoFit/>
          </a:bodyPr>
          <a:lstStyle/>
          <a:p>
            <a:pPr algn="l"/>
            <a:r>
              <a:rPr sz="1500" b="1" i="0">
                <a:solidFill>
                  <a:srgbClr val="1A2233"/>
                </a:solidFill>
                <a:latin typeface="Cambria"/>
              </a:rPr>
              <a:t>~980T tokens / month</a:t>
            </a:r>
          </a:p>
        </p:txBody>
      </p:sp>
      <p:sp>
        <p:nvSpPr>
          <p:cNvPr id="19" name="TextBox 18"/>
          <p:cNvSpPr txBox="1"/>
          <p:nvPr/>
        </p:nvSpPr>
        <p:spPr>
          <a:xfrm>
            <a:off x="8092440" y="3419856"/>
            <a:ext cx="3108960" cy="502920"/>
          </a:xfrm>
          <a:prstGeom prst="rect">
            <a:avLst/>
          </a:prstGeom>
          <a:noFill/>
        </p:spPr>
        <p:txBody>
          <a:bodyPr wrap="square" lIns="0" rIns="0" tIns="0" bIns="0">
            <a:spAutoFit/>
          </a:bodyPr>
          <a:lstStyle/>
          <a:p>
            <a:pPr algn="l"/>
            <a:r>
              <a:rPr sz="950" b="0" i="0">
                <a:solidFill>
                  <a:srgbClr val="5A6478"/>
                </a:solidFill>
                <a:latin typeface="Calibri"/>
              </a:rPr>
              <a:t>doubled in ten weeks</a:t>
            </a:r>
          </a:p>
        </p:txBody>
      </p:sp>
      <p:sp>
        <p:nvSpPr>
          <p:cNvPr id="20" name="Rounded Rectangle 19"/>
          <p:cNvSpPr/>
          <p:nvPr/>
        </p:nvSpPr>
        <p:spPr>
          <a:xfrm>
            <a:off x="777240" y="4114800"/>
            <a:ext cx="10634472" cy="731520"/>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5840" y="4242816"/>
            <a:ext cx="1005840" cy="274320"/>
          </a:xfrm>
          <a:prstGeom prst="rect">
            <a:avLst/>
          </a:prstGeom>
          <a:noFill/>
        </p:spPr>
        <p:txBody>
          <a:bodyPr wrap="square" lIns="0" rIns="0" tIns="0" bIns="0">
            <a:spAutoFit/>
          </a:bodyPr>
          <a:lstStyle/>
          <a:p>
            <a:pPr algn="l"/>
            <a:r>
              <a:rPr sz="1050" b="1" i="0">
                <a:solidFill>
                  <a:srgbClr val="2777EF"/>
                </a:solidFill>
                <a:latin typeface="Calibri"/>
              </a:rPr>
              <a:t>OCT '25</a:t>
            </a:r>
          </a:p>
        </p:txBody>
      </p:sp>
      <p:sp>
        <p:nvSpPr>
          <p:cNvPr id="22" name="TextBox 21"/>
          <p:cNvSpPr txBox="1"/>
          <p:nvPr/>
        </p:nvSpPr>
        <p:spPr>
          <a:xfrm>
            <a:off x="2148840" y="4242816"/>
            <a:ext cx="2651760" cy="502920"/>
          </a:xfrm>
          <a:prstGeom prst="rect">
            <a:avLst/>
          </a:prstGeom>
          <a:noFill/>
        </p:spPr>
        <p:txBody>
          <a:bodyPr wrap="square" lIns="0" rIns="0" tIns="0" bIns="0">
            <a:spAutoFit/>
          </a:bodyPr>
          <a:lstStyle/>
          <a:p>
            <a:pPr algn="l"/>
            <a:r>
              <a:rPr sz="1050" b="1" i="0">
                <a:solidFill>
                  <a:srgbClr val="1A2233"/>
                </a:solidFill>
                <a:latin typeface="Calibri"/>
              </a:rPr>
              <a:t>Alphabet, Q3 earnings</a:t>
            </a:r>
          </a:p>
        </p:txBody>
      </p:sp>
      <p:sp>
        <p:nvSpPr>
          <p:cNvPr id="23" name="TextBox 22"/>
          <p:cNvSpPr txBox="1"/>
          <p:nvPr/>
        </p:nvSpPr>
        <p:spPr>
          <a:xfrm>
            <a:off x="4983480" y="4206240"/>
            <a:ext cx="3017520" cy="502920"/>
          </a:xfrm>
          <a:prstGeom prst="rect">
            <a:avLst/>
          </a:prstGeom>
          <a:noFill/>
        </p:spPr>
        <p:txBody>
          <a:bodyPr wrap="square" lIns="0" rIns="0" tIns="0" bIns="0">
            <a:spAutoFit/>
          </a:bodyPr>
          <a:lstStyle/>
          <a:p>
            <a:pPr algn="l"/>
            <a:r>
              <a:rPr sz="1500" b="1" i="0">
                <a:solidFill>
                  <a:srgbClr val="1A2233"/>
                </a:solidFill>
                <a:latin typeface="Cambria"/>
              </a:rPr>
              <a:t>~1.3Q tokens / month</a:t>
            </a:r>
          </a:p>
        </p:txBody>
      </p:sp>
      <p:sp>
        <p:nvSpPr>
          <p:cNvPr id="24" name="TextBox 23"/>
          <p:cNvSpPr txBox="1"/>
          <p:nvPr/>
        </p:nvSpPr>
        <p:spPr>
          <a:xfrm>
            <a:off x="8092440" y="4242816"/>
            <a:ext cx="3108960" cy="502920"/>
          </a:xfrm>
          <a:prstGeom prst="rect">
            <a:avLst/>
          </a:prstGeom>
          <a:noFill/>
        </p:spPr>
        <p:txBody>
          <a:bodyPr wrap="square" lIns="0" rIns="0" tIns="0" bIns="0">
            <a:spAutoFit/>
          </a:bodyPr>
          <a:lstStyle/>
          <a:p>
            <a:pPr algn="l"/>
            <a:r>
              <a:rPr sz="950" b="0" i="0">
                <a:solidFill>
                  <a:srgbClr val="5A6478"/>
                </a:solidFill>
                <a:latin typeface="Calibri"/>
              </a:rPr>
              <a:t>~16Q/yr run-rate — one platform</a:t>
            </a:r>
          </a:p>
        </p:txBody>
      </p:sp>
      <p:sp>
        <p:nvSpPr>
          <p:cNvPr id="25" name="Rounded Rectangle 24"/>
          <p:cNvSpPr/>
          <p:nvPr/>
        </p:nvSpPr>
        <p:spPr>
          <a:xfrm>
            <a:off x="777240" y="4937760"/>
            <a:ext cx="10634472" cy="731520"/>
          </a:xfrm>
          <a:prstGeom prst="roundRect">
            <a:avLst>
              <a:gd name="adj" fmla="val 10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065776"/>
            <a:ext cx="1005840" cy="274320"/>
          </a:xfrm>
          <a:prstGeom prst="rect">
            <a:avLst/>
          </a:prstGeom>
          <a:noFill/>
        </p:spPr>
        <p:txBody>
          <a:bodyPr wrap="square" lIns="0" rIns="0" tIns="0" bIns="0">
            <a:spAutoFit/>
          </a:bodyPr>
          <a:lstStyle/>
          <a:p>
            <a:pPr algn="l"/>
            <a:r>
              <a:rPr sz="1050" b="1" i="0">
                <a:solidFill>
                  <a:srgbClr val="2777EF"/>
                </a:solidFill>
                <a:latin typeface="Calibri"/>
              </a:rPr>
              <a:t>'24 → '26</a:t>
            </a:r>
          </a:p>
        </p:txBody>
      </p:sp>
      <p:sp>
        <p:nvSpPr>
          <p:cNvPr id="27" name="TextBox 26"/>
          <p:cNvSpPr txBox="1"/>
          <p:nvPr/>
        </p:nvSpPr>
        <p:spPr>
          <a:xfrm>
            <a:off x="2148840" y="5065776"/>
            <a:ext cx="2651760" cy="502920"/>
          </a:xfrm>
          <a:prstGeom prst="rect">
            <a:avLst/>
          </a:prstGeom>
          <a:noFill/>
        </p:spPr>
        <p:txBody>
          <a:bodyPr wrap="square" lIns="0" rIns="0" tIns="0" bIns="0">
            <a:spAutoFit/>
          </a:bodyPr>
          <a:lstStyle/>
          <a:p>
            <a:pPr algn="l"/>
            <a:r>
              <a:rPr sz="1050" b="1" i="0">
                <a:solidFill>
                  <a:srgbClr val="1A2233"/>
                </a:solidFill>
                <a:latin typeface="Calibri"/>
              </a:rPr>
              <a:t>OpenRouter, public dashboard</a:t>
            </a:r>
          </a:p>
        </p:txBody>
      </p:sp>
      <p:sp>
        <p:nvSpPr>
          <p:cNvPr id="28" name="TextBox 27"/>
          <p:cNvSpPr txBox="1"/>
          <p:nvPr/>
        </p:nvSpPr>
        <p:spPr>
          <a:xfrm>
            <a:off x="4983480" y="5029200"/>
            <a:ext cx="3017520" cy="502920"/>
          </a:xfrm>
          <a:prstGeom prst="rect">
            <a:avLst/>
          </a:prstGeom>
          <a:noFill/>
        </p:spPr>
        <p:txBody>
          <a:bodyPr wrap="square" lIns="0" rIns="0" tIns="0" bIns="0">
            <a:spAutoFit/>
          </a:bodyPr>
          <a:lstStyle/>
          <a:p>
            <a:pPr algn="l"/>
            <a:r>
              <a:rPr sz="1500" b="1" i="0">
                <a:solidFill>
                  <a:srgbClr val="1A2233"/>
                </a:solidFill>
                <a:latin typeface="Cambria"/>
              </a:rPr>
              <a:t>~30x token volume</a:t>
            </a:r>
          </a:p>
        </p:txBody>
      </p:sp>
      <p:sp>
        <p:nvSpPr>
          <p:cNvPr id="29" name="TextBox 28"/>
          <p:cNvSpPr txBox="1"/>
          <p:nvPr/>
        </p:nvSpPr>
        <p:spPr>
          <a:xfrm>
            <a:off x="8092440" y="5065776"/>
            <a:ext cx="3108960" cy="502920"/>
          </a:xfrm>
          <a:prstGeom prst="rect">
            <a:avLst/>
          </a:prstGeom>
          <a:noFill/>
        </p:spPr>
        <p:txBody>
          <a:bodyPr wrap="square" lIns="0" rIns="0" tIns="0" bIns="0">
            <a:spAutoFit/>
          </a:bodyPr>
          <a:lstStyle/>
          <a:p>
            <a:pPr algn="l"/>
            <a:r>
              <a:rPr sz="950" b="0" i="0">
                <a:solidFill>
                  <a:srgbClr val="5A6478"/>
                </a:solidFill>
                <a:latin typeface="Calibri"/>
              </a:rPr>
              <a:t>the open-market meter, growing through every price cut</a:t>
            </a:r>
          </a:p>
        </p:txBody>
      </p:sp>
      <p:sp>
        <p:nvSpPr>
          <p:cNvPr id="30" name="Rounded Rectangle 29"/>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One platform already annualizes ~16Q  </a:t>
            </a:r>
            <a:r>
              <a:rPr sz="1200">
                <a:solidFill>
                  <a:srgbClr val="1A2233"/>
                </a:solidFill>
                <a:latin typeface="Calibri"/>
              </a:rPr>
              <a:t>— our 2026 global estimate (~100Q) needs about six of those. Every dated print sits on or above the path.</a:t>
            </a:r>
          </a:p>
        </p:txBody>
      </p:sp>
      <p:sp>
        <p:nvSpPr>
          <p:cNvPr id="31" name="TextBox 3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2" name="TextBox 31"/>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27</a:t>
            </a:r>
          </a:p>
        </p:txBody>
      </p:sp>
      <p:sp>
        <p:nvSpPr>
          <p:cNvPr id="33" name="TextBox 3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Public keynotes, earnings calls, and dashboards as dated; figures as stated by the companies (approximate). Skycatcher path per the token model this section.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Someone else drew this curve in 2024 — it keeps landing</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SITUATIONAL AWARENESS (ASCHENBRENNER, JUN 2024): FORECASTS THEN, STATUS NOW — GRADED THE WAY WE GRADE OURSELVES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45920"/>
            <a:ext cx="10634472" cy="804672"/>
          </a:xfrm>
          <a:prstGeom prst="roundRect">
            <a:avLst>
              <a:gd name="adj" fmla="val 27272"/>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55648"/>
            <a:ext cx="5120640" cy="566928"/>
          </a:xfrm>
          <a:prstGeom prst="rect">
            <a:avLst/>
          </a:prstGeom>
          <a:noFill/>
        </p:spPr>
        <p:txBody>
          <a:bodyPr wrap="square" lIns="0" rIns="0" tIns="0" bIns="0">
            <a:spAutoFit/>
          </a:bodyPr>
          <a:lstStyle/>
          <a:p>
            <a:pPr algn="l"/>
            <a:r>
              <a:rPr sz="1050" b="1" i="0">
                <a:solidFill>
                  <a:srgbClr val="1A2233"/>
                </a:solidFill>
                <a:latin typeface="Calibri"/>
              </a:rPr>
              <a:t>Chatbots become agents — “drop-in remote workers” via unhobbling</a:t>
            </a:r>
          </a:p>
        </p:txBody>
      </p:sp>
      <p:sp>
        <p:nvSpPr>
          <p:cNvPr id="7" name="Rounded Rectangle 6"/>
          <p:cNvSpPr/>
          <p:nvPr/>
        </p:nvSpPr>
        <p:spPr>
          <a:xfrm>
            <a:off x="6263640" y="1883664"/>
            <a:ext cx="960120" cy="329184"/>
          </a:xfrm>
          <a:prstGeom prst="roundRect">
            <a:avLst>
              <a:gd name="adj" fmla="val 50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LANDING</a:t>
            </a:r>
          </a:p>
        </p:txBody>
      </p:sp>
      <p:sp>
        <p:nvSpPr>
          <p:cNvPr id="8" name="TextBox 7"/>
          <p:cNvSpPr txBox="1"/>
          <p:nvPr/>
        </p:nvSpPr>
        <p:spPr>
          <a:xfrm>
            <a:off x="7406640" y="1755648"/>
            <a:ext cx="3749039" cy="566928"/>
          </a:xfrm>
          <a:prstGeom prst="rect">
            <a:avLst/>
          </a:prstGeom>
          <a:noFill/>
        </p:spPr>
        <p:txBody>
          <a:bodyPr wrap="square" lIns="0" rIns="0" tIns="0" bIns="0">
            <a:spAutoFit/>
          </a:bodyPr>
          <a:lstStyle/>
          <a:p>
            <a:pPr algn="l"/>
            <a:r>
              <a:rPr sz="930" b="0" i="1">
                <a:solidFill>
                  <a:srgbClr val="5A6478"/>
                </a:solidFill>
                <a:latin typeface="Calibri"/>
              </a:rPr>
              <a:t>seven vendors now sell agent work by the unit — $/resolution, $/action, $/crawl (p. 39)</a:t>
            </a:r>
          </a:p>
        </p:txBody>
      </p:sp>
      <p:sp>
        <p:nvSpPr>
          <p:cNvPr id="9" name="Rounded Rectangle 8"/>
          <p:cNvSpPr/>
          <p:nvPr/>
        </p:nvSpPr>
        <p:spPr>
          <a:xfrm>
            <a:off x="777240" y="2532888"/>
            <a:ext cx="10634472" cy="804672"/>
          </a:xfrm>
          <a:prstGeom prst="roundRect">
            <a:avLst>
              <a:gd name="adj" fmla="val 27272"/>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42616"/>
            <a:ext cx="5120640" cy="566928"/>
          </a:xfrm>
          <a:prstGeom prst="rect">
            <a:avLst/>
          </a:prstGeom>
          <a:noFill/>
        </p:spPr>
        <p:txBody>
          <a:bodyPr wrap="square" lIns="0" rIns="0" tIns="0" bIns="0">
            <a:spAutoFit/>
          </a:bodyPr>
          <a:lstStyle/>
          <a:p>
            <a:pPr algn="l"/>
            <a:r>
              <a:rPr sz="1050" b="1" i="0">
                <a:solidFill>
                  <a:srgbClr val="1A2233"/>
                </a:solidFill>
                <a:latin typeface="Calibri"/>
              </a:rPr>
              <a:t>AI investment scales toward $100B+ clusters and beyond</a:t>
            </a:r>
          </a:p>
        </p:txBody>
      </p:sp>
      <p:sp>
        <p:nvSpPr>
          <p:cNvPr id="11" name="Rounded Rectangle 10"/>
          <p:cNvSpPr/>
          <p:nvPr/>
        </p:nvSpPr>
        <p:spPr>
          <a:xfrm>
            <a:off x="6263640" y="2770632"/>
            <a:ext cx="960120" cy="329184"/>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LANDED</a:t>
            </a:r>
          </a:p>
        </p:txBody>
      </p:sp>
      <p:sp>
        <p:nvSpPr>
          <p:cNvPr id="12" name="TextBox 11"/>
          <p:cNvSpPr txBox="1"/>
          <p:nvPr/>
        </p:nvSpPr>
        <p:spPr>
          <a:xfrm>
            <a:off x="7406640" y="2642616"/>
            <a:ext cx="3749039" cy="566928"/>
          </a:xfrm>
          <a:prstGeom prst="rect">
            <a:avLst/>
          </a:prstGeom>
          <a:noFill/>
        </p:spPr>
        <p:txBody>
          <a:bodyPr wrap="square" lIns="0" rIns="0" tIns="0" bIns="0">
            <a:spAutoFit/>
          </a:bodyPr>
          <a:lstStyle/>
          <a:p>
            <a:pPr algn="l"/>
            <a:r>
              <a:rPr sz="930" b="0" i="1">
                <a:solidFill>
                  <a:srgbClr val="5A6478"/>
                </a:solidFill>
                <a:latin typeface="Calibri"/>
              </a:rPr>
              <a:t>10-GW-class campuses announced; hyperscaler capex &gt;$0.5T/yr guided (p. 32)</a:t>
            </a:r>
          </a:p>
        </p:txBody>
      </p:sp>
      <p:sp>
        <p:nvSpPr>
          <p:cNvPr id="13" name="Rounded Rectangle 12"/>
          <p:cNvSpPr/>
          <p:nvPr/>
        </p:nvSpPr>
        <p:spPr>
          <a:xfrm>
            <a:off x="777240" y="3419856"/>
            <a:ext cx="10634472" cy="804672"/>
          </a:xfrm>
          <a:prstGeom prst="roundRect">
            <a:avLst>
              <a:gd name="adj" fmla="val 27272"/>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29584"/>
            <a:ext cx="5120640" cy="566928"/>
          </a:xfrm>
          <a:prstGeom prst="rect">
            <a:avLst/>
          </a:prstGeom>
          <a:noFill/>
        </p:spPr>
        <p:txBody>
          <a:bodyPr wrap="square" lIns="0" rIns="0" tIns="0" bIns="0">
            <a:spAutoFit/>
          </a:bodyPr>
          <a:lstStyle/>
          <a:p>
            <a:pPr algn="l"/>
            <a:r>
              <a:rPr sz="1050" b="1" i="0">
                <a:solidFill>
                  <a:srgbClr val="1A2233"/>
                </a:solidFill>
                <a:latin typeface="Calibri"/>
              </a:rPr>
              <a:t>A scramble for power contracts and transformers</a:t>
            </a:r>
          </a:p>
        </p:txBody>
      </p:sp>
      <p:sp>
        <p:nvSpPr>
          <p:cNvPr id="15" name="Rounded Rectangle 14"/>
          <p:cNvSpPr/>
          <p:nvPr/>
        </p:nvSpPr>
        <p:spPr>
          <a:xfrm>
            <a:off x="6263640" y="3657600"/>
            <a:ext cx="960120" cy="329184"/>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LANDED</a:t>
            </a:r>
          </a:p>
        </p:txBody>
      </p:sp>
      <p:sp>
        <p:nvSpPr>
          <p:cNvPr id="16" name="TextBox 15"/>
          <p:cNvSpPr txBox="1"/>
          <p:nvPr/>
        </p:nvSpPr>
        <p:spPr>
          <a:xfrm>
            <a:off x="7406640" y="3529584"/>
            <a:ext cx="3749039" cy="566928"/>
          </a:xfrm>
          <a:prstGeom prst="rect">
            <a:avLst/>
          </a:prstGeom>
          <a:noFill/>
        </p:spPr>
        <p:txBody>
          <a:bodyPr wrap="square" lIns="0" rIns="0" tIns="0" bIns="0">
            <a:spAutoFit/>
          </a:bodyPr>
          <a:lstStyle/>
          <a:p>
            <a:pPr algn="l"/>
            <a:r>
              <a:rPr sz="930" b="0" i="1">
                <a:solidFill>
                  <a:srgbClr val="5A6478"/>
                </a:solidFill>
                <a:latin typeface="Calibri"/>
              </a:rPr>
              <a:t>grid interconnects are now the binding constraint on the buildout</a:t>
            </a:r>
          </a:p>
        </p:txBody>
      </p:sp>
      <p:sp>
        <p:nvSpPr>
          <p:cNvPr id="17" name="Rounded Rectangle 16"/>
          <p:cNvSpPr/>
          <p:nvPr/>
        </p:nvSpPr>
        <p:spPr>
          <a:xfrm>
            <a:off x="777240" y="4306824"/>
            <a:ext cx="10634472" cy="804672"/>
          </a:xfrm>
          <a:prstGeom prst="roundRect">
            <a:avLst>
              <a:gd name="adj" fmla="val 27272"/>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416552"/>
            <a:ext cx="5120640" cy="566928"/>
          </a:xfrm>
          <a:prstGeom prst="rect">
            <a:avLst/>
          </a:prstGeom>
          <a:noFill/>
        </p:spPr>
        <p:txBody>
          <a:bodyPr wrap="square" lIns="0" rIns="0" tIns="0" bIns="0">
            <a:spAutoFit/>
          </a:bodyPr>
          <a:lstStyle/>
          <a:p>
            <a:pPr algn="l"/>
            <a:r>
              <a:rPr sz="1050" b="1" i="0">
                <a:solidFill>
                  <a:srgbClr val="1A2233"/>
                </a:solidFill>
                <a:latin typeface="Calibri"/>
              </a:rPr>
              <a:t>Test-time compute unlocks long-horizon work — orders of magnitude more per task</a:t>
            </a:r>
          </a:p>
        </p:txBody>
      </p:sp>
      <p:sp>
        <p:nvSpPr>
          <p:cNvPr id="19" name="Rounded Rectangle 18"/>
          <p:cNvSpPr/>
          <p:nvPr/>
        </p:nvSpPr>
        <p:spPr>
          <a:xfrm>
            <a:off x="6263640" y="4544568"/>
            <a:ext cx="960120" cy="329184"/>
          </a:xfrm>
          <a:prstGeom prst="roundRect">
            <a:avLst>
              <a:gd name="adj" fmla="val 50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FFFFFF"/>
                </a:solidFill>
                <a:latin typeface="Calibri"/>
              </a:rPr>
              <a:t>LANDING</a:t>
            </a:r>
          </a:p>
        </p:txBody>
      </p:sp>
      <p:sp>
        <p:nvSpPr>
          <p:cNvPr id="20" name="TextBox 19"/>
          <p:cNvSpPr txBox="1"/>
          <p:nvPr/>
        </p:nvSpPr>
        <p:spPr>
          <a:xfrm>
            <a:off x="7406640" y="4416552"/>
            <a:ext cx="3749039" cy="566928"/>
          </a:xfrm>
          <a:prstGeom prst="rect">
            <a:avLst/>
          </a:prstGeom>
          <a:noFill/>
        </p:spPr>
        <p:txBody>
          <a:bodyPr wrap="square" lIns="0" rIns="0" tIns="0" bIns="0">
            <a:spAutoFit/>
          </a:bodyPr>
          <a:lstStyle/>
          <a:p>
            <a:pPr algn="l"/>
            <a:r>
              <a:rPr sz="930" b="0" i="1">
                <a:solidFill>
                  <a:srgbClr val="5A6478"/>
                </a:solidFill>
                <a:latin typeface="Calibri"/>
              </a:rPr>
              <a:t>agent tasks measured at 5–25M tokens/day per user vs ~10K for chat (p. 23)</a:t>
            </a:r>
          </a:p>
        </p:txBody>
      </p:sp>
      <p:sp>
        <p:nvSpPr>
          <p:cNvPr id="21" name="Rounded Rectangle 20"/>
          <p:cNvSpPr/>
          <p:nvPr/>
        </p:nvSpPr>
        <p:spPr>
          <a:xfrm>
            <a:off x="777240" y="5193792"/>
            <a:ext cx="10634472" cy="804672"/>
          </a:xfrm>
          <a:prstGeom prst="roundRect">
            <a:avLst>
              <a:gd name="adj" fmla="val 27272"/>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303520"/>
            <a:ext cx="5120640" cy="566928"/>
          </a:xfrm>
          <a:prstGeom prst="rect">
            <a:avLst/>
          </a:prstGeom>
          <a:noFill/>
        </p:spPr>
        <p:txBody>
          <a:bodyPr wrap="square" lIns="0" rIns="0" tIns="0" bIns="0">
            <a:spAutoFit/>
          </a:bodyPr>
          <a:lstStyle/>
          <a:p>
            <a:pPr algn="l"/>
            <a:r>
              <a:rPr sz="1050" b="1" i="0">
                <a:solidFill>
                  <a:srgbClr val="1A2233"/>
                </a:solidFill>
                <a:latin typeface="Calibri"/>
              </a:rPr>
              <a:t>“AGI by 2027 is strikingly plausible”</a:t>
            </a:r>
          </a:p>
        </p:txBody>
      </p:sp>
      <p:sp>
        <p:nvSpPr>
          <p:cNvPr id="23" name="Rounded Rectangle 22"/>
          <p:cNvSpPr/>
          <p:nvPr/>
        </p:nvSpPr>
        <p:spPr>
          <a:xfrm>
            <a:off x="6263640" y="5431536"/>
            <a:ext cx="960120" cy="329184"/>
          </a:xfrm>
          <a:prstGeom prst="roundRect">
            <a:avLst>
              <a:gd name="adj" fmla="val 50000"/>
            </a:avLst>
          </a:prstGeom>
          <a:solidFill>
            <a:srgbClr val="E4E9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50" b="1">
                <a:solidFill>
                  <a:srgbClr val="5A6478"/>
                </a:solidFill>
                <a:latin typeface="Calibri"/>
              </a:rPr>
              <a:t>OPEN</a:t>
            </a:r>
          </a:p>
        </p:txBody>
      </p:sp>
      <p:sp>
        <p:nvSpPr>
          <p:cNvPr id="24" name="TextBox 23"/>
          <p:cNvSpPr txBox="1"/>
          <p:nvPr/>
        </p:nvSpPr>
        <p:spPr>
          <a:xfrm>
            <a:off x="7406640" y="5303520"/>
            <a:ext cx="3749039" cy="566928"/>
          </a:xfrm>
          <a:prstGeom prst="rect">
            <a:avLst/>
          </a:prstGeom>
          <a:noFill/>
        </p:spPr>
        <p:txBody>
          <a:bodyPr wrap="square" lIns="0" rIns="0" tIns="0" bIns="0">
            <a:spAutoFit/>
          </a:bodyPr>
          <a:lstStyle/>
          <a:p>
            <a:pPr algn="l"/>
            <a:r>
              <a:rPr sz="930" b="0" i="1">
                <a:solidFill>
                  <a:srgbClr val="5A6478"/>
                </a:solidFill>
                <a:latin typeface="Calibri"/>
              </a:rPr>
              <a:t>not our claim and not required — the meters work across the timeline distribution (p. 80)</a:t>
            </a:r>
          </a:p>
        </p:txBody>
      </p:sp>
      <p:sp>
        <p:nvSpPr>
          <p:cNvPr id="25" name="Rounded Rectangle 24"/>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An independent 2024 forecast, graded with 2026 data  </a:t>
            </a:r>
            <a:r>
              <a:rPr sz="1200">
                <a:solidFill>
                  <a:srgbClr val="1A2233"/>
                </a:solidFill>
                <a:latin typeface="Calibri"/>
              </a:rPr>
              <a:t>— the wave keeps arriving on schedule, whoever draws the curve.</a:t>
            </a:r>
          </a:p>
        </p:txBody>
      </p:sp>
      <p:sp>
        <p:nvSpPr>
          <p:cNvPr id="26" name="TextBox 25"/>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7" name="TextBox 26"/>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28</a:t>
            </a:r>
          </a:p>
        </p:txBody>
      </p:sp>
      <p:sp>
        <p:nvSpPr>
          <p:cNvPr id="28" name="TextBox 27"/>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Claims per Aschenbrenner, Situational Awareness (Jun 2024), situational-awareness.ai; status per public disclosures and this piece's exhibits, Jul 2026. Gradings are Skycatcher's.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Same wave, two maps: their OOMs, our meters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ASSUMPTION BY ASSUMPTION — SITUATIONAL AWARENESS (JUN 2024) VS THE TOKEN TIDAL WAVE (THIS PIECE)</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60520" y="1591056"/>
            <a:ext cx="3291840" cy="256032"/>
          </a:xfrm>
          <a:prstGeom prst="rect">
            <a:avLst/>
          </a:prstGeom>
          <a:noFill/>
        </p:spPr>
        <p:txBody>
          <a:bodyPr wrap="square" lIns="0" rIns="0" tIns="0" bIns="0">
            <a:spAutoFit/>
          </a:bodyPr>
          <a:lstStyle/>
          <a:p>
            <a:pPr algn="ctr"/>
            <a:r>
              <a:rPr sz="1100" b="1" i="0">
                <a:solidFill>
                  <a:srgbClr val="29C2F1"/>
                </a:solidFill>
                <a:latin typeface="Calibri"/>
              </a:rPr>
              <a:t>SITUATIONAL AWARENESS — CAPABILITY</a:t>
            </a:r>
          </a:p>
        </p:txBody>
      </p:sp>
      <p:sp>
        <p:nvSpPr>
          <p:cNvPr id="6" name="TextBox 5"/>
          <p:cNvSpPr txBox="1"/>
          <p:nvPr/>
        </p:nvSpPr>
        <p:spPr>
          <a:xfrm>
            <a:off x="8001000" y="1591056"/>
            <a:ext cx="3291840" cy="256032"/>
          </a:xfrm>
          <a:prstGeom prst="rect">
            <a:avLst/>
          </a:prstGeom>
          <a:noFill/>
        </p:spPr>
        <p:txBody>
          <a:bodyPr wrap="square" lIns="0" rIns="0" tIns="0" bIns="0">
            <a:spAutoFit/>
          </a:bodyPr>
          <a:lstStyle/>
          <a:p>
            <a:pPr algn="ctr"/>
            <a:r>
              <a:rPr sz="1100" b="1" i="0">
                <a:solidFill>
                  <a:srgbClr val="1B3F8F"/>
                </a:solidFill>
                <a:latin typeface="Calibri"/>
              </a:rPr>
              <a:t>TOKEN TIDAL WAVE — CONSUMPTION</a:t>
            </a:r>
          </a:p>
        </p:txBody>
      </p:sp>
      <p:sp>
        <p:nvSpPr>
          <p:cNvPr id="7" name="Rounded Rectangle 6"/>
          <p:cNvSpPr/>
          <p:nvPr/>
        </p:nvSpPr>
        <p:spPr>
          <a:xfrm>
            <a:off x="777240" y="1956816"/>
            <a:ext cx="10634472" cy="603504"/>
          </a:xfrm>
          <a:prstGeom prst="roundRect">
            <a:avLst>
              <a:gd name="adj" fmla="val 12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48256"/>
            <a:ext cx="2926080" cy="420624"/>
          </a:xfrm>
          <a:prstGeom prst="rect">
            <a:avLst/>
          </a:prstGeom>
          <a:noFill/>
        </p:spPr>
        <p:txBody>
          <a:bodyPr wrap="square" lIns="0" rIns="0" tIns="0" bIns="0">
            <a:spAutoFit/>
          </a:bodyPr>
          <a:lstStyle/>
          <a:p>
            <a:pPr algn="l"/>
            <a:r>
              <a:rPr sz="950" b="1" i="0">
                <a:solidFill>
                  <a:srgbClr val="5A6478"/>
                </a:solidFill>
                <a:latin typeface="Calibri"/>
              </a:rPr>
              <a:t>CORE DRIVER</a:t>
            </a:r>
          </a:p>
        </p:txBody>
      </p:sp>
      <p:sp>
        <p:nvSpPr>
          <p:cNvPr id="9" name="TextBox 8"/>
          <p:cNvSpPr txBox="1"/>
          <p:nvPr/>
        </p:nvSpPr>
        <p:spPr>
          <a:xfrm>
            <a:off x="4160520" y="2020824"/>
            <a:ext cx="3566160" cy="493776"/>
          </a:xfrm>
          <a:prstGeom prst="rect">
            <a:avLst/>
          </a:prstGeom>
          <a:noFill/>
        </p:spPr>
        <p:txBody>
          <a:bodyPr wrap="square" lIns="0" rIns="0" tIns="0" bIns="0">
            <a:spAutoFit/>
          </a:bodyPr>
          <a:lstStyle/>
          <a:p>
            <a:pPr algn="l"/>
            <a:r>
              <a:rPr sz="1050" b="0" i="0">
                <a:solidFill>
                  <a:srgbClr val="1A2233"/>
                </a:solidFill>
                <a:latin typeface="Calibri"/>
              </a:rPr>
              <a:t>effective compute compounds ~+1 OOM a year</a:t>
            </a:r>
          </a:p>
        </p:txBody>
      </p:sp>
      <p:sp>
        <p:nvSpPr>
          <p:cNvPr id="10" name="TextBox 9"/>
          <p:cNvSpPr txBox="1"/>
          <p:nvPr/>
        </p:nvSpPr>
        <p:spPr>
          <a:xfrm>
            <a:off x="8001000" y="2020824"/>
            <a:ext cx="3291840" cy="493776"/>
          </a:xfrm>
          <a:prstGeom prst="rect">
            <a:avLst/>
          </a:prstGeom>
          <a:noFill/>
        </p:spPr>
        <p:txBody>
          <a:bodyPr wrap="square" lIns="0" rIns="0" tIns="0" bIns="0">
            <a:spAutoFit/>
          </a:bodyPr>
          <a:lstStyle/>
          <a:p>
            <a:pPr algn="l"/>
            <a:r>
              <a:rPr sz="1050" b="0" i="0">
                <a:solidFill>
                  <a:srgbClr val="1A2233"/>
                </a:solidFill>
                <a:latin typeface="Calibri"/>
              </a:rPr>
              <a:t>measured elasticity — ÷50x price bought ×2,000x volume</a:t>
            </a:r>
          </a:p>
        </p:txBody>
      </p:sp>
      <p:sp>
        <p:nvSpPr>
          <p:cNvPr id="11" name="Rounded Rectangle 10"/>
          <p:cNvSpPr/>
          <p:nvPr/>
        </p:nvSpPr>
        <p:spPr>
          <a:xfrm>
            <a:off x="777240" y="2615184"/>
            <a:ext cx="10634472" cy="603504"/>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2926080" cy="420624"/>
          </a:xfrm>
          <a:prstGeom prst="rect">
            <a:avLst/>
          </a:prstGeom>
          <a:noFill/>
        </p:spPr>
        <p:txBody>
          <a:bodyPr wrap="square" lIns="0" rIns="0" tIns="0" bIns="0">
            <a:spAutoFit/>
          </a:bodyPr>
          <a:lstStyle/>
          <a:p>
            <a:pPr algn="l"/>
            <a:r>
              <a:rPr sz="950" b="1" i="0">
                <a:solidFill>
                  <a:srgbClr val="5A6478"/>
                </a:solidFill>
                <a:latin typeface="Calibri"/>
              </a:rPr>
              <a:t>UNIT OF ACCOUNT</a:t>
            </a:r>
          </a:p>
        </p:txBody>
      </p:sp>
      <p:sp>
        <p:nvSpPr>
          <p:cNvPr id="13" name="TextBox 12"/>
          <p:cNvSpPr txBox="1"/>
          <p:nvPr/>
        </p:nvSpPr>
        <p:spPr>
          <a:xfrm>
            <a:off x="4160520" y="2679192"/>
            <a:ext cx="3566160" cy="493776"/>
          </a:xfrm>
          <a:prstGeom prst="rect">
            <a:avLst/>
          </a:prstGeom>
          <a:noFill/>
        </p:spPr>
        <p:txBody>
          <a:bodyPr wrap="square" lIns="0" rIns="0" tIns="0" bIns="0">
            <a:spAutoFit/>
          </a:bodyPr>
          <a:lstStyle/>
          <a:p>
            <a:pPr algn="l"/>
            <a:r>
              <a:rPr sz="1050" b="0" i="0">
                <a:solidFill>
                  <a:srgbClr val="1A2233"/>
                </a:solidFill>
                <a:latin typeface="Calibri"/>
              </a:rPr>
              <a:t>capability per token — each token buys more work</a:t>
            </a:r>
          </a:p>
        </p:txBody>
      </p:sp>
      <p:sp>
        <p:nvSpPr>
          <p:cNvPr id="14" name="TextBox 13"/>
          <p:cNvSpPr txBox="1"/>
          <p:nvPr/>
        </p:nvSpPr>
        <p:spPr>
          <a:xfrm>
            <a:off x="8001000" y="2679192"/>
            <a:ext cx="3291840" cy="493776"/>
          </a:xfrm>
          <a:prstGeom prst="rect">
            <a:avLst/>
          </a:prstGeom>
          <a:noFill/>
        </p:spPr>
        <p:txBody>
          <a:bodyPr wrap="square" lIns="0" rIns="0" tIns="0" bIns="0">
            <a:spAutoFit/>
          </a:bodyPr>
          <a:lstStyle/>
          <a:p>
            <a:pPr algn="l"/>
            <a:r>
              <a:rPr sz="1050" b="0" i="0">
                <a:solidFill>
                  <a:srgbClr val="1A2233"/>
                </a:solidFill>
                <a:latin typeface="Calibri"/>
              </a:rPr>
              <a:t>raw tokens — capability held constant, deliberately</a:t>
            </a:r>
          </a:p>
        </p:txBody>
      </p:sp>
      <p:sp>
        <p:nvSpPr>
          <p:cNvPr id="15" name="Rounded Rectangle 14"/>
          <p:cNvSpPr/>
          <p:nvPr/>
        </p:nvSpPr>
        <p:spPr>
          <a:xfrm>
            <a:off x="777240" y="3273552"/>
            <a:ext cx="10634472" cy="603504"/>
          </a:xfrm>
          <a:prstGeom prst="roundRect">
            <a:avLst>
              <a:gd name="adj" fmla="val 12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364992"/>
            <a:ext cx="2926080" cy="420624"/>
          </a:xfrm>
          <a:prstGeom prst="rect">
            <a:avLst/>
          </a:prstGeom>
          <a:noFill/>
        </p:spPr>
        <p:txBody>
          <a:bodyPr wrap="square" lIns="0" rIns="0" tIns="0" bIns="0">
            <a:spAutoFit/>
          </a:bodyPr>
          <a:lstStyle/>
          <a:p>
            <a:pPr algn="l"/>
            <a:r>
              <a:rPr sz="950" b="1" i="0">
                <a:solidFill>
                  <a:srgbClr val="5A6478"/>
                </a:solidFill>
                <a:latin typeface="Calibri"/>
              </a:rPr>
              <a:t>AGENT ADOPTION</a:t>
            </a:r>
          </a:p>
        </p:txBody>
      </p:sp>
      <p:sp>
        <p:nvSpPr>
          <p:cNvPr id="17" name="TextBox 16"/>
          <p:cNvSpPr txBox="1"/>
          <p:nvPr/>
        </p:nvSpPr>
        <p:spPr>
          <a:xfrm>
            <a:off x="4160520" y="3337560"/>
            <a:ext cx="3566160" cy="493776"/>
          </a:xfrm>
          <a:prstGeom prst="rect">
            <a:avLst/>
          </a:prstGeom>
          <a:noFill/>
        </p:spPr>
        <p:txBody>
          <a:bodyPr wrap="square" lIns="0" rIns="0" tIns="0" bIns="0">
            <a:spAutoFit/>
          </a:bodyPr>
          <a:lstStyle/>
          <a:p>
            <a:pPr algn="l"/>
            <a:r>
              <a:rPr sz="1050" b="0" i="0">
                <a:solidFill>
                  <a:srgbClr val="1A2233"/>
                </a:solidFill>
                <a:latin typeface="Calibri"/>
              </a:rPr>
              <a:t>drop-in remote workers by 2027</a:t>
            </a:r>
          </a:p>
        </p:txBody>
      </p:sp>
      <p:sp>
        <p:nvSpPr>
          <p:cNvPr id="18" name="TextBox 17"/>
          <p:cNvSpPr txBox="1"/>
          <p:nvPr/>
        </p:nvSpPr>
        <p:spPr>
          <a:xfrm>
            <a:off x="8001000" y="3337560"/>
            <a:ext cx="3291840" cy="493776"/>
          </a:xfrm>
          <a:prstGeom prst="rect">
            <a:avLst/>
          </a:prstGeom>
          <a:noFill/>
        </p:spPr>
        <p:txBody>
          <a:bodyPr wrap="square" lIns="0" rIns="0" tIns="0" bIns="0">
            <a:spAutoFit/>
          </a:bodyPr>
          <a:lstStyle/>
          <a:p>
            <a:pPr algn="l"/>
            <a:r>
              <a:rPr sz="1050" b="0" i="0">
                <a:solidFill>
                  <a:srgbClr val="1A2233"/>
                </a:solidFill>
                <a:latin typeface="Calibri"/>
              </a:rPr>
              <a:t>22% of ~2B users run agents by 2029, from 2.5%</a:t>
            </a:r>
          </a:p>
        </p:txBody>
      </p:sp>
      <p:sp>
        <p:nvSpPr>
          <p:cNvPr id="19" name="Rounded Rectangle 18"/>
          <p:cNvSpPr/>
          <p:nvPr/>
        </p:nvSpPr>
        <p:spPr>
          <a:xfrm>
            <a:off x="777240" y="3931920"/>
            <a:ext cx="10634472" cy="603504"/>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023359"/>
            <a:ext cx="2926080" cy="420624"/>
          </a:xfrm>
          <a:prstGeom prst="rect">
            <a:avLst/>
          </a:prstGeom>
          <a:noFill/>
        </p:spPr>
        <p:txBody>
          <a:bodyPr wrap="square" lIns="0" rIns="0" tIns="0" bIns="0">
            <a:spAutoFit/>
          </a:bodyPr>
          <a:lstStyle/>
          <a:p>
            <a:pPr algn="l"/>
            <a:r>
              <a:rPr sz="950" b="1" i="0">
                <a:solidFill>
                  <a:srgbClr val="5A6478"/>
                </a:solidFill>
                <a:latin typeface="Calibri"/>
              </a:rPr>
              <a:t>INTENSITY PER AGENT</a:t>
            </a:r>
          </a:p>
        </p:txBody>
      </p:sp>
      <p:sp>
        <p:nvSpPr>
          <p:cNvPr id="21" name="TextBox 20"/>
          <p:cNvSpPr txBox="1"/>
          <p:nvPr/>
        </p:nvSpPr>
        <p:spPr>
          <a:xfrm>
            <a:off x="4160520" y="3995928"/>
            <a:ext cx="3566160" cy="493776"/>
          </a:xfrm>
          <a:prstGeom prst="rect">
            <a:avLst/>
          </a:prstGeom>
          <a:noFill/>
        </p:spPr>
        <p:txBody>
          <a:bodyPr wrap="square" lIns="0" rIns="0" tIns="0" bIns="0">
            <a:spAutoFit/>
          </a:bodyPr>
          <a:lstStyle/>
          <a:p>
            <a:pPr algn="l"/>
            <a:r>
              <a:rPr sz="1050" b="0" i="0">
                <a:solidFill>
                  <a:srgbClr val="1A2233"/>
                </a:solidFill>
                <a:latin typeface="Calibri"/>
              </a:rPr>
              <a:t>test-time compute unbound — 24/7 duty</a:t>
            </a:r>
          </a:p>
        </p:txBody>
      </p:sp>
      <p:sp>
        <p:nvSpPr>
          <p:cNvPr id="22" name="TextBox 21"/>
          <p:cNvSpPr txBox="1"/>
          <p:nvPr/>
        </p:nvSpPr>
        <p:spPr>
          <a:xfrm>
            <a:off x="8001000" y="3995928"/>
            <a:ext cx="3291840" cy="493776"/>
          </a:xfrm>
          <a:prstGeom prst="rect">
            <a:avLst/>
          </a:prstGeom>
          <a:noFill/>
        </p:spPr>
        <p:txBody>
          <a:bodyPr wrap="square" lIns="0" rIns="0" tIns="0" bIns="0">
            <a:spAutoFit/>
          </a:bodyPr>
          <a:lstStyle/>
          <a:p>
            <a:pPr algn="l"/>
            <a:r>
              <a:rPr sz="1050" b="0" i="0">
                <a:solidFill>
                  <a:srgbClr val="1A2233"/>
                </a:solidFill>
                <a:latin typeface="Calibri"/>
              </a:rPr>
              <a:t>10–25M tokens per agent-day — observed</a:t>
            </a:r>
          </a:p>
        </p:txBody>
      </p:sp>
      <p:sp>
        <p:nvSpPr>
          <p:cNvPr id="23" name="Rounded Rectangle 22"/>
          <p:cNvSpPr/>
          <p:nvPr/>
        </p:nvSpPr>
        <p:spPr>
          <a:xfrm>
            <a:off x="777240" y="4590288"/>
            <a:ext cx="10634472" cy="603504"/>
          </a:xfrm>
          <a:prstGeom prst="roundRect">
            <a:avLst>
              <a:gd name="adj" fmla="val 12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681727"/>
            <a:ext cx="2926080" cy="420624"/>
          </a:xfrm>
          <a:prstGeom prst="rect">
            <a:avLst/>
          </a:prstGeom>
          <a:noFill/>
        </p:spPr>
        <p:txBody>
          <a:bodyPr wrap="square" lIns="0" rIns="0" tIns="0" bIns="0">
            <a:spAutoFit/>
          </a:bodyPr>
          <a:lstStyle/>
          <a:p>
            <a:pPr algn="l"/>
            <a:r>
              <a:rPr sz="950" b="1" i="0">
                <a:solidFill>
                  <a:srgbClr val="5A6478"/>
                </a:solidFill>
                <a:latin typeface="Calibri"/>
              </a:rPr>
              <a:t>DEMAND CEILING</a:t>
            </a:r>
          </a:p>
        </p:txBody>
      </p:sp>
      <p:sp>
        <p:nvSpPr>
          <p:cNvPr id="25" name="TextBox 24"/>
          <p:cNvSpPr txBox="1"/>
          <p:nvPr/>
        </p:nvSpPr>
        <p:spPr>
          <a:xfrm>
            <a:off x="4160520" y="4654296"/>
            <a:ext cx="3566160" cy="493776"/>
          </a:xfrm>
          <a:prstGeom prst="rect">
            <a:avLst/>
          </a:prstGeom>
          <a:noFill/>
        </p:spPr>
        <p:txBody>
          <a:bodyPr wrap="square" lIns="0" rIns="0" tIns="0" bIns="0">
            <a:spAutoFit/>
          </a:bodyPr>
          <a:lstStyle/>
          <a:p>
            <a:pPr algn="l"/>
            <a:r>
              <a:rPr sz="1050" b="0" i="0">
                <a:solidFill>
                  <a:srgbClr val="1A2233"/>
                </a:solidFill>
                <a:latin typeface="Calibri"/>
              </a:rPr>
              <a:t>the wage pool — near price-insensitive</a:t>
            </a:r>
          </a:p>
        </p:txBody>
      </p:sp>
      <p:sp>
        <p:nvSpPr>
          <p:cNvPr id="26" name="TextBox 25"/>
          <p:cNvSpPr txBox="1"/>
          <p:nvPr/>
        </p:nvSpPr>
        <p:spPr>
          <a:xfrm>
            <a:off x="8001000" y="4654296"/>
            <a:ext cx="3291840" cy="493776"/>
          </a:xfrm>
          <a:prstGeom prst="rect">
            <a:avLst/>
          </a:prstGeom>
          <a:noFill/>
        </p:spPr>
        <p:txBody>
          <a:bodyPr wrap="square" lIns="0" rIns="0" tIns="0" bIns="0">
            <a:spAutoFit/>
          </a:bodyPr>
          <a:lstStyle/>
          <a:p>
            <a:pPr algn="l"/>
            <a:r>
              <a:rPr sz="1050" b="0" i="0">
                <a:solidFill>
                  <a:srgbClr val="1A2233"/>
                </a:solidFill>
                <a:latin typeface="Calibri"/>
              </a:rPr>
              <a:t>elasticity 1.2–1.3 × capture 0.5–0.7 — measured</a:t>
            </a:r>
          </a:p>
        </p:txBody>
      </p:sp>
      <p:sp>
        <p:nvSpPr>
          <p:cNvPr id="27" name="Rounded Rectangle 26"/>
          <p:cNvSpPr/>
          <p:nvPr/>
        </p:nvSpPr>
        <p:spPr>
          <a:xfrm>
            <a:off x="777240" y="5248655"/>
            <a:ext cx="10634472" cy="603504"/>
          </a:xfrm>
          <a:prstGeom prst="roundRect">
            <a:avLst>
              <a:gd name="adj" fmla="val 12000"/>
            </a:avLst>
          </a:prstGeom>
          <a:solidFill>
            <a:srgbClr val="EAF1FE"/>
          </a:solidFill>
          <a:ln w="1270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340095"/>
            <a:ext cx="2926080" cy="420624"/>
          </a:xfrm>
          <a:prstGeom prst="rect">
            <a:avLst/>
          </a:prstGeom>
          <a:noFill/>
        </p:spPr>
        <p:txBody>
          <a:bodyPr wrap="square" lIns="0" rIns="0" tIns="0" bIns="0">
            <a:spAutoFit/>
          </a:bodyPr>
          <a:lstStyle/>
          <a:p>
            <a:pPr algn="l"/>
            <a:r>
              <a:rPr sz="950" b="1" i="0">
                <a:solidFill>
                  <a:srgbClr val="5A6478"/>
                </a:solidFill>
                <a:latin typeface="Calibri"/>
              </a:rPr>
              <a:t>IMPLIED 2029 TOKENS</a:t>
            </a:r>
          </a:p>
        </p:txBody>
      </p:sp>
      <p:sp>
        <p:nvSpPr>
          <p:cNvPr id="29" name="TextBox 28"/>
          <p:cNvSpPr txBox="1"/>
          <p:nvPr/>
        </p:nvSpPr>
        <p:spPr>
          <a:xfrm>
            <a:off x="4160520" y="5312664"/>
            <a:ext cx="3566160" cy="493776"/>
          </a:xfrm>
          <a:prstGeom prst="rect">
            <a:avLst/>
          </a:prstGeom>
          <a:noFill/>
        </p:spPr>
        <p:txBody>
          <a:bodyPr wrap="square" lIns="0" rIns="0" tIns="0" bIns="0">
            <a:spAutoFit/>
          </a:bodyPr>
          <a:lstStyle/>
          <a:p>
            <a:pPr algn="l"/>
            <a:r>
              <a:rPr sz="1100" b="1" i="0">
                <a:solidFill>
                  <a:srgbClr val="1A2233"/>
                </a:solidFill>
                <a:latin typeface="Calibri"/>
              </a:rPr>
              <a:t>~6,000Q+  (60x+), power-bounded (p. 31)</a:t>
            </a:r>
          </a:p>
        </p:txBody>
      </p:sp>
      <p:sp>
        <p:nvSpPr>
          <p:cNvPr id="30" name="TextBox 29"/>
          <p:cNvSpPr txBox="1"/>
          <p:nvPr/>
        </p:nvSpPr>
        <p:spPr>
          <a:xfrm>
            <a:off x="8001000" y="5312664"/>
            <a:ext cx="3291840" cy="493776"/>
          </a:xfrm>
          <a:prstGeom prst="rect">
            <a:avLst/>
          </a:prstGeom>
          <a:noFill/>
        </p:spPr>
        <p:txBody>
          <a:bodyPr wrap="square" lIns="0" rIns="0" tIns="0" bIns="0">
            <a:spAutoFit/>
          </a:bodyPr>
          <a:lstStyle/>
          <a:p>
            <a:pPr algn="l"/>
            <a:r>
              <a:rPr sz="1100" b="1" i="0">
                <a:solidFill>
                  <a:srgbClr val="1A2233"/>
                </a:solidFill>
                <a:latin typeface="Calibri"/>
              </a:rPr>
              <a:t>~4,000Q  (40x) — a slowdown vs ×7/yr history</a:t>
            </a:r>
          </a:p>
        </p:txBody>
      </p:sp>
      <p:sp>
        <p:nvSpPr>
          <p:cNvPr id="31" name="Rounded Rectangle 30"/>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maps multiply rather than compete </a:t>
            </a:r>
            <a:r>
              <a:rPr sz="1200">
                <a:solidFill>
                  <a:srgbClr val="1A2233"/>
                </a:solidFill>
                <a:latin typeface="Calibri"/>
              </a:rPr>
              <a:t> — where they disagree is upside to the meters, not risk. The supply check and the SA case follow.</a:t>
            </a:r>
          </a:p>
        </p:txBody>
      </p:sp>
      <p:sp>
        <p:nvSpPr>
          <p:cNvPr id="32" name="TextBox 3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3" name="TextBox 3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29</a:t>
            </a:r>
          </a:p>
        </p:txBody>
      </p:sp>
      <p:sp>
        <p:nvSpPr>
          <p:cNvPr id="34" name="TextBox 3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Aschenbrenner, Situational Awareness (Jun 2024), situational-awareness.ai; tidal-wave decomposition p. 26. Characterizations are Skycatcher’s.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suppliers already underwrote the wave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CAN COMPUTE DELIVER 40x TOKENS? — THE SUPPLY-SIDE CHECK, MODELED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00784"/>
            <a:ext cx="2514600" cy="155448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883664"/>
            <a:ext cx="2103120" cy="457200"/>
          </a:xfrm>
          <a:prstGeom prst="rect">
            <a:avLst/>
          </a:prstGeom>
          <a:noFill/>
        </p:spPr>
        <p:txBody>
          <a:bodyPr wrap="square" lIns="0" rIns="0" tIns="0" bIns="0">
            <a:spAutoFit/>
          </a:bodyPr>
          <a:lstStyle/>
          <a:p>
            <a:pPr algn="l"/>
            <a:r>
              <a:rPr sz="2400" b="1" i="0">
                <a:solidFill>
                  <a:srgbClr val="1A2233"/>
                </a:solidFill>
                <a:latin typeface="Cambria"/>
              </a:rPr>
              <a:t>40x</a:t>
            </a:r>
          </a:p>
        </p:txBody>
      </p:sp>
      <p:sp>
        <p:nvSpPr>
          <p:cNvPr id="7" name="TextBox 6"/>
          <p:cNvSpPr txBox="1"/>
          <p:nvPr/>
        </p:nvSpPr>
        <p:spPr>
          <a:xfrm>
            <a:off x="978408" y="2414016"/>
            <a:ext cx="2103120" cy="256032"/>
          </a:xfrm>
          <a:prstGeom prst="rect">
            <a:avLst/>
          </a:prstGeom>
          <a:noFill/>
        </p:spPr>
        <p:txBody>
          <a:bodyPr wrap="square" lIns="0" rIns="0" tIns="0" bIns="0">
            <a:spAutoFit/>
          </a:bodyPr>
          <a:lstStyle/>
          <a:p>
            <a:pPr algn="l"/>
            <a:r>
              <a:rPr sz="1050" b="1" i="0">
                <a:solidFill>
                  <a:srgbClr val="1A2233"/>
                </a:solidFill>
                <a:latin typeface="Calibri"/>
              </a:rPr>
              <a:t>tokens by 2029</a:t>
            </a:r>
          </a:p>
        </p:txBody>
      </p:sp>
      <p:sp>
        <p:nvSpPr>
          <p:cNvPr id="8" name="TextBox 7"/>
          <p:cNvSpPr txBox="1"/>
          <p:nvPr/>
        </p:nvSpPr>
        <p:spPr>
          <a:xfrm>
            <a:off x="978408" y="2706624"/>
            <a:ext cx="2103120" cy="475488"/>
          </a:xfrm>
          <a:prstGeom prst="rect">
            <a:avLst/>
          </a:prstGeom>
          <a:noFill/>
        </p:spPr>
        <p:txBody>
          <a:bodyPr wrap="square" lIns="0" rIns="0" tIns="0" bIns="0">
            <a:spAutoFit/>
          </a:bodyPr>
          <a:lstStyle/>
          <a:p>
            <a:pPr algn="l"/>
            <a:r>
              <a:rPr sz="900" b="0" i="0">
                <a:solidFill>
                  <a:srgbClr val="5A6478"/>
                </a:solidFill>
                <a:latin typeface="Calibri"/>
              </a:rPr>
              <a:t>our tidal-wave case</a:t>
            </a:r>
          </a:p>
        </p:txBody>
      </p:sp>
      <p:sp>
        <p:nvSpPr>
          <p:cNvPr id="9" name="Rounded Rectangle 8"/>
          <p:cNvSpPr/>
          <p:nvPr/>
        </p:nvSpPr>
        <p:spPr>
          <a:xfrm>
            <a:off x="3493008" y="1700784"/>
            <a:ext cx="2514600" cy="155448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94176" y="1883664"/>
            <a:ext cx="2103120" cy="457200"/>
          </a:xfrm>
          <a:prstGeom prst="rect">
            <a:avLst/>
          </a:prstGeom>
          <a:noFill/>
        </p:spPr>
        <p:txBody>
          <a:bodyPr wrap="square" lIns="0" rIns="0" tIns="0" bIns="0">
            <a:spAutoFit/>
          </a:bodyPr>
          <a:lstStyle/>
          <a:p>
            <a:pPr algn="l"/>
            <a:r>
              <a:rPr sz="2400" b="1" i="0">
                <a:solidFill>
                  <a:srgbClr val="1A2233"/>
                </a:solidFill>
                <a:latin typeface="Cambria"/>
              </a:rPr>
              <a:t>÷ ~3x</a:t>
            </a:r>
          </a:p>
        </p:txBody>
      </p:sp>
      <p:sp>
        <p:nvSpPr>
          <p:cNvPr id="11" name="TextBox 10"/>
          <p:cNvSpPr txBox="1"/>
          <p:nvPr/>
        </p:nvSpPr>
        <p:spPr>
          <a:xfrm>
            <a:off x="3694176" y="2414016"/>
            <a:ext cx="2103120" cy="256032"/>
          </a:xfrm>
          <a:prstGeom prst="rect">
            <a:avLst/>
          </a:prstGeom>
          <a:noFill/>
        </p:spPr>
        <p:txBody>
          <a:bodyPr wrap="square" lIns="0" rIns="0" tIns="0" bIns="0">
            <a:spAutoFit/>
          </a:bodyPr>
          <a:lstStyle/>
          <a:p>
            <a:pPr algn="l"/>
            <a:r>
              <a:rPr sz="1050" b="1" i="0">
                <a:solidFill>
                  <a:srgbClr val="1A2233"/>
                </a:solidFill>
                <a:latin typeface="Calibri"/>
              </a:rPr>
              <a:t>FLOPs per token</a:t>
            </a:r>
          </a:p>
        </p:txBody>
      </p:sp>
      <p:sp>
        <p:nvSpPr>
          <p:cNvPr id="12" name="TextBox 11"/>
          <p:cNvSpPr txBox="1"/>
          <p:nvPr/>
        </p:nvSpPr>
        <p:spPr>
          <a:xfrm>
            <a:off x="3694176" y="2706624"/>
            <a:ext cx="2103120" cy="475488"/>
          </a:xfrm>
          <a:prstGeom prst="rect">
            <a:avLst/>
          </a:prstGeom>
          <a:noFill/>
        </p:spPr>
        <p:txBody>
          <a:bodyPr wrap="square" lIns="0" rIns="0" tIns="0" bIns="0">
            <a:spAutoFit/>
          </a:bodyPr>
          <a:lstStyle/>
          <a:p>
            <a:pPr algn="l"/>
            <a:r>
              <a:rPr sz="900" b="0" i="0">
                <a:solidFill>
                  <a:srgbClr val="5A6478"/>
                </a:solidFill>
                <a:latin typeface="Calibri"/>
              </a:rPr>
              <a:t>model &amp; serving efficiency keeps improving</a:t>
            </a:r>
          </a:p>
        </p:txBody>
      </p:sp>
      <p:sp>
        <p:nvSpPr>
          <p:cNvPr id="13" name="Rounded Rectangle 12"/>
          <p:cNvSpPr/>
          <p:nvPr/>
        </p:nvSpPr>
        <p:spPr>
          <a:xfrm>
            <a:off x="6208776" y="1700784"/>
            <a:ext cx="2514600" cy="155448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883664"/>
            <a:ext cx="2103120" cy="457200"/>
          </a:xfrm>
          <a:prstGeom prst="rect">
            <a:avLst/>
          </a:prstGeom>
          <a:noFill/>
        </p:spPr>
        <p:txBody>
          <a:bodyPr wrap="square" lIns="0" rIns="0" tIns="0" bIns="0">
            <a:spAutoFit/>
          </a:bodyPr>
          <a:lstStyle/>
          <a:p>
            <a:pPr algn="l"/>
            <a:r>
              <a:rPr sz="2400" b="1" i="0">
                <a:solidFill>
                  <a:srgbClr val="1A2233"/>
                </a:solidFill>
                <a:latin typeface="Cambria"/>
              </a:rPr>
              <a:t>÷ ~2–3x</a:t>
            </a:r>
          </a:p>
        </p:txBody>
      </p:sp>
      <p:sp>
        <p:nvSpPr>
          <p:cNvPr id="15" name="TextBox 14"/>
          <p:cNvSpPr txBox="1"/>
          <p:nvPr/>
        </p:nvSpPr>
        <p:spPr>
          <a:xfrm>
            <a:off x="6409944" y="2414016"/>
            <a:ext cx="2103120" cy="256032"/>
          </a:xfrm>
          <a:prstGeom prst="rect">
            <a:avLst/>
          </a:prstGeom>
          <a:noFill/>
        </p:spPr>
        <p:txBody>
          <a:bodyPr wrap="square" lIns="0" rIns="0" tIns="0" bIns="0">
            <a:spAutoFit/>
          </a:bodyPr>
          <a:lstStyle/>
          <a:p>
            <a:pPr algn="l"/>
            <a:r>
              <a:rPr sz="1050" b="1" i="0">
                <a:solidFill>
                  <a:srgbClr val="1A2233"/>
                </a:solidFill>
                <a:latin typeface="Calibri"/>
              </a:rPr>
              <a:t>performance per watt</a:t>
            </a:r>
          </a:p>
        </p:txBody>
      </p:sp>
      <p:sp>
        <p:nvSpPr>
          <p:cNvPr id="16" name="TextBox 15"/>
          <p:cNvSpPr txBox="1"/>
          <p:nvPr/>
        </p:nvSpPr>
        <p:spPr>
          <a:xfrm>
            <a:off x="6409944" y="2706624"/>
            <a:ext cx="2103120" cy="475488"/>
          </a:xfrm>
          <a:prstGeom prst="rect">
            <a:avLst/>
          </a:prstGeom>
          <a:noFill/>
        </p:spPr>
        <p:txBody>
          <a:bodyPr wrap="square" lIns="0" rIns="0" tIns="0" bIns="0">
            <a:spAutoFit/>
          </a:bodyPr>
          <a:lstStyle/>
          <a:p>
            <a:pPr algn="l"/>
            <a:r>
              <a:rPr sz="900" b="0" i="0">
                <a:solidFill>
                  <a:srgbClr val="5A6478"/>
                </a:solidFill>
                <a:latin typeface="Calibri"/>
              </a:rPr>
              <a:t>two hardware generations by 2029</a:t>
            </a:r>
          </a:p>
        </p:txBody>
      </p:sp>
      <p:sp>
        <p:nvSpPr>
          <p:cNvPr id="17" name="Rounded Rectangle 16"/>
          <p:cNvSpPr/>
          <p:nvPr/>
        </p:nvSpPr>
        <p:spPr>
          <a:xfrm>
            <a:off x="8924544" y="1700784"/>
            <a:ext cx="2514600" cy="1554480"/>
          </a:xfrm>
          <a:prstGeom prst="roundRect">
            <a:avLst>
              <a:gd name="adj" fmla="val 7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5712" y="1883664"/>
            <a:ext cx="2103120" cy="457200"/>
          </a:xfrm>
          <a:prstGeom prst="rect">
            <a:avLst/>
          </a:prstGeom>
          <a:noFill/>
        </p:spPr>
        <p:txBody>
          <a:bodyPr wrap="square" lIns="0" rIns="0" tIns="0" bIns="0">
            <a:spAutoFit/>
          </a:bodyPr>
          <a:lstStyle/>
          <a:p>
            <a:pPr algn="l"/>
            <a:r>
              <a:rPr sz="2400" b="1" i="0">
                <a:solidFill>
                  <a:srgbClr val="2777EF"/>
                </a:solidFill>
                <a:latin typeface="Cambria"/>
              </a:rPr>
              <a:t>= ~4–7x</a:t>
            </a:r>
          </a:p>
        </p:txBody>
      </p:sp>
      <p:sp>
        <p:nvSpPr>
          <p:cNvPr id="19" name="TextBox 18"/>
          <p:cNvSpPr txBox="1"/>
          <p:nvPr/>
        </p:nvSpPr>
        <p:spPr>
          <a:xfrm>
            <a:off x="9125712" y="2414016"/>
            <a:ext cx="2103120" cy="256032"/>
          </a:xfrm>
          <a:prstGeom prst="rect">
            <a:avLst/>
          </a:prstGeom>
          <a:noFill/>
        </p:spPr>
        <p:txBody>
          <a:bodyPr wrap="square" lIns="0" rIns="0" tIns="0" bIns="0">
            <a:spAutoFit/>
          </a:bodyPr>
          <a:lstStyle/>
          <a:p>
            <a:pPr algn="l"/>
            <a:r>
              <a:rPr sz="1050" b="1" i="0">
                <a:solidFill>
                  <a:srgbClr val="1A2233"/>
                </a:solidFill>
                <a:latin typeface="Calibri"/>
              </a:rPr>
              <a:t>inference power needed</a:t>
            </a:r>
          </a:p>
        </p:txBody>
      </p:sp>
      <p:sp>
        <p:nvSpPr>
          <p:cNvPr id="20" name="TextBox 19"/>
          <p:cNvSpPr txBox="1"/>
          <p:nvPr/>
        </p:nvSpPr>
        <p:spPr>
          <a:xfrm>
            <a:off x="9125712" y="2706624"/>
            <a:ext cx="2103120" cy="475488"/>
          </a:xfrm>
          <a:prstGeom prst="rect">
            <a:avLst/>
          </a:prstGeom>
          <a:noFill/>
        </p:spPr>
        <p:txBody>
          <a:bodyPr wrap="square" lIns="0" rIns="0" tIns="0" bIns="0">
            <a:spAutoFit/>
          </a:bodyPr>
          <a:lstStyle/>
          <a:p>
            <a:pPr algn="l"/>
            <a:r>
              <a:rPr sz="900" b="0" i="0">
                <a:solidFill>
                  <a:srgbClr val="5A6478"/>
                </a:solidFill>
                <a:latin typeface="Calibri"/>
              </a:rPr>
              <a:t>not 40x — efficiency absorbs most of the wave</a:t>
            </a:r>
          </a:p>
        </p:txBody>
      </p:sp>
      <p:sp>
        <p:nvSpPr>
          <p:cNvPr id="21" name="Rounded Rectangle 20"/>
          <p:cNvSpPr/>
          <p:nvPr/>
        </p:nvSpPr>
        <p:spPr>
          <a:xfrm>
            <a:off x="777240" y="3566160"/>
            <a:ext cx="3429000" cy="21031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3730752"/>
            <a:ext cx="2926080" cy="237744"/>
          </a:xfrm>
          <a:prstGeom prst="rect">
            <a:avLst/>
          </a:prstGeom>
          <a:noFill/>
        </p:spPr>
        <p:txBody>
          <a:bodyPr wrap="square" lIns="0" rIns="0" tIns="0" bIns="0">
            <a:spAutoFit/>
          </a:bodyPr>
          <a:lstStyle/>
          <a:p>
            <a:pPr algn="l"/>
            <a:r>
              <a:rPr sz="1000" b="1" i="0">
                <a:solidFill>
                  <a:srgbClr val="2777EF"/>
                </a:solidFill>
                <a:latin typeface="Calibri"/>
              </a:rPr>
              <a:t>WHAT'S ALREADY COMMITTED</a:t>
            </a:r>
          </a:p>
        </p:txBody>
      </p:sp>
      <p:sp>
        <p:nvSpPr>
          <p:cNvPr id="23" name="TextBox 22"/>
          <p:cNvSpPr txBox="1"/>
          <p:nvPr/>
        </p:nvSpPr>
        <p:spPr>
          <a:xfrm>
            <a:off x="1014983" y="4059936"/>
            <a:ext cx="2926080" cy="1536192"/>
          </a:xfrm>
          <a:prstGeom prst="rect">
            <a:avLst/>
          </a:prstGeom>
          <a:noFill/>
        </p:spPr>
        <p:txBody>
          <a:bodyPr wrap="square" lIns="0" rIns="0" tIns="0" bIns="0">
            <a:spAutoFit/>
          </a:bodyPr>
          <a:lstStyle/>
          <a:p>
            <a:pPr algn="l"/>
            <a:r>
              <a:rPr sz="1030" b="0" i="0">
                <a:solidFill>
                  <a:srgbClr val="5A6478"/>
                </a:solidFill>
                <a:latin typeface="Calibri"/>
              </a:rPr>
              <a:t>Hyperscaler capex guidance north of half a trillion dollars a year; 10-GW-class campuses announced on three continents; sovereign AI programs funding more.</a:t>
            </a:r>
          </a:p>
        </p:txBody>
      </p:sp>
      <p:sp>
        <p:nvSpPr>
          <p:cNvPr id="24" name="Rounded Rectangle 23"/>
          <p:cNvSpPr/>
          <p:nvPr/>
        </p:nvSpPr>
        <p:spPr>
          <a:xfrm>
            <a:off x="4379976" y="3566160"/>
            <a:ext cx="3429000" cy="21031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730752"/>
            <a:ext cx="2926080" cy="237744"/>
          </a:xfrm>
          <a:prstGeom prst="rect">
            <a:avLst/>
          </a:prstGeom>
          <a:noFill/>
        </p:spPr>
        <p:txBody>
          <a:bodyPr wrap="square" lIns="0" rIns="0" tIns="0" bIns="0">
            <a:spAutoFit/>
          </a:bodyPr>
          <a:lstStyle/>
          <a:p>
            <a:pPr algn="l"/>
            <a:r>
              <a:rPr sz="1000" b="1" i="0">
                <a:solidFill>
                  <a:srgbClr val="2777EF"/>
                </a:solidFill>
                <a:latin typeface="Calibri"/>
              </a:rPr>
              <a:t>WHAT THAT CAPEX ASSUMES</a:t>
            </a:r>
          </a:p>
        </p:txBody>
      </p:sp>
      <p:sp>
        <p:nvSpPr>
          <p:cNvPr id="26" name="TextBox 25"/>
          <p:cNvSpPr txBox="1"/>
          <p:nvPr/>
        </p:nvSpPr>
        <p:spPr>
          <a:xfrm>
            <a:off x="4617720" y="4059936"/>
            <a:ext cx="2926080" cy="1536192"/>
          </a:xfrm>
          <a:prstGeom prst="rect">
            <a:avLst/>
          </a:prstGeom>
          <a:noFill/>
        </p:spPr>
        <p:txBody>
          <a:bodyPr wrap="square" lIns="0" rIns="0" tIns="0" bIns="0">
            <a:spAutoFit/>
          </a:bodyPr>
          <a:lstStyle/>
          <a:p>
            <a:pPr algn="l"/>
            <a:r>
              <a:rPr sz="1030" b="0" i="0">
                <a:solidFill>
                  <a:srgbClr val="5A6478"/>
                </a:solidFill>
                <a:latin typeface="Calibri"/>
              </a:rPr>
              <a:t>A build of this size only clears its cost of capital if token demand compounds roughly like our curve — the suppliers are underwriting the wave case, not the fade.</a:t>
            </a:r>
          </a:p>
        </p:txBody>
      </p:sp>
      <p:sp>
        <p:nvSpPr>
          <p:cNvPr id="27" name="Rounded Rectangle 26"/>
          <p:cNvSpPr/>
          <p:nvPr/>
        </p:nvSpPr>
        <p:spPr>
          <a:xfrm>
            <a:off x="7982712" y="3566160"/>
            <a:ext cx="3429000" cy="21031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0456" y="3730752"/>
            <a:ext cx="2926080" cy="237744"/>
          </a:xfrm>
          <a:prstGeom prst="rect">
            <a:avLst/>
          </a:prstGeom>
          <a:noFill/>
        </p:spPr>
        <p:txBody>
          <a:bodyPr wrap="square" lIns="0" rIns="0" tIns="0" bIns="0">
            <a:spAutoFit/>
          </a:bodyPr>
          <a:lstStyle/>
          <a:p>
            <a:pPr algn="l"/>
            <a:r>
              <a:rPr sz="1000" b="1" i="0">
                <a:solidFill>
                  <a:srgbClr val="2777EF"/>
                </a:solidFill>
                <a:latin typeface="Calibri"/>
              </a:rPr>
              <a:t>THE HONEST CONSTRAINT</a:t>
            </a:r>
          </a:p>
        </p:txBody>
      </p:sp>
      <p:sp>
        <p:nvSpPr>
          <p:cNvPr id="29" name="TextBox 28"/>
          <p:cNvSpPr txBox="1"/>
          <p:nvPr/>
        </p:nvSpPr>
        <p:spPr>
          <a:xfrm>
            <a:off x="8220456" y="4059936"/>
            <a:ext cx="2926080" cy="1536192"/>
          </a:xfrm>
          <a:prstGeom prst="rect">
            <a:avLst/>
          </a:prstGeom>
          <a:noFill/>
        </p:spPr>
        <p:txBody>
          <a:bodyPr wrap="square" lIns="0" rIns="0" tIns="0" bIns="0">
            <a:spAutoFit/>
          </a:bodyPr>
          <a:lstStyle/>
          <a:p>
            <a:pPr algn="l"/>
            <a:r>
              <a:rPr sz="1030" b="0" i="0">
                <a:solidFill>
                  <a:srgbClr val="5A6478"/>
                </a:solidFill>
                <a:latin typeface="Calibri"/>
              </a:rPr>
              <a:t>Power and grid interconnects are the gating factor — which caps the downside too: supply discipline supports pricing at every meter above it.</a:t>
            </a:r>
          </a:p>
        </p:txBody>
      </p:sp>
      <p:sp>
        <p:nvSpPr>
          <p:cNvPr id="30" name="Rounded Rectangle 29"/>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40x tokens needs only ~4–7x power — and the buildout is committed  </a:t>
            </a:r>
            <a:r>
              <a:rPr sz="1200">
                <a:solidFill>
                  <a:srgbClr val="1A2233"/>
                </a:solidFill>
                <a:latin typeface="Calibri"/>
              </a:rPr>
              <a:t>— the committed buildout already covers it.</a:t>
            </a:r>
          </a:p>
        </p:txBody>
      </p:sp>
      <p:sp>
        <p:nvSpPr>
          <p:cNvPr id="31" name="TextBox 3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2" name="TextBox 31"/>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30</a:t>
            </a:r>
          </a:p>
        </p:txBody>
      </p:sp>
      <p:sp>
        <p:nvSpPr>
          <p:cNvPr id="33" name="TextBox 3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model (MODELED): efficiency assumptions approximate; capex per public company guidance and announced projects, Jul 2026. See provenance sheet.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SA case: their map, our meters — ~6,000Q</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A POWER-BOUNDED UPSIDE SCENARIO ON SITUATIONAL-AWARENESS ASSUMPTIONS — MODELED, NOT UNDERWRITTEN</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00784"/>
            <a:ext cx="2514600" cy="155448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883664"/>
            <a:ext cx="2103120" cy="457200"/>
          </a:xfrm>
          <a:prstGeom prst="rect">
            <a:avLst/>
          </a:prstGeom>
          <a:noFill/>
        </p:spPr>
        <p:txBody>
          <a:bodyPr wrap="square" lIns="0" rIns="0" tIns="0" bIns="0">
            <a:spAutoFit/>
          </a:bodyPr>
          <a:lstStyle/>
          <a:p>
            <a:pPr algn="l"/>
            <a:r>
              <a:rPr sz="2400" b="1" i="0">
                <a:solidFill>
                  <a:srgbClr val="1A2233"/>
                </a:solidFill>
                <a:latin typeface="Cambria"/>
              </a:rPr>
              <a:t>~10x</a:t>
            </a:r>
          </a:p>
        </p:txBody>
      </p:sp>
      <p:sp>
        <p:nvSpPr>
          <p:cNvPr id="7" name="TextBox 6"/>
          <p:cNvSpPr txBox="1"/>
          <p:nvPr/>
        </p:nvSpPr>
        <p:spPr>
          <a:xfrm>
            <a:off x="978408" y="2414016"/>
            <a:ext cx="2103120" cy="256032"/>
          </a:xfrm>
          <a:prstGeom prst="rect">
            <a:avLst/>
          </a:prstGeom>
          <a:noFill/>
        </p:spPr>
        <p:txBody>
          <a:bodyPr wrap="square" lIns="0" rIns="0" tIns="0" bIns="0">
            <a:spAutoFit/>
          </a:bodyPr>
          <a:lstStyle/>
          <a:p>
            <a:pPr algn="l"/>
            <a:r>
              <a:rPr sz="1050" b="1" i="0">
                <a:solidFill>
                  <a:srgbClr val="1A2233"/>
                </a:solidFill>
                <a:latin typeface="Calibri"/>
              </a:rPr>
              <a:t>inference power by 2029</a:t>
            </a:r>
          </a:p>
        </p:txBody>
      </p:sp>
      <p:sp>
        <p:nvSpPr>
          <p:cNvPr id="8" name="TextBox 7"/>
          <p:cNvSpPr txBox="1"/>
          <p:nvPr/>
        </p:nvSpPr>
        <p:spPr>
          <a:xfrm>
            <a:off x="978408" y="2706624"/>
            <a:ext cx="2103120" cy="475488"/>
          </a:xfrm>
          <a:prstGeom prst="rect">
            <a:avLst/>
          </a:prstGeom>
          <a:noFill/>
        </p:spPr>
        <p:txBody>
          <a:bodyPr wrap="square" lIns="0" rIns="0" tIns="0" bIns="0">
            <a:spAutoFit/>
          </a:bodyPr>
          <a:lstStyle/>
          <a:p>
            <a:pPr algn="l"/>
            <a:r>
              <a:rPr sz="900" b="0" i="0">
                <a:solidFill>
                  <a:srgbClr val="5A6478"/>
                </a:solidFill>
                <a:latin typeface="Calibri"/>
              </a:rPr>
              <a:t>if the announced build fully lands</a:t>
            </a:r>
          </a:p>
        </p:txBody>
      </p:sp>
      <p:sp>
        <p:nvSpPr>
          <p:cNvPr id="9" name="Rounded Rectangle 8"/>
          <p:cNvSpPr/>
          <p:nvPr/>
        </p:nvSpPr>
        <p:spPr>
          <a:xfrm>
            <a:off x="3493008" y="1700784"/>
            <a:ext cx="2514600" cy="155448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94176" y="1883664"/>
            <a:ext cx="2103120" cy="457200"/>
          </a:xfrm>
          <a:prstGeom prst="rect">
            <a:avLst/>
          </a:prstGeom>
          <a:noFill/>
        </p:spPr>
        <p:txBody>
          <a:bodyPr wrap="square" lIns="0" rIns="0" tIns="0" bIns="0">
            <a:spAutoFit/>
          </a:bodyPr>
          <a:lstStyle/>
          <a:p>
            <a:pPr algn="l"/>
            <a:r>
              <a:rPr sz="2400" b="1" i="0">
                <a:solidFill>
                  <a:srgbClr val="1A2233"/>
                </a:solidFill>
                <a:latin typeface="Cambria"/>
              </a:rPr>
              <a:t>× ~3x</a:t>
            </a:r>
          </a:p>
        </p:txBody>
      </p:sp>
      <p:sp>
        <p:nvSpPr>
          <p:cNvPr id="11" name="TextBox 10"/>
          <p:cNvSpPr txBox="1"/>
          <p:nvPr/>
        </p:nvSpPr>
        <p:spPr>
          <a:xfrm>
            <a:off x="3694176" y="2414016"/>
            <a:ext cx="2103120" cy="256032"/>
          </a:xfrm>
          <a:prstGeom prst="rect">
            <a:avLst/>
          </a:prstGeom>
          <a:noFill/>
        </p:spPr>
        <p:txBody>
          <a:bodyPr wrap="square" lIns="0" rIns="0" tIns="0" bIns="0">
            <a:spAutoFit/>
          </a:bodyPr>
          <a:lstStyle/>
          <a:p>
            <a:pPr algn="l"/>
            <a:r>
              <a:rPr sz="1050" b="1" i="0">
                <a:solidFill>
                  <a:srgbClr val="1A2233"/>
                </a:solidFill>
                <a:latin typeface="Calibri"/>
              </a:rPr>
              <a:t>FLOPs per token</a:t>
            </a:r>
          </a:p>
        </p:txBody>
      </p:sp>
      <p:sp>
        <p:nvSpPr>
          <p:cNvPr id="12" name="TextBox 11"/>
          <p:cNvSpPr txBox="1"/>
          <p:nvPr/>
        </p:nvSpPr>
        <p:spPr>
          <a:xfrm>
            <a:off x="3694176" y="2706624"/>
            <a:ext cx="2103120" cy="475488"/>
          </a:xfrm>
          <a:prstGeom prst="rect">
            <a:avLst/>
          </a:prstGeom>
          <a:noFill/>
        </p:spPr>
        <p:txBody>
          <a:bodyPr wrap="square" lIns="0" rIns="0" tIns="0" bIns="0">
            <a:spAutoFit/>
          </a:bodyPr>
          <a:lstStyle/>
          <a:p>
            <a:pPr algn="l"/>
            <a:r>
              <a:rPr sz="900" b="0" i="0">
                <a:solidFill>
                  <a:srgbClr val="5A6478"/>
                </a:solidFill>
                <a:latin typeface="Calibri"/>
              </a:rPr>
              <a:t>model &amp; serving efficiency keeps improving</a:t>
            </a:r>
          </a:p>
        </p:txBody>
      </p:sp>
      <p:sp>
        <p:nvSpPr>
          <p:cNvPr id="13" name="Rounded Rectangle 12"/>
          <p:cNvSpPr/>
          <p:nvPr/>
        </p:nvSpPr>
        <p:spPr>
          <a:xfrm>
            <a:off x="6208776" y="1700784"/>
            <a:ext cx="2514600" cy="1554480"/>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883664"/>
            <a:ext cx="2103120" cy="457200"/>
          </a:xfrm>
          <a:prstGeom prst="rect">
            <a:avLst/>
          </a:prstGeom>
          <a:noFill/>
        </p:spPr>
        <p:txBody>
          <a:bodyPr wrap="square" lIns="0" rIns="0" tIns="0" bIns="0">
            <a:spAutoFit/>
          </a:bodyPr>
          <a:lstStyle/>
          <a:p>
            <a:pPr algn="l"/>
            <a:r>
              <a:rPr sz="2400" b="1" i="0">
                <a:solidFill>
                  <a:srgbClr val="1A2233"/>
                </a:solidFill>
                <a:latin typeface="Cambria"/>
              </a:rPr>
              <a:t>× ~2.5x</a:t>
            </a:r>
          </a:p>
        </p:txBody>
      </p:sp>
      <p:sp>
        <p:nvSpPr>
          <p:cNvPr id="15" name="TextBox 14"/>
          <p:cNvSpPr txBox="1"/>
          <p:nvPr/>
        </p:nvSpPr>
        <p:spPr>
          <a:xfrm>
            <a:off x="6409944" y="2414016"/>
            <a:ext cx="2103120" cy="256032"/>
          </a:xfrm>
          <a:prstGeom prst="rect">
            <a:avLst/>
          </a:prstGeom>
          <a:noFill/>
        </p:spPr>
        <p:txBody>
          <a:bodyPr wrap="square" lIns="0" rIns="0" tIns="0" bIns="0">
            <a:spAutoFit/>
          </a:bodyPr>
          <a:lstStyle/>
          <a:p>
            <a:pPr algn="l"/>
            <a:r>
              <a:rPr sz="1050" b="1" i="0">
                <a:solidFill>
                  <a:srgbClr val="1A2233"/>
                </a:solidFill>
                <a:latin typeface="Calibri"/>
              </a:rPr>
              <a:t>performance per watt</a:t>
            </a:r>
          </a:p>
        </p:txBody>
      </p:sp>
      <p:sp>
        <p:nvSpPr>
          <p:cNvPr id="16" name="TextBox 15"/>
          <p:cNvSpPr txBox="1"/>
          <p:nvPr/>
        </p:nvSpPr>
        <p:spPr>
          <a:xfrm>
            <a:off x="6409944" y="2706624"/>
            <a:ext cx="2103120" cy="475488"/>
          </a:xfrm>
          <a:prstGeom prst="rect">
            <a:avLst/>
          </a:prstGeom>
          <a:noFill/>
        </p:spPr>
        <p:txBody>
          <a:bodyPr wrap="square" lIns="0" rIns="0" tIns="0" bIns="0">
            <a:spAutoFit/>
          </a:bodyPr>
          <a:lstStyle/>
          <a:p>
            <a:pPr algn="l"/>
            <a:r>
              <a:rPr sz="900" b="0" i="0">
                <a:solidFill>
                  <a:srgbClr val="5A6478"/>
                </a:solidFill>
                <a:latin typeface="Calibri"/>
              </a:rPr>
              <a:t>two hardware generations by 2029</a:t>
            </a:r>
          </a:p>
        </p:txBody>
      </p:sp>
      <p:sp>
        <p:nvSpPr>
          <p:cNvPr id="17" name="Rounded Rectangle 16"/>
          <p:cNvSpPr/>
          <p:nvPr/>
        </p:nvSpPr>
        <p:spPr>
          <a:xfrm>
            <a:off x="8924544" y="1700784"/>
            <a:ext cx="2514600" cy="1554480"/>
          </a:xfrm>
          <a:prstGeom prst="roundRect">
            <a:avLst>
              <a:gd name="adj" fmla="val 7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5712" y="1883664"/>
            <a:ext cx="2103120" cy="457200"/>
          </a:xfrm>
          <a:prstGeom prst="rect">
            <a:avLst/>
          </a:prstGeom>
          <a:noFill/>
        </p:spPr>
        <p:txBody>
          <a:bodyPr wrap="square" lIns="0" rIns="0" tIns="0" bIns="0">
            <a:spAutoFit/>
          </a:bodyPr>
          <a:lstStyle/>
          <a:p>
            <a:pPr algn="l"/>
            <a:r>
              <a:rPr sz="2400" b="1" i="0">
                <a:solidFill>
                  <a:srgbClr val="2777EF"/>
                </a:solidFill>
                <a:latin typeface="Cambria"/>
              </a:rPr>
              <a:t>= ~75x</a:t>
            </a:r>
          </a:p>
        </p:txBody>
      </p:sp>
      <p:sp>
        <p:nvSpPr>
          <p:cNvPr id="19" name="TextBox 18"/>
          <p:cNvSpPr txBox="1"/>
          <p:nvPr/>
        </p:nvSpPr>
        <p:spPr>
          <a:xfrm>
            <a:off x="9125712" y="2414016"/>
            <a:ext cx="2103120" cy="256032"/>
          </a:xfrm>
          <a:prstGeom prst="rect">
            <a:avLst/>
          </a:prstGeom>
          <a:noFill/>
        </p:spPr>
        <p:txBody>
          <a:bodyPr wrap="square" lIns="0" rIns="0" tIns="0" bIns="0">
            <a:spAutoFit/>
          </a:bodyPr>
          <a:lstStyle/>
          <a:p>
            <a:pPr algn="l"/>
            <a:r>
              <a:rPr sz="1050" b="1" i="0">
                <a:solidFill>
                  <a:srgbClr val="1A2233"/>
                </a:solidFill>
                <a:latin typeface="Calibri"/>
              </a:rPr>
              <a:t>token ceiling — ~7,500Q</a:t>
            </a:r>
          </a:p>
        </p:txBody>
      </p:sp>
      <p:sp>
        <p:nvSpPr>
          <p:cNvPr id="20" name="TextBox 19"/>
          <p:cNvSpPr txBox="1"/>
          <p:nvPr/>
        </p:nvSpPr>
        <p:spPr>
          <a:xfrm>
            <a:off x="9125712" y="2706624"/>
            <a:ext cx="2103120" cy="475488"/>
          </a:xfrm>
          <a:prstGeom prst="rect">
            <a:avLst/>
          </a:prstGeom>
          <a:noFill/>
        </p:spPr>
        <p:txBody>
          <a:bodyPr wrap="square" lIns="0" rIns="0" tIns="0" bIns="0">
            <a:spAutoFit/>
          </a:bodyPr>
          <a:lstStyle/>
          <a:p>
            <a:pPr algn="l"/>
            <a:r>
              <a:rPr sz="900" b="0" i="0">
                <a:solidFill>
                  <a:srgbClr val="5A6478"/>
                </a:solidFill>
                <a:latin typeface="Calibri"/>
              </a:rPr>
              <a:t>the physical limit of their map, not our call</a:t>
            </a:r>
          </a:p>
        </p:txBody>
      </p:sp>
      <p:sp>
        <p:nvSpPr>
          <p:cNvPr id="21" name="Rounded Rectangle 20"/>
          <p:cNvSpPr/>
          <p:nvPr/>
        </p:nvSpPr>
        <p:spPr>
          <a:xfrm>
            <a:off x="777240" y="3566160"/>
            <a:ext cx="3429000" cy="21031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4983" y="3730752"/>
            <a:ext cx="2926080" cy="237744"/>
          </a:xfrm>
          <a:prstGeom prst="rect">
            <a:avLst/>
          </a:prstGeom>
          <a:noFill/>
        </p:spPr>
        <p:txBody>
          <a:bodyPr wrap="square" lIns="0" rIns="0" tIns="0" bIns="0">
            <a:spAutoFit/>
          </a:bodyPr>
          <a:lstStyle/>
          <a:p>
            <a:pPr algn="l"/>
            <a:r>
              <a:rPr sz="1000" b="1" i="0">
                <a:solidFill>
                  <a:srgbClr val="2777EF"/>
                </a:solidFill>
                <a:latin typeface="Calibri"/>
              </a:rPr>
              <a:t>THE SA CASE — ~6,000Q</a:t>
            </a:r>
          </a:p>
        </p:txBody>
      </p:sp>
      <p:sp>
        <p:nvSpPr>
          <p:cNvPr id="23" name="TextBox 22"/>
          <p:cNvSpPr txBox="1"/>
          <p:nvPr/>
        </p:nvSpPr>
        <p:spPr>
          <a:xfrm>
            <a:off x="1014983" y="4059936"/>
            <a:ext cx="2926080" cy="1536192"/>
          </a:xfrm>
          <a:prstGeom prst="rect">
            <a:avLst/>
          </a:prstGeom>
          <a:noFill/>
        </p:spPr>
        <p:txBody>
          <a:bodyPr wrap="square" lIns="0" rIns="0" tIns="0" bIns="0">
            <a:spAutoFit/>
          </a:bodyPr>
          <a:lstStyle/>
          <a:p>
            <a:pPr algn="l"/>
            <a:r>
              <a:rPr sz="1030" b="0" i="0">
                <a:solidFill>
                  <a:srgbClr val="5A6478"/>
                </a:solidFill>
                <a:latin typeface="Calibri"/>
              </a:rPr>
              <a:t>Drop-in agent workers land: always-on share 30%+, intensity 60–100M tokens/day — ~60x tokens (×4.2/yr), adopted below the power ceiling.</a:t>
            </a:r>
          </a:p>
        </p:txBody>
      </p:sp>
      <p:sp>
        <p:nvSpPr>
          <p:cNvPr id="24" name="Rounded Rectangle 23"/>
          <p:cNvSpPr/>
          <p:nvPr/>
        </p:nvSpPr>
        <p:spPr>
          <a:xfrm>
            <a:off x="4379976" y="3566160"/>
            <a:ext cx="3429000" cy="21031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730752"/>
            <a:ext cx="2926080" cy="237744"/>
          </a:xfrm>
          <a:prstGeom prst="rect">
            <a:avLst/>
          </a:prstGeom>
          <a:noFill/>
        </p:spPr>
        <p:txBody>
          <a:bodyPr wrap="square" lIns="0" rIns="0" tIns="0" bIns="0">
            <a:spAutoFit/>
          </a:bodyPr>
          <a:lstStyle/>
          <a:p>
            <a:pPr algn="l"/>
            <a:r>
              <a:rPr sz="1000" b="1" i="0">
                <a:solidFill>
                  <a:srgbClr val="2777EF"/>
                </a:solidFill>
                <a:latin typeface="Calibri"/>
              </a:rPr>
              <a:t>WHAT IT PAYS THE METERS</a:t>
            </a:r>
          </a:p>
        </p:txBody>
      </p:sp>
      <p:sp>
        <p:nvSpPr>
          <p:cNvPr id="26" name="TextBox 25"/>
          <p:cNvSpPr txBox="1"/>
          <p:nvPr/>
        </p:nvSpPr>
        <p:spPr>
          <a:xfrm>
            <a:off x="4617720" y="4059936"/>
            <a:ext cx="2926080" cy="1536192"/>
          </a:xfrm>
          <a:prstGeom prst="rect">
            <a:avLst/>
          </a:prstGeom>
          <a:noFill/>
        </p:spPr>
        <p:txBody>
          <a:bodyPr wrap="square" lIns="0" rIns="0" tIns="0" bIns="0">
            <a:spAutoFit/>
          </a:bodyPr>
          <a:lstStyle/>
          <a:p>
            <a:pPr algn="l"/>
            <a:r>
              <a:rPr sz="1030" b="0" i="0">
                <a:solidFill>
                  <a:srgbClr val="5A6478"/>
                </a:solidFill>
                <a:latin typeface="Calibri"/>
              </a:rPr>
              <a:t>Same event math, same 0.5–0.7 capture: cohort 2029 revenue ~$55–70B vs ~$42B in our wave — a growth band above the wave range (p. 77): the hyperboom’s number, on volume, not multiple.</a:t>
            </a:r>
          </a:p>
        </p:txBody>
      </p:sp>
      <p:sp>
        <p:nvSpPr>
          <p:cNvPr id="27" name="Rounded Rectangle 26"/>
          <p:cNvSpPr/>
          <p:nvPr/>
        </p:nvSpPr>
        <p:spPr>
          <a:xfrm>
            <a:off x="7982712" y="3566160"/>
            <a:ext cx="3429000" cy="21031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0456" y="3730752"/>
            <a:ext cx="2926080" cy="237744"/>
          </a:xfrm>
          <a:prstGeom prst="rect">
            <a:avLst/>
          </a:prstGeom>
          <a:noFill/>
        </p:spPr>
        <p:txBody>
          <a:bodyPr wrap="square" lIns="0" rIns="0" tIns="0" bIns="0">
            <a:spAutoFit/>
          </a:bodyPr>
          <a:lstStyle/>
          <a:p>
            <a:pPr algn="l"/>
            <a:r>
              <a:rPr sz="1000" b="1" i="0">
                <a:solidFill>
                  <a:srgbClr val="2777EF"/>
                </a:solidFill>
                <a:latin typeface="Calibri"/>
              </a:rPr>
              <a:t>THE HONEST CONSTRAINT</a:t>
            </a:r>
          </a:p>
        </p:txBody>
      </p:sp>
      <p:sp>
        <p:nvSpPr>
          <p:cNvPr id="29" name="TextBox 28"/>
          <p:cNvSpPr txBox="1"/>
          <p:nvPr/>
        </p:nvSpPr>
        <p:spPr>
          <a:xfrm>
            <a:off x="8220456" y="4059936"/>
            <a:ext cx="2926080" cy="1536192"/>
          </a:xfrm>
          <a:prstGeom prst="rect">
            <a:avLst/>
          </a:prstGeom>
          <a:noFill/>
        </p:spPr>
        <p:txBody>
          <a:bodyPr wrap="square" lIns="0" rIns="0" tIns="0" bIns="0">
            <a:spAutoFit/>
          </a:bodyPr>
          <a:lstStyle/>
          <a:p>
            <a:pPr algn="l"/>
            <a:r>
              <a:rPr sz="1030" b="0" i="0">
                <a:solidFill>
                  <a:srgbClr val="5A6478"/>
                </a:solidFill>
                <a:latin typeface="Calibri"/>
              </a:rPr>
              <a:t>Ten-x power by 2029 means grid, transformers and siting all land on schedule — the binding risk of the SA world; miss it and this case decays toward our 40x, not below it.</a:t>
            </a:r>
          </a:p>
        </p:txBody>
      </p:sp>
      <p:sp>
        <p:nvSpPr>
          <p:cNvPr id="30" name="Rounded Rectangle 29"/>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We underwrite 40x </a:t>
            </a:r>
            <a:r>
              <a:rPr sz="1200">
                <a:solidFill>
                  <a:srgbClr val="1A2233"/>
                </a:solidFill>
                <a:latin typeface="Calibri"/>
              </a:rPr>
              <a:t> — the SA case is what the same meters earn if their map is right. Shown, not underwritten.</a:t>
            </a:r>
          </a:p>
        </p:txBody>
      </p:sp>
      <p:sp>
        <p:nvSpPr>
          <p:cNvPr id="31" name="TextBox 3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2" name="TextBox 31"/>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31</a:t>
            </a:r>
          </a:p>
        </p:txBody>
      </p:sp>
      <p:sp>
        <p:nvSpPr>
          <p:cNvPr id="33" name="TextBox 3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scenario (MODELED): ~10x inference power, ~3x FLOPs/token, ~2.5x perf/watt by 2029; conversion per the event model (p. 40). Aschenbrenner, Situational Awareness (Jun 2024). Not a forecast.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Capital mobilizations of this scale have precedent</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INFRASTRUCTURE BUILDOUTS AS A SHARE OF THEIR ECONOMIES — THE AI CAPEX CYCLE IN CONTEXT</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82496"/>
            <a:ext cx="10634472" cy="932688"/>
          </a:xfrm>
          <a:prstGeom prst="roundRect">
            <a:avLst>
              <a:gd name="adj" fmla="val 23529"/>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828800"/>
            <a:ext cx="2468880" cy="274320"/>
          </a:xfrm>
          <a:prstGeom prst="rect">
            <a:avLst/>
          </a:prstGeom>
          <a:noFill/>
        </p:spPr>
        <p:txBody>
          <a:bodyPr wrap="square" lIns="0" rIns="0" tIns="0" bIns="0">
            <a:spAutoFit/>
          </a:bodyPr>
          <a:lstStyle/>
          <a:p>
            <a:pPr algn="l"/>
            <a:r>
              <a:rPr sz="1150" b="1" i="0">
                <a:solidFill>
                  <a:srgbClr val="1A2233"/>
                </a:solidFill>
                <a:latin typeface="Calibri"/>
              </a:rPr>
              <a:t>BRITISH RAILWAYS</a:t>
            </a:r>
          </a:p>
        </p:txBody>
      </p:sp>
      <p:sp>
        <p:nvSpPr>
          <p:cNvPr id="7" name="TextBox 6"/>
          <p:cNvSpPr txBox="1"/>
          <p:nvPr/>
        </p:nvSpPr>
        <p:spPr>
          <a:xfrm>
            <a:off x="1024128" y="2157984"/>
            <a:ext cx="2468880" cy="237744"/>
          </a:xfrm>
          <a:prstGeom prst="rect">
            <a:avLst/>
          </a:prstGeom>
          <a:noFill/>
        </p:spPr>
        <p:txBody>
          <a:bodyPr wrap="square" lIns="0" rIns="0" tIns="0" bIns="0">
            <a:spAutoFit/>
          </a:bodyPr>
          <a:lstStyle/>
          <a:p>
            <a:pPr algn="l"/>
            <a:r>
              <a:rPr sz="950" b="1" i="0">
                <a:solidFill>
                  <a:srgbClr val="8A97B0"/>
                </a:solidFill>
                <a:latin typeface="Calibri"/>
              </a:rPr>
              <a:t>1841–1850</a:t>
            </a:r>
          </a:p>
        </p:txBody>
      </p:sp>
      <p:sp>
        <p:nvSpPr>
          <p:cNvPr id="8" name="TextBox 7"/>
          <p:cNvSpPr txBox="1"/>
          <p:nvPr/>
        </p:nvSpPr>
        <p:spPr>
          <a:xfrm>
            <a:off x="3657600" y="1883664"/>
            <a:ext cx="2926080" cy="457200"/>
          </a:xfrm>
          <a:prstGeom prst="rect">
            <a:avLst/>
          </a:prstGeom>
          <a:noFill/>
        </p:spPr>
        <p:txBody>
          <a:bodyPr wrap="square" lIns="0" rIns="0" tIns="0" bIns="0">
            <a:spAutoFit/>
          </a:bodyPr>
          <a:lstStyle/>
          <a:p>
            <a:pPr algn="l"/>
            <a:r>
              <a:rPr sz="1700" b="1" i="0">
                <a:solidFill>
                  <a:srgbClr val="1A2233"/>
                </a:solidFill>
                <a:latin typeface="Cambria"/>
              </a:rPr>
              <a:t>~40% of GDP</a:t>
            </a:r>
          </a:p>
        </p:txBody>
      </p:sp>
      <p:sp>
        <p:nvSpPr>
          <p:cNvPr id="9" name="TextBox 8"/>
          <p:cNvSpPr txBox="1"/>
          <p:nvPr/>
        </p:nvSpPr>
        <p:spPr>
          <a:xfrm>
            <a:off x="6720840" y="1828800"/>
            <a:ext cx="4572000" cy="658368"/>
          </a:xfrm>
          <a:prstGeom prst="rect">
            <a:avLst/>
          </a:prstGeom>
          <a:noFill/>
        </p:spPr>
        <p:txBody>
          <a:bodyPr wrap="square" lIns="0" rIns="0" tIns="0" bIns="0">
            <a:spAutoFit/>
          </a:bodyPr>
          <a:lstStyle/>
          <a:p>
            <a:pPr algn="l"/>
            <a:r>
              <a:rPr sz="1000" b="0" i="0">
                <a:solidFill>
                  <a:srgbClr val="5A6478"/>
                </a:solidFill>
                <a:latin typeface="Calibri"/>
              </a:rPr>
              <a:t>cumulative private investment over a decade — equivalent to ~$11T of US GDP today</a:t>
            </a:r>
          </a:p>
        </p:txBody>
      </p:sp>
      <p:sp>
        <p:nvSpPr>
          <p:cNvPr id="10" name="Rounded Rectangle 9"/>
          <p:cNvSpPr/>
          <p:nvPr/>
        </p:nvSpPr>
        <p:spPr>
          <a:xfrm>
            <a:off x="777240" y="2706624"/>
            <a:ext cx="10634472" cy="932688"/>
          </a:xfrm>
          <a:prstGeom prst="roundRect">
            <a:avLst>
              <a:gd name="adj" fmla="val 23529"/>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852928"/>
            <a:ext cx="2468880" cy="274320"/>
          </a:xfrm>
          <a:prstGeom prst="rect">
            <a:avLst/>
          </a:prstGeom>
          <a:noFill/>
        </p:spPr>
        <p:txBody>
          <a:bodyPr wrap="square" lIns="0" rIns="0" tIns="0" bIns="0">
            <a:spAutoFit/>
          </a:bodyPr>
          <a:lstStyle/>
          <a:p>
            <a:pPr algn="l"/>
            <a:r>
              <a:rPr sz="1150" b="1" i="0">
                <a:solidFill>
                  <a:srgbClr val="1A2233"/>
                </a:solidFill>
                <a:latin typeface="Calibri"/>
              </a:rPr>
              <a:t>US TELECOM BUILDOUT</a:t>
            </a:r>
          </a:p>
        </p:txBody>
      </p:sp>
      <p:sp>
        <p:nvSpPr>
          <p:cNvPr id="12" name="TextBox 11"/>
          <p:cNvSpPr txBox="1"/>
          <p:nvPr/>
        </p:nvSpPr>
        <p:spPr>
          <a:xfrm>
            <a:off x="1024128" y="3182112"/>
            <a:ext cx="2468880" cy="237744"/>
          </a:xfrm>
          <a:prstGeom prst="rect">
            <a:avLst/>
          </a:prstGeom>
          <a:noFill/>
        </p:spPr>
        <p:txBody>
          <a:bodyPr wrap="square" lIns="0" rIns="0" tIns="0" bIns="0">
            <a:spAutoFit/>
          </a:bodyPr>
          <a:lstStyle/>
          <a:p>
            <a:pPr algn="l"/>
            <a:r>
              <a:rPr sz="950" b="1" i="0">
                <a:solidFill>
                  <a:srgbClr val="8A97B0"/>
                </a:solidFill>
                <a:latin typeface="Calibri"/>
              </a:rPr>
              <a:t>1996–2001</a:t>
            </a:r>
          </a:p>
        </p:txBody>
      </p:sp>
      <p:sp>
        <p:nvSpPr>
          <p:cNvPr id="13" name="TextBox 12"/>
          <p:cNvSpPr txBox="1"/>
          <p:nvPr/>
        </p:nvSpPr>
        <p:spPr>
          <a:xfrm>
            <a:off x="3657600" y="2907792"/>
            <a:ext cx="2926080" cy="457200"/>
          </a:xfrm>
          <a:prstGeom prst="rect">
            <a:avLst/>
          </a:prstGeom>
          <a:noFill/>
        </p:spPr>
        <p:txBody>
          <a:bodyPr wrap="square" lIns="0" rIns="0" tIns="0" bIns="0">
            <a:spAutoFit/>
          </a:bodyPr>
          <a:lstStyle/>
          <a:p>
            <a:pPr algn="l"/>
            <a:r>
              <a:rPr sz="1700" b="1" i="0">
                <a:solidFill>
                  <a:srgbClr val="1A2233"/>
                </a:solidFill>
                <a:latin typeface="Cambria"/>
              </a:rPr>
              <a:t>~$1T (today's $)</a:t>
            </a:r>
          </a:p>
        </p:txBody>
      </p:sp>
      <p:sp>
        <p:nvSpPr>
          <p:cNvPr id="14" name="TextBox 13"/>
          <p:cNvSpPr txBox="1"/>
          <p:nvPr/>
        </p:nvSpPr>
        <p:spPr>
          <a:xfrm>
            <a:off x="6720840" y="2852928"/>
            <a:ext cx="4572000" cy="658368"/>
          </a:xfrm>
          <a:prstGeom prst="rect">
            <a:avLst/>
          </a:prstGeom>
          <a:noFill/>
        </p:spPr>
        <p:txBody>
          <a:bodyPr wrap="square" lIns="0" rIns="0" tIns="0" bIns="0">
            <a:spAutoFit/>
          </a:bodyPr>
          <a:lstStyle/>
          <a:p>
            <a:pPr algn="l"/>
            <a:r>
              <a:rPr sz="1000" b="0" i="0">
                <a:solidFill>
                  <a:srgbClr val="5A6478"/>
                </a:solidFill>
                <a:latin typeface="Calibri"/>
              </a:rPr>
              <a:t>internet infrastructure laid before the demand fully arrived — the rails outlived the bust</a:t>
            </a:r>
          </a:p>
        </p:txBody>
      </p:sp>
      <p:sp>
        <p:nvSpPr>
          <p:cNvPr id="15" name="Rounded Rectangle 14"/>
          <p:cNvSpPr/>
          <p:nvPr/>
        </p:nvSpPr>
        <p:spPr>
          <a:xfrm>
            <a:off x="777240" y="3730752"/>
            <a:ext cx="10634472" cy="932688"/>
          </a:xfrm>
          <a:prstGeom prst="roundRect">
            <a:avLst>
              <a:gd name="adj" fmla="val 23529"/>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4128" y="3877056"/>
            <a:ext cx="2468880" cy="274320"/>
          </a:xfrm>
          <a:prstGeom prst="rect">
            <a:avLst/>
          </a:prstGeom>
          <a:noFill/>
        </p:spPr>
        <p:txBody>
          <a:bodyPr wrap="square" lIns="0" rIns="0" tIns="0" bIns="0">
            <a:spAutoFit/>
          </a:bodyPr>
          <a:lstStyle/>
          <a:p>
            <a:pPr algn="l"/>
            <a:r>
              <a:rPr sz="1150" b="1" i="0">
                <a:solidFill>
                  <a:srgbClr val="1A2233"/>
                </a:solidFill>
                <a:latin typeface="Calibri"/>
              </a:rPr>
              <a:t>GREEN TRANSITION</a:t>
            </a:r>
          </a:p>
        </p:txBody>
      </p:sp>
      <p:sp>
        <p:nvSpPr>
          <p:cNvPr id="17" name="TextBox 16"/>
          <p:cNvSpPr txBox="1"/>
          <p:nvPr/>
        </p:nvSpPr>
        <p:spPr>
          <a:xfrm>
            <a:off x="1024128" y="4206240"/>
            <a:ext cx="2468880" cy="237744"/>
          </a:xfrm>
          <a:prstGeom prst="rect">
            <a:avLst/>
          </a:prstGeom>
          <a:noFill/>
        </p:spPr>
        <p:txBody>
          <a:bodyPr wrap="square" lIns="0" rIns="0" tIns="0" bIns="0">
            <a:spAutoFit/>
          </a:bodyPr>
          <a:lstStyle/>
          <a:p>
            <a:pPr algn="l"/>
            <a:r>
              <a:rPr sz="950" b="1" i="0">
                <a:solidFill>
                  <a:srgbClr val="8A97B0"/>
                </a:solidFill>
                <a:latin typeface="Calibri"/>
              </a:rPr>
              <a:t>2015 →</a:t>
            </a:r>
          </a:p>
        </p:txBody>
      </p:sp>
      <p:sp>
        <p:nvSpPr>
          <p:cNvPr id="18" name="TextBox 17"/>
          <p:cNvSpPr txBox="1"/>
          <p:nvPr/>
        </p:nvSpPr>
        <p:spPr>
          <a:xfrm>
            <a:off x="3657600" y="3931920"/>
            <a:ext cx="2926080" cy="457200"/>
          </a:xfrm>
          <a:prstGeom prst="rect">
            <a:avLst/>
          </a:prstGeom>
          <a:noFill/>
        </p:spPr>
        <p:txBody>
          <a:bodyPr wrap="square" lIns="0" rIns="0" tIns="0" bIns="0">
            <a:spAutoFit/>
          </a:bodyPr>
          <a:lstStyle/>
          <a:p>
            <a:pPr algn="l"/>
            <a:r>
              <a:rPr sz="1700" b="1" i="0">
                <a:solidFill>
                  <a:srgbClr val="1A2233"/>
                </a:solidFill>
                <a:latin typeface="Cambria"/>
              </a:rPr>
              <a:t>trillions, ongoing</a:t>
            </a:r>
          </a:p>
        </p:txBody>
      </p:sp>
      <p:sp>
        <p:nvSpPr>
          <p:cNvPr id="19" name="TextBox 18"/>
          <p:cNvSpPr txBox="1"/>
          <p:nvPr/>
        </p:nvSpPr>
        <p:spPr>
          <a:xfrm>
            <a:off x="6720840" y="3877056"/>
            <a:ext cx="4572000" cy="658368"/>
          </a:xfrm>
          <a:prstGeom prst="rect">
            <a:avLst/>
          </a:prstGeom>
          <a:noFill/>
        </p:spPr>
        <p:txBody>
          <a:bodyPr wrap="square" lIns="0" rIns="0" tIns="0" bIns="0">
            <a:spAutoFit/>
          </a:bodyPr>
          <a:lstStyle/>
          <a:p>
            <a:pPr algn="l"/>
            <a:r>
              <a:rPr sz="1000" b="0" i="0">
                <a:solidFill>
                  <a:srgbClr val="5A6478"/>
                </a:solidFill>
                <a:latin typeface="Calibri"/>
              </a:rPr>
              <a:t>a state-and-market mobilization running in parallel with AI's</a:t>
            </a:r>
          </a:p>
        </p:txBody>
      </p:sp>
      <p:sp>
        <p:nvSpPr>
          <p:cNvPr id="20" name="Rounded Rectangle 19"/>
          <p:cNvSpPr/>
          <p:nvPr/>
        </p:nvSpPr>
        <p:spPr>
          <a:xfrm>
            <a:off x="777240" y="4754880"/>
            <a:ext cx="10634472" cy="932688"/>
          </a:xfrm>
          <a:prstGeom prst="roundRect">
            <a:avLst>
              <a:gd name="adj" fmla="val 23529"/>
            </a:avLst>
          </a:prstGeom>
          <a:solidFill>
            <a:srgbClr val="EAF1FE"/>
          </a:solidFill>
          <a:ln w="1524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4128" y="4901184"/>
            <a:ext cx="2468880" cy="274320"/>
          </a:xfrm>
          <a:prstGeom prst="rect">
            <a:avLst/>
          </a:prstGeom>
          <a:noFill/>
        </p:spPr>
        <p:txBody>
          <a:bodyPr wrap="square" lIns="0" rIns="0" tIns="0" bIns="0">
            <a:spAutoFit/>
          </a:bodyPr>
          <a:lstStyle/>
          <a:p>
            <a:pPr algn="l"/>
            <a:r>
              <a:rPr sz="1150" b="1" i="0">
                <a:solidFill>
                  <a:srgbClr val="2777EF"/>
                </a:solidFill>
                <a:latin typeface="Calibri"/>
              </a:rPr>
              <a:t>AI BUILDOUT</a:t>
            </a:r>
          </a:p>
        </p:txBody>
      </p:sp>
      <p:sp>
        <p:nvSpPr>
          <p:cNvPr id="22" name="TextBox 21"/>
          <p:cNvSpPr txBox="1"/>
          <p:nvPr/>
        </p:nvSpPr>
        <p:spPr>
          <a:xfrm>
            <a:off x="1024128" y="5230368"/>
            <a:ext cx="2468880" cy="237744"/>
          </a:xfrm>
          <a:prstGeom prst="rect">
            <a:avLst/>
          </a:prstGeom>
          <a:noFill/>
        </p:spPr>
        <p:txBody>
          <a:bodyPr wrap="square" lIns="0" rIns="0" tIns="0" bIns="0">
            <a:spAutoFit/>
          </a:bodyPr>
          <a:lstStyle/>
          <a:p>
            <a:pPr algn="l"/>
            <a:r>
              <a:rPr sz="950" b="1" i="0">
                <a:solidFill>
                  <a:srgbClr val="8A97B0"/>
                </a:solidFill>
                <a:latin typeface="Calibri"/>
              </a:rPr>
              <a:t>2024 →</a:t>
            </a:r>
          </a:p>
        </p:txBody>
      </p:sp>
      <p:sp>
        <p:nvSpPr>
          <p:cNvPr id="23" name="TextBox 22"/>
          <p:cNvSpPr txBox="1"/>
          <p:nvPr/>
        </p:nvSpPr>
        <p:spPr>
          <a:xfrm>
            <a:off x="3657600" y="4956048"/>
            <a:ext cx="2926080" cy="457200"/>
          </a:xfrm>
          <a:prstGeom prst="rect">
            <a:avLst/>
          </a:prstGeom>
          <a:noFill/>
        </p:spPr>
        <p:txBody>
          <a:bodyPr wrap="square" lIns="0" rIns="0" tIns="0" bIns="0">
            <a:spAutoFit/>
          </a:bodyPr>
          <a:lstStyle/>
          <a:p>
            <a:pPr algn="l"/>
            <a:r>
              <a:rPr sz="1700" b="1" i="0">
                <a:solidFill>
                  <a:srgbClr val="1A2233"/>
                </a:solidFill>
                <a:latin typeface="Cambria"/>
              </a:rPr>
              <a:t>→ ~$1T/yr ≈ 3% of GDP</a:t>
            </a:r>
          </a:p>
        </p:txBody>
      </p:sp>
      <p:sp>
        <p:nvSpPr>
          <p:cNvPr id="24" name="TextBox 23"/>
          <p:cNvSpPr txBox="1"/>
          <p:nvPr/>
        </p:nvSpPr>
        <p:spPr>
          <a:xfrm>
            <a:off x="6720840" y="4901184"/>
            <a:ext cx="4572000" cy="658368"/>
          </a:xfrm>
          <a:prstGeom prst="rect">
            <a:avLst/>
          </a:prstGeom>
          <a:noFill/>
        </p:spPr>
        <p:txBody>
          <a:bodyPr wrap="square" lIns="0" rIns="0" tIns="0" bIns="0">
            <a:spAutoFit/>
          </a:bodyPr>
          <a:lstStyle/>
          <a:p>
            <a:pPr algn="l"/>
            <a:r>
              <a:rPr sz="1000" b="0" i="0">
                <a:solidFill>
                  <a:srgbClr val="5A6478"/>
                </a:solidFill>
                <a:latin typeface="Calibri"/>
              </a:rPr>
              <a:t>hyperscaler + sovereign capex on current guidance — the fourth great buildout</a:t>
            </a:r>
          </a:p>
        </p:txBody>
      </p:sp>
      <p:sp>
        <p:nvSpPr>
          <p:cNvPr id="25" name="Rounded Rectangle 24"/>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Economies periodically rebuild themselves around a new input  </a:t>
            </a:r>
            <a:r>
              <a:rPr sz="1200">
                <a:solidFill>
                  <a:srgbClr val="1A2233"/>
                </a:solidFill>
                <a:latin typeface="Calibri"/>
              </a:rPr>
              <a:t>— and the metered owners of the new rails collected the era's royalties each time.</a:t>
            </a:r>
          </a:p>
        </p:txBody>
      </p:sp>
      <p:sp>
        <p:nvSpPr>
          <p:cNvPr id="26" name="TextBox 25"/>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7" name="TextBox 26"/>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32</a:t>
            </a:r>
          </a:p>
        </p:txBody>
      </p:sp>
      <p:sp>
        <p:nvSpPr>
          <p:cNvPr id="28" name="TextBox 27"/>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Historical magnitudes per Aschenbrenner, Situational Awareness (Jun 2024), and public estimates; approximate, today's dollars where noted. AI figure per current public capex guidance.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Tokens are the fuel. Infrastructure events are the bill.</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WHAT ONE DELEGATED TASK DOES TO THE METERS</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502920" y="1920240"/>
            <a:ext cx="3429000" cy="1554480"/>
          </a:xfrm>
          <a:prstGeom prst="roundRect">
            <a:avLst>
              <a:gd name="adj" fmla="val 5294"/>
            </a:avLst>
          </a:prstGeom>
          <a:solidFill>
            <a:srgbClr val="F5F8FC"/>
          </a:solidFill>
          <a:ln w="13970">
            <a:solidFill>
              <a:srgbClr val="D5DCE8"/>
            </a:solidFill>
            <a:prstDash val="solid"/>
          </a:ln>
        </p:spPr>
        <p:txBody>
          <a:bodyPr/>
          <a:lstStyle/>
          <a:p>
            <a:endParaRPr lang="en-US" sz="2400"/>
          </a:p>
        </p:txBody>
      </p:sp>
      <p:sp>
        <p:nvSpPr>
          <p:cNvPr id="6" name="Text 4"/>
          <p:cNvSpPr/>
          <p:nvPr/>
        </p:nvSpPr>
        <p:spPr>
          <a:xfrm>
            <a:off x="685800" y="2084832"/>
            <a:ext cx="3063240" cy="365760"/>
          </a:xfrm>
          <a:prstGeom prst="rect">
            <a:avLst/>
          </a:prstGeom>
          <a:noFill/>
        </p:spPr>
        <p:txBody>
          <a:bodyPr wrap="square" lIns="0" tIns="0" rIns="0" bIns="0" rtlCol="0" anchor="ctr"/>
          <a:lstStyle/>
          <a:p>
            <a:pPr marL="0" indent="0">
              <a:buNone/>
            </a:pPr>
            <a:r>
              <a:rPr lang="en-US" sz="2000" b="1" dirty="0">
                <a:solidFill>
                  <a:srgbClr val="1A2233"/>
                </a:solidFill>
                <a:latin typeface="Cambria" pitchFamily="34" charset="0"/>
                <a:ea typeface="Cambria" pitchFamily="34" charset="-122"/>
                <a:cs typeface="Cambria" pitchFamily="34" charset="-120"/>
              </a:rPr>
              <a:t>One delegated task</a:t>
            </a:r>
            <a:endParaRPr lang="en-US" sz="2000" dirty="0"/>
          </a:p>
        </p:txBody>
      </p:sp>
      <p:sp>
        <p:nvSpPr>
          <p:cNvPr id="7" name="Text 5"/>
          <p:cNvSpPr/>
          <p:nvPr/>
        </p:nvSpPr>
        <p:spPr>
          <a:xfrm>
            <a:off x="685800" y="2487168"/>
            <a:ext cx="3063240" cy="822960"/>
          </a:xfrm>
          <a:prstGeom prst="rect">
            <a:avLst/>
          </a:prstGeom>
          <a:noFill/>
        </p:spPr>
        <p:txBody>
          <a:bodyPr wrap="square" lIns="0" tIns="0" rIns="0" bIns="0" rtlCol="0" anchor="ctr"/>
          <a:lstStyle/>
          <a:p>
            <a:pPr marL="0" indent="0">
              <a:lnSpc>
                <a:spcPct val="108000"/>
              </a:lnSpc>
              <a:buNone/>
            </a:pPr>
            <a:r>
              <a:rPr lang="en-US" sz="1600" dirty="0">
                <a:solidFill>
                  <a:srgbClr val="3A4358"/>
                </a:solidFill>
                <a:latin typeface="Calibri" pitchFamily="34" charset="0"/>
                <a:ea typeface="Calibri" pitchFamily="34" charset="-122"/>
                <a:cs typeface="Calibri" pitchFamily="34" charset="-120"/>
              </a:rPr>
              <a:t>“fix the failing build”</a:t>
            </a:r>
            <a:endParaRPr lang="en-US" sz="1600" dirty="0"/>
          </a:p>
        </p:txBody>
      </p:sp>
      <p:sp>
        <p:nvSpPr>
          <p:cNvPr id="8" name="Text 6"/>
          <p:cNvSpPr/>
          <p:nvPr/>
        </p:nvSpPr>
        <p:spPr>
          <a:xfrm>
            <a:off x="3959352" y="2468880"/>
            <a:ext cx="502920" cy="457200"/>
          </a:xfrm>
          <a:prstGeom prst="rect">
            <a:avLst/>
          </a:prstGeom>
          <a:noFill/>
        </p:spPr>
        <p:txBody>
          <a:bodyPr wrap="square" lIns="0" tIns="0" rIns="0" bIns="0" rtlCol="0" anchor="ctr"/>
          <a:lstStyle/>
          <a:p>
            <a:pPr marL="0" indent="0" algn="ctr">
              <a:buNone/>
            </a:pPr>
            <a:r>
              <a:rPr lang="en-US" sz="3200" b="1" dirty="0">
                <a:solidFill>
                  <a:srgbClr val="8A97B0"/>
                </a:solidFill>
                <a:latin typeface="Calibri" pitchFamily="34" charset="0"/>
                <a:ea typeface="Calibri" pitchFamily="34" charset="-122"/>
                <a:cs typeface="Calibri" pitchFamily="34" charset="-120"/>
              </a:rPr>
              <a:t>→</a:t>
            </a:r>
            <a:endParaRPr lang="en-US" sz="3200" dirty="0"/>
          </a:p>
        </p:txBody>
      </p:sp>
      <p:sp>
        <p:nvSpPr>
          <p:cNvPr id="9" name="Shape 7"/>
          <p:cNvSpPr/>
          <p:nvPr/>
        </p:nvSpPr>
        <p:spPr>
          <a:xfrm>
            <a:off x="4480560" y="1920240"/>
            <a:ext cx="3429000" cy="1554480"/>
          </a:xfrm>
          <a:prstGeom prst="roundRect">
            <a:avLst>
              <a:gd name="adj" fmla="val 5294"/>
            </a:avLst>
          </a:prstGeom>
          <a:solidFill>
            <a:srgbClr val="F5F8FC"/>
          </a:solidFill>
          <a:ln w="13970">
            <a:solidFill>
              <a:srgbClr val="D5DCE8"/>
            </a:solidFill>
            <a:prstDash val="solid"/>
          </a:ln>
        </p:spPr>
        <p:txBody>
          <a:bodyPr/>
          <a:lstStyle/>
          <a:p>
            <a:endParaRPr lang="en-US" sz="2400"/>
          </a:p>
        </p:txBody>
      </p:sp>
      <p:sp>
        <p:nvSpPr>
          <p:cNvPr id="10" name="Text 8"/>
          <p:cNvSpPr/>
          <p:nvPr/>
        </p:nvSpPr>
        <p:spPr>
          <a:xfrm>
            <a:off x="4663440" y="2084832"/>
            <a:ext cx="3063240" cy="365760"/>
          </a:xfrm>
          <a:prstGeom prst="rect">
            <a:avLst/>
          </a:prstGeom>
          <a:noFill/>
        </p:spPr>
        <p:txBody>
          <a:bodyPr wrap="square" lIns="0" tIns="0" rIns="0" bIns="0" rtlCol="0" anchor="ctr"/>
          <a:lstStyle/>
          <a:p>
            <a:pPr marL="0" indent="0">
              <a:buNone/>
            </a:pPr>
            <a:r>
              <a:rPr lang="en-US" sz="2000" b="1" dirty="0">
                <a:solidFill>
                  <a:srgbClr val="1A2233"/>
                </a:solidFill>
                <a:latin typeface="Cambria" pitchFamily="34" charset="0"/>
                <a:ea typeface="Cambria" pitchFamily="34" charset="-122"/>
                <a:cs typeface="Cambria" pitchFamily="34" charset="-120"/>
              </a:rPr>
              <a:t>Agent thinks</a:t>
            </a:r>
            <a:endParaRPr lang="en-US" sz="2000" dirty="0"/>
          </a:p>
        </p:txBody>
      </p:sp>
      <p:sp>
        <p:nvSpPr>
          <p:cNvPr id="11" name="Text 9"/>
          <p:cNvSpPr/>
          <p:nvPr/>
        </p:nvSpPr>
        <p:spPr>
          <a:xfrm>
            <a:off x="4663440" y="2487168"/>
            <a:ext cx="3063240" cy="822960"/>
          </a:xfrm>
          <a:prstGeom prst="rect">
            <a:avLst/>
          </a:prstGeom>
          <a:noFill/>
        </p:spPr>
        <p:txBody>
          <a:bodyPr wrap="square" lIns="0" tIns="0" rIns="0" bIns="0" rtlCol="0" anchor="ctr"/>
          <a:lstStyle/>
          <a:p>
            <a:pPr marL="0" indent="0">
              <a:lnSpc>
                <a:spcPct val="108000"/>
              </a:lnSpc>
              <a:buNone/>
            </a:pPr>
            <a:r>
              <a:rPr lang="en-US" sz="1600" dirty="0">
                <a:solidFill>
                  <a:srgbClr val="3A4358"/>
                </a:solidFill>
                <a:latin typeface="Calibri" pitchFamily="34" charset="0"/>
                <a:ea typeface="Calibri" pitchFamily="34" charset="-122"/>
                <a:cs typeface="Calibri" pitchFamily="34" charset="-120"/>
              </a:rPr>
              <a:t>~200K tokens of planning,</a:t>
            </a:r>
            <a:endParaRPr lang="en-US" sz="1600" dirty="0"/>
          </a:p>
          <a:p>
            <a:pPr marL="0" indent="0">
              <a:lnSpc>
                <a:spcPct val="108000"/>
              </a:lnSpc>
              <a:buNone/>
            </a:pPr>
            <a:r>
              <a:rPr lang="en-US" sz="1600" dirty="0">
                <a:solidFill>
                  <a:srgbClr val="3A4358"/>
                </a:solidFill>
                <a:latin typeface="Calibri" pitchFamily="34" charset="0"/>
                <a:ea typeface="Calibri" pitchFamily="34" charset="-122"/>
                <a:cs typeface="Calibri" pitchFamily="34" charset="-120"/>
              </a:rPr>
              <a:t>reading, reasoning</a:t>
            </a:r>
            <a:endParaRPr lang="en-US" sz="1600" dirty="0"/>
          </a:p>
        </p:txBody>
      </p:sp>
      <p:sp>
        <p:nvSpPr>
          <p:cNvPr id="12" name="Text 10"/>
          <p:cNvSpPr/>
          <p:nvPr/>
        </p:nvSpPr>
        <p:spPr>
          <a:xfrm>
            <a:off x="7936992" y="2468880"/>
            <a:ext cx="502920" cy="457200"/>
          </a:xfrm>
          <a:prstGeom prst="rect">
            <a:avLst/>
          </a:prstGeom>
          <a:noFill/>
        </p:spPr>
        <p:txBody>
          <a:bodyPr wrap="square" lIns="0" tIns="0" rIns="0" bIns="0" rtlCol="0" anchor="ctr"/>
          <a:lstStyle/>
          <a:p>
            <a:pPr marL="0" indent="0" algn="ctr">
              <a:buNone/>
            </a:pPr>
            <a:r>
              <a:rPr lang="en-US" sz="3200" b="1" dirty="0">
                <a:solidFill>
                  <a:srgbClr val="8A97B0"/>
                </a:solidFill>
                <a:latin typeface="Calibri" pitchFamily="34" charset="0"/>
                <a:ea typeface="Calibri" pitchFamily="34" charset="-122"/>
                <a:cs typeface="Calibri" pitchFamily="34" charset="-120"/>
              </a:rPr>
              <a:t>→</a:t>
            </a:r>
            <a:endParaRPr lang="en-US" sz="3200" dirty="0"/>
          </a:p>
        </p:txBody>
      </p:sp>
      <p:sp>
        <p:nvSpPr>
          <p:cNvPr id="13" name="Shape 11"/>
          <p:cNvSpPr/>
          <p:nvPr/>
        </p:nvSpPr>
        <p:spPr>
          <a:xfrm>
            <a:off x="8458200" y="1920240"/>
            <a:ext cx="3429000" cy="1554480"/>
          </a:xfrm>
          <a:prstGeom prst="roundRect">
            <a:avLst>
              <a:gd name="adj" fmla="val 5294"/>
            </a:avLst>
          </a:prstGeom>
          <a:solidFill>
            <a:srgbClr val="EAF1FE"/>
          </a:solidFill>
          <a:ln w="13970">
            <a:solidFill>
              <a:srgbClr val="2777EF"/>
            </a:solidFill>
            <a:prstDash val="solid"/>
          </a:ln>
        </p:spPr>
        <p:txBody>
          <a:bodyPr/>
          <a:lstStyle/>
          <a:p>
            <a:endParaRPr lang="en-US" sz="2400"/>
          </a:p>
        </p:txBody>
      </p:sp>
      <p:sp>
        <p:nvSpPr>
          <p:cNvPr id="14" name="Text 12"/>
          <p:cNvSpPr/>
          <p:nvPr/>
        </p:nvSpPr>
        <p:spPr>
          <a:xfrm>
            <a:off x="8641080" y="2084832"/>
            <a:ext cx="3063240" cy="365760"/>
          </a:xfrm>
          <a:prstGeom prst="rect">
            <a:avLst/>
          </a:prstGeom>
          <a:noFill/>
        </p:spPr>
        <p:txBody>
          <a:bodyPr wrap="square" lIns="0" tIns="0" rIns="0" bIns="0" rtlCol="0" anchor="ctr"/>
          <a:lstStyle/>
          <a:p>
            <a:pPr marL="0" indent="0">
              <a:buNone/>
            </a:pPr>
            <a:r>
              <a:rPr lang="en-US" sz="2000" b="1" dirty="0">
                <a:solidFill>
                  <a:srgbClr val="2777EF"/>
                </a:solidFill>
                <a:latin typeface="Cambria" pitchFamily="34" charset="0"/>
                <a:ea typeface="Cambria" pitchFamily="34" charset="-122"/>
                <a:cs typeface="Cambria" pitchFamily="34" charset="-120"/>
              </a:rPr>
              <a:t>Agent works</a:t>
            </a:r>
            <a:endParaRPr lang="en-US" sz="2000" dirty="0"/>
          </a:p>
        </p:txBody>
      </p:sp>
      <p:sp>
        <p:nvSpPr>
          <p:cNvPr id="15" name="Text 13"/>
          <p:cNvSpPr/>
          <p:nvPr/>
        </p:nvSpPr>
        <p:spPr>
          <a:xfrm>
            <a:off x="8641080" y="2487168"/>
            <a:ext cx="3063240" cy="822960"/>
          </a:xfrm>
          <a:prstGeom prst="rect">
            <a:avLst/>
          </a:prstGeom>
          <a:noFill/>
        </p:spPr>
        <p:txBody>
          <a:bodyPr wrap="square" lIns="0" tIns="0" rIns="0" bIns="0" rtlCol="0" anchor="ctr"/>
          <a:lstStyle/>
          <a:p>
            <a:pPr marL="0" indent="0">
              <a:lnSpc>
                <a:spcPct val="108000"/>
              </a:lnSpc>
              <a:buNone/>
            </a:pPr>
            <a:r>
              <a:rPr lang="en-US" sz="1600" dirty="0">
                <a:solidFill>
                  <a:srgbClr val="3A4358"/>
                </a:solidFill>
                <a:latin typeface="Calibri" pitchFamily="34" charset="0"/>
                <a:ea typeface="Calibri" pitchFamily="34" charset="-122"/>
                <a:cs typeface="Calibri" pitchFamily="34" charset="-120"/>
              </a:rPr>
              <a:t>API calls · DB reads &amp; writes ·</a:t>
            </a:r>
            <a:endParaRPr lang="en-US" sz="1600" dirty="0"/>
          </a:p>
          <a:p>
            <a:pPr marL="0" indent="0">
              <a:lnSpc>
                <a:spcPct val="108000"/>
              </a:lnSpc>
              <a:buNone/>
            </a:pPr>
            <a:r>
              <a:rPr lang="en-US" sz="1600" dirty="0">
                <a:solidFill>
                  <a:srgbClr val="3A4358"/>
                </a:solidFill>
                <a:latin typeface="Calibri" pitchFamily="34" charset="0"/>
                <a:ea typeface="Calibri" pitchFamily="34" charset="-122"/>
                <a:cs typeface="Calibri" pitchFamily="34" charset="-120"/>
              </a:rPr>
              <a:t>test runs · builds · traces · logs</a:t>
            </a:r>
            <a:endParaRPr lang="en-US" sz="1600" dirty="0"/>
          </a:p>
        </p:txBody>
      </p:sp>
      <p:sp>
        <p:nvSpPr>
          <p:cNvPr id="16" name="Text 14"/>
          <p:cNvSpPr/>
          <p:nvPr/>
        </p:nvSpPr>
        <p:spPr>
          <a:xfrm>
            <a:off x="3381404" y="3767328"/>
            <a:ext cx="5303520" cy="701040"/>
          </a:xfrm>
          <a:prstGeom prst="rect">
            <a:avLst/>
          </a:prstGeom>
          <a:noFill/>
        </p:spPr>
        <p:txBody>
          <a:bodyPr wrap="square" lIns="0" tIns="0" rIns="0" bIns="0" rtlCol="0" anchor="ctr"/>
          <a:lstStyle/>
          <a:p>
            <a:pPr marL="0" indent="0" algn="ctr">
              <a:buNone/>
            </a:pPr>
            <a:r>
              <a:rPr lang="en-US" sz="4400" b="1" dirty="0">
                <a:solidFill>
                  <a:srgbClr val="1A2233"/>
                </a:solidFill>
                <a:latin typeface="Cambria" pitchFamily="34" charset="0"/>
                <a:ea typeface="Cambria" pitchFamily="34" charset="-122"/>
                <a:cs typeface="Cambria" pitchFamily="34" charset="-120"/>
              </a:rPr>
              <a:t>100,000+</a:t>
            </a:r>
            <a:endParaRPr lang="en-US" sz="4400" dirty="0"/>
          </a:p>
        </p:txBody>
      </p:sp>
      <p:sp>
        <p:nvSpPr>
          <p:cNvPr id="17" name="Text 15"/>
          <p:cNvSpPr/>
          <p:nvPr/>
        </p:nvSpPr>
        <p:spPr>
          <a:xfrm>
            <a:off x="3381404" y="4504944"/>
            <a:ext cx="5303520" cy="603504"/>
          </a:xfrm>
          <a:prstGeom prst="rect">
            <a:avLst/>
          </a:prstGeom>
          <a:noFill/>
        </p:spPr>
        <p:txBody>
          <a:bodyPr wrap="square" lIns="0" tIns="0" rIns="0" bIns="0" rtlCol="0" anchor="t"/>
          <a:lstStyle/>
          <a:p>
            <a:pPr marL="0" indent="0" algn="ctr">
              <a:lnSpc>
                <a:spcPct val="105000"/>
              </a:lnSpc>
              <a:buNone/>
            </a:pPr>
            <a:r>
              <a:rPr lang="en-US" sz="1200" dirty="0">
                <a:solidFill>
                  <a:srgbClr val="5A6478"/>
                </a:solidFill>
                <a:latin typeface="Calibri" pitchFamily="34" charset="0"/>
                <a:ea typeface="Calibri" pitchFamily="34" charset="-122"/>
                <a:cs typeface="Calibri" pitchFamily="34" charset="-120"/>
              </a:rPr>
              <a:t>metered events from a single multi-step coding task</a:t>
            </a:r>
            <a:endParaRPr lang="en-US" sz="1200" dirty="0"/>
          </a:p>
        </p:txBody>
      </p:sp>
      <p:sp>
        <p:nvSpPr>
          <p:cNvPr id="18" name="Text 16"/>
          <p:cNvSpPr/>
          <p:nvPr/>
        </p:nvSpPr>
        <p:spPr>
          <a:xfrm>
            <a:off x="3404198" y="5001768"/>
            <a:ext cx="5303520" cy="701040"/>
          </a:xfrm>
          <a:prstGeom prst="rect">
            <a:avLst/>
          </a:prstGeom>
          <a:noFill/>
        </p:spPr>
        <p:txBody>
          <a:bodyPr wrap="square" lIns="0" tIns="0" rIns="0" bIns="0" rtlCol="0" anchor="ctr"/>
          <a:lstStyle/>
          <a:p>
            <a:pPr marL="0" indent="0" algn="ctr">
              <a:buNone/>
            </a:pPr>
            <a:r>
              <a:rPr lang="en-US" sz="4400" b="1" dirty="0">
                <a:solidFill>
                  <a:srgbClr val="2777EF"/>
                </a:solidFill>
                <a:latin typeface="Cambria" pitchFamily="34" charset="0"/>
                <a:ea typeface="Cambria" pitchFamily="34" charset="-122"/>
                <a:cs typeface="Cambria" pitchFamily="34" charset="-120"/>
              </a:rPr>
              <a:t>20–40</a:t>
            </a:r>
            <a:endParaRPr lang="en-US" sz="4400" dirty="0"/>
          </a:p>
        </p:txBody>
      </p:sp>
      <p:sp>
        <p:nvSpPr>
          <p:cNvPr id="19" name="Text 17"/>
          <p:cNvSpPr/>
          <p:nvPr/>
        </p:nvSpPr>
        <p:spPr>
          <a:xfrm>
            <a:off x="3404198" y="5739384"/>
            <a:ext cx="5303520" cy="603504"/>
          </a:xfrm>
          <a:prstGeom prst="rect">
            <a:avLst/>
          </a:prstGeom>
          <a:noFill/>
        </p:spPr>
        <p:txBody>
          <a:bodyPr wrap="square" lIns="0" tIns="0" rIns="0" bIns="0" rtlCol="0" anchor="t"/>
          <a:lstStyle/>
          <a:p>
            <a:pPr marL="0" indent="0" algn="ctr">
              <a:lnSpc>
                <a:spcPct val="105000"/>
              </a:lnSpc>
              <a:buNone/>
            </a:pPr>
            <a:r>
              <a:rPr lang="en-US" sz="1200" dirty="0">
                <a:solidFill>
                  <a:srgbClr val="5A6478"/>
                </a:solidFill>
                <a:latin typeface="Calibri" pitchFamily="34" charset="0"/>
                <a:ea typeface="Calibri" pitchFamily="34" charset="-122"/>
                <a:cs typeface="Calibri" pitchFamily="34" charset="-120"/>
              </a:rPr>
              <a:t>billable events dragged behind every 1,000 agentic tokens</a:t>
            </a:r>
            <a:endParaRPr lang="en-US" sz="1200" dirty="0"/>
          </a:p>
        </p:txBody>
      </p:sp>
      <p:sp>
        <p:nvSpPr>
          <p:cNvPr id="20" name="Text 18"/>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1" name="Text 19"/>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Task-level traces, Skycatcher agent stack and public platform documentation. Illustrative.</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33</a:t>
            </a:fld>
            <a:endParaRPr lang="en-US"/>
          </a:p>
        </p:txBody>
      </p:sp>
      <p:sp>
        <p:nvSpPr>
          <p:cNvPr id="26" name="TextBox 25">
            <a:extLst>
              <a:ext uri="{FF2B5EF4-FFF2-40B4-BE49-F238E27FC236}">
                <a16:creationId xmlns:a16="http://schemas.microsoft.com/office/drawing/2014/main" id="{60F80736-7238-476B-D48D-E85F3BC0F244}"/>
              </a:ext>
            </a:extLst>
          </p:cNvPr>
          <p:cNvSpPr txBox="1"/>
          <p:nvPr/>
        </p:nvSpPr>
        <p:spPr>
          <a:xfrm>
            <a:off x="8631438" y="3743980"/>
            <a:ext cx="882890" cy="523220"/>
          </a:xfrm>
          <a:prstGeom prst="rect">
            <a:avLst/>
          </a:prstGeom>
          <a:noFill/>
        </p:spPr>
        <p:txBody>
          <a:bodyPr wrap="square">
            <a:spAutoFit/>
          </a:bodyPr>
          <a:lstStyle/>
          <a:p>
            <a:r>
              <a:rPr lang="en-US" sz="2800" dirty="0">
                <a:solidFill/>
              </a:rPr>
              <a:t>🛠️</a:t>
            </a:r>
          </a:p>
        </p:txBody>
      </p:sp>
      <p:sp>
        <p:nvSpPr>
          <p:cNvPr id="27" name="Shape 11">
            <a:extLst>
              <a:ext uri="{FF2B5EF4-FFF2-40B4-BE49-F238E27FC236}">
                <a16:creationId xmlns:a16="http://schemas.microsoft.com/office/drawing/2014/main" id="{C9EF0499-2CED-169B-6109-443C9028C882}"/>
              </a:ext>
            </a:extLst>
          </p:cNvPr>
          <p:cNvSpPr/>
          <p:nvPr/>
        </p:nvSpPr>
        <p:spPr>
          <a:xfrm>
            <a:off x="8938855" y="4204716"/>
            <a:ext cx="1851065" cy="778764"/>
          </a:xfrm>
          <a:prstGeom prst="roundRect">
            <a:avLst>
              <a:gd name="adj" fmla="val 8571"/>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28" name="Text 12">
            <a:extLst>
              <a:ext uri="{FF2B5EF4-FFF2-40B4-BE49-F238E27FC236}">
                <a16:creationId xmlns:a16="http://schemas.microsoft.com/office/drawing/2014/main" id="{EA94C913-F0F4-7F38-3F38-21875F599B4F}"/>
              </a:ext>
            </a:extLst>
          </p:cNvPr>
          <p:cNvSpPr/>
          <p:nvPr/>
        </p:nvSpPr>
        <p:spPr>
          <a:xfrm>
            <a:off x="8923475" y="4204716"/>
            <a:ext cx="1851065" cy="778764"/>
          </a:xfrm>
          <a:prstGeom prst="rect">
            <a:avLst/>
          </a:prstGeom>
          <a:noFill/>
        </p:spPr>
        <p:txBody>
          <a:bodyPr wrap="square" lIns="0" tIns="0" rIns="0" bIns="0" rtlCol="0" anchor="ctr"/>
          <a:lstStyle/>
          <a:p>
            <a:pPr marL="0" indent="0" algn="ctr">
              <a:lnSpc>
                <a:spcPct val="102000"/>
              </a:lnSpc>
              <a:buNone/>
            </a:pPr>
            <a:r>
              <a:rPr lang="en-US" b="1" dirty="0">
                <a:solidFill>
                  <a:srgbClr val="1A2233"/>
                </a:solidFill>
                <a:latin typeface="Calibri" pitchFamily="34" charset="0"/>
                <a:ea typeface="Calibri" pitchFamily="34" charset="-122"/>
                <a:cs typeface="Calibri" pitchFamily="34" charset="-120"/>
              </a:rPr>
              <a:t>Machine labor</a:t>
            </a:r>
            <a:endParaRPr lang="en-US" dirty="0"/>
          </a:p>
        </p:txBody>
      </p:sp>
    </p:spTree>
    <p:extLst>
      <p:ext uri="{BB962C8B-B14F-4D97-AF65-F5344CB8AC3E}">
        <p14:creationId xmlns:p14="http://schemas.microsoft.com/office/powerpoint/2010/main" val="5692309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The wave doesn't stop at tokens — it lands on the meters</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FIRST-ORDER EXPLOSION IN TOKENS; SECOND-ORDER EXPLOSION IN METERED EVENTS</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sz="2400"/>
          </a:p>
        </p:txBody>
      </p:sp>
      <p:sp>
        <p:nvSpPr>
          <p:cNvPr id="5" name="Shape 3"/>
          <p:cNvSpPr/>
          <p:nvPr/>
        </p:nvSpPr>
        <p:spPr>
          <a:xfrm>
            <a:off x="502920" y="1828800"/>
            <a:ext cx="3154680" cy="3794760"/>
          </a:xfrm>
          <a:prstGeom prst="roundRect">
            <a:avLst>
              <a:gd name="adj" fmla="val 2609"/>
            </a:avLst>
          </a:prstGeom>
          <a:solidFill>
            <a:srgbClr val="F5F8FC"/>
          </a:solidFill>
          <a:ln w="12700">
            <a:solidFill>
              <a:srgbClr val="D5DCE8"/>
            </a:solidFill>
            <a:prstDash val="solid"/>
          </a:ln>
        </p:spPr>
        <p:txBody>
          <a:bodyPr/>
          <a:lstStyle/>
          <a:p>
            <a:endParaRPr lang="en-US" sz="2400"/>
          </a:p>
        </p:txBody>
      </p:sp>
      <p:sp>
        <p:nvSpPr>
          <p:cNvPr id="6" name="Text 4"/>
          <p:cNvSpPr/>
          <p:nvPr/>
        </p:nvSpPr>
        <p:spPr>
          <a:xfrm>
            <a:off x="731520" y="2103120"/>
            <a:ext cx="2651760" cy="256032"/>
          </a:xfrm>
          <a:prstGeom prst="rect">
            <a:avLst/>
          </a:prstGeom>
          <a:noFill/>
        </p:spPr>
        <p:txBody>
          <a:bodyPr wrap="square" lIns="0" tIns="0" rIns="0" bIns="0" rtlCol="0" anchor="ctr"/>
          <a:lstStyle/>
          <a:p>
            <a:pPr marL="0" indent="0">
              <a:buNone/>
            </a:pPr>
            <a:r>
              <a:rPr lang="en-US" sz="1400" b="1" kern="0" spc="120" dirty="0">
                <a:solidFill>
                  <a:srgbClr val="5A6478"/>
                </a:solidFill>
                <a:latin typeface="Calibri" pitchFamily="34" charset="0"/>
                <a:ea typeface="Calibri" pitchFamily="34" charset="-122"/>
                <a:cs typeface="Calibri" pitchFamily="34" charset="-120"/>
              </a:rPr>
              <a:t>TOKEN DEMAND</a:t>
            </a:r>
            <a:endParaRPr lang="en-US" sz="1400" dirty="0"/>
          </a:p>
        </p:txBody>
      </p:sp>
      <p:sp>
        <p:nvSpPr>
          <p:cNvPr id="7" name="Text 5"/>
          <p:cNvSpPr/>
          <p:nvPr/>
        </p:nvSpPr>
        <p:spPr>
          <a:xfrm>
            <a:off x="731520" y="2395728"/>
            <a:ext cx="2651760" cy="777240"/>
          </a:xfrm>
          <a:prstGeom prst="rect">
            <a:avLst/>
          </a:prstGeom>
          <a:noFill/>
        </p:spPr>
        <p:txBody>
          <a:bodyPr wrap="square" lIns="0" tIns="0" rIns="0" bIns="0" rtlCol="0" anchor="ctr"/>
          <a:lstStyle/>
          <a:p>
            <a:pPr marL="0" indent="0">
              <a:buNone/>
            </a:pPr>
            <a:r>
              <a:rPr lang="en-US" sz="5400" b="1" dirty="0">
                <a:solidFill>
                  <a:srgbClr val="1A2233"/>
                </a:solidFill>
                <a:latin typeface="Cambria" pitchFamily="34" charset="0"/>
                <a:ea typeface="Cambria" pitchFamily="34" charset="-122"/>
                <a:cs typeface="Cambria" pitchFamily="34" charset="-120"/>
              </a:rPr>
              <a:t>~40x</a:t>
            </a:r>
            <a:endParaRPr lang="en-US" sz="5400" dirty="0"/>
          </a:p>
        </p:txBody>
      </p:sp>
      <p:sp>
        <p:nvSpPr>
          <p:cNvPr id="8" name="Text 6"/>
          <p:cNvSpPr/>
          <p:nvPr/>
        </p:nvSpPr>
        <p:spPr>
          <a:xfrm>
            <a:off x="731520" y="3291840"/>
            <a:ext cx="2697480" cy="1097280"/>
          </a:xfrm>
          <a:prstGeom prst="rect">
            <a:avLst/>
          </a:prstGeom>
          <a:noFill/>
        </p:spPr>
        <p:txBody>
          <a:bodyPr wrap="square" lIns="0" tIns="0" rIns="0" bIns="0" rtlCol="0" anchor="ctr"/>
          <a:lstStyle/>
          <a:p>
            <a:pPr marL="0" indent="0">
              <a:lnSpc>
                <a:spcPct val="112000"/>
              </a:lnSpc>
              <a:buNone/>
            </a:pPr>
            <a:r>
              <a:rPr lang="en-US" sz="1600" dirty="0">
                <a:solidFill>
                  <a:srgbClr val="3A4358"/>
                </a:solidFill>
                <a:latin typeface="Calibri" pitchFamily="34" charset="0"/>
                <a:ea typeface="Calibri" pitchFamily="34" charset="-122"/>
                <a:cs typeface="Calibri" pitchFamily="34" charset="-120"/>
              </a:rPr>
              <a:t>to four quintillion tokens a year by 2029</a:t>
            </a:r>
            <a:endParaRPr lang="en-US" sz="1600" dirty="0"/>
          </a:p>
        </p:txBody>
      </p:sp>
      <p:sp>
        <p:nvSpPr>
          <p:cNvPr id="9" name="Text 7"/>
          <p:cNvSpPr/>
          <p:nvPr/>
        </p:nvSpPr>
        <p:spPr>
          <a:xfrm>
            <a:off x="731520" y="5120640"/>
            <a:ext cx="2651760" cy="274320"/>
          </a:xfrm>
          <a:prstGeom prst="rect">
            <a:avLst/>
          </a:prstGeom>
          <a:noFill/>
        </p:spPr>
        <p:txBody>
          <a:bodyPr wrap="square" lIns="0" tIns="0" rIns="0" bIns="0" rtlCol="0" anchor="ctr"/>
          <a:lstStyle/>
          <a:p>
            <a:pPr marL="0" indent="0">
              <a:buNone/>
            </a:pPr>
            <a:r>
              <a:rPr lang="en-US" sz="1400" i="1" dirty="0">
                <a:solidFill>
                  <a:srgbClr val="8A97B0"/>
                </a:solidFill>
                <a:latin typeface="Calibri" pitchFamily="34" charset="0"/>
                <a:ea typeface="Calibri" pitchFamily="34" charset="-122"/>
                <a:cs typeface="Calibri" pitchFamily="34" charset="-120"/>
              </a:rPr>
              <a:t>the labs' story</a:t>
            </a:r>
            <a:endParaRPr lang="en-US" sz="1400" dirty="0"/>
          </a:p>
        </p:txBody>
      </p:sp>
      <p:sp>
        <p:nvSpPr>
          <p:cNvPr id="10" name="Text 8"/>
          <p:cNvSpPr/>
          <p:nvPr/>
        </p:nvSpPr>
        <p:spPr>
          <a:xfrm>
            <a:off x="3730752" y="3520440"/>
            <a:ext cx="457200" cy="457200"/>
          </a:xfrm>
          <a:prstGeom prst="rect">
            <a:avLst/>
          </a:prstGeom>
          <a:noFill/>
        </p:spPr>
        <p:txBody>
          <a:bodyPr wrap="square" lIns="0" tIns="0" rIns="0" bIns="0" rtlCol="0" anchor="ctr"/>
          <a:lstStyle/>
          <a:p>
            <a:pPr marL="0" indent="0" algn="ctr">
              <a:buNone/>
            </a:pPr>
            <a:r>
              <a:rPr lang="en-US" sz="3200" b="1" dirty="0">
                <a:solidFill>
                  <a:srgbClr val="8A97B0"/>
                </a:solidFill>
                <a:latin typeface="Calibri" pitchFamily="34" charset="0"/>
                <a:ea typeface="Calibri" pitchFamily="34" charset="-122"/>
                <a:cs typeface="Calibri" pitchFamily="34" charset="-120"/>
              </a:rPr>
              <a:t>→</a:t>
            </a:r>
            <a:endParaRPr lang="en-US" sz="3200" dirty="0"/>
          </a:p>
        </p:txBody>
      </p:sp>
      <p:sp>
        <p:nvSpPr>
          <p:cNvPr id="11" name="Text 9"/>
          <p:cNvSpPr/>
          <p:nvPr/>
        </p:nvSpPr>
        <p:spPr>
          <a:xfrm>
            <a:off x="4297680" y="2119186"/>
            <a:ext cx="3657600" cy="237744"/>
          </a:xfrm>
          <a:prstGeom prst="rect">
            <a:avLst/>
          </a:prstGeom>
          <a:noFill/>
        </p:spPr>
        <p:txBody>
          <a:bodyPr wrap="square" lIns="0" tIns="0" rIns="0" bIns="0" rtlCol="0" anchor="ctr"/>
          <a:lstStyle/>
          <a:p>
            <a:pPr marL="0" indent="0">
              <a:buNone/>
            </a:pPr>
            <a:r>
              <a:rPr lang="en-US" sz="1400" b="1" kern="0" spc="100" dirty="0">
                <a:solidFill>
                  <a:srgbClr val="5A6478"/>
                </a:solidFill>
                <a:latin typeface="Calibri" pitchFamily="34" charset="0"/>
                <a:ea typeface="Calibri" pitchFamily="34" charset="-122"/>
                <a:cs typeface="Calibri" pitchFamily="34" charset="-120"/>
              </a:rPr>
              <a:t>EVERY ACTION LANDS ON RENTED RAILS</a:t>
            </a:r>
            <a:endParaRPr lang="en-US" sz="1400" dirty="0"/>
          </a:p>
        </p:txBody>
      </p:sp>
      <p:sp>
        <p:nvSpPr>
          <p:cNvPr id="12" name="Shape 10"/>
          <p:cNvSpPr/>
          <p:nvPr/>
        </p:nvSpPr>
        <p:spPr>
          <a:xfrm>
            <a:off x="4297680" y="2439226"/>
            <a:ext cx="3657600" cy="640080"/>
          </a:xfrm>
          <a:prstGeom prst="roundRect">
            <a:avLst>
              <a:gd name="adj" fmla="val 11429"/>
            </a:avLst>
          </a:prstGeom>
          <a:solidFill>
            <a:srgbClr val="F5F8FC"/>
          </a:solidFill>
          <a:ln w="11430">
            <a:solidFill>
              <a:srgbClr val="D5DCE8"/>
            </a:solidFill>
            <a:prstDash val="solid"/>
          </a:ln>
        </p:spPr>
        <p:txBody>
          <a:bodyPr/>
          <a:lstStyle/>
          <a:p>
            <a:endParaRPr lang="en-US" sz="2400"/>
          </a:p>
        </p:txBody>
      </p:sp>
      <p:sp>
        <p:nvSpPr>
          <p:cNvPr id="13" name="Text 11"/>
          <p:cNvSpPr/>
          <p:nvPr/>
        </p:nvSpPr>
        <p:spPr>
          <a:xfrm>
            <a:off x="4526280" y="2439226"/>
            <a:ext cx="3291840" cy="640080"/>
          </a:xfrm>
          <a:prstGeom prst="rect">
            <a:avLst/>
          </a:prstGeom>
          <a:noFill/>
        </p:spPr>
        <p:txBody>
          <a:bodyPr wrap="square" lIns="0" tIns="0" rIns="0" bIns="0" rtlCol="0" anchor="ctr"/>
          <a:lstStyle/>
          <a:p>
            <a:pPr marL="0" indent="0">
              <a:buNone/>
            </a:pPr>
            <a:r>
              <a:rPr lang="en-US" sz="1600" b="1" kern="0" spc="80" dirty="0">
                <a:solidFill>
                  <a:srgbClr val="1A2233"/>
                </a:solidFill>
                <a:latin typeface="Calibri" pitchFamily="34" charset="0"/>
                <a:ea typeface="Calibri" pitchFamily="34" charset="-122"/>
                <a:cs typeface="Calibri" pitchFamily="34" charset="-120"/>
              </a:rPr>
              <a:t>RUNS</a:t>
            </a:r>
            <a:r>
              <a:rPr lang="en-US" sz="1400" dirty="0">
                <a:solidFill>
                  <a:srgbClr val="5A6478"/>
                </a:solidFill>
                <a:latin typeface="Calibri" pitchFamily="34" charset="0"/>
                <a:ea typeface="Calibri" pitchFamily="34" charset="-122"/>
                <a:cs typeface="Calibri" pitchFamily="34" charset="-120"/>
              </a:rPr>
              <a:t>   runtime, compute &amp; edge</a:t>
            </a:r>
            <a:endParaRPr lang="en-US" sz="1600" dirty="0"/>
          </a:p>
        </p:txBody>
      </p:sp>
      <p:sp>
        <p:nvSpPr>
          <p:cNvPr id="14" name="Shape 12"/>
          <p:cNvSpPr/>
          <p:nvPr/>
        </p:nvSpPr>
        <p:spPr>
          <a:xfrm>
            <a:off x="4297680" y="3189034"/>
            <a:ext cx="3657600" cy="640080"/>
          </a:xfrm>
          <a:prstGeom prst="roundRect">
            <a:avLst>
              <a:gd name="adj" fmla="val 11429"/>
            </a:avLst>
          </a:prstGeom>
          <a:solidFill>
            <a:srgbClr val="F5F8FC"/>
          </a:solidFill>
          <a:ln w="11430">
            <a:solidFill>
              <a:srgbClr val="D5DCE8"/>
            </a:solidFill>
            <a:prstDash val="solid"/>
          </a:ln>
        </p:spPr>
        <p:txBody>
          <a:bodyPr/>
          <a:lstStyle/>
          <a:p>
            <a:endParaRPr lang="en-US" sz="2400"/>
          </a:p>
        </p:txBody>
      </p:sp>
      <p:sp>
        <p:nvSpPr>
          <p:cNvPr id="15" name="Text 13"/>
          <p:cNvSpPr/>
          <p:nvPr/>
        </p:nvSpPr>
        <p:spPr>
          <a:xfrm>
            <a:off x="4526280" y="3189034"/>
            <a:ext cx="3291840" cy="640080"/>
          </a:xfrm>
          <a:prstGeom prst="rect">
            <a:avLst/>
          </a:prstGeom>
          <a:noFill/>
        </p:spPr>
        <p:txBody>
          <a:bodyPr wrap="square" lIns="0" tIns="0" rIns="0" bIns="0" rtlCol="0" anchor="ctr"/>
          <a:lstStyle/>
          <a:p>
            <a:pPr marL="0" indent="0">
              <a:buNone/>
            </a:pPr>
            <a:r>
              <a:rPr lang="en-US" sz="1600" b="1" kern="0" spc="80" dirty="0">
                <a:solidFill>
                  <a:srgbClr val="1A2233"/>
                </a:solidFill>
                <a:latin typeface="Calibri" pitchFamily="34" charset="0"/>
                <a:ea typeface="Calibri" pitchFamily="34" charset="-122"/>
                <a:cs typeface="Calibri" pitchFamily="34" charset="-120"/>
              </a:rPr>
              <a:t>STORES</a:t>
            </a:r>
            <a:r>
              <a:rPr lang="en-US" sz="1400" dirty="0">
                <a:solidFill>
                  <a:srgbClr val="5A6478"/>
                </a:solidFill>
                <a:latin typeface="Calibri" pitchFamily="34" charset="0"/>
                <a:ea typeface="Calibri" pitchFamily="34" charset="-122"/>
                <a:cs typeface="Calibri" pitchFamily="34" charset="-120"/>
              </a:rPr>
              <a:t>   data, state &amp; memory</a:t>
            </a:r>
            <a:endParaRPr lang="en-US" sz="1600" dirty="0"/>
          </a:p>
        </p:txBody>
      </p:sp>
      <p:sp>
        <p:nvSpPr>
          <p:cNvPr id="16" name="Shape 14"/>
          <p:cNvSpPr/>
          <p:nvPr/>
        </p:nvSpPr>
        <p:spPr>
          <a:xfrm>
            <a:off x="4297680" y="3938842"/>
            <a:ext cx="3657600" cy="640080"/>
          </a:xfrm>
          <a:prstGeom prst="roundRect">
            <a:avLst>
              <a:gd name="adj" fmla="val 11429"/>
            </a:avLst>
          </a:prstGeom>
          <a:solidFill>
            <a:srgbClr val="F5F8FC"/>
          </a:solidFill>
          <a:ln w="11430">
            <a:solidFill>
              <a:srgbClr val="D5DCE8"/>
            </a:solidFill>
            <a:prstDash val="solid"/>
          </a:ln>
        </p:spPr>
        <p:txBody>
          <a:bodyPr/>
          <a:lstStyle/>
          <a:p>
            <a:endParaRPr lang="en-US" sz="2400"/>
          </a:p>
        </p:txBody>
      </p:sp>
      <p:sp>
        <p:nvSpPr>
          <p:cNvPr id="17" name="Text 15"/>
          <p:cNvSpPr/>
          <p:nvPr/>
        </p:nvSpPr>
        <p:spPr>
          <a:xfrm>
            <a:off x="4526280" y="3938842"/>
            <a:ext cx="3291840" cy="640080"/>
          </a:xfrm>
          <a:prstGeom prst="rect">
            <a:avLst/>
          </a:prstGeom>
          <a:noFill/>
        </p:spPr>
        <p:txBody>
          <a:bodyPr wrap="square" lIns="0" tIns="0" rIns="0" bIns="0" rtlCol="0" anchor="ctr"/>
          <a:lstStyle/>
          <a:p>
            <a:pPr marL="0" indent="0">
              <a:buNone/>
            </a:pPr>
            <a:r>
              <a:rPr lang="en-US" sz="1600" b="1" kern="0" spc="80" dirty="0">
                <a:solidFill>
                  <a:srgbClr val="1A2233"/>
                </a:solidFill>
                <a:latin typeface="Calibri" pitchFamily="34" charset="0"/>
                <a:ea typeface="Calibri" pitchFamily="34" charset="-122"/>
                <a:cs typeface="Calibri" pitchFamily="34" charset="-120"/>
              </a:rPr>
              <a:t>SECURES</a:t>
            </a:r>
            <a:r>
              <a:rPr lang="en-US" sz="1400" dirty="0">
                <a:solidFill>
                  <a:srgbClr val="5A6478"/>
                </a:solidFill>
                <a:latin typeface="Calibri" pitchFamily="34" charset="0"/>
                <a:ea typeface="Calibri" pitchFamily="34" charset="-122"/>
                <a:cs typeface="Calibri" pitchFamily="34" charset="-120"/>
              </a:rPr>
              <a:t>   identity, audit &amp; supply chain</a:t>
            </a:r>
            <a:endParaRPr lang="en-US" sz="1600" dirty="0"/>
          </a:p>
        </p:txBody>
      </p:sp>
      <p:sp>
        <p:nvSpPr>
          <p:cNvPr id="18" name="Shape 16"/>
          <p:cNvSpPr/>
          <p:nvPr/>
        </p:nvSpPr>
        <p:spPr>
          <a:xfrm>
            <a:off x="4297680" y="4688650"/>
            <a:ext cx="3657600" cy="640080"/>
          </a:xfrm>
          <a:prstGeom prst="roundRect">
            <a:avLst>
              <a:gd name="adj" fmla="val 11429"/>
            </a:avLst>
          </a:prstGeom>
          <a:solidFill>
            <a:srgbClr val="F5F8FC"/>
          </a:solidFill>
          <a:ln w="11430">
            <a:solidFill>
              <a:srgbClr val="D5DCE8"/>
            </a:solidFill>
            <a:prstDash val="solid"/>
          </a:ln>
        </p:spPr>
        <p:txBody>
          <a:bodyPr/>
          <a:lstStyle/>
          <a:p>
            <a:endParaRPr lang="en-US" sz="2400"/>
          </a:p>
        </p:txBody>
      </p:sp>
      <p:sp>
        <p:nvSpPr>
          <p:cNvPr id="19" name="Text 17"/>
          <p:cNvSpPr/>
          <p:nvPr/>
        </p:nvSpPr>
        <p:spPr>
          <a:xfrm>
            <a:off x="4526280" y="4688650"/>
            <a:ext cx="3291840" cy="640080"/>
          </a:xfrm>
          <a:prstGeom prst="rect">
            <a:avLst/>
          </a:prstGeom>
          <a:noFill/>
        </p:spPr>
        <p:txBody>
          <a:bodyPr wrap="square" lIns="0" tIns="0" rIns="0" bIns="0" rtlCol="0" anchor="ctr"/>
          <a:lstStyle/>
          <a:p>
            <a:pPr marL="0" indent="0">
              <a:buNone/>
            </a:pPr>
            <a:r>
              <a:rPr lang="en-US" sz="1600" b="1" kern="0" spc="80" dirty="0">
                <a:solidFill>
                  <a:srgbClr val="1A2233"/>
                </a:solidFill>
                <a:latin typeface="Calibri" pitchFamily="34" charset="0"/>
                <a:ea typeface="Calibri" pitchFamily="34" charset="-122"/>
                <a:cs typeface="Calibri" pitchFamily="34" charset="-120"/>
              </a:rPr>
              <a:t>OBSERVES</a:t>
            </a:r>
            <a:r>
              <a:rPr lang="en-US" sz="1400" dirty="0">
                <a:solidFill>
                  <a:srgbClr val="5A6478"/>
                </a:solidFill>
                <a:latin typeface="Calibri" pitchFamily="34" charset="0"/>
                <a:ea typeface="Calibri" pitchFamily="34" charset="-122"/>
                <a:cs typeface="Calibri" pitchFamily="34" charset="-120"/>
              </a:rPr>
              <a:t>   logs, traces &amp; telemetry</a:t>
            </a:r>
            <a:endParaRPr lang="en-US" sz="1600" dirty="0"/>
          </a:p>
        </p:txBody>
      </p:sp>
      <p:sp>
        <p:nvSpPr>
          <p:cNvPr id="22" name="Text 20"/>
          <p:cNvSpPr/>
          <p:nvPr/>
        </p:nvSpPr>
        <p:spPr>
          <a:xfrm>
            <a:off x="8065008" y="3520440"/>
            <a:ext cx="457200" cy="457200"/>
          </a:xfrm>
          <a:prstGeom prst="rect">
            <a:avLst/>
          </a:prstGeom>
          <a:noFill/>
        </p:spPr>
        <p:txBody>
          <a:bodyPr wrap="square" lIns="0" tIns="0" rIns="0" bIns="0" rtlCol="0" anchor="ctr"/>
          <a:lstStyle/>
          <a:p>
            <a:pPr marL="0" indent="0" algn="ctr">
              <a:buNone/>
            </a:pPr>
            <a:r>
              <a:rPr lang="en-US" sz="3200" b="1" dirty="0">
                <a:solidFill>
                  <a:srgbClr val="8A97B0"/>
                </a:solidFill>
                <a:latin typeface="Calibri" pitchFamily="34" charset="0"/>
                <a:ea typeface="Calibri" pitchFamily="34" charset="-122"/>
                <a:cs typeface="Calibri" pitchFamily="34" charset="-120"/>
              </a:rPr>
              <a:t>→</a:t>
            </a:r>
            <a:endParaRPr lang="en-US" sz="3200" dirty="0"/>
          </a:p>
        </p:txBody>
      </p:sp>
      <p:sp>
        <p:nvSpPr>
          <p:cNvPr id="23" name="Shape 21"/>
          <p:cNvSpPr/>
          <p:nvPr/>
        </p:nvSpPr>
        <p:spPr>
          <a:xfrm>
            <a:off x="8595360" y="1828800"/>
            <a:ext cx="3090672" cy="3794760"/>
          </a:xfrm>
          <a:prstGeom prst="roundRect">
            <a:avLst>
              <a:gd name="adj" fmla="val 2663"/>
            </a:avLst>
          </a:prstGeom>
          <a:solidFill>
            <a:srgbClr val="2777EF"/>
          </a:solidFill>
        </p:spPr>
        <p:txBody>
          <a:bodyPr/>
          <a:lstStyle/>
          <a:p>
            <a:endParaRPr lang="en-US" sz="2400"/>
          </a:p>
        </p:txBody>
      </p:sp>
      <p:sp>
        <p:nvSpPr>
          <p:cNvPr id="24" name="Text 22"/>
          <p:cNvSpPr/>
          <p:nvPr/>
        </p:nvSpPr>
        <p:spPr>
          <a:xfrm>
            <a:off x="8823960" y="2103120"/>
            <a:ext cx="2651760" cy="256032"/>
          </a:xfrm>
          <a:prstGeom prst="rect">
            <a:avLst/>
          </a:prstGeom>
          <a:noFill/>
        </p:spPr>
        <p:txBody>
          <a:bodyPr wrap="square" lIns="0" tIns="0" rIns="0" bIns="0" rtlCol="0" anchor="ctr"/>
          <a:lstStyle/>
          <a:p>
            <a:pPr marL="0" indent="0">
              <a:buNone/>
            </a:pPr>
            <a:r>
              <a:rPr lang="en-US" sz="1400" b="1" kern="0" spc="120" dirty="0">
                <a:solidFill>
                  <a:srgbClr val="D6E4FC"/>
                </a:solidFill>
                <a:latin typeface="Calibri" pitchFamily="34" charset="0"/>
                <a:ea typeface="Calibri" pitchFamily="34" charset="-122"/>
                <a:cs typeface="Calibri" pitchFamily="34" charset="-120"/>
              </a:rPr>
              <a:t>BILLABLE INFRA EVENTS</a:t>
            </a:r>
            <a:endParaRPr lang="en-US" sz="1400" dirty="0"/>
          </a:p>
        </p:txBody>
      </p:sp>
      <p:sp>
        <p:nvSpPr>
          <p:cNvPr id="25" name="Text 23"/>
          <p:cNvSpPr/>
          <p:nvPr/>
        </p:nvSpPr>
        <p:spPr>
          <a:xfrm>
            <a:off x="8823960" y="2395728"/>
            <a:ext cx="2651760" cy="777240"/>
          </a:xfrm>
          <a:prstGeom prst="rect">
            <a:avLst/>
          </a:prstGeom>
          <a:noFill/>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~190x</a:t>
            </a:r>
            <a:endParaRPr lang="en-US" sz="5400" dirty="0"/>
          </a:p>
        </p:txBody>
      </p:sp>
      <p:sp>
        <p:nvSpPr>
          <p:cNvPr id="26" name="Text 24"/>
          <p:cNvSpPr/>
          <p:nvPr/>
        </p:nvSpPr>
        <p:spPr>
          <a:xfrm>
            <a:off x="8823960" y="3291840"/>
            <a:ext cx="2697480" cy="1371600"/>
          </a:xfrm>
          <a:prstGeom prst="rect">
            <a:avLst/>
          </a:prstGeom>
          <a:noFill/>
        </p:spPr>
        <p:txBody>
          <a:bodyPr wrap="square" lIns="0" tIns="0" rIns="0" bIns="0" rtlCol="0" anchor="ctr"/>
          <a:lstStyle/>
          <a:p>
            <a:pPr marL="0" indent="0">
              <a:lnSpc>
                <a:spcPct val="112000"/>
              </a:lnSpc>
              <a:buNone/>
            </a:pPr>
            <a:r>
              <a:rPr lang="en-US" sz="1600" dirty="0">
                <a:solidFill>
                  <a:srgbClr val="EAF1FE"/>
                </a:solidFill>
                <a:latin typeface="Calibri" pitchFamily="34" charset="0"/>
                <a:ea typeface="Calibri" pitchFamily="34" charset="-122"/>
                <a:cs typeface="Calibri" pitchFamily="34" charset="-120"/>
              </a:rPr>
              <a:t>0.3Q → ~57Q by 2029 — the wave amplifies as it lands</a:t>
            </a:r>
            <a:endParaRPr lang="en-US" sz="1600" dirty="0"/>
          </a:p>
        </p:txBody>
      </p:sp>
      <p:sp>
        <p:nvSpPr>
          <p:cNvPr id="27" name="Text 25"/>
          <p:cNvSpPr/>
          <p:nvPr/>
        </p:nvSpPr>
        <p:spPr>
          <a:xfrm>
            <a:off x="8823960" y="5120640"/>
            <a:ext cx="2651760" cy="274320"/>
          </a:xfrm>
          <a:prstGeom prst="rect">
            <a:avLst/>
          </a:prstGeom>
          <a:noFill/>
        </p:spPr>
        <p:txBody>
          <a:bodyPr wrap="square" lIns="0" tIns="0" rIns="0" bIns="0" rtlCol="0" anchor="ctr"/>
          <a:lstStyle/>
          <a:p>
            <a:pPr marL="0" indent="0">
              <a:buNone/>
            </a:pPr>
            <a:r>
              <a:rPr lang="en-US" sz="1400" b="1" i="1" dirty="0">
                <a:solidFill>
                  <a:srgbClr val="FFFFFF"/>
                </a:solidFill>
                <a:latin typeface="Calibri" pitchFamily="34" charset="0"/>
                <a:ea typeface="Calibri" pitchFamily="34" charset="-122"/>
                <a:cs typeface="Calibri" pitchFamily="34" charset="-120"/>
              </a:rPr>
              <a:t>the meters' story</a:t>
            </a:r>
            <a:endParaRPr lang="en-US" sz="1400" dirty="0"/>
          </a:p>
        </p:txBody>
      </p:sp>
      <p:sp>
        <p:nvSpPr>
          <p:cNvPr id="28" name="Text 26"/>
          <p:cNvSpPr/>
          <p:nvPr/>
        </p:nvSpPr>
        <p:spPr>
          <a:xfrm>
            <a:off x="3693918" y="5746553"/>
            <a:ext cx="457200" cy="411480"/>
          </a:xfrm>
          <a:prstGeom prst="rect">
            <a:avLst/>
          </a:prstGeom>
          <a:noFill/>
        </p:spPr>
        <p:txBody>
          <a:bodyPr wrap="square" lIns="0" tIns="0" rIns="0" bIns="0" rtlCol="0" anchor="ctr"/>
          <a:lstStyle/>
          <a:p>
            <a:pPr marL="0" indent="0" algn="l">
              <a:buNone/>
            </a:pPr>
            <a:r>
              <a:rPr lang="en-US" sz="2800" dirty="0">
                <a:solidFill>
                  <a:srgbClr val="000000"/>
                </a:solidFill>
              </a:rPr>
              <a:t>🌊</a:t>
            </a:r>
            <a:endParaRPr lang="en-US" sz="2800" dirty="0"/>
          </a:p>
        </p:txBody>
      </p:sp>
      <p:sp>
        <p:nvSpPr>
          <p:cNvPr id="29" name="Shape 27"/>
          <p:cNvSpPr/>
          <p:nvPr/>
        </p:nvSpPr>
        <p:spPr>
          <a:xfrm>
            <a:off x="4082603" y="5930721"/>
            <a:ext cx="4082604" cy="566928"/>
          </a:xfrm>
          <a:prstGeom prst="roundRect">
            <a:avLst>
              <a:gd name="adj" fmla="val 14516"/>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sz="2400"/>
          </a:p>
        </p:txBody>
      </p:sp>
      <p:sp>
        <p:nvSpPr>
          <p:cNvPr id="30" name="Text 28"/>
          <p:cNvSpPr/>
          <p:nvPr/>
        </p:nvSpPr>
        <p:spPr>
          <a:xfrm>
            <a:off x="3401568" y="5943600"/>
            <a:ext cx="5358384" cy="566928"/>
          </a:xfrm>
          <a:prstGeom prst="rect">
            <a:avLst/>
          </a:prstGeom>
          <a:noFill/>
        </p:spPr>
        <p:txBody>
          <a:bodyPr wrap="square" lIns="0" tIns="0" rIns="0" bIns="0" rtlCol="0" anchor="ctr"/>
          <a:lstStyle/>
          <a:p>
            <a:pPr marL="0" indent="0" algn="ctr">
              <a:lnSpc>
                <a:spcPct val="102000"/>
              </a:lnSpc>
              <a:buNone/>
            </a:pPr>
            <a:r>
              <a:rPr lang="en-US" sz="1600" b="1" dirty="0">
                <a:solidFill>
                  <a:srgbClr val="1A2233"/>
                </a:solidFill>
                <a:latin typeface="Calibri" pitchFamily="34" charset="0"/>
                <a:ea typeface="Calibri" pitchFamily="34" charset="-122"/>
                <a:cs typeface="Calibri" pitchFamily="34" charset="-120"/>
              </a:rPr>
              <a:t>Events compound faster than tokens</a:t>
            </a:r>
            <a:endParaRPr lang="en-US" sz="1600" dirty="0"/>
          </a:p>
        </p:txBody>
      </p:sp>
      <p:sp>
        <p:nvSpPr>
          <p:cNvPr id="31" name="Text 29"/>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32" name="Text 30"/>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Attach of 20–40 events per 1K agentic tokens per the conversion model; ~190x = 0.3Q → ~57Q billable-weighted events by 2029, Skycatcher case. Illustrative.</a:t>
            </a:r>
            <a:endParaRPr lang="en-US" sz="750" dirty="0"/>
          </a:p>
        </p:txBody>
      </p:sp>
      <p:sp>
        <p:nvSpPr>
          <p:cNvPr id="33"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34</a:t>
            </a:fld>
            <a:endParaRPr lang="en-US"/>
          </a:p>
        </p:txBody>
      </p:sp>
    </p:spTree>
    <p:extLst>
      <p:ext uri="{BB962C8B-B14F-4D97-AF65-F5344CB8AC3E}">
        <p14:creationId xmlns:p14="http://schemas.microsoft.com/office/powerpoint/2010/main" val="13154206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The wave amplifies as it lands: events grow ~190x</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GROWTH INDEX, 2026 = 1 (LOG SCALE) — BILLABLE-WEIGHTED INFRASTRUCTURE EVENTS VS. TOKENS, WITH ANNUAL GROWTH</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1005840" y="5140064"/>
            <a:ext cx="868680" cy="300616"/>
          </a:xfrm>
          <a:prstGeom prst="rect">
            <a:avLst/>
          </a:prstGeom>
          <a:solidFill>
            <a:srgbClr val="2777EF"/>
          </a:solidFill>
        </p:spPr>
        <p:txBody>
          <a:bodyPr/>
          <a:lstStyle/>
          <a:p>
            <a:endParaRPr lang="en-US" sz="2000"/>
          </a:p>
        </p:txBody>
      </p:sp>
      <p:sp>
        <p:nvSpPr>
          <p:cNvPr id="6" name="Text 4"/>
          <p:cNvSpPr/>
          <p:nvPr/>
        </p:nvSpPr>
        <p:spPr>
          <a:xfrm>
            <a:off x="594360" y="4774304"/>
            <a:ext cx="1691640" cy="292608"/>
          </a:xfrm>
          <a:prstGeom prst="rect">
            <a:avLst/>
          </a:prstGeom>
          <a:noFill/>
        </p:spPr>
        <p:txBody>
          <a:bodyPr wrap="square" lIns="0" tIns="0" rIns="0" bIns="0" rtlCol="0" anchor="ctr"/>
          <a:lstStyle/>
          <a:p>
            <a:pPr marL="0" indent="0" algn="ctr">
              <a:buNone/>
            </a:pPr>
            <a:r>
              <a:rPr lang="en-US" sz="1400" b="1" dirty="0">
                <a:solidFill>
                  <a:srgbClr val="2777EF"/>
                </a:solidFill>
                <a:latin typeface="Cambria" pitchFamily="34" charset="0"/>
                <a:ea typeface="Cambria" pitchFamily="34" charset="-122"/>
                <a:cs typeface="Cambria" pitchFamily="34" charset="-120"/>
              </a:rPr>
              <a:t>1x</a:t>
            </a:r>
            <a:endParaRPr lang="en-US" sz="1400" dirty="0"/>
          </a:p>
        </p:txBody>
      </p:sp>
      <p:sp>
        <p:nvSpPr>
          <p:cNvPr id="7" name="Shape 5"/>
          <p:cNvSpPr/>
          <p:nvPr/>
        </p:nvSpPr>
        <p:spPr>
          <a:xfrm>
            <a:off x="1965960" y="5140064"/>
            <a:ext cx="868680" cy="300616"/>
          </a:xfrm>
          <a:prstGeom prst="rect">
            <a:avLst/>
          </a:prstGeom>
          <a:solidFill>
            <a:srgbClr val="D8DCE3"/>
          </a:solidFill>
        </p:spPr>
        <p:txBody>
          <a:bodyPr/>
          <a:lstStyle/>
          <a:p>
            <a:endParaRPr lang="en-US" sz="2000"/>
          </a:p>
        </p:txBody>
      </p:sp>
      <p:sp>
        <p:nvSpPr>
          <p:cNvPr id="8" name="Text 6"/>
          <p:cNvSpPr/>
          <p:nvPr/>
        </p:nvSpPr>
        <p:spPr>
          <a:xfrm>
            <a:off x="1097280" y="5532120"/>
            <a:ext cx="1645920" cy="256032"/>
          </a:xfrm>
          <a:prstGeom prst="rect">
            <a:avLst/>
          </a:prstGeom>
          <a:noFill/>
        </p:spPr>
        <p:txBody>
          <a:bodyPr wrap="square" lIns="0" tIns="0" rIns="0" bIns="0" rtlCol="0" anchor="ctr"/>
          <a:lstStyle/>
          <a:p>
            <a:pPr marL="0" indent="0" algn="ctr">
              <a:buNone/>
            </a:pPr>
            <a:r>
              <a:rPr lang="en-US" sz="1400" b="1" dirty="0">
                <a:solidFill>
                  <a:srgbClr val="5A6478"/>
                </a:solidFill>
                <a:latin typeface="Calibri" pitchFamily="34" charset="0"/>
                <a:ea typeface="Calibri" pitchFamily="34" charset="-122"/>
                <a:cs typeface="Calibri" pitchFamily="34" charset="-120"/>
              </a:rPr>
              <a:t>2026</a:t>
            </a:r>
            <a:endParaRPr lang="en-US" sz="1400" dirty="0"/>
          </a:p>
        </p:txBody>
      </p:sp>
      <p:sp>
        <p:nvSpPr>
          <p:cNvPr id="9" name="Shape 7"/>
          <p:cNvSpPr/>
          <p:nvPr/>
        </p:nvSpPr>
        <p:spPr>
          <a:xfrm>
            <a:off x="2815552" y="4359948"/>
            <a:ext cx="658368" cy="310896"/>
          </a:xfrm>
          <a:prstGeom prst="roundRect">
            <a:avLst>
              <a:gd name="adj" fmla="val 50000"/>
            </a:avLst>
          </a:prstGeom>
          <a:solidFill>
            <a:srgbClr val="1A2233"/>
          </a:solidFill>
        </p:spPr>
        <p:txBody>
          <a:bodyPr/>
          <a:lstStyle/>
          <a:p>
            <a:endParaRPr lang="en-US" sz="2000"/>
          </a:p>
        </p:txBody>
      </p:sp>
      <p:sp>
        <p:nvSpPr>
          <p:cNvPr id="10" name="Text 8"/>
          <p:cNvSpPr/>
          <p:nvPr/>
        </p:nvSpPr>
        <p:spPr>
          <a:xfrm>
            <a:off x="2815552" y="4350804"/>
            <a:ext cx="65836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×7.0</a:t>
            </a:r>
            <a:endParaRPr lang="en-US" sz="1200" dirty="0"/>
          </a:p>
        </p:txBody>
      </p:sp>
      <p:sp>
        <p:nvSpPr>
          <p:cNvPr id="11" name="Shape 9"/>
          <p:cNvSpPr/>
          <p:nvPr/>
        </p:nvSpPr>
        <p:spPr>
          <a:xfrm>
            <a:off x="3337560" y="4085628"/>
            <a:ext cx="868680" cy="1355052"/>
          </a:xfrm>
          <a:prstGeom prst="rect">
            <a:avLst/>
          </a:prstGeom>
          <a:solidFill>
            <a:srgbClr val="EAF1FE"/>
          </a:solidFill>
          <a:ln w="19050">
            <a:solidFill>
              <a:srgbClr val="2777EF"/>
            </a:solidFill>
            <a:prstDash val="dash"/>
          </a:ln>
        </p:spPr>
        <p:txBody>
          <a:bodyPr/>
          <a:lstStyle/>
          <a:p>
            <a:endParaRPr lang="en-US" sz="2000"/>
          </a:p>
        </p:txBody>
      </p:sp>
      <p:sp>
        <p:nvSpPr>
          <p:cNvPr id="12" name="Text 10"/>
          <p:cNvSpPr/>
          <p:nvPr/>
        </p:nvSpPr>
        <p:spPr>
          <a:xfrm>
            <a:off x="2926080" y="3719868"/>
            <a:ext cx="1691640" cy="292608"/>
          </a:xfrm>
          <a:prstGeom prst="rect">
            <a:avLst/>
          </a:prstGeom>
          <a:noFill/>
        </p:spPr>
        <p:txBody>
          <a:bodyPr wrap="square" lIns="0" tIns="0" rIns="0" bIns="0" rtlCol="0" anchor="ctr"/>
          <a:lstStyle/>
          <a:p>
            <a:pPr marL="0" indent="0" algn="ctr">
              <a:buNone/>
            </a:pPr>
            <a:r>
              <a:rPr lang="en-US" sz="1400" b="1" dirty="0">
                <a:solidFill>
                  <a:srgbClr val="2777EF"/>
                </a:solidFill>
                <a:latin typeface="Cambria" pitchFamily="34" charset="0"/>
                <a:ea typeface="Cambria" pitchFamily="34" charset="-122"/>
                <a:cs typeface="Cambria" pitchFamily="34" charset="-120"/>
              </a:rPr>
              <a:t>7x</a:t>
            </a:r>
            <a:endParaRPr lang="en-US" sz="1400" dirty="0"/>
          </a:p>
        </p:txBody>
      </p:sp>
      <p:sp>
        <p:nvSpPr>
          <p:cNvPr id="13" name="Shape 11"/>
          <p:cNvSpPr/>
          <p:nvPr/>
        </p:nvSpPr>
        <p:spPr>
          <a:xfrm>
            <a:off x="4297680" y="4493540"/>
            <a:ext cx="868680" cy="947140"/>
          </a:xfrm>
          <a:prstGeom prst="rect">
            <a:avLst/>
          </a:prstGeom>
          <a:solidFill>
            <a:srgbClr val="FFFFFF"/>
          </a:solidFill>
          <a:ln w="15875">
            <a:solidFill>
              <a:srgbClr val="9AA3AF"/>
            </a:solidFill>
            <a:prstDash val="dash"/>
          </a:ln>
        </p:spPr>
        <p:txBody>
          <a:bodyPr/>
          <a:lstStyle/>
          <a:p>
            <a:endParaRPr lang="en-US" sz="2000"/>
          </a:p>
        </p:txBody>
      </p:sp>
      <p:sp>
        <p:nvSpPr>
          <p:cNvPr id="14" name="Text 12"/>
          <p:cNvSpPr/>
          <p:nvPr/>
        </p:nvSpPr>
        <p:spPr>
          <a:xfrm>
            <a:off x="3886200" y="4164356"/>
            <a:ext cx="1691640" cy="274320"/>
          </a:xfrm>
          <a:prstGeom prst="rect">
            <a:avLst/>
          </a:prstGeom>
          <a:noFill/>
        </p:spPr>
        <p:txBody>
          <a:bodyPr wrap="square" lIns="0" tIns="0" rIns="0" bIns="0" rtlCol="0" anchor="ctr"/>
          <a:lstStyle/>
          <a:p>
            <a:pPr marL="0" indent="0" algn="ctr">
              <a:buNone/>
            </a:pPr>
            <a:r>
              <a:rPr lang="en-US" sz="1200" b="1" dirty="0">
                <a:solidFill>
                  <a:srgbClr val="5A6478"/>
                </a:solidFill>
                <a:latin typeface="Calibri" pitchFamily="34" charset="0"/>
                <a:ea typeface="Calibri" pitchFamily="34" charset="-122"/>
                <a:cs typeface="Calibri" pitchFamily="34" charset="-120"/>
              </a:rPr>
              <a:t>3.4x</a:t>
            </a:r>
            <a:endParaRPr lang="en-US" sz="1200" dirty="0"/>
          </a:p>
        </p:txBody>
      </p:sp>
      <p:sp>
        <p:nvSpPr>
          <p:cNvPr id="15" name="Text 13"/>
          <p:cNvSpPr/>
          <p:nvPr/>
        </p:nvSpPr>
        <p:spPr>
          <a:xfrm>
            <a:off x="3429000" y="5532120"/>
            <a:ext cx="1645920" cy="256032"/>
          </a:xfrm>
          <a:prstGeom prst="rect">
            <a:avLst/>
          </a:prstGeom>
          <a:noFill/>
        </p:spPr>
        <p:txBody>
          <a:bodyPr wrap="square" lIns="0" tIns="0" rIns="0" bIns="0" rtlCol="0" anchor="ctr"/>
          <a:lstStyle/>
          <a:p>
            <a:pPr marL="0" indent="0" algn="ctr">
              <a:buNone/>
            </a:pPr>
            <a:r>
              <a:rPr lang="en-US" sz="1400" b="1" dirty="0">
                <a:solidFill>
                  <a:srgbClr val="5A6478"/>
                </a:solidFill>
                <a:latin typeface="Calibri" pitchFamily="34" charset="0"/>
                <a:ea typeface="Calibri" pitchFamily="34" charset="-122"/>
                <a:cs typeface="Calibri" pitchFamily="34" charset="-120"/>
              </a:rPr>
              <a:t>2027</a:t>
            </a:r>
            <a:endParaRPr lang="en-US" sz="1400" dirty="0"/>
          </a:p>
        </p:txBody>
      </p:sp>
      <p:sp>
        <p:nvSpPr>
          <p:cNvPr id="16" name="Shape 14"/>
          <p:cNvSpPr/>
          <p:nvPr/>
        </p:nvSpPr>
        <p:spPr>
          <a:xfrm>
            <a:off x="5137224" y="3520103"/>
            <a:ext cx="658368" cy="310896"/>
          </a:xfrm>
          <a:prstGeom prst="roundRect">
            <a:avLst>
              <a:gd name="adj" fmla="val 50000"/>
            </a:avLst>
          </a:prstGeom>
          <a:solidFill>
            <a:srgbClr val="1A2233"/>
          </a:solidFill>
        </p:spPr>
        <p:txBody>
          <a:bodyPr/>
          <a:lstStyle/>
          <a:p>
            <a:endParaRPr lang="en-US" sz="2000"/>
          </a:p>
        </p:txBody>
      </p:sp>
      <p:sp>
        <p:nvSpPr>
          <p:cNvPr id="17" name="Text 15"/>
          <p:cNvSpPr/>
          <p:nvPr/>
        </p:nvSpPr>
        <p:spPr>
          <a:xfrm>
            <a:off x="5137224" y="3510959"/>
            <a:ext cx="65836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×4.7</a:t>
            </a:r>
            <a:endParaRPr lang="en-US" sz="1200" dirty="0"/>
          </a:p>
        </p:txBody>
      </p:sp>
      <p:sp>
        <p:nvSpPr>
          <p:cNvPr id="18" name="Shape 16"/>
          <p:cNvSpPr/>
          <p:nvPr/>
        </p:nvSpPr>
        <p:spPr>
          <a:xfrm>
            <a:off x="5669280" y="3245783"/>
            <a:ext cx="868680" cy="2194897"/>
          </a:xfrm>
          <a:prstGeom prst="rect">
            <a:avLst/>
          </a:prstGeom>
          <a:solidFill>
            <a:srgbClr val="EAF1FE"/>
          </a:solidFill>
          <a:ln w="19050">
            <a:solidFill>
              <a:srgbClr val="2777EF"/>
            </a:solidFill>
            <a:prstDash val="dash"/>
          </a:ln>
        </p:spPr>
        <p:txBody>
          <a:bodyPr/>
          <a:lstStyle/>
          <a:p>
            <a:endParaRPr lang="en-US" sz="2000"/>
          </a:p>
        </p:txBody>
      </p:sp>
      <p:sp>
        <p:nvSpPr>
          <p:cNvPr id="19" name="Text 17"/>
          <p:cNvSpPr/>
          <p:nvPr/>
        </p:nvSpPr>
        <p:spPr>
          <a:xfrm>
            <a:off x="5257800" y="2880023"/>
            <a:ext cx="1691640" cy="292608"/>
          </a:xfrm>
          <a:prstGeom prst="rect">
            <a:avLst/>
          </a:prstGeom>
          <a:noFill/>
        </p:spPr>
        <p:txBody>
          <a:bodyPr wrap="square" lIns="0" tIns="0" rIns="0" bIns="0" rtlCol="0" anchor="ctr"/>
          <a:lstStyle/>
          <a:p>
            <a:pPr marL="0" indent="0" algn="ctr">
              <a:buNone/>
            </a:pPr>
            <a:r>
              <a:rPr lang="en-US" sz="1400" b="1" dirty="0">
                <a:solidFill>
                  <a:srgbClr val="2777EF"/>
                </a:solidFill>
                <a:latin typeface="Cambria" pitchFamily="34" charset="0"/>
                <a:ea typeface="Cambria" pitchFamily="34" charset="-122"/>
                <a:cs typeface="Cambria" pitchFamily="34" charset="-120"/>
              </a:rPr>
              <a:t>33x</a:t>
            </a:r>
            <a:endParaRPr lang="en-US" sz="1400" dirty="0"/>
          </a:p>
        </p:txBody>
      </p:sp>
      <p:sp>
        <p:nvSpPr>
          <p:cNvPr id="20" name="Shape 18"/>
          <p:cNvSpPr/>
          <p:nvPr/>
        </p:nvSpPr>
        <p:spPr>
          <a:xfrm>
            <a:off x="6629400" y="3847016"/>
            <a:ext cx="868680" cy="1593664"/>
          </a:xfrm>
          <a:prstGeom prst="rect">
            <a:avLst/>
          </a:prstGeom>
          <a:solidFill>
            <a:srgbClr val="FFFFFF"/>
          </a:solidFill>
          <a:ln w="15875">
            <a:solidFill>
              <a:srgbClr val="9AA3AF"/>
            </a:solidFill>
            <a:prstDash val="dash"/>
          </a:ln>
        </p:spPr>
        <p:txBody>
          <a:bodyPr/>
          <a:lstStyle/>
          <a:p>
            <a:endParaRPr lang="en-US" sz="2000"/>
          </a:p>
        </p:txBody>
      </p:sp>
      <p:sp>
        <p:nvSpPr>
          <p:cNvPr id="21" name="Text 19"/>
          <p:cNvSpPr/>
          <p:nvPr/>
        </p:nvSpPr>
        <p:spPr>
          <a:xfrm>
            <a:off x="6217920" y="3517832"/>
            <a:ext cx="1691640" cy="274320"/>
          </a:xfrm>
          <a:prstGeom prst="rect">
            <a:avLst/>
          </a:prstGeom>
          <a:noFill/>
        </p:spPr>
        <p:txBody>
          <a:bodyPr wrap="square" lIns="0" tIns="0" rIns="0" bIns="0" rtlCol="0" anchor="ctr"/>
          <a:lstStyle/>
          <a:p>
            <a:pPr marL="0" indent="0" algn="ctr">
              <a:buNone/>
            </a:pPr>
            <a:r>
              <a:rPr lang="en-US" sz="1200" b="1" dirty="0">
                <a:solidFill>
                  <a:srgbClr val="5A6478"/>
                </a:solidFill>
                <a:latin typeface="Calibri" pitchFamily="34" charset="0"/>
                <a:ea typeface="Calibri" pitchFamily="34" charset="-122"/>
                <a:cs typeface="Calibri" pitchFamily="34" charset="-120"/>
              </a:rPr>
              <a:t>12x</a:t>
            </a:r>
            <a:endParaRPr lang="en-US" sz="1200" dirty="0"/>
          </a:p>
        </p:txBody>
      </p:sp>
      <p:sp>
        <p:nvSpPr>
          <p:cNvPr id="22" name="Text 20"/>
          <p:cNvSpPr/>
          <p:nvPr/>
        </p:nvSpPr>
        <p:spPr>
          <a:xfrm>
            <a:off x="5760720" y="5532120"/>
            <a:ext cx="1645920" cy="256032"/>
          </a:xfrm>
          <a:prstGeom prst="rect">
            <a:avLst/>
          </a:prstGeom>
          <a:noFill/>
        </p:spPr>
        <p:txBody>
          <a:bodyPr wrap="square" lIns="0" tIns="0" rIns="0" bIns="0" rtlCol="0" anchor="ctr"/>
          <a:lstStyle/>
          <a:p>
            <a:pPr marL="0" indent="0" algn="ctr">
              <a:buNone/>
            </a:pPr>
            <a:r>
              <a:rPr lang="en-US" sz="1400" b="1" dirty="0">
                <a:solidFill>
                  <a:srgbClr val="5A6478"/>
                </a:solidFill>
                <a:latin typeface="Calibri" pitchFamily="34" charset="0"/>
                <a:ea typeface="Calibri" pitchFamily="34" charset="-122"/>
                <a:cs typeface="Calibri" pitchFamily="34" charset="-120"/>
              </a:rPr>
              <a:t>2028</a:t>
            </a:r>
            <a:endParaRPr lang="en-US" sz="1400" dirty="0"/>
          </a:p>
        </p:txBody>
      </p:sp>
      <p:sp>
        <p:nvSpPr>
          <p:cNvPr id="23" name="Shape 21"/>
          <p:cNvSpPr/>
          <p:nvPr/>
        </p:nvSpPr>
        <p:spPr>
          <a:xfrm>
            <a:off x="7468944" y="2549881"/>
            <a:ext cx="658368" cy="310896"/>
          </a:xfrm>
          <a:prstGeom prst="roundRect">
            <a:avLst>
              <a:gd name="adj" fmla="val 50000"/>
            </a:avLst>
          </a:prstGeom>
          <a:solidFill>
            <a:srgbClr val="1A2233"/>
          </a:solidFill>
        </p:spPr>
        <p:txBody>
          <a:bodyPr/>
          <a:lstStyle/>
          <a:p>
            <a:endParaRPr lang="en-US" sz="2000"/>
          </a:p>
        </p:txBody>
      </p:sp>
      <p:sp>
        <p:nvSpPr>
          <p:cNvPr id="24" name="Text 22"/>
          <p:cNvSpPr/>
          <p:nvPr/>
        </p:nvSpPr>
        <p:spPr>
          <a:xfrm>
            <a:off x="7468944" y="2540737"/>
            <a:ext cx="658368" cy="310896"/>
          </a:xfrm>
          <a:prstGeom prst="rect">
            <a:avLst/>
          </a:prstGeom>
          <a:noFill/>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×5.8</a:t>
            </a:r>
            <a:endParaRPr lang="en-US" sz="1200" dirty="0"/>
          </a:p>
        </p:txBody>
      </p:sp>
      <p:sp>
        <p:nvSpPr>
          <p:cNvPr id="25" name="Shape 23"/>
          <p:cNvSpPr/>
          <p:nvPr/>
        </p:nvSpPr>
        <p:spPr>
          <a:xfrm>
            <a:off x="8001000" y="2275561"/>
            <a:ext cx="868680" cy="3165119"/>
          </a:xfrm>
          <a:prstGeom prst="rect">
            <a:avLst/>
          </a:prstGeom>
          <a:solidFill>
            <a:srgbClr val="EAF1FE"/>
          </a:solidFill>
          <a:ln w="19050">
            <a:solidFill>
              <a:srgbClr val="2777EF"/>
            </a:solidFill>
            <a:prstDash val="dash"/>
          </a:ln>
        </p:spPr>
        <p:txBody>
          <a:bodyPr/>
          <a:lstStyle/>
          <a:p>
            <a:endParaRPr lang="en-US" sz="2000"/>
          </a:p>
        </p:txBody>
      </p:sp>
      <p:sp>
        <p:nvSpPr>
          <p:cNvPr id="26" name="Text 24"/>
          <p:cNvSpPr/>
          <p:nvPr/>
        </p:nvSpPr>
        <p:spPr>
          <a:xfrm>
            <a:off x="7589520" y="1909801"/>
            <a:ext cx="1691640" cy="292608"/>
          </a:xfrm>
          <a:prstGeom prst="rect">
            <a:avLst/>
          </a:prstGeom>
          <a:noFill/>
        </p:spPr>
        <p:txBody>
          <a:bodyPr wrap="square" lIns="0" tIns="0" rIns="0" bIns="0" rtlCol="0" anchor="ctr"/>
          <a:lstStyle/>
          <a:p>
            <a:pPr marL="0" indent="0" algn="ctr">
              <a:buNone/>
            </a:pPr>
            <a:r>
              <a:rPr lang="en-US" b="1" dirty="0">
                <a:solidFill>
                  <a:srgbClr val="2777EF"/>
                </a:solidFill>
                <a:latin typeface="Cambria" pitchFamily="34" charset="0"/>
                <a:ea typeface="Cambria" pitchFamily="34" charset="-122"/>
                <a:cs typeface="Cambria" pitchFamily="34" charset="-120"/>
              </a:rPr>
              <a:t>190x</a:t>
            </a:r>
            <a:endParaRPr lang="en-US" dirty="0"/>
          </a:p>
        </p:txBody>
      </p:sp>
      <p:sp>
        <p:nvSpPr>
          <p:cNvPr id="27" name="Shape 25"/>
          <p:cNvSpPr/>
          <p:nvPr/>
        </p:nvSpPr>
        <p:spPr>
          <a:xfrm>
            <a:off x="8961120" y="3200492"/>
            <a:ext cx="868680" cy="2240188"/>
          </a:xfrm>
          <a:prstGeom prst="rect">
            <a:avLst/>
          </a:prstGeom>
          <a:solidFill>
            <a:srgbClr val="FFFFFF"/>
          </a:solidFill>
          <a:ln w="15875">
            <a:solidFill>
              <a:srgbClr val="9AA3AF"/>
            </a:solidFill>
            <a:prstDash val="dash"/>
          </a:ln>
        </p:spPr>
        <p:txBody>
          <a:bodyPr/>
          <a:lstStyle/>
          <a:p>
            <a:endParaRPr lang="en-US" sz="2000"/>
          </a:p>
        </p:txBody>
      </p:sp>
      <p:sp>
        <p:nvSpPr>
          <p:cNvPr id="28" name="Text 26"/>
          <p:cNvSpPr/>
          <p:nvPr/>
        </p:nvSpPr>
        <p:spPr>
          <a:xfrm>
            <a:off x="8549640" y="2871308"/>
            <a:ext cx="1691640" cy="274320"/>
          </a:xfrm>
          <a:prstGeom prst="rect">
            <a:avLst/>
          </a:prstGeom>
          <a:noFill/>
        </p:spPr>
        <p:txBody>
          <a:bodyPr wrap="square" lIns="0" tIns="0" rIns="0" bIns="0" rtlCol="0" anchor="ctr"/>
          <a:lstStyle/>
          <a:p>
            <a:pPr marL="0" indent="0" algn="ctr">
              <a:buNone/>
            </a:pPr>
            <a:r>
              <a:rPr lang="en-US" sz="1200" b="1" dirty="0">
                <a:solidFill>
                  <a:srgbClr val="5A6478"/>
                </a:solidFill>
                <a:latin typeface="Calibri" pitchFamily="34" charset="0"/>
                <a:ea typeface="Calibri" pitchFamily="34" charset="-122"/>
                <a:cs typeface="Calibri" pitchFamily="34" charset="-120"/>
              </a:rPr>
              <a:t>40x</a:t>
            </a:r>
            <a:endParaRPr lang="en-US" sz="1200" dirty="0"/>
          </a:p>
        </p:txBody>
      </p:sp>
      <p:sp>
        <p:nvSpPr>
          <p:cNvPr id="29" name="Text 27"/>
          <p:cNvSpPr/>
          <p:nvPr/>
        </p:nvSpPr>
        <p:spPr>
          <a:xfrm>
            <a:off x="8092440" y="5532120"/>
            <a:ext cx="1645920" cy="256032"/>
          </a:xfrm>
          <a:prstGeom prst="rect">
            <a:avLst/>
          </a:prstGeom>
          <a:noFill/>
        </p:spPr>
        <p:txBody>
          <a:bodyPr wrap="square" lIns="0" tIns="0" rIns="0" bIns="0" rtlCol="0" anchor="ctr"/>
          <a:lstStyle/>
          <a:p>
            <a:pPr marL="0" indent="0" algn="ctr">
              <a:buNone/>
            </a:pPr>
            <a:r>
              <a:rPr lang="en-US" sz="1400" b="1" dirty="0">
                <a:solidFill>
                  <a:srgbClr val="5A6478"/>
                </a:solidFill>
                <a:latin typeface="Calibri" pitchFamily="34" charset="0"/>
                <a:ea typeface="Calibri" pitchFamily="34" charset="-122"/>
                <a:cs typeface="Calibri" pitchFamily="34" charset="-120"/>
              </a:rPr>
              <a:t>2029</a:t>
            </a:r>
            <a:endParaRPr lang="en-US" sz="1400" dirty="0"/>
          </a:p>
        </p:txBody>
      </p:sp>
      <p:sp>
        <p:nvSpPr>
          <p:cNvPr id="30" name="Shape 28"/>
          <p:cNvSpPr/>
          <p:nvPr/>
        </p:nvSpPr>
        <p:spPr>
          <a:xfrm>
            <a:off x="9966960" y="2011680"/>
            <a:ext cx="256032" cy="256032"/>
          </a:xfrm>
          <a:prstGeom prst="rect">
            <a:avLst/>
          </a:prstGeom>
          <a:solidFill>
            <a:srgbClr val="2777EF"/>
          </a:solidFill>
        </p:spPr>
        <p:txBody>
          <a:bodyPr/>
          <a:lstStyle/>
          <a:p>
            <a:endParaRPr lang="en-US" sz="2000"/>
          </a:p>
        </p:txBody>
      </p:sp>
      <p:sp>
        <p:nvSpPr>
          <p:cNvPr id="31" name="Text 29"/>
          <p:cNvSpPr/>
          <p:nvPr/>
        </p:nvSpPr>
        <p:spPr>
          <a:xfrm>
            <a:off x="10287000" y="2002536"/>
            <a:ext cx="1645920" cy="274320"/>
          </a:xfrm>
          <a:prstGeom prst="rect">
            <a:avLst/>
          </a:prstGeom>
          <a:noFill/>
        </p:spPr>
        <p:txBody>
          <a:bodyPr wrap="square" lIns="0" tIns="0" rIns="0" bIns="0" rtlCol="0" anchor="ctr"/>
          <a:lstStyle/>
          <a:p>
            <a:pPr marL="0" indent="0">
              <a:buNone/>
            </a:pPr>
            <a:r>
              <a:rPr lang="en-US" sz="1150" b="1" dirty="0">
                <a:solidFill>
                  <a:srgbClr val="1A2233"/>
                </a:solidFill>
                <a:latin typeface="Calibri" pitchFamily="34" charset="0"/>
                <a:ea typeface="Calibri" pitchFamily="34" charset="-122"/>
                <a:cs typeface="Calibri" pitchFamily="34" charset="-120"/>
              </a:rPr>
              <a:t>infra events — ×5–6 / yr</a:t>
            </a:r>
            <a:endParaRPr lang="en-US" sz="1150" dirty="0"/>
          </a:p>
        </p:txBody>
      </p:sp>
      <p:sp>
        <p:nvSpPr>
          <p:cNvPr id="32" name="Shape 30"/>
          <p:cNvSpPr/>
          <p:nvPr/>
        </p:nvSpPr>
        <p:spPr>
          <a:xfrm>
            <a:off x="9966960" y="2377440"/>
            <a:ext cx="256032" cy="256032"/>
          </a:xfrm>
          <a:prstGeom prst="rect">
            <a:avLst/>
          </a:prstGeom>
          <a:solidFill>
            <a:srgbClr val="D8DCE3"/>
          </a:solidFill>
        </p:spPr>
        <p:txBody>
          <a:bodyPr/>
          <a:lstStyle/>
          <a:p>
            <a:endParaRPr lang="en-US" sz="2000"/>
          </a:p>
        </p:txBody>
      </p:sp>
      <p:sp>
        <p:nvSpPr>
          <p:cNvPr id="33" name="Text 31"/>
          <p:cNvSpPr/>
          <p:nvPr/>
        </p:nvSpPr>
        <p:spPr>
          <a:xfrm>
            <a:off x="10287000" y="2368296"/>
            <a:ext cx="1645920" cy="274320"/>
          </a:xfrm>
          <a:prstGeom prst="rect">
            <a:avLst/>
          </a:prstGeom>
          <a:noFill/>
        </p:spPr>
        <p:txBody>
          <a:bodyPr wrap="square" lIns="0" tIns="0" rIns="0" bIns="0" rtlCol="0" anchor="ctr"/>
          <a:lstStyle/>
          <a:p>
            <a:pPr marL="0" indent="0">
              <a:buNone/>
            </a:pPr>
            <a:r>
              <a:rPr lang="en-US" sz="1150" dirty="0">
                <a:solidFill>
                  <a:srgbClr val="5A6478"/>
                </a:solidFill>
                <a:latin typeface="Calibri" pitchFamily="34" charset="0"/>
                <a:ea typeface="Calibri" pitchFamily="34" charset="-122"/>
                <a:cs typeface="Calibri" pitchFamily="34" charset="-120"/>
              </a:rPr>
              <a:t>tokens — ×3.4 / yr</a:t>
            </a:r>
            <a:endParaRPr lang="en-US" sz="1150" dirty="0"/>
          </a:p>
        </p:txBody>
      </p:sp>
      <p:sp>
        <p:nvSpPr>
          <p:cNvPr id="34" name="Text 32"/>
          <p:cNvSpPr/>
          <p:nvPr/>
        </p:nvSpPr>
        <p:spPr>
          <a:xfrm>
            <a:off x="9966960" y="2724912"/>
            <a:ext cx="2011680" cy="384048"/>
          </a:xfrm>
          <a:prstGeom prst="rect">
            <a:avLst/>
          </a:prstGeom>
          <a:noFill/>
        </p:spPr>
        <p:txBody>
          <a:bodyPr wrap="square" lIns="0" tIns="0" rIns="0" bIns="0" rtlCol="0" anchor="ctr"/>
          <a:lstStyle/>
          <a:p>
            <a:pPr marL="0" indent="0">
              <a:lnSpc>
                <a:spcPct val="100000"/>
              </a:lnSpc>
              <a:buNone/>
            </a:pPr>
            <a:r>
              <a:rPr lang="en-US" sz="1050" i="1" dirty="0">
                <a:solidFill>
                  <a:srgbClr val="8A97B0"/>
                </a:solidFill>
                <a:latin typeface="Calibri" pitchFamily="34" charset="0"/>
                <a:ea typeface="Calibri" pitchFamily="34" charset="-122"/>
                <a:cs typeface="Calibri" pitchFamily="34" charset="-120"/>
              </a:rPr>
              <a:t>solid = actual · dashed = modeled</a:t>
            </a:r>
            <a:endParaRPr lang="en-US" sz="1050" dirty="0"/>
          </a:p>
        </p:txBody>
      </p:sp>
      <p:sp>
        <p:nvSpPr>
          <p:cNvPr id="35" name="Text 33"/>
          <p:cNvSpPr/>
          <p:nvPr/>
        </p:nvSpPr>
        <p:spPr>
          <a:xfrm>
            <a:off x="2092428" y="1470474"/>
            <a:ext cx="457200" cy="411480"/>
          </a:xfrm>
          <a:prstGeom prst="rect">
            <a:avLst/>
          </a:prstGeom>
          <a:noFill/>
        </p:spPr>
        <p:txBody>
          <a:bodyPr wrap="square" lIns="0" tIns="0" rIns="0" bIns="0" rtlCol="0" anchor="ctr"/>
          <a:lstStyle/>
          <a:p>
            <a:pPr marL="0" indent="0" algn="l">
              <a:buNone/>
            </a:pPr>
            <a:r>
              <a:rPr lang="en-US" sz="2000" dirty="0">
                <a:solidFill>
                  <a:srgbClr val="000000"/>
                </a:solidFill>
              </a:rPr>
              <a:t>🌊</a:t>
            </a:r>
            <a:endParaRPr lang="en-US" sz="2000" dirty="0"/>
          </a:p>
        </p:txBody>
      </p:sp>
      <p:sp>
        <p:nvSpPr>
          <p:cNvPr id="36" name="Shape 34"/>
          <p:cNvSpPr/>
          <p:nvPr/>
        </p:nvSpPr>
        <p:spPr>
          <a:xfrm>
            <a:off x="2485622" y="1693279"/>
            <a:ext cx="2909337" cy="1188720"/>
          </a:xfrm>
          <a:prstGeom prst="roundRect">
            <a:avLst>
              <a:gd name="adj" fmla="val 6923"/>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sz="2400"/>
          </a:p>
        </p:txBody>
      </p:sp>
      <p:sp>
        <p:nvSpPr>
          <p:cNvPr id="37" name="Text 35"/>
          <p:cNvSpPr/>
          <p:nvPr/>
        </p:nvSpPr>
        <p:spPr>
          <a:xfrm>
            <a:off x="2624328" y="1693279"/>
            <a:ext cx="2660904" cy="1188720"/>
          </a:xfrm>
          <a:prstGeom prst="rect">
            <a:avLst/>
          </a:prstGeom>
          <a:noFill/>
        </p:spPr>
        <p:txBody>
          <a:bodyPr wrap="square" lIns="0" tIns="0" rIns="0" bIns="0" rtlCol="0" anchor="ctr"/>
          <a:lstStyle/>
          <a:p>
            <a:pPr marL="0" indent="0" algn="ctr">
              <a:lnSpc>
                <a:spcPct val="102000"/>
              </a:lnSpc>
              <a:buNone/>
            </a:pPr>
            <a:r>
              <a:rPr lang="en-US" sz="1600" b="1" dirty="0">
                <a:solidFill>
                  <a:srgbClr val="1A2233"/>
                </a:solidFill>
                <a:latin typeface="Calibri" pitchFamily="34" charset="0"/>
                <a:ea typeface="Calibri" pitchFamily="34" charset="-122"/>
                <a:cs typeface="Calibri" pitchFamily="34" charset="-120"/>
              </a:rPr>
              <a:t>Events outgrow tokens every single year </a:t>
            </a:r>
            <a:r>
              <a:rPr lang="en-US" sz="1600" dirty="0">
                <a:solidFill>
                  <a:srgbClr val="1A2233"/>
                </a:solidFill>
                <a:latin typeface="Calibri" pitchFamily="34" charset="0"/>
                <a:ea typeface="Calibri" pitchFamily="34" charset="-122"/>
                <a:cs typeface="Calibri" pitchFamily="34" charset="-120"/>
              </a:rPr>
              <a:t>— agentic share and attach both deepen</a:t>
            </a:r>
            <a:endParaRPr lang="en-US" sz="1600" dirty="0"/>
          </a:p>
        </p:txBody>
      </p:sp>
      <p:sp>
        <p:nvSpPr>
          <p:cNvPr id="40" name="Text 38"/>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41" name="Text 39"/>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Skycatcher conversion model. For the labs this is a token story; for the meters it is an event story — events compound faster.</a:t>
            </a:r>
            <a:endParaRPr lang="en-US" sz="750" dirty="0"/>
          </a:p>
        </p:txBody>
      </p:sp>
      <p:sp>
        <p:nvSpPr>
          <p:cNvPr id="42"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35</a:t>
            </a:fld>
            <a:endParaRPr lang="en-US"/>
          </a:p>
        </p:txBody>
      </p:sp>
    </p:spTree>
    <p:extLst>
      <p:ext uri="{BB962C8B-B14F-4D97-AF65-F5344CB8AC3E}">
        <p14:creationId xmlns:p14="http://schemas.microsoft.com/office/powerpoint/2010/main" val="2140433319"/>
      </p:ext>
    </p:extLst>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Five independent legs under one call</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PROOF STACK — REMOVE ANY ONE, THE CALL STILL STANDS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27632"/>
            <a:ext cx="10634472" cy="786384"/>
          </a:xfrm>
          <a:prstGeom prst="roundRect">
            <a:avLst>
              <a:gd name="adj" fmla="val 10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755648"/>
            <a:ext cx="548640" cy="502920"/>
          </a:xfrm>
          <a:prstGeom prst="rect">
            <a:avLst/>
          </a:prstGeom>
          <a:noFill/>
        </p:spPr>
        <p:txBody>
          <a:bodyPr wrap="square" lIns="0" rIns="0" tIns="0" bIns="0">
            <a:spAutoFit/>
          </a:bodyPr>
          <a:lstStyle/>
          <a:p>
            <a:pPr algn="l"/>
            <a:r>
              <a:rPr sz="2400" b="1" i="0">
                <a:solidFill>
                  <a:srgbClr val="A8C6F5"/>
                </a:solidFill>
                <a:latin typeface="Cambria"/>
              </a:rPr>
              <a:t>1</a:t>
            </a:r>
          </a:p>
        </p:txBody>
      </p:sp>
      <p:sp>
        <p:nvSpPr>
          <p:cNvPr id="7" name="TextBox 6"/>
          <p:cNvSpPr txBox="1"/>
          <p:nvPr/>
        </p:nvSpPr>
        <p:spPr>
          <a:xfrm>
            <a:off x="1783080" y="1746504"/>
            <a:ext cx="2011680" cy="256032"/>
          </a:xfrm>
          <a:prstGeom prst="rect">
            <a:avLst/>
          </a:prstGeom>
          <a:noFill/>
        </p:spPr>
        <p:txBody>
          <a:bodyPr wrap="square" lIns="0" rIns="0" tIns="0" bIns="0">
            <a:spAutoFit/>
          </a:bodyPr>
          <a:lstStyle/>
          <a:p>
            <a:pPr algn="l"/>
            <a:r>
              <a:rPr sz="1150" b="1" i="0">
                <a:solidFill>
                  <a:srgbClr val="2777EF"/>
                </a:solidFill>
                <a:latin typeface="Calibri"/>
              </a:rPr>
              <a:t>HISTORY</a:t>
            </a:r>
          </a:p>
        </p:txBody>
      </p:sp>
      <p:sp>
        <p:nvSpPr>
          <p:cNvPr id="8" name="TextBox 7"/>
          <p:cNvSpPr txBox="1"/>
          <p:nvPr/>
        </p:nvSpPr>
        <p:spPr>
          <a:xfrm>
            <a:off x="3931920" y="1746504"/>
            <a:ext cx="7498079" cy="566928"/>
          </a:xfrm>
          <a:prstGeom prst="rect">
            <a:avLst/>
          </a:prstGeom>
          <a:noFill/>
        </p:spPr>
        <p:txBody>
          <a:bodyPr wrap="square" lIns="0" rIns="0" tIns="0" bIns="0">
            <a:spAutoFit/>
          </a:bodyPr>
          <a:lstStyle/>
          <a:p>
            <a:pPr algn="l"/>
            <a:r>
              <a:rPr sz="1050" b="0" i="0">
                <a:solidFill>
                  <a:srgbClr val="1A2233"/>
                </a:solidFill>
                <a:latin typeface="Calibri"/>
              </a:rPr>
              <a:t>2,000x in four years, through two corrections and one AI panic — demand never blinked (p. 19).</a:t>
            </a:r>
          </a:p>
        </p:txBody>
      </p:sp>
      <p:sp>
        <p:nvSpPr>
          <p:cNvPr id="9" name="Rounded Rectangle 8"/>
          <p:cNvSpPr/>
          <p:nvPr/>
        </p:nvSpPr>
        <p:spPr>
          <a:xfrm>
            <a:off x="777240" y="2505456"/>
            <a:ext cx="10634472" cy="786384"/>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4128" y="2633472"/>
            <a:ext cx="548640" cy="502920"/>
          </a:xfrm>
          <a:prstGeom prst="rect">
            <a:avLst/>
          </a:prstGeom>
          <a:noFill/>
        </p:spPr>
        <p:txBody>
          <a:bodyPr wrap="square" lIns="0" rIns="0" tIns="0" bIns="0">
            <a:spAutoFit/>
          </a:bodyPr>
          <a:lstStyle/>
          <a:p>
            <a:pPr algn="l"/>
            <a:r>
              <a:rPr sz="2400" b="1" i="0">
                <a:solidFill>
                  <a:srgbClr val="A8C6F5"/>
                </a:solidFill>
                <a:latin typeface="Cambria"/>
              </a:rPr>
              <a:t>2</a:t>
            </a:r>
          </a:p>
        </p:txBody>
      </p:sp>
      <p:sp>
        <p:nvSpPr>
          <p:cNvPr id="11" name="TextBox 10"/>
          <p:cNvSpPr txBox="1"/>
          <p:nvPr/>
        </p:nvSpPr>
        <p:spPr>
          <a:xfrm>
            <a:off x="1783080" y="2624328"/>
            <a:ext cx="2011680" cy="256032"/>
          </a:xfrm>
          <a:prstGeom prst="rect">
            <a:avLst/>
          </a:prstGeom>
          <a:noFill/>
        </p:spPr>
        <p:txBody>
          <a:bodyPr wrap="square" lIns="0" rIns="0" tIns="0" bIns="0">
            <a:spAutoFit/>
          </a:bodyPr>
          <a:lstStyle/>
          <a:p>
            <a:pPr algn="l"/>
            <a:r>
              <a:rPr sz="1150" b="1" i="0">
                <a:solidFill>
                  <a:srgbClr val="2777EF"/>
                </a:solidFill>
                <a:latin typeface="Calibri"/>
              </a:rPr>
              <a:t>PRECEDENT</a:t>
            </a:r>
          </a:p>
        </p:txBody>
      </p:sp>
      <p:sp>
        <p:nvSpPr>
          <p:cNvPr id="12" name="TextBox 11"/>
          <p:cNvSpPr txBox="1"/>
          <p:nvPr/>
        </p:nvSpPr>
        <p:spPr>
          <a:xfrm>
            <a:off x="3931920" y="2624328"/>
            <a:ext cx="7498079" cy="566928"/>
          </a:xfrm>
          <a:prstGeom prst="rect">
            <a:avLst/>
          </a:prstGeom>
          <a:noFill/>
        </p:spPr>
        <p:txBody>
          <a:bodyPr wrap="square" lIns="0" rIns="0" tIns="0" bIns="0">
            <a:spAutoFit/>
          </a:bodyPr>
          <a:lstStyle/>
          <a:p>
            <a:pPr algn="l"/>
            <a:r>
              <a:rPr sz="1050" b="0" i="0">
                <a:solidFill>
                  <a:srgbClr val="1A2233"/>
                </a:solidFill>
                <a:latin typeface="Calibri"/>
              </a:rPr>
              <a:t>Bandwidth, storage, mobile data: every 30–50%/yr price collapse grew spend. Three decades, zero exceptions.</a:t>
            </a:r>
          </a:p>
        </p:txBody>
      </p:sp>
      <p:sp>
        <p:nvSpPr>
          <p:cNvPr id="13" name="Rounded Rectangle 12"/>
          <p:cNvSpPr/>
          <p:nvPr/>
        </p:nvSpPr>
        <p:spPr>
          <a:xfrm>
            <a:off x="777240" y="3383280"/>
            <a:ext cx="10634472" cy="786384"/>
          </a:xfrm>
          <a:prstGeom prst="roundRect">
            <a:avLst>
              <a:gd name="adj" fmla="val 10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24128" y="3511296"/>
            <a:ext cx="548640" cy="502920"/>
          </a:xfrm>
          <a:prstGeom prst="rect">
            <a:avLst/>
          </a:prstGeom>
          <a:noFill/>
        </p:spPr>
        <p:txBody>
          <a:bodyPr wrap="square" lIns="0" rIns="0" tIns="0" bIns="0">
            <a:spAutoFit/>
          </a:bodyPr>
          <a:lstStyle/>
          <a:p>
            <a:pPr algn="l"/>
            <a:r>
              <a:rPr sz="2400" b="1" i="0">
                <a:solidFill>
                  <a:srgbClr val="A8C6F5"/>
                </a:solidFill>
                <a:latin typeface="Cambria"/>
              </a:rPr>
              <a:t>3</a:t>
            </a:r>
          </a:p>
        </p:txBody>
      </p:sp>
      <p:sp>
        <p:nvSpPr>
          <p:cNvPr id="15" name="TextBox 14"/>
          <p:cNvSpPr txBox="1"/>
          <p:nvPr/>
        </p:nvSpPr>
        <p:spPr>
          <a:xfrm>
            <a:off x="1783080" y="3502152"/>
            <a:ext cx="2011680" cy="256032"/>
          </a:xfrm>
          <a:prstGeom prst="rect">
            <a:avLst/>
          </a:prstGeom>
          <a:noFill/>
        </p:spPr>
        <p:txBody>
          <a:bodyPr wrap="square" lIns="0" rIns="0" tIns="0" bIns="0">
            <a:spAutoFit/>
          </a:bodyPr>
          <a:lstStyle/>
          <a:p>
            <a:pPr algn="l"/>
            <a:r>
              <a:rPr sz="1150" b="1" i="0">
                <a:solidFill>
                  <a:srgbClr val="2777EF"/>
                </a:solidFill>
                <a:latin typeface="Calibri"/>
              </a:rPr>
              <a:t>THE PRINTS</a:t>
            </a:r>
          </a:p>
        </p:txBody>
      </p:sp>
      <p:sp>
        <p:nvSpPr>
          <p:cNvPr id="16" name="TextBox 15"/>
          <p:cNvSpPr txBox="1"/>
          <p:nvPr/>
        </p:nvSpPr>
        <p:spPr>
          <a:xfrm>
            <a:off x="3931920" y="3502152"/>
            <a:ext cx="7498079" cy="566928"/>
          </a:xfrm>
          <a:prstGeom prst="rect">
            <a:avLst/>
          </a:prstGeom>
          <a:noFill/>
        </p:spPr>
        <p:txBody>
          <a:bodyPr wrap="square" lIns="0" rIns="0" tIns="0" bIns="0">
            <a:spAutoFit/>
          </a:bodyPr>
          <a:lstStyle/>
          <a:p>
            <a:pPr algn="l"/>
            <a:r>
              <a:rPr sz="1050" b="0" i="0">
                <a:solidFill>
                  <a:srgbClr val="1A2233"/>
                </a:solidFill>
                <a:latin typeface="Calibri"/>
              </a:rPr>
              <a:t>Platforms publish the checkpoints — Google alone annualizes ~16Q; every dated print on or above our path.</a:t>
            </a:r>
          </a:p>
        </p:txBody>
      </p:sp>
      <p:sp>
        <p:nvSpPr>
          <p:cNvPr id="17" name="Rounded Rectangle 16"/>
          <p:cNvSpPr/>
          <p:nvPr/>
        </p:nvSpPr>
        <p:spPr>
          <a:xfrm>
            <a:off x="777240" y="4261104"/>
            <a:ext cx="10634472" cy="786384"/>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24128" y="4389120"/>
            <a:ext cx="548640" cy="502920"/>
          </a:xfrm>
          <a:prstGeom prst="rect">
            <a:avLst/>
          </a:prstGeom>
          <a:noFill/>
        </p:spPr>
        <p:txBody>
          <a:bodyPr wrap="square" lIns="0" rIns="0" tIns="0" bIns="0">
            <a:spAutoFit/>
          </a:bodyPr>
          <a:lstStyle/>
          <a:p>
            <a:pPr algn="l"/>
            <a:r>
              <a:rPr sz="2400" b="1" i="0">
                <a:solidFill>
                  <a:srgbClr val="A8C6F5"/>
                </a:solidFill>
                <a:latin typeface="Cambria"/>
              </a:rPr>
              <a:t>4</a:t>
            </a:r>
          </a:p>
        </p:txBody>
      </p:sp>
      <p:sp>
        <p:nvSpPr>
          <p:cNvPr id="19" name="TextBox 18"/>
          <p:cNvSpPr txBox="1"/>
          <p:nvPr/>
        </p:nvSpPr>
        <p:spPr>
          <a:xfrm>
            <a:off x="1783080" y="4379976"/>
            <a:ext cx="2011680" cy="256032"/>
          </a:xfrm>
          <a:prstGeom prst="rect">
            <a:avLst/>
          </a:prstGeom>
          <a:noFill/>
        </p:spPr>
        <p:txBody>
          <a:bodyPr wrap="square" lIns="0" rIns="0" tIns="0" bIns="0">
            <a:spAutoFit/>
          </a:bodyPr>
          <a:lstStyle/>
          <a:p>
            <a:pPr algn="l"/>
            <a:r>
              <a:rPr sz="1150" b="1" i="0">
                <a:solidFill>
                  <a:srgbClr val="2777EF"/>
                </a:solidFill>
                <a:latin typeface="Calibri"/>
              </a:rPr>
              <a:t>THE SUPPLIERS</a:t>
            </a:r>
          </a:p>
        </p:txBody>
      </p:sp>
      <p:sp>
        <p:nvSpPr>
          <p:cNvPr id="20" name="TextBox 19"/>
          <p:cNvSpPr txBox="1"/>
          <p:nvPr/>
        </p:nvSpPr>
        <p:spPr>
          <a:xfrm>
            <a:off x="3931920" y="4379976"/>
            <a:ext cx="7498079" cy="566928"/>
          </a:xfrm>
          <a:prstGeom prst="rect">
            <a:avLst/>
          </a:prstGeom>
          <a:noFill/>
        </p:spPr>
        <p:txBody>
          <a:bodyPr wrap="square" lIns="0" rIns="0" tIns="0" bIns="0">
            <a:spAutoFit/>
          </a:bodyPr>
          <a:lstStyle/>
          <a:p>
            <a:pPr algn="l"/>
            <a:r>
              <a:rPr sz="1050" b="0" i="0">
                <a:solidFill>
                  <a:srgbClr val="1A2233"/>
                </a:solidFill>
                <a:latin typeface="Calibri"/>
              </a:rPr>
              <a:t>Half a trillion a year of committed capex only clears its hurdle on our demand curve — supply underwrote the wave.</a:t>
            </a:r>
          </a:p>
        </p:txBody>
      </p:sp>
      <p:sp>
        <p:nvSpPr>
          <p:cNvPr id="21" name="Rounded Rectangle 20"/>
          <p:cNvSpPr/>
          <p:nvPr/>
        </p:nvSpPr>
        <p:spPr>
          <a:xfrm>
            <a:off x="777240" y="5138928"/>
            <a:ext cx="10634472" cy="786384"/>
          </a:xfrm>
          <a:prstGeom prst="roundRect">
            <a:avLst>
              <a:gd name="adj" fmla="val 10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28" y="5266944"/>
            <a:ext cx="548640" cy="502920"/>
          </a:xfrm>
          <a:prstGeom prst="rect">
            <a:avLst/>
          </a:prstGeom>
          <a:noFill/>
        </p:spPr>
        <p:txBody>
          <a:bodyPr wrap="square" lIns="0" rIns="0" tIns="0" bIns="0">
            <a:spAutoFit/>
          </a:bodyPr>
          <a:lstStyle/>
          <a:p>
            <a:pPr algn="l"/>
            <a:r>
              <a:rPr sz="2400" b="1" i="0">
                <a:solidFill>
                  <a:srgbClr val="A8C6F5"/>
                </a:solidFill>
                <a:latin typeface="Cambria"/>
              </a:rPr>
              <a:t>5</a:t>
            </a:r>
          </a:p>
        </p:txBody>
      </p:sp>
      <p:sp>
        <p:nvSpPr>
          <p:cNvPr id="23" name="TextBox 22"/>
          <p:cNvSpPr txBox="1"/>
          <p:nvPr/>
        </p:nvSpPr>
        <p:spPr>
          <a:xfrm>
            <a:off x="1783080" y="5257800"/>
            <a:ext cx="2011680" cy="256032"/>
          </a:xfrm>
          <a:prstGeom prst="rect">
            <a:avLst/>
          </a:prstGeom>
          <a:noFill/>
        </p:spPr>
        <p:txBody>
          <a:bodyPr wrap="square" lIns="0" rIns="0" tIns="0" bIns="0">
            <a:spAutoFit/>
          </a:bodyPr>
          <a:lstStyle/>
          <a:p>
            <a:pPr algn="l"/>
            <a:r>
              <a:rPr sz="1150" b="1" i="0">
                <a:solidFill>
                  <a:srgbClr val="2777EF"/>
                </a:solidFill>
                <a:latin typeface="Calibri"/>
              </a:rPr>
              <a:t>OUR OWN METER</a:t>
            </a:r>
          </a:p>
        </p:txBody>
      </p:sp>
      <p:sp>
        <p:nvSpPr>
          <p:cNvPr id="24" name="TextBox 23"/>
          <p:cNvSpPr txBox="1"/>
          <p:nvPr/>
        </p:nvSpPr>
        <p:spPr>
          <a:xfrm>
            <a:off x="3931920" y="5257800"/>
            <a:ext cx="7498079" cy="566928"/>
          </a:xfrm>
          <a:prstGeom prst="rect">
            <a:avLst/>
          </a:prstGeom>
          <a:noFill/>
        </p:spPr>
        <p:txBody>
          <a:bodyPr wrap="square" lIns="0" rIns="0" tIns="0" bIns="0">
            <a:spAutoFit/>
          </a:bodyPr>
          <a:lstStyle/>
          <a:p>
            <a:pPr algn="l"/>
            <a:r>
              <a:rPr sz="1050" b="0" i="0">
                <a:solidFill>
                  <a:srgbClr val="1A2233"/>
                </a:solidFill>
                <a:latin typeface="Calibri"/>
              </a:rPr>
              <a:t>Sky1 runs agents in production and counts tokens per task directly — 75M per delegated task, measured, not modeled.</a:t>
            </a:r>
          </a:p>
        </p:txBody>
      </p:sp>
      <p:sp>
        <p:nvSpPr>
          <p:cNvPr id="25" name="Rounded Rectangle 24"/>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40x is the central case, not the hope  </a:t>
            </a:r>
            <a:r>
              <a:rPr sz="1200">
                <a:solidFill>
                  <a:srgbClr val="1A2233"/>
                </a:solidFill>
                <a:latin typeface="Calibri"/>
              </a:rPr>
              <a:t>— five legs, independently checkable, each sufficient to carry the call.</a:t>
            </a:r>
          </a:p>
        </p:txBody>
      </p:sp>
      <p:sp>
        <p:nvSpPr>
          <p:cNvPr id="26" name="TextBox 25"/>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7" name="TextBox 26"/>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36</a:t>
            </a:r>
          </a:p>
        </p:txBody>
      </p:sp>
      <p:sp>
        <p:nvSpPr>
          <p:cNvPr id="28" name="TextBox 27"/>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Legs 1–4 per this section's exhibits; leg 5 per Sky1 production data. Sources as footnoted on each exhibit.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The tidal wave, in three numbers</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PART 02 RECAP — AND WHAT PART 03 MUST PROVE</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502920" y="1918953"/>
            <a:ext cx="3529584" cy="3017520"/>
          </a:xfrm>
          <a:prstGeom prst="roundRect">
            <a:avLst>
              <a:gd name="adj" fmla="val 3030"/>
            </a:avLst>
          </a:prstGeom>
          <a:solidFill>
            <a:srgbClr val="F5F8FC"/>
          </a:solidFill>
          <a:ln w="12700">
            <a:solidFill>
              <a:srgbClr val="D5DCE8"/>
            </a:solidFill>
            <a:prstDash val="solid"/>
          </a:ln>
        </p:spPr>
        <p:txBody>
          <a:bodyPr/>
          <a:lstStyle/>
          <a:p>
            <a:endParaRPr lang="en-US"/>
          </a:p>
        </p:txBody>
      </p:sp>
      <p:sp>
        <p:nvSpPr>
          <p:cNvPr id="6" name="Text 4"/>
          <p:cNvSpPr/>
          <p:nvPr/>
        </p:nvSpPr>
        <p:spPr>
          <a:xfrm>
            <a:off x="758952" y="2193273"/>
            <a:ext cx="3017520" cy="777240"/>
          </a:xfrm>
          <a:prstGeom prst="rect">
            <a:avLst/>
          </a:prstGeom>
          <a:noFill/>
        </p:spPr>
        <p:txBody>
          <a:bodyPr wrap="square" lIns="0" tIns="0" rIns="0" bIns="0" rtlCol="0" anchor="ctr"/>
          <a:lstStyle/>
          <a:p>
            <a:pPr marL="0" indent="0">
              <a:buNone/>
            </a:pPr>
            <a:r>
              <a:rPr lang="en-US" sz="4400" b="1" dirty="0">
                <a:solidFill>
                  <a:srgbClr val="1A2233"/>
                </a:solidFill>
                <a:latin typeface="Cambria" pitchFamily="34" charset="0"/>
                <a:ea typeface="Cambria" pitchFamily="34" charset="-122"/>
                <a:cs typeface="Cambria" pitchFamily="34" charset="-120"/>
              </a:rPr>
              <a:t>~40x</a:t>
            </a:r>
            <a:endParaRPr lang="en-US" sz="4400" dirty="0"/>
          </a:p>
        </p:txBody>
      </p:sp>
      <p:sp>
        <p:nvSpPr>
          <p:cNvPr id="7" name="Text 5"/>
          <p:cNvSpPr/>
          <p:nvPr/>
        </p:nvSpPr>
        <p:spPr>
          <a:xfrm>
            <a:off x="758952" y="3061953"/>
            <a:ext cx="3017520" cy="365760"/>
          </a:xfrm>
          <a:prstGeom prst="rect">
            <a:avLst/>
          </a:prstGeom>
          <a:noFill/>
        </p:spPr>
        <p:txBody>
          <a:bodyPr wrap="square" lIns="0" tIns="0" rIns="0" bIns="0" rtlCol="0" anchor="ctr"/>
          <a:lstStyle/>
          <a:p>
            <a:pPr marL="0" indent="0">
              <a:buNone/>
            </a:pPr>
            <a:r>
              <a:rPr lang="en-US" sz="1600" b="1" dirty="0">
                <a:solidFill>
                  <a:srgbClr val="1A2233"/>
                </a:solidFill>
                <a:latin typeface="Cambria" pitchFamily="34" charset="0"/>
                <a:ea typeface="Cambria" pitchFamily="34" charset="-122"/>
                <a:cs typeface="Cambria" pitchFamily="34" charset="-120"/>
              </a:rPr>
              <a:t>tokens by 2029</a:t>
            </a:r>
            <a:endParaRPr lang="en-US" sz="1600" dirty="0"/>
          </a:p>
        </p:txBody>
      </p:sp>
      <p:sp>
        <p:nvSpPr>
          <p:cNvPr id="8" name="Text 6"/>
          <p:cNvSpPr/>
          <p:nvPr/>
        </p:nvSpPr>
        <p:spPr>
          <a:xfrm>
            <a:off x="758952" y="3519153"/>
            <a:ext cx="3017520" cy="1097280"/>
          </a:xfrm>
          <a:prstGeom prst="rect">
            <a:avLst/>
          </a:prstGeom>
          <a:noFill/>
        </p:spPr>
        <p:txBody>
          <a:bodyPr wrap="square" lIns="0" tIns="0" rIns="0" bIns="0" rtlCol="0" anchor="ctr"/>
          <a:lstStyle/>
          <a:p>
            <a:pPr marL="0" indent="0">
              <a:lnSpc>
                <a:spcPct val="112000"/>
              </a:lnSpc>
              <a:buNone/>
            </a:pPr>
            <a:r>
              <a:rPr lang="en-US" sz="1300" dirty="0">
                <a:solidFill>
                  <a:srgbClr val="3A4358"/>
                </a:solidFill>
                <a:latin typeface="Calibri" pitchFamily="34" charset="0"/>
                <a:ea typeface="Calibri" pitchFamily="34" charset="-122"/>
                <a:cs typeface="Calibri" pitchFamily="34" charset="-120"/>
              </a:rPr>
              <a:t>×3.4 a year vs. a ×7/yr history — the call is still a slowdown</a:t>
            </a:r>
            <a:endParaRPr lang="en-US" sz="1300" dirty="0"/>
          </a:p>
        </p:txBody>
      </p:sp>
      <p:sp>
        <p:nvSpPr>
          <p:cNvPr id="9" name="Shape 7"/>
          <p:cNvSpPr/>
          <p:nvPr/>
        </p:nvSpPr>
        <p:spPr>
          <a:xfrm>
            <a:off x="4306824" y="1918953"/>
            <a:ext cx="3529584" cy="3017520"/>
          </a:xfrm>
          <a:prstGeom prst="roundRect">
            <a:avLst>
              <a:gd name="adj" fmla="val 3030"/>
            </a:avLst>
          </a:prstGeom>
          <a:solidFill>
            <a:srgbClr val="F5F8FC"/>
          </a:solidFill>
          <a:ln w="12700">
            <a:solidFill>
              <a:srgbClr val="D5DCE8"/>
            </a:solidFill>
            <a:prstDash val="solid"/>
          </a:ln>
        </p:spPr>
        <p:txBody>
          <a:bodyPr/>
          <a:lstStyle/>
          <a:p>
            <a:endParaRPr lang="en-US"/>
          </a:p>
        </p:txBody>
      </p:sp>
      <p:sp>
        <p:nvSpPr>
          <p:cNvPr id="10" name="Text 8"/>
          <p:cNvSpPr/>
          <p:nvPr/>
        </p:nvSpPr>
        <p:spPr>
          <a:xfrm>
            <a:off x="4562856" y="2193273"/>
            <a:ext cx="3017520" cy="777240"/>
          </a:xfrm>
          <a:prstGeom prst="rect">
            <a:avLst/>
          </a:prstGeom>
          <a:noFill/>
        </p:spPr>
        <p:txBody>
          <a:bodyPr wrap="square" lIns="0" tIns="0" rIns="0" bIns="0" rtlCol="0" anchor="ctr"/>
          <a:lstStyle/>
          <a:p>
            <a:pPr marL="0" indent="0">
              <a:buNone/>
            </a:pPr>
            <a:r>
              <a:rPr lang="en-US" sz="4400" b="1" dirty="0">
                <a:solidFill>
                  <a:srgbClr val="1A2233"/>
                </a:solidFill>
                <a:latin typeface="Cambria" pitchFamily="34" charset="0"/>
                <a:ea typeface="Cambria" pitchFamily="34" charset="-122"/>
                <a:cs typeface="Cambria" pitchFamily="34" charset="-120"/>
              </a:rPr>
              <a:t>~75%</a:t>
            </a:r>
            <a:endParaRPr lang="en-US" sz="4400" dirty="0"/>
          </a:p>
        </p:txBody>
      </p:sp>
      <p:sp>
        <p:nvSpPr>
          <p:cNvPr id="11" name="Text 9"/>
          <p:cNvSpPr/>
          <p:nvPr/>
        </p:nvSpPr>
        <p:spPr>
          <a:xfrm>
            <a:off x="4562856" y="3061953"/>
            <a:ext cx="3017520" cy="365760"/>
          </a:xfrm>
          <a:prstGeom prst="rect">
            <a:avLst/>
          </a:prstGeom>
          <a:noFill/>
        </p:spPr>
        <p:txBody>
          <a:bodyPr wrap="square" lIns="0" tIns="0" rIns="0" bIns="0" rtlCol="0" anchor="ctr"/>
          <a:lstStyle/>
          <a:p>
            <a:pPr marL="0" indent="0">
              <a:buNone/>
            </a:pPr>
            <a:r>
              <a:rPr lang="en-US" sz="1600" b="1" dirty="0">
                <a:solidFill>
                  <a:srgbClr val="1A2233"/>
                </a:solidFill>
                <a:latin typeface="Cambria" pitchFamily="34" charset="0"/>
                <a:ea typeface="Cambria" pitchFamily="34" charset="-122"/>
                <a:cs typeface="Cambria" pitchFamily="34" charset="-120"/>
              </a:rPr>
              <a:t>of tokens doing, not asking</a:t>
            </a:r>
            <a:endParaRPr lang="en-US" sz="1600" dirty="0"/>
          </a:p>
        </p:txBody>
      </p:sp>
      <p:sp>
        <p:nvSpPr>
          <p:cNvPr id="12" name="Text 10"/>
          <p:cNvSpPr/>
          <p:nvPr/>
        </p:nvSpPr>
        <p:spPr>
          <a:xfrm>
            <a:off x="4562856" y="3519153"/>
            <a:ext cx="3017520" cy="1097280"/>
          </a:xfrm>
          <a:prstGeom prst="rect">
            <a:avLst/>
          </a:prstGeom>
          <a:noFill/>
        </p:spPr>
        <p:txBody>
          <a:bodyPr wrap="square" lIns="0" tIns="0" rIns="0" bIns="0" rtlCol="0" anchor="ctr"/>
          <a:lstStyle/>
          <a:p>
            <a:pPr marL="0" indent="0">
              <a:lnSpc>
                <a:spcPct val="112000"/>
              </a:lnSpc>
              <a:buNone/>
            </a:pPr>
            <a:r>
              <a:rPr lang="en-US" sz="1300" dirty="0">
                <a:solidFill>
                  <a:srgbClr val="3A4358"/>
                </a:solidFill>
                <a:latin typeface="Calibri" pitchFamily="34" charset="0"/>
                <a:ea typeface="Calibri" pitchFamily="34" charset="-122"/>
                <a:cs typeface="Calibri" pitchFamily="34" charset="-120"/>
              </a:rPr>
              <a:t>the delegation ladder — above 60% already beats consensus</a:t>
            </a:r>
            <a:endParaRPr lang="en-US" sz="1300" dirty="0"/>
          </a:p>
        </p:txBody>
      </p:sp>
      <p:sp>
        <p:nvSpPr>
          <p:cNvPr id="13" name="Shape 11"/>
          <p:cNvSpPr/>
          <p:nvPr/>
        </p:nvSpPr>
        <p:spPr>
          <a:xfrm>
            <a:off x="8110728" y="1918953"/>
            <a:ext cx="3529584" cy="3017520"/>
          </a:xfrm>
          <a:prstGeom prst="roundRect">
            <a:avLst>
              <a:gd name="adj" fmla="val 3030"/>
            </a:avLst>
          </a:prstGeom>
          <a:solidFill>
            <a:srgbClr val="EAF1FE"/>
          </a:solidFill>
          <a:ln w="12700">
            <a:solidFill>
              <a:srgbClr val="A8C6F5"/>
            </a:solidFill>
            <a:prstDash val="solid"/>
          </a:ln>
        </p:spPr>
        <p:txBody>
          <a:bodyPr/>
          <a:lstStyle/>
          <a:p>
            <a:endParaRPr lang="en-US"/>
          </a:p>
        </p:txBody>
      </p:sp>
      <p:sp>
        <p:nvSpPr>
          <p:cNvPr id="14" name="Text 12"/>
          <p:cNvSpPr/>
          <p:nvPr/>
        </p:nvSpPr>
        <p:spPr>
          <a:xfrm>
            <a:off x="8366760" y="2193273"/>
            <a:ext cx="3017520" cy="777240"/>
          </a:xfrm>
          <a:prstGeom prst="rect">
            <a:avLst/>
          </a:prstGeom>
          <a:noFill/>
        </p:spPr>
        <p:txBody>
          <a:bodyPr wrap="square" lIns="0" tIns="0" rIns="0" bIns="0" rtlCol="0" anchor="ctr"/>
          <a:lstStyle/>
          <a:p>
            <a:pPr marL="0" indent="0">
              <a:buNone/>
            </a:pPr>
            <a:r>
              <a:rPr lang="en-US" sz="4400" b="1" dirty="0">
                <a:solidFill>
                  <a:srgbClr val="2777EF"/>
                </a:solidFill>
                <a:latin typeface="Cambria" pitchFamily="34" charset="0"/>
                <a:ea typeface="Cambria" pitchFamily="34" charset="-122"/>
                <a:cs typeface="Cambria" pitchFamily="34" charset="-120"/>
              </a:rPr>
              <a:t>~190x</a:t>
            </a:r>
            <a:endParaRPr lang="en-US" sz="4400" dirty="0"/>
          </a:p>
        </p:txBody>
      </p:sp>
      <p:sp>
        <p:nvSpPr>
          <p:cNvPr id="15" name="Text 13"/>
          <p:cNvSpPr/>
          <p:nvPr/>
        </p:nvSpPr>
        <p:spPr>
          <a:xfrm>
            <a:off x="8366760" y="3061953"/>
            <a:ext cx="3017520" cy="365760"/>
          </a:xfrm>
          <a:prstGeom prst="rect">
            <a:avLst/>
          </a:prstGeom>
          <a:noFill/>
        </p:spPr>
        <p:txBody>
          <a:bodyPr wrap="square" lIns="0" tIns="0" rIns="0" bIns="0" rtlCol="0" anchor="ctr"/>
          <a:lstStyle/>
          <a:p>
            <a:pPr marL="0" indent="0">
              <a:buNone/>
            </a:pPr>
            <a:r>
              <a:rPr lang="en-US" sz="1600" b="1" dirty="0">
                <a:solidFill>
                  <a:srgbClr val="1A2233"/>
                </a:solidFill>
                <a:latin typeface="Cambria" pitchFamily="34" charset="0"/>
                <a:ea typeface="Cambria" pitchFamily="34" charset="-122"/>
                <a:cs typeface="Cambria" pitchFamily="34" charset="-120"/>
              </a:rPr>
              <a:t>billable infrastructure events</a:t>
            </a:r>
            <a:endParaRPr lang="en-US" sz="1600" dirty="0"/>
          </a:p>
        </p:txBody>
      </p:sp>
      <p:sp>
        <p:nvSpPr>
          <p:cNvPr id="16" name="Text 14"/>
          <p:cNvSpPr/>
          <p:nvPr/>
        </p:nvSpPr>
        <p:spPr>
          <a:xfrm>
            <a:off x="8366760" y="3519153"/>
            <a:ext cx="3017520" cy="1097280"/>
          </a:xfrm>
          <a:prstGeom prst="rect">
            <a:avLst/>
          </a:prstGeom>
          <a:noFill/>
        </p:spPr>
        <p:txBody>
          <a:bodyPr wrap="square" lIns="0" tIns="0" rIns="0" bIns="0" rtlCol="0" anchor="ctr"/>
          <a:lstStyle/>
          <a:p>
            <a:pPr marL="0" indent="0">
              <a:lnSpc>
                <a:spcPct val="112000"/>
              </a:lnSpc>
              <a:buNone/>
            </a:pPr>
            <a:r>
              <a:rPr lang="en-US" sz="1300" dirty="0">
                <a:solidFill>
                  <a:srgbClr val="3A4358"/>
                </a:solidFill>
                <a:latin typeface="Calibri" pitchFamily="34" charset="0"/>
                <a:ea typeface="Calibri" pitchFamily="34" charset="-122"/>
                <a:cs typeface="Calibri" pitchFamily="34" charset="-120"/>
              </a:rPr>
              <a:t>the wave amplifies as it lands on the meters</a:t>
            </a:r>
            <a:endParaRPr lang="en-US" sz="1300" dirty="0"/>
          </a:p>
        </p:txBody>
      </p:sp>
      <p:sp>
        <p:nvSpPr>
          <p:cNvPr id="19" name="Text 17"/>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0" name="Text 18"/>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Every figure on this page is graded quarterly against public disclosures via Sky1.</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37</a:t>
            </a:fld>
            <a:endParaRPr lang="en-US"/>
          </a:p>
        </p:txBody>
      </p:sp>
      <p:sp>
        <p:nvSpPr>
          <p:cNvPr id="18" name="TextBox 17">
            <a:extLst>
              <a:ext uri="{FF2B5EF4-FFF2-40B4-BE49-F238E27FC236}">
                <a16:creationId xmlns:a16="http://schemas.microsoft.com/office/drawing/2014/main" id="{C6CD7936-31E9-2466-C8C6-CCC0576CE6EF}"/>
              </a:ext>
            </a:extLst>
          </p:cNvPr>
          <p:cNvSpPr txBox="1"/>
          <p:nvPr/>
        </p:nvSpPr>
        <p:spPr>
          <a:xfrm>
            <a:off x="4500888" y="5080584"/>
            <a:ext cx="583856" cy="646331"/>
          </a:xfrm>
          <a:prstGeom prst="rect">
            <a:avLst/>
          </a:prstGeom>
          <a:noFill/>
        </p:spPr>
        <p:txBody>
          <a:bodyPr wrap="square">
            <a:spAutoFit/>
          </a:bodyPr>
          <a:lstStyle/>
          <a:p>
            <a:r>
              <a:rPr lang="en-US" sz="3600" dirty="0">
                <a:solidFill/>
              </a:rPr>
              <a:t>🤖</a:t>
            </a:r>
          </a:p>
        </p:txBody>
      </p:sp>
      <p:sp>
        <p:nvSpPr>
          <p:cNvPr id="21" name="Shape 183">
            <a:extLst>
              <a:ext uri="{FF2B5EF4-FFF2-40B4-BE49-F238E27FC236}">
                <a16:creationId xmlns:a16="http://schemas.microsoft.com/office/drawing/2014/main" id="{2E62ABA9-C474-0B1F-2683-47F5F9E2004C}"/>
              </a:ext>
            </a:extLst>
          </p:cNvPr>
          <p:cNvSpPr/>
          <p:nvPr/>
        </p:nvSpPr>
        <p:spPr>
          <a:xfrm>
            <a:off x="4919225" y="5520401"/>
            <a:ext cx="2935224" cy="914400"/>
          </a:xfrm>
          <a:prstGeom prst="roundRect">
            <a:avLst>
              <a:gd name="adj" fmla="val 9000"/>
            </a:avLst>
          </a:prstGeom>
          <a:solidFill>
            <a:srgbClr val="FFFFFF"/>
          </a:solidFill>
          <a:ln w="12700">
            <a:solidFill>
              <a:srgbClr val="D5DCE8"/>
            </a:solidFill>
            <a:prstDash val="solid"/>
          </a:ln>
          <a:effectLst>
            <a:outerShdw blurRad="88900" dist="25400" dir="5400000" algn="bl" rotWithShape="0">
              <a:srgbClr val="8A93A0">
                <a:alpha val="35000"/>
              </a:srgbClr>
            </a:outerShdw>
          </a:effectLst>
        </p:spPr>
        <p:txBody>
          <a:bodyPr/>
          <a:lstStyle/>
          <a:p>
            <a:endParaRPr lang="en-US"/>
          </a:p>
        </p:txBody>
      </p:sp>
      <p:sp>
        <p:nvSpPr>
          <p:cNvPr id="22" name="Text 184">
            <a:extLst>
              <a:ext uri="{FF2B5EF4-FFF2-40B4-BE49-F238E27FC236}">
                <a16:creationId xmlns:a16="http://schemas.microsoft.com/office/drawing/2014/main" id="{6C6EE4DA-5032-5CB7-4387-5BA2A8CB6E7B}"/>
              </a:ext>
            </a:extLst>
          </p:cNvPr>
          <p:cNvSpPr/>
          <p:nvPr/>
        </p:nvSpPr>
        <p:spPr>
          <a:xfrm>
            <a:off x="5028953" y="5543158"/>
            <a:ext cx="2737763" cy="914400"/>
          </a:xfrm>
          <a:prstGeom prst="rect">
            <a:avLst/>
          </a:prstGeom>
          <a:noFill/>
        </p:spPr>
        <p:txBody>
          <a:bodyPr wrap="square" lIns="0" tIns="0" rIns="0" bIns="0" rtlCol="0" anchor="ctr"/>
          <a:lstStyle/>
          <a:p>
            <a:pPr marL="0" indent="0" algn="ctr">
              <a:lnSpc>
                <a:spcPct val="102000"/>
              </a:lnSpc>
              <a:buNone/>
            </a:pPr>
            <a:r>
              <a:rPr lang="en-US" b="1" dirty="0">
                <a:solidFill>
                  <a:srgbClr val="1A2233"/>
                </a:solidFill>
                <a:latin typeface="Calibri" pitchFamily="34" charset="0"/>
                <a:ea typeface="Calibri" pitchFamily="34" charset="-122"/>
                <a:cs typeface="Calibri" pitchFamily="34" charset="-120"/>
              </a:rPr>
              <a:t>The most important assumption in the machine-labor thesis</a:t>
            </a:r>
            <a:endParaRPr lang="en-US" b="1" dirty="0"/>
          </a:p>
        </p:txBody>
      </p:sp>
    </p:spTree>
    <p:extLst>
      <p:ext uri="{BB962C8B-B14F-4D97-AF65-F5344CB8AC3E}">
        <p14:creationId xmlns:p14="http://schemas.microsoft.com/office/powerpoint/2010/main" val="157183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874520"/>
            <a:ext cx="2377440" cy="1600200"/>
          </a:xfrm>
          <a:prstGeom prst="rect">
            <a:avLst/>
          </a:prstGeom>
          <a:noFill/>
        </p:spPr>
        <p:txBody>
          <a:bodyPr wrap="square" lIns="0" tIns="0" rIns="0" bIns="0" rtlCol="0" anchor="ctr"/>
          <a:lstStyle/>
          <a:p>
            <a:pPr marL="0" indent="0">
              <a:buNone/>
            </a:pPr>
            <a:r>
              <a:rPr lang="en-US" sz="9600" b="1" dirty="0">
                <a:solidFill>
                  <a:srgbClr val="2777EF"/>
                </a:solidFill>
                <a:latin typeface="Cambria" pitchFamily="34" charset="0"/>
                <a:ea typeface="Cambria" pitchFamily="34" charset="-122"/>
                <a:cs typeface="Cambria" pitchFamily="34" charset="-120"/>
              </a:rPr>
              <a:t>03</a:t>
            </a:r>
            <a:endParaRPr lang="en-US" sz="9600" dirty="0"/>
          </a:p>
        </p:txBody>
      </p:sp>
      <p:sp>
        <p:nvSpPr>
          <p:cNvPr id="3" name="Text 1"/>
          <p:cNvSpPr/>
          <p:nvPr/>
        </p:nvSpPr>
        <p:spPr>
          <a:xfrm>
            <a:off x="548640" y="3520440"/>
            <a:ext cx="7589520" cy="685800"/>
          </a:xfrm>
          <a:prstGeom prst="rect">
            <a:avLst/>
          </a:prstGeom>
          <a:noFill/>
        </p:spPr>
        <p:txBody>
          <a:bodyPr wrap="square" lIns="0" tIns="0" rIns="0" bIns="0" rtlCol="0" anchor="ctr"/>
          <a:lstStyle/>
          <a:p>
            <a:pPr marL="0" indent="0">
              <a:buNone/>
            </a:pPr>
            <a:r>
              <a:rPr lang="en-US" sz="3400" b="1" dirty="0">
                <a:solidFill>
                  <a:srgbClr val="1A2233"/>
                </a:solidFill>
                <a:latin typeface="Cambria" pitchFamily="34" charset="0"/>
                <a:ea typeface="Cambria" pitchFamily="34" charset="-122"/>
                <a:cs typeface="Cambria" pitchFamily="34" charset="-120"/>
              </a:rPr>
              <a:t>A Royalty on Machine Labor</a:t>
            </a:r>
            <a:endParaRPr lang="en-US" sz="3400" dirty="0"/>
          </a:p>
        </p:txBody>
      </p:sp>
      <p:sp>
        <p:nvSpPr>
          <p:cNvPr id="4" name="Text 2"/>
          <p:cNvSpPr/>
          <p:nvPr/>
        </p:nvSpPr>
        <p:spPr>
          <a:xfrm>
            <a:off x="548640" y="4224528"/>
            <a:ext cx="7315200" cy="502920"/>
          </a:xfrm>
          <a:prstGeom prst="rect">
            <a:avLst/>
          </a:prstGeom>
          <a:noFill/>
        </p:spPr>
        <p:txBody>
          <a:bodyPr wrap="square" lIns="0" tIns="0" rIns="0" bIns="0" rtlCol="0" anchor="ctr"/>
          <a:lstStyle/>
          <a:p>
            <a:pPr marL="0" indent="0">
              <a:buNone/>
            </a:pPr>
            <a:r>
              <a:rPr lang="en-US" sz="1500" dirty="0">
                <a:solidFill>
                  <a:srgbClr val="5A6478"/>
                </a:solidFill>
                <a:latin typeface="Calibri" pitchFamily="34" charset="0"/>
                <a:ea typeface="Calibri" pitchFamily="34" charset="-122"/>
                <a:cs typeface="Calibri" pitchFamily="34" charset="-120"/>
              </a:rPr>
              <a:t>the meters — the universe, the backend that collects the royalty, and the evidence in the filings</a:t>
            </a:r>
            <a:endParaRPr lang="en-US" sz="1500" dirty="0"/>
          </a:p>
        </p:txBody>
      </p:sp>
      <p:sp>
        <p:nvSpPr>
          <p:cNvPr id="5" name="Shape 3"/>
          <p:cNvSpPr/>
          <p:nvPr/>
        </p:nvSpPr>
        <p:spPr>
          <a:xfrm>
            <a:off x="8366760" y="1737360"/>
            <a:ext cx="0" cy="3383280"/>
          </a:xfrm>
          <a:prstGeom prst="line">
            <a:avLst/>
          </a:prstGeom>
          <a:noFill/>
          <a:ln w="12700">
            <a:solidFill>
              <a:srgbClr val="D5DCE8"/>
            </a:solidFill>
            <a:prstDash val="solid"/>
          </a:ln>
        </p:spPr>
        <p:txBody>
          <a:bodyPr/>
          <a:lstStyle/>
          <a:p>
            <a:endParaRPr lang="en-US"/>
          </a:p>
        </p:txBody>
      </p:sp>
      <p:sp>
        <p:nvSpPr>
          <p:cNvPr id="6" name="Shape 4"/>
          <p:cNvSpPr/>
          <p:nvPr/>
        </p:nvSpPr>
        <p:spPr>
          <a:xfrm>
            <a:off x="8686800" y="1897380"/>
            <a:ext cx="118872" cy="118872"/>
          </a:xfrm>
          <a:prstGeom prst="ellipse">
            <a:avLst/>
          </a:prstGeom>
          <a:solidFill>
            <a:srgbClr val="FFFFFF"/>
          </a:solidFill>
          <a:ln w="12700">
            <a:solidFill>
              <a:srgbClr val="8A97B0"/>
            </a:solidFill>
            <a:prstDash val="solid"/>
          </a:ln>
        </p:spPr>
        <p:txBody>
          <a:bodyPr/>
          <a:lstStyle/>
          <a:p>
            <a:endParaRPr lang="en-US"/>
          </a:p>
        </p:txBody>
      </p:sp>
      <p:sp>
        <p:nvSpPr>
          <p:cNvPr id="7" name="Text 5"/>
          <p:cNvSpPr/>
          <p:nvPr/>
        </p:nvSpPr>
        <p:spPr>
          <a:xfrm>
            <a:off x="8942832" y="1828800"/>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01  Infinite Software</a:t>
            </a:r>
            <a:endParaRPr lang="en-US" sz="1100" dirty="0"/>
          </a:p>
        </p:txBody>
      </p:sp>
      <p:sp>
        <p:nvSpPr>
          <p:cNvPr id="8" name="Shape 6"/>
          <p:cNvSpPr/>
          <p:nvPr/>
        </p:nvSpPr>
        <p:spPr>
          <a:xfrm>
            <a:off x="8686800" y="2555748"/>
            <a:ext cx="118872" cy="118872"/>
          </a:xfrm>
          <a:prstGeom prst="ellipse">
            <a:avLst/>
          </a:prstGeom>
          <a:solidFill>
            <a:srgbClr val="FFFFFF"/>
          </a:solidFill>
          <a:ln w="12700">
            <a:solidFill>
              <a:srgbClr val="8A97B0"/>
            </a:solidFill>
            <a:prstDash val="solid"/>
          </a:ln>
        </p:spPr>
        <p:txBody>
          <a:bodyPr/>
          <a:lstStyle/>
          <a:p>
            <a:endParaRPr lang="en-US"/>
          </a:p>
        </p:txBody>
      </p:sp>
      <p:sp>
        <p:nvSpPr>
          <p:cNvPr id="9" name="Text 7"/>
          <p:cNvSpPr/>
          <p:nvPr/>
        </p:nvSpPr>
        <p:spPr>
          <a:xfrm>
            <a:off x="8942832" y="2487168"/>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02  The Token Tidal Wave</a:t>
            </a:r>
            <a:endParaRPr lang="en-US" sz="1100" dirty="0"/>
          </a:p>
        </p:txBody>
      </p:sp>
      <p:sp>
        <p:nvSpPr>
          <p:cNvPr id="10" name="Shape 8"/>
          <p:cNvSpPr/>
          <p:nvPr/>
        </p:nvSpPr>
        <p:spPr>
          <a:xfrm>
            <a:off x="8686800" y="3214116"/>
            <a:ext cx="118872" cy="118872"/>
          </a:xfrm>
          <a:prstGeom prst="ellipse">
            <a:avLst/>
          </a:prstGeom>
          <a:solidFill>
            <a:srgbClr val="2777EF"/>
          </a:solidFill>
          <a:ln w="12700">
            <a:solidFill>
              <a:srgbClr val="2777EF"/>
            </a:solidFill>
            <a:prstDash val="solid"/>
          </a:ln>
        </p:spPr>
        <p:txBody>
          <a:bodyPr/>
          <a:lstStyle/>
          <a:p>
            <a:endParaRPr lang="en-US"/>
          </a:p>
        </p:txBody>
      </p:sp>
      <p:sp>
        <p:nvSpPr>
          <p:cNvPr id="11" name="Text 9"/>
          <p:cNvSpPr/>
          <p:nvPr/>
        </p:nvSpPr>
        <p:spPr>
          <a:xfrm>
            <a:off x="8942832" y="3145536"/>
            <a:ext cx="3108960" cy="292608"/>
          </a:xfrm>
          <a:prstGeom prst="rect">
            <a:avLst/>
          </a:prstGeom>
          <a:noFill/>
        </p:spPr>
        <p:txBody>
          <a:bodyPr wrap="square" lIns="0" tIns="0" rIns="0" bIns="0" rtlCol="0" anchor="ctr"/>
          <a:lstStyle/>
          <a:p>
            <a:pPr marL="0" indent="0">
              <a:buNone/>
            </a:pPr>
            <a:r>
              <a:rPr lang="en-US" sz="1250" b="1" dirty="0">
                <a:solidFill>
                  <a:srgbClr val="1A2233"/>
                </a:solidFill>
                <a:latin typeface="Calibri" pitchFamily="34" charset="0"/>
                <a:ea typeface="Calibri" pitchFamily="34" charset="-122"/>
                <a:cs typeface="Calibri" pitchFamily="34" charset="-120"/>
              </a:rPr>
              <a:t>03  A Royalty on Machine Labor</a:t>
            </a:r>
            <a:endParaRPr lang="en-US" sz="1250" dirty="0"/>
          </a:p>
        </p:txBody>
      </p:sp>
      <p:sp>
        <p:nvSpPr>
          <p:cNvPr id="12" name="Shape 10"/>
          <p:cNvSpPr/>
          <p:nvPr/>
        </p:nvSpPr>
        <p:spPr>
          <a:xfrm>
            <a:off x="8686800" y="3872484"/>
            <a:ext cx="118872" cy="118872"/>
          </a:xfrm>
          <a:prstGeom prst="ellipse">
            <a:avLst/>
          </a:prstGeom>
          <a:solidFill>
            <a:srgbClr val="FFFFFF"/>
          </a:solidFill>
          <a:ln w="12700">
            <a:solidFill>
              <a:srgbClr val="8A97B0"/>
            </a:solidFill>
            <a:prstDash val="solid"/>
          </a:ln>
        </p:spPr>
        <p:txBody>
          <a:bodyPr/>
          <a:lstStyle/>
          <a:p>
            <a:endParaRPr lang="en-US"/>
          </a:p>
        </p:txBody>
      </p:sp>
      <p:sp>
        <p:nvSpPr>
          <p:cNvPr id="13" name="Text 11"/>
          <p:cNvSpPr/>
          <p:nvPr/>
        </p:nvSpPr>
        <p:spPr>
          <a:xfrm>
            <a:off x="8942832" y="3803904"/>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04  Machine Oracle</a:t>
            </a:r>
            <a:endParaRPr lang="en-US" sz="1100" dirty="0"/>
          </a:p>
        </p:txBody>
      </p:sp>
      <p:sp>
        <p:nvSpPr>
          <p:cNvPr id="16" name="Text 14"/>
          <p:cNvSpPr/>
          <p:nvPr/>
        </p:nvSpPr>
        <p:spPr>
          <a:xfrm>
            <a:off x="502920" y="6309360"/>
            <a:ext cx="2743200" cy="274320"/>
          </a:xfrm>
          <a:prstGeom prst="rect">
            <a:avLst/>
          </a:prstGeom>
          <a:noFill/>
        </p:spPr>
        <p:txBody>
          <a:bodyPr wrap="square" lIns="0" tIns="0" rIns="0" bIns="0" rtlCol="0" anchor="ctr"/>
          <a:lstStyle/>
          <a:p>
            <a:pPr marL="0" indent="0">
              <a:buNone/>
            </a:pPr>
            <a:r>
              <a:rPr lang="en-US" sz="1000" b="1" kern="0" spc="30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38</a:t>
            </a:fld>
            <a:endParaRPr lang="en-US"/>
          </a:p>
        </p:txBody>
      </p:sp>
    </p:spTree>
    <p:extLst>
      <p:ext uri="{BB962C8B-B14F-4D97-AF65-F5344CB8AC3E}">
        <p14:creationId xmlns:p14="http://schemas.microsoft.com/office/powerpoint/2010/main" val="15579283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0698480" cy="415498"/>
          </a:xfrm>
          <a:prstGeom prst="rect">
            <a:avLst/>
          </a:prstGeom>
          <a:noFill/>
        </p:spPr>
        <p:txBody>
          <a:bodyPr wrap="square" lIns="0" tIns="0" rIns="0" bIns="0">
            <a:spAutoFit/>
          </a:bodyPr>
          <a:lstStyle/>
          <a:p>
            <a:pPr algn="l"/>
            <a:r>
              <a:rPr sz="2700" b="1" dirty="0">
                <a:solidFill>
                  <a:srgbClr val="1A2233"/>
                </a:solidFill>
                <a:latin typeface="Cambria"/>
              </a:rPr>
              <a:t>Machine billable units have arrived — seven vendors and counting</a:t>
            </a:r>
            <a:r>
              <a:rPr lang="en-US" sz="2700" b="1" dirty="0">
                <a:solidFill>
                  <a:srgbClr val="1A2233"/>
                </a:solidFill>
                <a:latin typeface="Cambria"/>
              </a:rPr>
              <a:t/>
            </a:r>
            <a:endParaRPr sz="2700" b="1" dirty="0">
              <a:solidFill>
                <a:srgbClr val="1A2233"/>
              </a:solidFill>
              <a:latin typeface="Cambria"/>
            </a:endParaRPr>
          </a:p>
        </p:txBody>
      </p:sp>
      <p:sp>
        <p:nvSpPr>
          <p:cNvPr id="3" name="TextBox 2"/>
          <p:cNvSpPr txBox="1"/>
          <p:nvPr/>
        </p:nvSpPr>
        <p:spPr>
          <a:xfrm>
            <a:off x="502920" y="1024128"/>
            <a:ext cx="11183112" cy="274320"/>
          </a:xfrm>
          <a:prstGeom prst="rect">
            <a:avLst/>
          </a:prstGeom>
          <a:noFill/>
        </p:spPr>
        <p:txBody>
          <a:bodyPr wrap="square" lIns="0" tIns="0" rIns="0" bIns="0">
            <a:spAutoFit/>
          </a:bodyPr>
          <a:lstStyle/>
          <a:p>
            <a:pPr algn="l"/>
            <a:r>
              <a:rPr sz="1150" b="1">
                <a:solidFill>
                  <a:srgbClr val="5A6478"/>
                </a:solidFill>
                <a:latin typeface="Calibri"/>
              </a:rPr>
              <a:t>THE INVOICE LINE FOR MACHINE LABOR — SEVEN VENDORS SHIPPED ONE, 2023 → 2026 · ALL DATED, ALL PUBLIC</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54479"/>
            <a:ext cx="10634472" cy="948014"/>
          </a:xfrm>
          <a:prstGeom prst="roundRect">
            <a:avLst>
              <a:gd name="adj" fmla="val 25000"/>
            </a:avLst>
          </a:prstGeom>
          <a:solidFill>
            <a:srgbClr val="EAF1FE"/>
          </a:solidFill>
          <a:effectLst/>
        </p:spPr>
        <p:style>
          <a:lnRef idx="1">
            <a:schemeClr val="accent1"/>
          </a:lnRef>
          <a:fillRef idx="3">
            <a:schemeClr val="accent1"/>
          </a:fillRef>
          <a:effectRef idx="2">
            <a:schemeClr val="accent1"/>
          </a:effectRef>
          <a:fontRef idx="minor">
            <a:schemeClr val="lt1"/>
          </a:fontRef>
        </p:style>
        <p:txBody>
          <a:bodyPr wrap="square" lIns="274320" rIns="274320" rtlCol="0" anchor="ctr"/>
          <a:lstStyle/>
          <a:p>
            <a:pPr algn="ctr"/>
            <a:r>
              <a:rPr sz="2400" b="1" dirty="0">
                <a:solidFill>
                  <a:srgbClr val="2777EF"/>
                </a:solidFill>
                <a:latin typeface="Calibri"/>
              </a:rPr>
              <a:t>🧾  MACHINE BILLABLE UNIT — </a:t>
            </a:r>
            <a:r>
              <a:rPr sz="2400" dirty="0">
                <a:solidFill>
                  <a:srgbClr val="1A2233"/>
                </a:solidFill>
                <a:latin typeface="Calibri"/>
              </a:rPr>
              <a:t>a price on work an AI agent </a:t>
            </a:r>
            <a:r>
              <a:rPr lang="en-US" sz="2400" dirty="0">
                <a:solidFill>
                  <a:srgbClr val="1A2233"/>
                </a:solidFill>
                <a:latin typeface="Calibri"/>
              </a:rPr>
              <a:t>performs such as</a:t>
            </a:r>
            <a:r>
              <a:rPr sz="2400" dirty="0">
                <a:solidFill>
                  <a:srgbClr val="1A2233"/>
                </a:solidFill>
                <a:latin typeface="Calibri"/>
              </a:rPr>
              <a:t> outcomes, actions, sessions, or metered compute.</a:t>
            </a:r>
            <a:r>
              <a:rPr lang="en-US" sz="2400" dirty="0">
                <a:solidFill>
                  <a:srgbClr val="1A2233"/>
                </a:solidFill>
              </a:rPr>
              <a:t> </a:t>
            </a:r>
            <a:r>
              <a:rPr lang="en-US" sz="2400" b="1" u="sng" dirty="0">
                <a:solidFill>
                  <a:srgbClr val="1A2233"/>
                </a:solidFill>
              </a:rPr>
              <a:t>Not on human seats.</a:t>
            </a:r>
            <a:endParaRPr sz="2400" b="1" u="sng" dirty="0">
              <a:solidFill>
                <a:srgbClr val="1A2233"/>
              </a:solidFill>
              <a:latin typeface="Calibri"/>
            </a:endParaRPr>
          </a:p>
        </p:txBody>
      </p:sp>
      <p:sp>
        <p:nvSpPr>
          <p:cNvPr id="6" name="Rounded Rectangle 5"/>
          <p:cNvSpPr/>
          <p:nvPr/>
        </p:nvSpPr>
        <p:spPr>
          <a:xfrm>
            <a:off x="777240" y="2630511"/>
            <a:ext cx="2615184" cy="1664208"/>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978408" y="2795103"/>
            <a:ext cx="1188720" cy="292608"/>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2023</a:t>
            </a:r>
          </a:p>
        </p:txBody>
      </p:sp>
      <p:sp>
        <p:nvSpPr>
          <p:cNvPr id="8" name="TextBox 7"/>
          <p:cNvSpPr txBox="1"/>
          <p:nvPr/>
        </p:nvSpPr>
        <p:spPr>
          <a:xfrm>
            <a:off x="978408" y="3160863"/>
            <a:ext cx="2240280" cy="276999"/>
          </a:xfrm>
          <a:prstGeom prst="rect">
            <a:avLst/>
          </a:prstGeom>
          <a:noFill/>
        </p:spPr>
        <p:txBody>
          <a:bodyPr wrap="square" lIns="0" tIns="0" rIns="0" bIns="0">
            <a:spAutoFit/>
          </a:bodyPr>
          <a:lstStyle/>
          <a:p>
            <a:pPr algn="l"/>
            <a:r>
              <a:rPr b="1">
                <a:solidFill>
                  <a:srgbClr val="1A2233"/>
                </a:solidFill>
                <a:latin typeface="Calibri"/>
              </a:rPr>
              <a:t>Intercom Fin</a:t>
            </a:r>
          </a:p>
        </p:txBody>
      </p:sp>
      <p:sp>
        <p:nvSpPr>
          <p:cNvPr id="9" name="TextBox 8"/>
          <p:cNvSpPr txBox="1"/>
          <p:nvPr/>
        </p:nvSpPr>
        <p:spPr>
          <a:xfrm>
            <a:off x="978408" y="3453471"/>
            <a:ext cx="2240280" cy="430887"/>
          </a:xfrm>
          <a:prstGeom prst="rect">
            <a:avLst/>
          </a:prstGeom>
          <a:noFill/>
        </p:spPr>
        <p:txBody>
          <a:bodyPr wrap="square" lIns="0" tIns="0" rIns="0" bIns="0">
            <a:spAutoFit/>
          </a:bodyPr>
          <a:lstStyle/>
          <a:p>
            <a:pPr algn="l"/>
            <a:r>
              <a:rPr sz="2800" b="1">
                <a:solidFill>
                  <a:srgbClr val="2777EF"/>
                </a:solidFill>
                <a:latin typeface="Cambria"/>
              </a:rPr>
              <a:t>$0.99</a:t>
            </a:r>
          </a:p>
        </p:txBody>
      </p:sp>
      <p:sp>
        <p:nvSpPr>
          <p:cNvPr id="10" name="TextBox 9"/>
          <p:cNvSpPr txBox="1"/>
          <p:nvPr/>
        </p:nvSpPr>
        <p:spPr>
          <a:xfrm>
            <a:off x="978408" y="3874095"/>
            <a:ext cx="2240280" cy="430887"/>
          </a:xfrm>
          <a:prstGeom prst="rect">
            <a:avLst/>
          </a:prstGeom>
          <a:noFill/>
        </p:spPr>
        <p:txBody>
          <a:bodyPr wrap="square" lIns="0" tIns="0" rIns="0" bIns="0">
            <a:spAutoFit/>
          </a:bodyPr>
          <a:lstStyle/>
          <a:p>
            <a:pPr algn="l"/>
            <a:r>
              <a:rPr sz="1400" b="0">
                <a:solidFill>
                  <a:srgbClr val="5A6478"/>
                </a:solidFill>
                <a:latin typeface="Calibri"/>
              </a:rPr>
              <a:t>per resolution — the first outcome price</a:t>
            </a:r>
          </a:p>
        </p:txBody>
      </p:sp>
      <p:sp>
        <p:nvSpPr>
          <p:cNvPr id="11" name="Rounded Rectangle 10"/>
          <p:cNvSpPr/>
          <p:nvPr/>
        </p:nvSpPr>
        <p:spPr>
          <a:xfrm>
            <a:off x="3502152" y="2630511"/>
            <a:ext cx="2615184" cy="1664208"/>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3703320" y="2795103"/>
            <a:ext cx="1188720" cy="292608"/>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2024</a:t>
            </a:r>
          </a:p>
        </p:txBody>
      </p:sp>
      <p:sp>
        <p:nvSpPr>
          <p:cNvPr id="13" name="TextBox 12"/>
          <p:cNvSpPr txBox="1"/>
          <p:nvPr/>
        </p:nvSpPr>
        <p:spPr>
          <a:xfrm>
            <a:off x="3703320" y="3160863"/>
            <a:ext cx="2240280" cy="276999"/>
          </a:xfrm>
          <a:prstGeom prst="rect">
            <a:avLst/>
          </a:prstGeom>
          <a:noFill/>
        </p:spPr>
        <p:txBody>
          <a:bodyPr wrap="square" lIns="0" tIns="0" rIns="0" bIns="0">
            <a:spAutoFit/>
          </a:bodyPr>
          <a:lstStyle/>
          <a:p>
            <a:pPr algn="l"/>
            <a:r>
              <a:rPr b="1">
                <a:solidFill>
                  <a:srgbClr val="1A2233"/>
                </a:solidFill>
                <a:latin typeface="Calibri"/>
              </a:rPr>
              <a:t>Cognition Devin</a:t>
            </a:r>
          </a:p>
        </p:txBody>
      </p:sp>
      <p:sp>
        <p:nvSpPr>
          <p:cNvPr id="14" name="TextBox 13"/>
          <p:cNvSpPr txBox="1"/>
          <p:nvPr/>
        </p:nvSpPr>
        <p:spPr>
          <a:xfrm>
            <a:off x="3703320" y="3453471"/>
            <a:ext cx="2240280" cy="430887"/>
          </a:xfrm>
          <a:prstGeom prst="rect">
            <a:avLst/>
          </a:prstGeom>
          <a:noFill/>
        </p:spPr>
        <p:txBody>
          <a:bodyPr wrap="square" lIns="0" tIns="0" rIns="0" bIns="0">
            <a:spAutoFit/>
          </a:bodyPr>
          <a:lstStyle/>
          <a:p>
            <a:pPr algn="l"/>
            <a:r>
              <a:rPr sz="2800" b="1">
                <a:solidFill>
                  <a:srgbClr val="2777EF"/>
                </a:solidFill>
                <a:latin typeface="Cambria"/>
              </a:rPr>
              <a:t>~$2</a:t>
            </a:r>
          </a:p>
        </p:txBody>
      </p:sp>
      <p:sp>
        <p:nvSpPr>
          <p:cNvPr id="15" name="TextBox 14"/>
          <p:cNvSpPr txBox="1"/>
          <p:nvPr/>
        </p:nvSpPr>
        <p:spPr>
          <a:xfrm>
            <a:off x="3703320" y="3874095"/>
            <a:ext cx="2240280" cy="430887"/>
          </a:xfrm>
          <a:prstGeom prst="rect">
            <a:avLst/>
          </a:prstGeom>
          <a:noFill/>
        </p:spPr>
        <p:txBody>
          <a:bodyPr wrap="square" lIns="0" tIns="0" rIns="0" bIns="0">
            <a:spAutoFit/>
          </a:bodyPr>
          <a:lstStyle/>
          <a:p>
            <a:pPr algn="l"/>
            <a:r>
              <a:rPr sz="1400" b="0">
                <a:solidFill>
                  <a:srgbClr val="5A6478"/>
                </a:solidFill>
                <a:latin typeface="Calibri"/>
              </a:rPr>
              <a:t>per ACU — 15 min of agent work</a:t>
            </a:r>
          </a:p>
        </p:txBody>
      </p:sp>
      <p:sp>
        <p:nvSpPr>
          <p:cNvPr id="16" name="Rounded Rectangle 15"/>
          <p:cNvSpPr/>
          <p:nvPr/>
        </p:nvSpPr>
        <p:spPr>
          <a:xfrm>
            <a:off x="6227064" y="2630511"/>
            <a:ext cx="2615184" cy="1664208"/>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428231" y="2795103"/>
            <a:ext cx="1188720" cy="292608"/>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AUG 2024</a:t>
            </a:r>
          </a:p>
        </p:txBody>
      </p:sp>
      <p:sp>
        <p:nvSpPr>
          <p:cNvPr id="18" name="TextBox 17"/>
          <p:cNvSpPr txBox="1"/>
          <p:nvPr/>
        </p:nvSpPr>
        <p:spPr>
          <a:xfrm>
            <a:off x="6428231" y="3160863"/>
            <a:ext cx="2240280" cy="276999"/>
          </a:xfrm>
          <a:prstGeom prst="rect">
            <a:avLst/>
          </a:prstGeom>
          <a:noFill/>
        </p:spPr>
        <p:txBody>
          <a:bodyPr wrap="square" lIns="0" tIns="0" rIns="0" bIns="0">
            <a:spAutoFit/>
          </a:bodyPr>
          <a:lstStyle/>
          <a:p>
            <a:pPr algn="l"/>
            <a:r>
              <a:rPr b="1">
                <a:solidFill>
                  <a:srgbClr val="1A2233"/>
                </a:solidFill>
                <a:latin typeface="Calibri"/>
              </a:rPr>
              <a:t>Zendesk</a:t>
            </a:r>
          </a:p>
        </p:txBody>
      </p:sp>
      <p:sp>
        <p:nvSpPr>
          <p:cNvPr id="19" name="TextBox 18"/>
          <p:cNvSpPr txBox="1"/>
          <p:nvPr/>
        </p:nvSpPr>
        <p:spPr>
          <a:xfrm>
            <a:off x="6428231" y="3453471"/>
            <a:ext cx="2240280" cy="430887"/>
          </a:xfrm>
          <a:prstGeom prst="rect">
            <a:avLst/>
          </a:prstGeom>
          <a:noFill/>
        </p:spPr>
        <p:txBody>
          <a:bodyPr wrap="square" lIns="0" tIns="0" rIns="0" bIns="0">
            <a:spAutoFit/>
          </a:bodyPr>
          <a:lstStyle/>
          <a:p>
            <a:pPr algn="l"/>
            <a:r>
              <a:rPr sz="2800" b="1">
                <a:solidFill>
                  <a:srgbClr val="2777EF"/>
                </a:solidFill>
                <a:latin typeface="Cambria"/>
              </a:rPr>
              <a:t>~$1.50</a:t>
            </a:r>
          </a:p>
        </p:txBody>
      </p:sp>
      <p:sp>
        <p:nvSpPr>
          <p:cNvPr id="20" name="TextBox 19"/>
          <p:cNvSpPr txBox="1"/>
          <p:nvPr/>
        </p:nvSpPr>
        <p:spPr>
          <a:xfrm>
            <a:off x="6428231" y="3874095"/>
            <a:ext cx="2240280" cy="215444"/>
          </a:xfrm>
          <a:prstGeom prst="rect">
            <a:avLst/>
          </a:prstGeom>
          <a:noFill/>
        </p:spPr>
        <p:txBody>
          <a:bodyPr wrap="square" lIns="0" tIns="0" rIns="0" bIns="0">
            <a:spAutoFit/>
          </a:bodyPr>
          <a:lstStyle/>
          <a:p>
            <a:pPr algn="l"/>
            <a:r>
              <a:rPr sz="1400" b="0">
                <a:solidFill>
                  <a:srgbClr val="5A6478"/>
                </a:solidFill>
                <a:latin typeface="Calibri"/>
              </a:rPr>
              <a:t>per automated resolution</a:t>
            </a:r>
          </a:p>
        </p:txBody>
      </p:sp>
      <p:sp>
        <p:nvSpPr>
          <p:cNvPr id="21" name="Rounded Rectangle 20"/>
          <p:cNvSpPr/>
          <p:nvPr/>
        </p:nvSpPr>
        <p:spPr>
          <a:xfrm>
            <a:off x="8951976" y="2630511"/>
            <a:ext cx="2615184" cy="1664208"/>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153144" y="2795103"/>
            <a:ext cx="1188720" cy="292608"/>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OCT 2024</a:t>
            </a:r>
          </a:p>
        </p:txBody>
      </p:sp>
      <p:sp>
        <p:nvSpPr>
          <p:cNvPr id="23" name="TextBox 22"/>
          <p:cNvSpPr txBox="1"/>
          <p:nvPr/>
        </p:nvSpPr>
        <p:spPr>
          <a:xfrm>
            <a:off x="9153144" y="3160863"/>
            <a:ext cx="2240280" cy="276999"/>
          </a:xfrm>
          <a:prstGeom prst="rect">
            <a:avLst/>
          </a:prstGeom>
          <a:noFill/>
        </p:spPr>
        <p:txBody>
          <a:bodyPr wrap="square" lIns="0" tIns="0" rIns="0" bIns="0">
            <a:spAutoFit/>
          </a:bodyPr>
          <a:lstStyle/>
          <a:p>
            <a:pPr algn="l"/>
            <a:r>
              <a:rPr b="1">
                <a:solidFill>
                  <a:srgbClr val="1A2233"/>
                </a:solidFill>
                <a:latin typeface="Calibri"/>
              </a:rPr>
              <a:t>Salesforce</a:t>
            </a:r>
          </a:p>
        </p:txBody>
      </p:sp>
      <p:sp>
        <p:nvSpPr>
          <p:cNvPr id="24" name="TextBox 23"/>
          <p:cNvSpPr txBox="1"/>
          <p:nvPr/>
        </p:nvSpPr>
        <p:spPr>
          <a:xfrm>
            <a:off x="9153144" y="3453471"/>
            <a:ext cx="2240280" cy="430887"/>
          </a:xfrm>
          <a:prstGeom prst="rect">
            <a:avLst/>
          </a:prstGeom>
          <a:noFill/>
        </p:spPr>
        <p:txBody>
          <a:bodyPr wrap="square" lIns="0" tIns="0" rIns="0" bIns="0">
            <a:spAutoFit/>
          </a:bodyPr>
          <a:lstStyle/>
          <a:p>
            <a:pPr algn="l"/>
            <a:r>
              <a:rPr sz="2800" b="1">
                <a:solidFill>
                  <a:srgbClr val="2777EF"/>
                </a:solidFill>
                <a:latin typeface="Cambria"/>
              </a:rPr>
              <a:t>$0.10</a:t>
            </a:r>
          </a:p>
        </p:txBody>
      </p:sp>
      <p:sp>
        <p:nvSpPr>
          <p:cNvPr id="25" name="TextBox 24"/>
          <p:cNvSpPr txBox="1"/>
          <p:nvPr/>
        </p:nvSpPr>
        <p:spPr>
          <a:xfrm>
            <a:off x="9153144" y="3874095"/>
            <a:ext cx="2240280" cy="430887"/>
          </a:xfrm>
          <a:prstGeom prst="rect">
            <a:avLst/>
          </a:prstGeom>
          <a:noFill/>
        </p:spPr>
        <p:txBody>
          <a:bodyPr wrap="square" lIns="0" tIns="0" rIns="0" bIns="0">
            <a:spAutoFit/>
          </a:bodyPr>
          <a:lstStyle/>
          <a:p>
            <a:pPr algn="l"/>
            <a:r>
              <a:rPr sz="1400" b="0">
                <a:solidFill>
                  <a:srgbClr val="5A6478"/>
                </a:solidFill>
                <a:latin typeface="Calibri"/>
              </a:rPr>
              <a:t>per action (from $2/conv) — 3.8B AWUs</a:t>
            </a:r>
          </a:p>
        </p:txBody>
      </p:sp>
      <p:sp>
        <p:nvSpPr>
          <p:cNvPr id="26" name="Rounded Rectangle 25"/>
          <p:cNvSpPr/>
          <p:nvPr/>
        </p:nvSpPr>
        <p:spPr>
          <a:xfrm>
            <a:off x="2139696" y="4422735"/>
            <a:ext cx="2615184" cy="1664208"/>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27" name="Rounded Rectangle 26"/>
          <p:cNvSpPr/>
          <p:nvPr/>
        </p:nvSpPr>
        <p:spPr>
          <a:xfrm>
            <a:off x="2340864" y="4587327"/>
            <a:ext cx="1188720" cy="292608"/>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JUL 2025</a:t>
            </a:r>
          </a:p>
        </p:txBody>
      </p:sp>
      <p:sp>
        <p:nvSpPr>
          <p:cNvPr id="28" name="TextBox 27"/>
          <p:cNvSpPr txBox="1"/>
          <p:nvPr/>
        </p:nvSpPr>
        <p:spPr>
          <a:xfrm>
            <a:off x="2340864" y="4953087"/>
            <a:ext cx="2240280" cy="276999"/>
          </a:xfrm>
          <a:prstGeom prst="rect">
            <a:avLst/>
          </a:prstGeom>
          <a:noFill/>
        </p:spPr>
        <p:txBody>
          <a:bodyPr wrap="square" lIns="0" tIns="0" rIns="0" bIns="0">
            <a:spAutoFit/>
          </a:bodyPr>
          <a:lstStyle/>
          <a:p>
            <a:pPr algn="l"/>
            <a:r>
              <a:rPr b="1">
                <a:solidFill>
                  <a:srgbClr val="1A2233"/>
                </a:solidFill>
                <a:latin typeface="Calibri"/>
              </a:rPr>
              <a:t>Cloudflare</a:t>
            </a:r>
          </a:p>
        </p:txBody>
      </p:sp>
      <p:sp>
        <p:nvSpPr>
          <p:cNvPr id="29" name="TextBox 28"/>
          <p:cNvSpPr txBox="1"/>
          <p:nvPr/>
        </p:nvSpPr>
        <p:spPr>
          <a:xfrm>
            <a:off x="2340864" y="5245695"/>
            <a:ext cx="2240280" cy="430887"/>
          </a:xfrm>
          <a:prstGeom prst="rect">
            <a:avLst/>
          </a:prstGeom>
          <a:noFill/>
        </p:spPr>
        <p:txBody>
          <a:bodyPr wrap="square" lIns="0" tIns="0" rIns="0" bIns="0">
            <a:spAutoFit/>
          </a:bodyPr>
          <a:lstStyle/>
          <a:p>
            <a:pPr algn="l"/>
            <a:r>
              <a:rPr sz="2800" b="1">
                <a:solidFill>
                  <a:srgbClr val="2777EF"/>
                </a:solidFill>
                <a:latin typeface="Cambria"/>
              </a:rPr>
              <a:t>$ / crawl</a:t>
            </a:r>
          </a:p>
        </p:txBody>
      </p:sp>
      <p:sp>
        <p:nvSpPr>
          <p:cNvPr id="30" name="TextBox 29"/>
          <p:cNvSpPr txBox="1"/>
          <p:nvPr/>
        </p:nvSpPr>
        <p:spPr>
          <a:xfrm>
            <a:off x="2340864" y="5666319"/>
            <a:ext cx="2240280" cy="430887"/>
          </a:xfrm>
          <a:prstGeom prst="rect">
            <a:avLst/>
          </a:prstGeom>
          <a:noFill/>
        </p:spPr>
        <p:txBody>
          <a:bodyPr wrap="square" lIns="0" tIns="0" rIns="0" bIns="0">
            <a:spAutoFit/>
          </a:bodyPr>
          <a:lstStyle/>
          <a:p>
            <a:pPr algn="l"/>
            <a:r>
              <a:rPr sz="1400" b="0">
                <a:solidFill>
                  <a:srgbClr val="5A6478"/>
                </a:solidFill>
                <a:latin typeface="Calibri"/>
              </a:rPr>
              <a:t>Pay Per Crawl — machine reading, priced</a:t>
            </a:r>
          </a:p>
        </p:txBody>
      </p:sp>
      <p:sp>
        <p:nvSpPr>
          <p:cNvPr id="31" name="Rounded Rectangle 30"/>
          <p:cNvSpPr/>
          <p:nvPr/>
        </p:nvSpPr>
        <p:spPr>
          <a:xfrm>
            <a:off x="4864608" y="4422735"/>
            <a:ext cx="2615184" cy="1664208"/>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2" name="Rounded Rectangle 31"/>
          <p:cNvSpPr/>
          <p:nvPr/>
        </p:nvSpPr>
        <p:spPr>
          <a:xfrm>
            <a:off x="5065776" y="4587327"/>
            <a:ext cx="1188720" cy="292608"/>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SEP 2025</a:t>
            </a:r>
          </a:p>
        </p:txBody>
      </p:sp>
      <p:sp>
        <p:nvSpPr>
          <p:cNvPr id="33" name="TextBox 32"/>
          <p:cNvSpPr txBox="1"/>
          <p:nvPr/>
        </p:nvSpPr>
        <p:spPr>
          <a:xfrm>
            <a:off x="5065776" y="4953087"/>
            <a:ext cx="2240280" cy="276999"/>
          </a:xfrm>
          <a:prstGeom prst="rect">
            <a:avLst/>
          </a:prstGeom>
          <a:noFill/>
        </p:spPr>
        <p:txBody>
          <a:bodyPr wrap="square" lIns="0" tIns="0" rIns="0" bIns="0">
            <a:spAutoFit/>
          </a:bodyPr>
          <a:lstStyle/>
          <a:p>
            <a:pPr algn="l"/>
            <a:r>
              <a:rPr b="1">
                <a:solidFill>
                  <a:srgbClr val="1A2233"/>
                </a:solidFill>
                <a:latin typeface="Calibri"/>
              </a:rPr>
              <a:t>Microsoft</a:t>
            </a:r>
          </a:p>
        </p:txBody>
      </p:sp>
      <p:sp>
        <p:nvSpPr>
          <p:cNvPr id="34" name="TextBox 33"/>
          <p:cNvSpPr txBox="1"/>
          <p:nvPr/>
        </p:nvSpPr>
        <p:spPr>
          <a:xfrm>
            <a:off x="5065776" y="5245695"/>
            <a:ext cx="2240280" cy="430887"/>
          </a:xfrm>
          <a:prstGeom prst="rect">
            <a:avLst/>
          </a:prstGeom>
          <a:noFill/>
        </p:spPr>
        <p:txBody>
          <a:bodyPr wrap="square" lIns="0" tIns="0" rIns="0" bIns="0">
            <a:spAutoFit/>
          </a:bodyPr>
          <a:lstStyle/>
          <a:p>
            <a:pPr algn="l"/>
            <a:r>
              <a:rPr sz="2800" b="1">
                <a:solidFill>
                  <a:srgbClr val="2777EF"/>
                </a:solidFill>
                <a:latin typeface="Cambria"/>
              </a:rPr>
              <a:t>$0.01</a:t>
            </a:r>
          </a:p>
        </p:txBody>
      </p:sp>
      <p:sp>
        <p:nvSpPr>
          <p:cNvPr id="35" name="TextBox 34"/>
          <p:cNvSpPr txBox="1"/>
          <p:nvPr/>
        </p:nvSpPr>
        <p:spPr>
          <a:xfrm>
            <a:off x="5065776" y="5666319"/>
            <a:ext cx="2240280" cy="430887"/>
          </a:xfrm>
          <a:prstGeom prst="rect">
            <a:avLst/>
          </a:prstGeom>
          <a:noFill/>
        </p:spPr>
        <p:txBody>
          <a:bodyPr wrap="square" lIns="0" tIns="0" rIns="0" bIns="0">
            <a:spAutoFit/>
          </a:bodyPr>
          <a:lstStyle/>
          <a:p>
            <a:pPr algn="l"/>
            <a:r>
              <a:rPr sz="1400" b="0">
                <a:solidFill>
                  <a:srgbClr val="5A6478"/>
                </a:solidFill>
                <a:latin typeface="Calibri"/>
              </a:rPr>
              <a:t>per Copilot Credit, Azure-metered</a:t>
            </a:r>
          </a:p>
        </p:txBody>
      </p:sp>
      <p:sp>
        <p:nvSpPr>
          <p:cNvPr id="36" name="Rounded Rectangle 35"/>
          <p:cNvSpPr/>
          <p:nvPr/>
        </p:nvSpPr>
        <p:spPr>
          <a:xfrm>
            <a:off x="7589520" y="4422735"/>
            <a:ext cx="2615184" cy="1664208"/>
          </a:xfrm>
          <a:prstGeom prst="roundRect">
            <a:avLst>
              <a:gd name="adj" fmla="val 7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37" name="Rounded Rectangle 36"/>
          <p:cNvSpPr/>
          <p:nvPr/>
        </p:nvSpPr>
        <p:spPr>
          <a:xfrm>
            <a:off x="7790688" y="4587327"/>
            <a:ext cx="1188720" cy="292608"/>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400" b="1">
                <a:solidFill>
                  <a:srgbClr val="FFFFFF"/>
                </a:solidFill>
                <a:latin typeface="Calibri"/>
              </a:rPr>
              <a:t>APR 2026</a:t>
            </a:r>
          </a:p>
        </p:txBody>
      </p:sp>
      <p:sp>
        <p:nvSpPr>
          <p:cNvPr id="38" name="TextBox 37"/>
          <p:cNvSpPr txBox="1"/>
          <p:nvPr/>
        </p:nvSpPr>
        <p:spPr>
          <a:xfrm>
            <a:off x="7790688" y="4953087"/>
            <a:ext cx="2240280" cy="276999"/>
          </a:xfrm>
          <a:prstGeom prst="rect">
            <a:avLst/>
          </a:prstGeom>
          <a:noFill/>
        </p:spPr>
        <p:txBody>
          <a:bodyPr wrap="square" lIns="0" tIns="0" rIns="0" bIns="0">
            <a:spAutoFit/>
          </a:bodyPr>
          <a:lstStyle/>
          <a:p>
            <a:pPr algn="l"/>
            <a:r>
              <a:rPr b="1">
                <a:solidFill>
                  <a:srgbClr val="1A2233"/>
                </a:solidFill>
                <a:latin typeface="Calibri"/>
              </a:rPr>
              <a:t>ServiceNow</a:t>
            </a:r>
          </a:p>
        </p:txBody>
      </p:sp>
      <p:sp>
        <p:nvSpPr>
          <p:cNvPr id="39" name="TextBox 38"/>
          <p:cNvSpPr txBox="1"/>
          <p:nvPr/>
        </p:nvSpPr>
        <p:spPr>
          <a:xfrm>
            <a:off x="7790688" y="5245695"/>
            <a:ext cx="2240280" cy="430887"/>
          </a:xfrm>
          <a:prstGeom prst="rect">
            <a:avLst/>
          </a:prstGeom>
          <a:noFill/>
        </p:spPr>
        <p:txBody>
          <a:bodyPr wrap="square" lIns="0" tIns="0" rIns="0" bIns="0">
            <a:spAutoFit/>
          </a:bodyPr>
          <a:lstStyle/>
          <a:p>
            <a:pPr algn="l"/>
            <a:r>
              <a:rPr sz="2800" b="1">
                <a:solidFill>
                  <a:srgbClr val="2777EF"/>
                </a:solidFill>
                <a:latin typeface="Cambria"/>
              </a:rPr>
              <a:t>25–150</a:t>
            </a:r>
          </a:p>
        </p:txBody>
      </p:sp>
      <p:sp>
        <p:nvSpPr>
          <p:cNvPr id="40" name="TextBox 39"/>
          <p:cNvSpPr txBox="1"/>
          <p:nvPr/>
        </p:nvSpPr>
        <p:spPr>
          <a:xfrm>
            <a:off x="7790688" y="5666319"/>
            <a:ext cx="2240280" cy="215444"/>
          </a:xfrm>
          <a:prstGeom prst="rect">
            <a:avLst/>
          </a:prstGeom>
          <a:noFill/>
        </p:spPr>
        <p:txBody>
          <a:bodyPr wrap="square" lIns="0" tIns="0" rIns="0" bIns="0">
            <a:spAutoFit/>
          </a:bodyPr>
          <a:lstStyle/>
          <a:p>
            <a:pPr algn="l"/>
            <a:r>
              <a:rPr sz="1400" b="0">
                <a:solidFill>
                  <a:srgbClr val="5A6478"/>
                </a:solidFill>
                <a:latin typeface="Calibri"/>
              </a:rPr>
              <a:t>assists per task / agentic action</a:t>
            </a:r>
          </a:p>
        </p:txBody>
      </p:sp>
      <p:sp>
        <p:nvSpPr>
          <p:cNvPr id="42" name="TextBox 41"/>
          <p:cNvSpPr txBox="1"/>
          <p:nvPr/>
        </p:nvSpPr>
        <p:spPr>
          <a:xfrm>
            <a:off x="502920" y="6528816"/>
            <a:ext cx="1828800" cy="219456"/>
          </a:xfrm>
          <a:prstGeom prst="rect">
            <a:avLst/>
          </a:prstGeom>
          <a:noFill/>
        </p:spPr>
        <p:txBody>
          <a:bodyPr wrap="square" lIns="0" tIns="0" rIns="0" bIns="0">
            <a:spAutoFit/>
          </a:bodyPr>
          <a:lstStyle/>
          <a:p>
            <a:pPr algn="l"/>
            <a:r>
              <a:rPr sz="1000" b="1">
                <a:solidFill>
                  <a:srgbClr val="29C2F1"/>
                </a:solidFill>
                <a:latin typeface="Calibri"/>
              </a:rPr>
              <a:t>SKYCATCHER</a:t>
            </a:r>
          </a:p>
        </p:txBody>
      </p:sp>
      <p:sp>
        <p:nvSpPr>
          <p:cNvPr id="43" name="TextBox 42"/>
          <p:cNvSpPr txBox="1"/>
          <p:nvPr/>
        </p:nvSpPr>
        <p:spPr>
          <a:xfrm>
            <a:off x="11430000" y="6510528"/>
            <a:ext cx="365760" cy="237744"/>
          </a:xfrm>
          <a:prstGeom prst="rect">
            <a:avLst/>
          </a:prstGeom>
          <a:noFill/>
        </p:spPr>
        <p:txBody>
          <a:bodyPr wrap="square" lIns="0" tIns="0" rIns="0" bIns="0">
            <a:spAutoFit/>
          </a:bodyPr>
          <a:lstStyle/>
          <a:p>
            <a:pPr algn="r"/>
            <a:r>
              <a:rPr sz="850" b="0">
                <a:solidFill>
                  <a:srgbClr val="8A97B0"/>
                </a:solidFill>
                <a:latin typeface="Calibri"/>
              </a:rPr>
              <a:t>39</a:t>
            </a:r>
          </a:p>
        </p:txBody>
      </p:sp>
      <p:sp>
        <p:nvSpPr>
          <p:cNvPr id="44" name="TextBox 43"/>
          <p:cNvSpPr txBox="1"/>
          <p:nvPr/>
        </p:nvSpPr>
        <p:spPr>
          <a:xfrm>
            <a:off x="2011680" y="6547104"/>
            <a:ext cx="8778240" cy="201168"/>
          </a:xfrm>
          <a:prstGeom prst="rect">
            <a:avLst/>
          </a:prstGeom>
          <a:noFill/>
        </p:spPr>
        <p:txBody>
          <a:bodyPr wrap="square" lIns="0" tIns="0" rIns="0" bIns="0">
            <a:spAutoFit/>
          </a:bodyPr>
          <a:lstStyle/>
          <a:p>
            <a:pPr algn="l"/>
            <a:r>
              <a:rPr sz="650" b="0">
                <a:solidFill>
                  <a:srgbClr val="8A97B0"/>
                </a:solidFill>
                <a:latin typeface="Calibri"/>
              </a:rPr>
              <a:t>Company pricing pages and announcements, 2023 – Apr 2026. Salesforce AWU is the disclosed volume metric; billing runs on conversations and per-action credits.</a:t>
            </a:r>
          </a:p>
        </p:txBody>
      </p:sp>
    </p:spTree>
    <p:extLst>
      <p:ext uri="{BB962C8B-B14F-4D97-AF65-F5344CB8AC3E}">
        <p14:creationId xmlns:p14="http://schemas.microsoft.com/office/powerpoint/2010/main" val="3836510536"/>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190x of events, many meters — conversion is the question</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EVENTS ARE CERTAIN; REVENUE CAPTURE IS NOT — WHAT OUR ELASTICITY RESEARCH SHOWS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27632"/>
            <a:ext cx="3063240" cy="932688"/>
          </a:xfrm>
          <a:prstGeom prst="roundRect">
            <a:avLst>
              <a:gd name="adj" fmla="val 10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73936"/>
            <a:ext cx="2651760" cy="256032"/>
          </a:xfrm>
          <a:prstGeom prst="rect">
            <a:avLst/>
          </a:prstGeom>
          <a:noFill/>
        </p:spPr>
        <p:txBody>
          <a:bodyPr wrap="square" lIns="0" rIns="0" tIns="0" bIns="0">
            <a:spAutoFit/>
          </a:bodyPr>
          <a:lstStyle/>
          <a:p>
            <a:pPr algn="l"/>
            <a:r>
              <a:rPr sz="1150" b="1" i="0">
                <a:solidFill>
                  <a:srgbClr val="2777EF"/>
                </a:solidFill>
                <a:latin typeface="Calibri"/>
              </a:rPr>
              <a:t>EVENTS</a:t>
            </a:r>
          </a:p>
        </p:txBody>
      </p:sp>
      <p:sp>
        <p:nvSpPr>
          <p:cNvPr id="7" name="TextBox 6"/>
          <p:cNvSpPr txBox="1"/>
          <p:nvPr/>
        </p:nvSpPr>
        <p:spPr>
          <a:xfrm>
            <a:off x="1005840" y="2066543"/>
            <a:ext cx="2651760" cy="365760"/>
          </a:xfrm>
          <a:prstGeom prst="rect">
            <a:avLst/>
          </a:prstGeom>
          <a:noFill/>
        </p:spPr>
        <p:txBody>
          <a:bodyPr wrap="square" lIns="0" rIns="0" tIns="0" bIns="0">
            <a:spAutoFit/>
          </a:bodyPr>
          <a:lstStyle/>
          <a:p>
            <a:pPr algn="l"/>
            <a:r>
              <a:rPr sz="1500" b="1" i="0">
                <a:solidFill>
                  <a:srgbClr val="1A2233"/>
                </a:solidFill>
                <a:latin typeface="Cambria"/>
              </a:rPr>
              <a:t>~190x by 2029</a:t>
            </a:r>
          </a:p>
        </p:txBody>
      </p:sp>
      <p:sp>
        <p:nvSpPr>
          <p:cNvPr id="8" name="TextBox 7"/>
          <p:cNvSpPr txBox="1"/>
          <p:nvPr/>
        </p:nvSpPr>
        <p:spPr>
          <a:xfrm>
            <a:off x="4005072" y="1874519"/>
            <a:ext cx="457200" cy="457200"/>
          </a:xfrm>
          <a:prstGeom prst="rect">
            <a:avLst/>
          </a:prstGeom>
          <a:noFill/>
        </p:spPr>
        <p:txBody>
          <a:bodyPr wrap="square" lIns="0" rIns="0" tIns="0" bIns="0">
            <a:spAutoFit/>
          </a:bodyPr>
          <a:lstStyle/>
          <a:p>
            <a:pPr algn="ctr"/>
            <a:r>
              <a:rPr sz="2600" b="1" i="0">
                <a:solidFill>
                  <a:srgbClr val="8A97B0"/>
                </a:solidFill>
                <a:latin typeface="Cambria"/>
              </a:rPr>
              <a:t>×</a:t>
            </a:r>
          </a:p>
        </p:txBody>
      </p:sp>
      <p:sp>
        <p:nvSpPr>
          <p:cNvPr id="9" name="Rounded Rectangle 8"/>
          <p:cNvSpPr/>
          <p:nvPr/>
        </p:nvSpPr>
        <p:spPr>
          <a:xfrm>
            <a:off x="4572000" y="1627632"/>
            <a:ext cx="3063240" cy="932688"/>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00600" y="1773936"/>
            <a:ext cx="2651760" cy="256032"/>
          </a:xfrm>
          <a:prstGeom prst="rect">
            <a:avLst/>
          </a:prstGeom>
          <a:noFill/>
        </p:spPr>
        <p:txBody>
          <a:bodyPr wrap="square" lIns="0" rIns="0" tIns="0" bIns="0">
            <a:spAutoFit/>
          </a:bodyPr>
          <a:lstStyle/>
          <a:p>
            <a:pPr algn="l"/>
            <a:r>
              <a:rPr sz="1150" b="1" i="0">
                <a:solidFill>
                  <a:srgbClr val="2777EF"/>
                </a:solidFill>
                <a:latin typeface="Calibri"/>
              </a:rPr>
              <a:t>PRICE</a:t>
            </a:r>
          </a:p>
        </p:txBody>
      </p:sp>
      <p:sp>
        <p:nvSpPr>
          <p:cNvPr id="11" name="TextBox 10"/>
          <p:cNvSpPr txBox="1"/>
          <p:nvPr/>
        </p:nvSpPr>
        <p:spPr>
          <a:xfrm>
            <a:off x="4800600" y="2066543"/>
            <a:ext cx="2651760" cy="365760"/>
          </a:xfrm>
          <a:prstGeom prst="rect">
            <a:avLst/>
          </a:prstGeom>
          <a:noFill/>
        </p:spPr>
        <p:txBody>
          <a:bodyPr wrap="square" lIns="0" rIns="0" tIns="0" bIns="0">
            <a:spAutoFit/>
          </a:bodyPr>
          <a:lstStyle/>
          <a:p>
            <a:pPr algn="l"/>
            <a:r>
              <a:rPr sz="1500" b="1" i="0">
                <a:solidFill>
                  <a:srgbClr val="1A2233"/>
                </a:solidFill>
                <a:latin typeface="Cambria"/>
              </a:rPr>
              <a:t>falling 30–40%/yr</a:t>
            </a:r>
          </a:p>
        </p:txBody>
      </p:sp>
      <p:sp>
        <p:nvSpPr>
          <p:cNvPr id="12" name="TextBox 11"/>
          <p:cNvSpPr txBox="1"/>
          <p:nvPr/>
        </p:nvSpPr>
        <p:spPr>
          <a:xfrm>
            <a:off x="7799831" y="1874519"/>
            <a:ext cx="457200" cy="457200"/>
          </a:xfrm>
          <a:prstGeom prst="rect">
            <a:avLst/>
          </a:prstGeom>
          <a:noFill/>
        </p:spPr>
        <p:txBody>
          <a:bodyPr wrap="square" lIns="0" rIns="0" tIns="0" bIns="0">
            <a:spAutoFit/>
          </a:bodyPr>
          <a:lstStyle/>
          <a:p>
            <a:pPr algn="ctr"/>
            <a:r>
              <a:rPr sz="2600" b="1" i="0">
                <a:solidFill>
                  <a:srgbClr val="8A97B0"/>
                </a:solidFill>
                <a:latin typeface="Cambria"/>
              </a:rPr>
              <a:t>×</a:t>
            </a:r>
          </a:p>
        </p:txBody>
      </p:sp>
      <p:sp>
        <p:nvSpPr>
          <p:cNvPr id="13" name="Rounded Rectangle 12"/>
          <p:cNvSpPr/>
          <p:nvPr/>
        </p:nvSpPr>
        <p:spPr>
          <a:xfrm>
            <a:off x="8366759" y="1627632"/>
            <a:ext cx="3063240" cy="932688"/>
          </a:xfrm>
          <a:prstGeom prst="roundRect">
            <a:avLst>
              <a:gd name="adj" fmla="val 10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59" y="1773936"/>
            <a:ext cx="2651760" cy="256032"/>
          </a:xfrm>
          <a:prstGeom prst="rect">
            <a:avLst/>
          </a:prstGeom>
          <a:noFill/>
        </p:spPr>
        <p:txBody>
          <a:bodyPr wrap="square" lIns="0" rIns="0" tIns="0" bIns="0">
            <a:spAutoFit/>
          </a:bodyPr>
          <a:lstStyle/>
          <a:p>
            <a:pPr algn="l"/>
            <a:r>
              <a:rPr sz="1150" b="1" i="0">
                <a:solidFill>
                  <a:srgbClr val="2777EF"/>
                </a:solidFill>
                <a:latin typeface="Calibri"/>
              </a:rPr>
              <a:t>CAPTURE</a:t>
            </a:r>
          </a:p>
        </p:txBody>
      </p:sp>
      <p:sp>
        <p:nvSpPr>
          <p:cNvPr id="15" name="TextBox 14"/>
          <p:cNvSpPr txBox="1"/>
          <p:nvPr/>
        </p:nvSpPr>
        <p:spPr>
          <a:xfrm>
            <a:off x="8595359" y="2066543"/>
            <a:ext cx="2651760" cy="365760"/>
          </a:xfrm>
          <a:prstGeom prst="rect">
            <a:avLst/>
          </a:prstGeom>
          <a:noFill/>
        </p:spPr>
        <p:txBody>
          <a:bodyPr wrap="square" lIns="0" rIns="0" tIns="0" bIns="0">
            <a:spAutoFit/>
          </a:bodyPr>
          <a:lstStyle/>
          <a:p>
            <a:pPr algn="l"/>
            <a:r>
              <a:rPr sz="1500" b="1" i="0">
                <a:solidFill>
                  <a:srgbClr val="1A2233"/>
                </a:solidFill>
                <a:latin typeface="Cambria"/>
              </a:rPr>
              <a:t>the fight — elasticity 0.5–0.7</a:t>
            </a:r>
          </a:p>
        </p:txBody>
      </p:sp>
      <p:sp>
        <p:nvSpPr>
          <p:cNvPr id="16" name="TextBox 15"/>
          <p:cNvSpPr txBox="1"/>
          <p:nvPr/>
        </p:nvSpPr>
        <p:spPr>
          <a:xfrm>
            <a:off x="777240" y="2724912"/>
            <a:ext cx="10607040" cy="274320"/>
          </a:xfrm>
          <a:prstGeom prst="rect">
            <a:avLst/>
          </a:prstGeom>
          <a:noFill/>
        </p:spPr>
        <p:txBody>
          <a:bodyPr wrap="square" lIns="0" rIns="0" tIns="0" bIns="0">
            <a:spAutoFit/>
          </a:bodyPr>
          <a:lstStyle/>
          <a:p>
            <a:pPr algn="l"/>
            <a:r>
              <a:rPr sz="1150" b="1" i="0">
                <a:solidFill>
                  <a:srgbClr val="5A6478"/>
                </a:solidFill>
                <a:latin typeface="Calibri"/>
              </a:rPr>
              <a:t>REVENUE = EVENTS × PRICE × CAPTURE — the wave guarantees the first term; this section is about the third.</a:t>
            </a:r>
          </a:p>
        </p:txBody>
      </p:sp>
      <p:sp>
        <p:nvSpPr>
          <p:cNvPr id="17" name="Rounded Rectangle 16"/>
          <p:cNvSpPr/>
          <p:nvPr/>
        </p:nvSpPr>
        <p:spPr>
          <a:xfrm>
            <a:off x="777240" y="3246120"/>
            <a:ext cx="5230368" cy="1261872"/>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33271" y="3392424"/>
            <a:ext cx="4754880" cy="256032"/>
          </a:xfrm>
          <a:prstGeom prst="rect">
            <a:avLst/>
          </a:prstGeom>
          <a:noFill/>
        </p:spPr>
        <p:txBody>
          <a:bodyPr wrap="square" lIns="0" rIns="0" tIns="0" bIns="0">
            <a:spAutoFit/>
          </a:bodyPr>
          <a:lstStyle/>
          <a:p>
            <a:pPr algn="l"/>
            <a:r>
              <a:rPr sz="1150" b="1" i="0">
                <a:solidFill>
                  <a:srgbClr val="2777EF"/>
                </a:solidFill>
                <a:latin typeface="Calibri"/>
              </a:rPr>
              <a:t>MEASURED TODAY: 0.2–0.3</a:t>
            </a:r>
          </a:p>
        </p:txBody>
      </p:sp>
      <p:sp>
        <p:nvSpPr>
          <p:cNvPr id="19" name="TextBox 18"/>
          <p:cNvSpPr txBox="1"/>
          <p:nvPr/>
        </p:nvSpPr>
        <p:spPr>
          <a:xfrm>
            <a:off x="1033271" y="3703320"/>
            <a:ext cx="4754880" cy="731520"/>
          </a:xfrm>
          <a:prstGeom prst="rect">
            <a:avLst/>
          </a:prstGeom>
          <a:noFill/>
        </p:spPr>
        <p:txBody>
          <a:bodyPr wrap="square" lIns="0" rIns="0" tIns="0" bIns="0">
            <a:spAutoFit/>
          </a:bodyPr>
          <a:lstStyle/>
          <a:p>
            <a:pPr algn="l"/>
            <a:r>
              <a:rPr sz="1150" b="0" i="0">
                <a:solidFill>
                  <a:srgbClr val="5A6478"/>
                </a:solidFill>
                <a:latin typeface="Calibri"/>
              </a:rPr>
              <a:t>Attach elasticity in the filings is a lag, not a leak — committed contracts burn first; the surge hits backlog 1–3 quarters before revenue (next slide).</a:t>
            </a:r>
          </a:p>
        </p:txBody>
      </p:sp>
      <p:sp>
        <p:nvSpPr>
          <p:cNvPr id="20" name="Rounded Rectangle 19"/>
          <p:cNvSpPr/>
          <p:nvPr/>
        </p:nvSpPr>
        <p:spPr>
          <a:xfrm>
            <a:off x="6181344" y="3246120"/>
            <a:ext cx="5230368" cy="1261872"/>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37376" y="3392424"/>
            <a:ext cx="4754880" cy="256032"/>
          </a:xfrm>
          <a:prstGeom prst="rect">
            <a:avLst/>
          </a:prstGeom>
          <a:noFill/>
        </p:spPr>
        <p:txBody>
          <a:bodyPr wrap="square" lIns="0" rIns="0" tIns="0" bIns="0">
            <a:spAutoFit/>
          </a:bodyPr>
          <a:lstStyle/>
          <a:p>
            <a:pPr algn="l"/>
            <a:r>
              <a:rPr sz="1150" b="1" i="0">
                <a:solidFill>
                  <a:srgbClr val="2777EF"/>
                </a:solidFill>
                <a:latin typeface="Calibri"/>
              </a:rPr>
              <a:t>&gt;75% PAY AT ENFORCED LIMITS</a:t>
            </a:r>
          </a:p>
        </p:txBody>
      </p:sp>
      <p:sp>
        <p:nvSpPr>
          <p:cNvPr id="22" name="TextBox 21"/>
          <p:cNvSpPr txBox="1"/>
          <p:nvPr/>
        </p:nvSpPr>
        <p:spPr>
          <a:xfrm>
            <a:off x="6437376" y="3703320"/>
            <a:ext cx="4754880" cy="731520"/>
          </a:xfrm>
          <a:prstGeom prst="rect">
            <a:avLst/>
          </a:prstGeom>
          <a:noFill/>
        </p:spPr>
        <p:txBody>
          <a:bodyPr wrap="square" lIns="0" rIns="0" tIns="0" bIns="0">
            <a:spAutoFit/>
          </a:bodyPr>
          <a:lstStyle/>
          <a:p>
            <a:pPr algn="l"/>
            <a:r>
              <a:rPr sz="1150" b="0" i="0">
                <a:solidFill>
                  <a:srgbClr val="5A6478"/>
                </a:solidFill>
                <a:latin typeface="Calibri"/>
              </a:rPr>
              <a:t>Where usage caps bind, buyers keep paying at list price, quarter after quarter — the work is valued at the meter price.</a:t>
            </a:r>
          </a:p>
        </p:txBody>
      </p:sp>
      <p:sp>
        <p:nvSpPr>
          <p:cNvPr id="23" name="Rounded Rectangle 22"/>
          <p:cNvSpPr/>
          <p:nvPr/>
        </p:nvSpPr>
        <p:spPr>
          <a:xfrm>
            <a:off x="777240" y="4617720"/>
            <a:ext cx="5230368" cy="1261872"/>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33271" y="4764024"/>
            <a:ext cx="4754880" cy="256032"/>
          </a:xfrm>
          <a:prstGeom prst="rect">
            <a:avLst/>
          </a:prstGeom>
          <a:noFill/>
        </p:spPr>
        <p:txBody>
          <a:bodyPr wrap="square" lIns="0" rIns="0" tIns="0" bIns="0">
            <a:spAutoFit/>
          </a:bodyPr>
          <a:lstStyle/>
          <a:p>
            <a:pPr algn="l"/>
            <a:r>
              <a:rPr sz="1150" b="1" i="0">
                <a:solidFill>
                  <a:srgbClr val="2777EF"/>
                </a:solidFill>
                <a:latin typeface="Calibri"/>
              </a:rPr>
              <a:t>MIX CARRIES THE MODEL</a:t>
            </a:r>
          </a:p>
        </p:txBody>
      </p:sp>
      <p:sp>
        <p:nvSpPr>
          <p:cNvPr id="25" name="TextBox 24"/>
          <p:cNvSpPr txBox="1"/>
          <p:nvPr/>
        </p:nvSpPr>
        <p:spPr>
          <a:xfrm>
            <a:off x="1033271" y="5074920"/>
            <a:ext cx="4754880" cy="731520"/>
          </a:xfrm>
          <a:prstGeom prst="rect">
            <a:avLst/>
          </a:prstGeom>
          <a:noFill/>
        </p:spPr>
        <p:txBody>
          <a:bodyPr wrap="square" lIns="0" rIns="0" tIns="0" bIns="0">
            <a:spAutoFit/>
          </a:bodyPr>
          <a:lstStyle/>
          <a:p>
            <a:pPr algn="l"/>
            <a:r>
              <a:rPr sz="1150" b="0" i="0">
                <a:solidFill>
                  <a:srgbClr val="5A6478"/>
                </a:solidFill>
                <a:latin typeface="Calibri"/>
              </a:rPr>
              <a:t>Premium event classes — security, governed queries, CI — gain share as agents graduate to production. $/event falls; $/task holds.</a:t>
            </a:r>
          </a:p>
        </p:txBody>
      </p:sp>
      <p:sp>
        <p:nvSpPr>
          <p:cNvPr id="26" name="Rounded Rectangle 25"/>
          <p:cNvSpPr/>
          <p:nvPr/>
        </p:nvSpPr>
        <p:spPr>
          <a:xfrm>
            <a:off x="6181344" y="4617720"/>
            <a:ext cx="5230368" cy="1261872"/>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4764024"/>
            <a:ext cx="4754880" cy="256032"/>
          </a:xfrm>
          <a:prstGeom prst="rect">
            <a:avLst/>
          </a:prstGeom>
          <a:noFill/>
        </p:spPr>
        <p:txBody>
          <a:bodyPr wrap="square" lIns="0" rIns="0" tIns="0" bIns="0">
            <a:spAutoFit/>
          </a:bodyPr>
          <a:lstStyle/>
          <a:p>
            <a:pPr algn="l"/>
            <a:r>
              <a:rPr sz="1150" b="1" i="0">
                <a:solidFill>
                  <a:srgbClr val="2777EF"/>
                </a:solidFill>
                <a:latin typeface="Calibri"/>
              </a:rPr>
              <a:t>WE COUNT IT LIVE</a:t>
            </a:r>
          </a:p>
        </p:txBody>
      </p:sp>
      <p:sp>
        <p:nvSpPr>
          <p:cNvPr id="28" name="TextBox 27"/>
          <p:cNvSpPr txBox="1"/>
          <p:nvPr/>
        </p:nvSpPr>
        <p:spPr>
          <a:xfrm>
            <a:off x="6437376" y="5074920"/>
            <a:ext cx="4754880" cy="731520"/>
          </a:xfrm>
          <a:prstGeom prst="rect">
            <a:avLst/>
          </a:prstGeom>
          <a:noFill/>
        </p:spPr>
        <p:txBody>
          <a:bodyPr wrap="square" lIns="0" rIns="0" tIns="0" bIns="0">
            <a:spAutoFit/>
          </a:bodyPr>
          <a:lstStyle/>
          <a:p>
            <a:pPr algn="l"/>
            <a:r>
              <a:rPr sz="1150" b="0" i="0">
                <a:solidFill>
                  <a:srgbClr val="5A6478"/>
                </a:solidFill>
                <a:latin typeface="Calibri"/>
              </a:rPr>
              <a:t>Our venture window instruments billable events per million tokens in a production game — capture measured, not modeled.</a:t>
            </a:r>
          </a:p>
        </p:txBody>
      </p:sp>
      <p:sp>
        <p:nvSpPr>
          <p:cNvPr id="29" name="Rounded Rectangle 28"/>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Underwriting a royalty on machine labor is underwriting capture  </a:t>
            </a:r>
            <a:r>
              <a:rPr sz="1200">
                <a:solidFill>
                  <a:srgbClr val="1A2233"/>
                </a:solidFill>
                <a:latin typeface="Calibri"/>
              </a:rPr>
              <a:t>— that is what this section prices, meter by meter.</a:t>
            </a:r>
          </a:p>
        </p:txBody>
      </p:sp>
      <p:sp>
        <p:nvSpPr>
          <p:cNvPr id="30" name="TextBox 2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1" name="TextBox 3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five-layer stack of machine labor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HARDWARE COMPUTES → MODELS REASON → INFRASTRUCTURE REMEMBERS → RUNTIMES COORDINATE → APPLICATIONS DELIVER</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54480"/>
            <a:ext cx="10634472" cy="80467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457200" cy="457200"/>
          </a:xfrm>
          <a:prstGeom prst="rect">
            <a:avLst/>
          </a:prstGeom>
          <a:noFill/>
        </p:spPr>
        <p:txBody>
          <a:bodyPr wrap="square" lIns="0" rIns="0" tIns="0" bIns="0">
            <a:spAutoFit/>
          </a:bodyPr>
          <a:lstStyle/>
          <a:p>
            <a:pPr algn="l"/>
            <a:r>
              <a:rPr sz="2600" b="1" i="0">
                <a:solidFill>
                  <a:srgbClr val="A8C6F5"/>
                </a:solidFill>
                <a:latin typeface="Cambria"/>
              </a:rPr>
              <a:t>4</a:t>
            </a:r>
          </a:p>
        </p:txBody>
      </p:sp>
      <p:sp>
        <p:nvSpPr>
          <p:cNvPr id="7" name="TextBox 6"/>
          <p:cNvSpPr txBox="1"/>
          <p:nvPr/>
        </p:nvSpPr>
        <p:spPr>
          <a:xfrm>
            <a:off x="1572768" y="1673352"/>
            <a:ext cx="1691640" cy="256032"/>
          </a:xfrm>
          <a:prstGeom prst="rect">
            <a:avLst/>
          </a:prstGeom>
          <a:noFill/>
        </p:spPr>
        <p:txBody>
          <a:bodyPr wrap="square" lIns="0" rIns="0" tIns="0" bIns="0">
            <a:spAutoFit/>
          </a:bodyPr>
          <a:lstStyle/>
          <a:p>
            <a:pPr algn="l"/>
            <a:r>
              <a:rPr sz="1250" b="1" i="0">
                <a:solidFill>
                  <a:srgbClr val="8A97B0"/>
                </a:solidFill>
                <a:latin typeface="Calibri"/>
              </a:rPr>
              <a:t>OUTCOMES</a:t>
            </a:r>
          </a:p>
        </p:txBody>
      </p:sp>
      <p:sp>
        <p:nvSpPr>
          <p:cNvPr id="8" name="TextBox 7"/>
          <p:cNvSpPr txBox="1"/>
          <p:nvPr/>
        </p:nvSpPr>
        <p:spPr>
          <a:xfrm>
            <a:off x="1572768" y="1965960"/>
            <a:ext cx="3108960" cy="274320"/>
          </a:xfrm>
          <a:prstGeom prst="rect">
            <a:avLst/>
          </a:prstGeom>
          <a:noFill/>
        </p:spPr>
        <p:txBody>
          <a:bodyPr wrap="square" lIns="0" rIns="0" tIns="0" bIns="0">
            <a:spAutoFit/>
          </a:bodyPr>
          <a:lstStyle/>
          <a:p>
            <a:pPr algn="l"/>
            <a:r>
              <a:rPr sz="1150" b="1" i="0">
                <a:solidFill>
                  <a:srgbClr val="1A2233"/>
                </a:solidFill>
                <a:latin typeface="Calibri"/>
              </a:rPr>
              <a:t>Applications, records &amp; action rails</a:t>
            </a:r>
          </a:p>
        </p:txBody>
      </p:sp>
      <p:sp>
        <p:nvSpPr>
          <p:cNvPr id="9" name="TextBox 8"/>
          <p:cNvSpPr txBox="1"/>
          <p:nvPr/>
        </p:nvSpPr>
        <p:spPr>
          <a:xfrm>
            <a:off x="4800600" y="1673352"/>
            <a:ext cx="3017520" cy="566928"/>
          </a:xfrm>
          <a:prstGeom prst="rect">
            <a:avLst/>
          </a:prstGeom>
          <a:noFill/>
        </p:spPr>
        <p:txBody>
          <a:bodyPr wrap="square" lIns="0" rIns="0" tIns="0" bIns="0">
            <a:spAutoFit/>
          </a:bodyPr>
          <a:lstStyle/>
          <a:p>
            <a:pPr algn="l"/>
            <a:r>
              <a:rPr sz="1050" b="0" i="1">
                <a:solidFill>
                  <a:srgbClr val="5A6478"/>
                </a:solidFill>
                <a:latin typeface="Calibri"/>
              </a:rPr>
              <a:t>seats · tasks · transactions · actions · outcomes</a:t>
            </a:r>
          </a:p>
        </p:txBody>
      </p:sp>
      <p:sp>
        <p:nvSpPr>
          <p:cNvPr id="10" name="TextBox 9"/>
          <p:cNvSpPr txBox="1"/>
          <p:nvPr/>
        </p:nvSpPr>
        <p:spPr>
          <a:xfrm>
            <a:off x="7909560" y="1673352"/>
            <a:ext cx="3337560" cy="603504"/>
          </a:xfrm>
          <a:prstGeom prst="rect">
            <a:avLst/>
          </a:prstGeom>
          <a:noFill/>
        </p:spPr>
        <p:txBody>
          <a:bodyPr wrap="square" lIns="0" rIns="0" tIns="0" bIns="0">
            <a:spAutoFit/>
          </a:bodyPr>
          <a:lstStyle/>
          <a:p>
            <a:pPr algn="l"/>
            <a:r>
              <a:rPr sz="1000" b="0" i="0">
                <a:solidFill>
                  <a:srgbClr val="5A6478"/>
                </a:solidFill>
                <a:latin typeface="Calibri"/>
              </a:rPr>
              <a:t>monetizes what the machine produces — and bills the actions it takes in the world</a:t>
            </a:r>
          </a:p>
        </p:txBody>
      </p:sp>
      <p:sp>
        <p:nvSpPr>
          <p:cNvPr id="11" name="Rounded Rectangle 10"/>
          <p:cNvSpPr/>
          <p:nvPr/>
        </p:nvSpPr>
        <p:spPr>
          <a:xfrm>
            <a:off x="777240" y="2441448"/>
            <a:ext cx="10634472" cy="804672"/>
          </a:xfrm>
          <a:prstGeom prst="roundRect">
            <a:avLst>
              <a:gd name="adj" fmla="val 10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624328"/>
            <a:ext cx="457200" cy="457200"/>
          </a:xfrm>
          <a:prstGeom prst="rect">
            <a:avLst/>
          </a:prstGeom>
          <a:noFill/>
        </p:spPr>
        <p:txBody>
          <a:bodyPr wrap="square" lIns="0" rIns="0" tIns="0" bIns="0">
            <a:spAutoFit/>
          </a:bodyPr>
          <a:lstStyle/>
          <a:p>
            <a:pPr algn="l"/>
            <a:r>
              <a:rPr sz="2600" b="1" i="0">
                <a:solidFill>
                  <a:srgbClr val="2777EF"/>
                </a:solidFill>
                <a:latin typeface="Cambria"/>
              </a:rPr>
              <a:t>3</a:t>
            </a:r>
          </a:p>
        </p:txBody>
      </p:sp>
      <p:sp>
        <p:nvSpPr>
          <p:cNvPr id="13" name="TextBox 12"/>
          <p:cNvSpPr txBox="1"/>
          <p:nvPr/>
        </p:nvSpPr>
        <p:spPr>
          <a:xfrm>
            <a:off x="1572768" y="2560320"/>
            <a:ext cx="1691640" cy="256032"/>
          </a:xfrm>
          <a:prstGeom prst="rect">
            <a:avLst/>
          </a:prstGeom>
          <a:noFill/>
        </p:spPr>
        <p:txBody>
          <a:bodyPr wrap="square" lIns="0" rIns="0" tIns="0" bIns="0">
            <a:spAutoFit/>
          </a:bodyPr>
          <a:lstStyle/>
          <a:p>
            <a:pPr algn="l"/>
            <a:r>
              <a:rPr sz="1250" b="1" i="0">
                <a:solidFill>
                  <a:srgbClr val="2777EF"/>
                </a:solidFill>
                <a:latin typeface="Calibri"/>
              </a:rPr>
              <a:t>WORK</a:t>
            </a:r>
          </a:p>
        </p:txBody>
      </p:sp>
      <p:sp>
        <p:nvSpPr>
          <p:cNvPr id="14" name="TextBox 13"/>
          <p:cNvSpPr txBox="1"/>
          <p:nvPr/>
        </p:nvSpPr>
        <p:spPr>
          <a:xfrm>
            <a:off x="1572768" y="2852928"/>
            <a:ext cx="3108960" cy="274320"/>
          </a:xfrm>
          <a:prstGeom prst="rect">
            <a:avLst/>
          </a:prstGeom>
          <a:noFill/>
        </p:spPr>
        <p:txBody>
          <a:bodyPr wrap="square" lIns="0" rIns="0" tIns="0" bIns="0">
            <a:spAutoFit/>
          </a:bodyPr>
          <a:lstStyle/>
          <a:p>
            <a:pPr algn="l"/>
            <a:r>
              <a:rPr sz="1150" b="1" i="0">
                <a:solidFill>
                  <a:srgbClr val="1A2233"/>
                </a:solidFill>
                <a:latin typeface="Calibri"/>
              </a:rPr>
              <a:t>Agent runtime &amp; control plane</a:t>
            </a:r>
          </a:p>
        </p:txBody>
      </p:sp>
      <p:sp>
        <p:nvSpPr>
          <p:cNvPr id="15" name="TextBox 14"/>
          <p:cNvSpPr txBox="1"/>
          <p:nvPr/>
        </p:nvSpPr>
        <p:spPr>
          <a:xfrm>
            <a:off x="4800600" y="2560320"/>
            <a:ext cx="3017520" cy="566928"/>
          </a:xfrm>
          <a:prstGeom prst="rect">
            <a:avLst/>
          </a:prstGeom>
          <a:noFill/>
        </p:spPr>
        <p:txBody>
          <a:bodyPr wrap="square" lIns="0" rIns="0" tIns="0" bIns="0">
            <a:spAutoFit/>
          </a:bodyPr>
          <a:lstStyle/>
          <a:p>
            <a:pPr algn="l"/>
            <a:r>
              <a:rPr sz="1050" b="0" i="1">
                <a:solidFill>
                  <a:srgbClr val="5A6478"/>
                </a:solidFill>
                <a:latin typeface="Calibri"/>
              </a:rPr>
              <a:t>runs · steps · tool calls · execution time</a:t>
            </a:r>
          </a:p>
        </p:txBody>
      </p:sp>
      <p:sp>
        <p:nvSpPr>
          <p:cNvPr id="16" name="TextBox 15"/>
          <p:cNvSpPr txBox="1"/>
          <p:nvPr/>
        </p:nvSpPr>
        <p:spPr>
          <a:xfrm>
            <a:off x="7909560" y="2560320"/>
            <a:ext cx="3337560" cy="603504"/>
          </a:xfrm>
          <a:prstGeom prst="rect">
            <a:avLst/>
          </a:prstGeom>
          <a:noFill/>
        </p:spPr>
        <p:txBody>
          <a:bodyPr wrap="square" lIns="0" rIns="0" tIns="0" bIns="0">
            <a:spAutoFit/>
          </a:bodyPr>
          <a:lstStyle/>
          <a:p>
            <a:pPr algn="l"/>
            <a:r>
              <a:rPr sz="1000" b="0" i="0">
                <a:solidFill>
                  <a:srgbClr val="1A2233"/>
                </a:solidFill>
                <a:latin typeface="Calibri"/>
              </a:rPr>
              <a:t>coordinates, governs and meters machine labor — metered twice: doing and watching</a:t>
            </a:r>
          </a:p>
        </p:txBody>
      </p:sp>
      <p:sp>
        <p:nvSpPr>
          <p:cNvPr id="17" name="Rounded Rectangle 16"/>
          <p:cNvSpPr/>
          <p:nvPr/>
        </p:nvSpPr>
        <p:spPr>
          <a:xfrm>
            <a:off x="777240" y="3328415"/>
            <a:ext cx="10634472" cy="804672"/>
          </a:xfrm>
          <a:prstGeom prst="roundRect">
            <a:avLst>
              <a:gd name="adj" fmla="val 10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511296"/>
            <a:ext cx="457200" cy="457200"/>
          </a:xfrm>
          <a:prstGeom prst="rect">
            <a:avLst/>
          </a:prstGeom>
          <a:noFill/>
        </p:spPr>
        <p:txBody>
          <a:bodyPr wrap="square" lIns="0" rIns="0" tIns="0" bIns="0">
            <a:spAutoFit/>
          </a:bodyPr>
          <a:lstStyle/>
          <a:p>
            <a:pPr algn="l"/>
            <a:r>
              <a:rPr sz="2600" b="1" i="0">
                <a:solidFill>
                  <a:srgbClr val="2777EF"/>
                </a:solidFill>
                <a:latin typeface="Cambria"/>
              </a:rPr>
              <a:t>2</a:t>
            </a:r>
          </a:p>
        </p:txBody>
      </p:sp>
      <p:sp>
        <p:nvSpPr>
          <p:cNvPr id="19" name="TextBox 18"/>
          <p:cNvSpPr txBox="1"/>
          <p:nvPr/>
        </p:nvSpPr>
        <p:spPr>
          <a:xfrm>
            <a:off x="1572768" y="3447287"/>
            <a:ext cx="1691640" cy="256032"/>
          </a:xfrm>
          <a:prstGeom prst="rect">
            <a:avLst/>
          </a:prstGeom>
          <a:noFill/>
        </p:spPr>
        <p:txBody>
          <a:bodyPr wrap="square" lIns="0" rIns="0" tIns="0" bIns="0">
            <a:spAutoFit/>
          </a:bodyPr>
          <a:lstStyle/>
          <a:p>
            <a:pPr algn="l"/>
            <a:r>
              <a:rPr sz="1250" b="1" i="0">
                <a:solidFill>
                  <a:srgbClr val="2777EF"/>
                </a:solidFill>
                <a:latin typeface="Calibri"/>
              </a:rPr>
              <a:t>STATE</a:t>
            </a:r>
          </a:p>
        </p:txBody>
      </p:sp>
      <p:sp>
        <p:nvSpPr>
          <p:cNvPr id="20" name="TextBox 19"/>
          <p:cNvSpPr txBox="1"/>
          <p:nvPr/>
        </p:nvSpPr>
        <p:spPr>
          <a:xfrm>
            <a:off x="1572768" y="3739896"/>
            <a:ext cx="3108960" cy="274320"/>
          </a:xfrm>
          <a:prstGeom prst="rect">
            <a:avLst/>
          </a:prstGeom>
          <a:noFill/>
        </p:spPr>
        <p:txBody>
          <a:bodyPr wrap="square" lIns="0" rIns="0" tIns="0" bIns="0">
            <a:spAutoFit/>
          </a:bodyPr>
          <a:lstStyle/>
          <a:p>
            <a:pPr algn="l"/>
            <a:r>
              <a:rPr sz="1150" b="1" i="0">
                <a:solidFill>
                  <a:srgbClr val="1A2233"/>
                </a:solidFill>
                <a:latin typeface="Calibri"/>
              </a:rPr>
              <a:t>State, data &amp; systems infrastructure</a:t>
            </a:r>
          </a:p>
        </p:txBody>
      </p:sp>
      <p:sp>
        <p:nvSpPr>
          <p:cNvPr id="21" name="TextBox 20"/>
          <p:cNvSpPr txBox="1"/>
          <p:nvPr/>
        </p:nvSpPr>
        <p:spPr>
          <a:xfrm>
            <a:off x="4800600" y="3447287"/>
            <a:ext cx="3017520" cy="566928"/>
          </a:xfrm>
          <a:prstGeom prst="rect">
            <a:avLst/>
          </a:prstGeom>
          <a:noFill/>
        </p:spPr>
        <p:txBody>
          <a:bodyPr wrap="square" lIns="0" rIns="0" tIns="0" bIns="0">
            <a:spAutoFit/>
          </a:bodyPr>
          <a:lstStyle/>
          <a:p>
            <a:pPr algn="l"/>
            <a:r>
              <a:rPr sz="1050" b="0" i="1">
                <a:solidFill>
                  <a:srgbClr val="5A6478"/>
                </a:solidFill>
                <a:latin typeface="Calibri"/>
              </a:rPr>
              <a:t>reads · writes · queries · storage · sync</a:t>
            </a:r>
          </a:p>
        </p:txBody>
      </p:sp>
      <p:sp>
        <p:nvSpPr>
          <p:cNvPr id="22" name="TextBox 21"/>
          <p:cNvSpPr txBox="1"/>
          <p:nvPr/>
        </p:nvSpPr>
        <p:spPr>
          <a:xfrm>
            <a:off x="7909560" y="3447287"/>
            <a:ext cx="3337560" cy="603504"/>
          </a:xfrm>
          <a:prstGeom prst="rect">
            <a:avLst/>
          </a:prstGeom>
          <a:noFill/>
        </p:spPr>
        <p:txBody>
          <a:bodyPr wrap="square" lIns="0" rIns="0" tIns="0" bIns="0">
            <a:spAutoFit/>
          </a:bodyPr>
          <a:lstStyle/>
          <a:p>
            <a:pPr algn="l"/>
            <a:r>
              <a:rPr sz="1000" b="0" i="0">
                <a:solidFill>
                  <a:srgbClr val="1A2233"/>
                </a:solidFill>
                <a:latin typeface="Calibri"/>
              </a:rPr>
              <a:t>stores the memory and results of machine labor — data gravity compounds</a:t>
            </a:r>
          </a:p>
        </p:txBody>
      </p:sp>
      <p:sp>
        <p:nvSpPr>
          <p:cNvPr id="23" name="Rounded Rectangle 22"/>
          <p:cNvSpPr/>
          <p:nvPr/>
        </p:nvSpPr>
        <p:spPr>
          <a:xfrm>
            <a:off x="777240" y="4215383"/>
            <a:ext cx="10634472" cy="80467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398264"/>
            <a:ext cx="457200" cy="457200"/>
          </a:xfrm>
          <a:prstGeom prst="rect">
            <a:avLst/>
          </a:prstGeom>
          <a:noFill/>
        </p:spPr>
        <p:txBody>
          <a:bodyPr wrap="square" lIns="0" rIns="0" tIns="0" bIns="0">
            <a:spAutoFit/>
          </a:bodyPr>
          <a:lstStyle/>
          <a:p>
            <a:pPr algn="l"/>
            <a:r>
              <a:rPr sz="2600" b="1" i="0">
                <a:solidFill>
                  <a:srgbClr val="A8C6F5"/>
                </a:solidFill>
                <a:latin typeface="Cambria"/>
              </a:rPr>
              <a:t>1</a:t>
            </a:r>
          </a:p>
        </p:txBody>
      </p:sp>
      <p:sp>
        <p:nvSpPr>
          <p:cNvPr id="25" name="TextBox 24"/>
          <p:cNvSpPr txBox="1"/>
          <p:nvPr/>
        </p:nvSpPr>
        <p:spPr>
          <a:xfrm>
            <a:off x="1572768" y="4334255"/>
            <a:ext cx="1691640" cy="256032"/>
          </a:xfrm>
          <a:prstGeom prst="rect">
            <a:avLst/>
          </a:prstGeom>
          <a:noFill/>
        </p:spPr>
        <p:txBody>
          <a:bodyPr wrap="square" lIns="0" rIns="0" tIns="0" bIns="0">
            <a:spAutoFit/>
          </a:bodyPr>
          <a:lstStyle/>
          <a:p>
            <a:pPr algn="l"/>
            <a:r>
              <a:rPr sz="1250" b="1" i="0">
                <a:solidFill>
                  <a:srgbClr val="8A97B0"/>
                </a:solidFill>
                <a:latin typeface="Calibri"/>
              </a:rPr>
              <a:t>INTELLIGENCE</a:t>
            </a:r>
          </a:p>
        </p:txBody>
      </p:sp>
      <p:sp>
        <p:nvSpPr>
          <p:cNvPr id="26" name="TextBox 25"/>
          <p:cNvSpPr txBox="1"/>
          <p:nvPr/>
        </p:nvSpPr>
        <p:spPr>
          <a:xfrm>
            <a:off x="1572768" y="4626864"/>
            <a:ext cx="3108960" cy="274320"/>
          </a:xfrm>
          <a:prstGeom prst="rect">
            <a:avLst/>
          </a:prstGeom>
          <a:noFill/>
        </p:spPr>
        <p:txBody>
          <a:bodyPr wrap="square" lIns="0" rIns="0" tIns="0" bIns="0">
            <a:spAutoFit/>
          </a:bodyPr>
          <a:lstStyle/>
          <a:p>
            <a:pPr algn="l"/>
            <a:r>
              <a:rPr sz="1150" b="1" i="0">
                <a:solidFill>
                  <a:srgbClr val="1A2233"/>
                </a:solidFill>
                <a:latin typeface="Calibri"/>
              </a:rPr>
              <a:t>Models &amp; inference software</a:t>
            </a:r>
          </a:p>
        </p:txBody>
      </p:sp>
      <p:sp>
        <p:nvSpPr>
          <p:cNvPr id="27" name="TextBox 26"/>
          <p:cNvSpPr txBox="1"/>
          <p:nvPr/>
        </p:nvSpPr>
        <p:spPr>
          <a:xfrm>
            <a:off x="4800600" y="4334255"/>
            <a:ext cx="3017520" cy="566928"/>
          </a:xfrm>
          <a:prstGeom prst="rect">
            <a:avLst/>
          </a:prstGeom>
          <a:noFill/>
        </p:spPr>
        <p:txBody>
          <a:bodyPr wrap="square" lIns="0" rIns="0" tIns="0" bIns="0">
            <a:spAutoFit/>
          </a:bodyPr>
          <a:lstStyle/>
          <a:p>
            <a:pPr algn="l"/>
            <a:r>
              <a:rPr sz="1050" b="0" i="1">
                <a:solidFill>
                  <a:srgbClr val="5A6478"/>
                </a:solidFill>
                <a:latin typeface="Calibri"/>
              </a:rPr>
              <a:t>tokens · inference calls · training runs</a:t>
            </a:r>
          </a:p>
        </p:txBody>
      </p:sp>
      <p:sp>
        <p:nvSpPr>
          <p:cNvPr id="28" name="TextBox 27"/>
          <p:cNvSpPr txBox="1"/>
          <p:nvPr/>
        </p:nvSpPr>
        <p:spPr>
          <a:xfrm>
            <a:off x="7909560" y="4334255"/>
            <a:ext cx="3337560" cy="603504"/>
          </a:xfrm>
          <a:prstGeom prst="rect">
            <a:avLst/>
          </a:prstGeom>
          <a:noFill/>
        </p:spPr>
        <p:txBody>
          <a:bodyPr wrap="square" lIns="0" rIns="0" tIns="0" bIns="0">
            <a:spAutoFit/>
          </a:bodyPr>
          <a:lstStyle/>
          <a:p>
            <a:pPr algn="l"/>
            <a:r>
              <a:rPr sz="1000" b="0" i="0">
                <a:solidFill>
                  <a:srgbClr val="5A6478"/>
                </a:solidFill>
                <a:latin typeface="Calibri"/>
              </a:rPr>
              <a:t>converts compute into reasoning — priced, competitive, deflating</a:t>
            </a:r>
          </a:p>
        </p:txBody>
      </p:sp>
      <p:sp>
        <p:nvSpPr>
          <p:cNvPr id="29" name="Rounded Rectangle 28"/>
          <p:cNvSpPr/>
          <p:nvPr/>
        </p:nvSpPr>
        <p:spPr>
          <a:xfrm>
            <a:off x="777240" y="5102351"/>
            <a:ext cx="10634472" cy="80467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5285231"/>
            <a:ext cx="457200" cy="457200"/>
          </a:xfrm>
          <a:prstGeom prst="rect">
            <a:avLst/>
          </a:prstGeom>
          <a:noFill/>
        </p:spPr>
        <p:txBody>
          <a:bodyPr wrap="square" lIns="0" rIns="0" tIns="0" bIns="0">
            <a:spAutoFit/>
          </a:bodyPr>
          <a:lstStyle/>
          <a:p>
            <a:pPr algn="l"/>
            <a:r>
              <a:rPr sz="2600" b="1" i="0">
                <a:solidFill>
                  <a:srgbClr val="A8C6F5"/>
                </a:solidFill>
                <a:latin typeface="Cambria"/>
              </a:rPr>
              <a:t>0</a:t>
            </a:r>
          </a:p>
        </p:txBody>
      </p:sp>
      <p:sp>
        <p:nvSpPr>
          <p:cNvPr id="31" name="TextBox 30"/>
          <p:cNvSpPr txBox="1"/>
          <p:nvPr/>
        </p:nvSpPr>
        <p:spPr>
          <a:xfrm>
            <a:off x="1572768" y="5221223"/>
            <a:ext cx="1691640" cy="256032"/>
          </a:xfrm>
          <a:prstGeom prst="rect">
            <a:avLst/>
          </a:prstGeom>
          <a:noFill/>
        </p:spPr>
        <p:txBody>
          <a:bodyPr wrap="square" lIns="0" rIns="0" tIns="0" bIns="0">
            <a:spAutoFit/>
          </a:bodyPr>
          <a:lstStyle/>
          <a:p>
            <a:pPr algn="l"/>
            <a:r>
              <a:rPr sz="1250" b="1" i="0">
                <a:solidFill>
                  <a:srgbClr val="8A97B0"/>
                </a:solidFill>
                <a:latin typeface="Calibri"/>
              </a:rPr>
              <a:t>COMPUTATION</a:t>
            </a:r>
          </a:p>
        </p:txBody>
      </p:sp>
      <p:sp>
        <p:nvSpPr>
          <p:cNvPr id="32" name="TextBox 31"/>
          <p:cNvSpPr txBox="1"/>
          <p:nvPr/>
        </p:nvSpPr>
        <p:spPr>
          <a:xfrm>
            <a:off x="1572768" y="5513831"/>
            <a:ext cx="3108960" cy="274320"/>
          </a:xfrm>
          <a:prstGeom prst="rect">
            <a:avLst/>
          </a:prstGeom>
          <a:noFill/>
        </p:spPr>
        <p:txBody>
          <a:bodyPr wrap="square" lIns="0" rIns="0" tIns="0" bIns="0">
            <a:spAutoFit/>
          </a:bodyPr>
          <a:lstStyle/>
          <a:p>
            <a:pPr algn="l"/>
            <a:r>
              <a:rPr sz="1150" b="1" i="0">
                <a:solidFill>
                  <a:srgbClr val="1A2233"/>
                </a:solidFill>
                <a:latin typeface="Calibri"/>
              </a:rPr>
              <a:t>Compute &amp; physical infrastructure</a:t>
            </a:r>
          </a:p>
        </p:txBody>
      </p:sp>
      <p:sp>
        <p:nvSpPr>
          <p:cNvPr id="33" name="TextBox 32"/>
          <p:cNvSpPr txBox="1"/>
          <p:nvPr/>
        </p:nvSpPr>
        <p:spPr>
          <a:xfrm>
            <a:off x="4800600" y="5221223"/>
            <a:ext cx="3017520" cy="566928"/>
          </a:xfrm>
          <a:prstGeom prst="rect">
            <a:avLst/>
          </a:prstGeom>
          <a:noFill/>
        </p:spPr>
        <p:txBody>
          <a:bodyPr wrap="square" lIns="0" rIns="0" tIns="0" bIns="0">
            <a:spAutoFit/>
          </a:bodyPr>
          <a:lstStyle/>
          <a:p>
            <a:pPr algn="l"/>
            <a:r>
              <a:rPr sz="1050" b="0" i="1">
                <a:solidFill>
                  <a:srgbClr val="5A6478"/>
                </a:solidFill>
                <a:latin typeface="Calibri"/>
              </a:rPr>
              <a:t>GPU-hours · bytes · energy</a:t>
            </a:r>
          </a:p>
        </p:txBody>
      </p:sp>
      <p:sp>
        <p:nvSpPr>
          <p:cNvPr id="34" name="TextBox 33"/>
          <p:cNvSpPr txBox="1"/>
          <p:nvPr/>
        </p:nvSpPr>
        <p:spPr>
          <a:xfrm>
            <a:off x="7909560" y="5221223"/>
            <a:ext cx="3337560" cy="603504"/>
          </a:xfrm>
          <a:prstGeom prst="rect">
            <a:avLst/>
          </a:prstGeom>
          <a:noFill/>
        </p:spPr>
        <p:txBody>
          <a:bodyPr wrap="square" lIns="0" rIns="0" tIns="0" bIns="0">
            <a:spAutoFit/>
          </a:bodyPr>
          <a:lstStyle/>
          <a:p>
            <a:pPr algn="l"/>
            <a:r>
              <a:rPr sz="1000" b="0" i="0">
                <a:solidFill>
                  <a:srgbClr val="5A6478"/>
                </a:solidFill>
                <a:latin typeface="Calibri"/>
              </a:rPr>
              <a:t>physically performs the work — capital-heavy, already priced</a:t>
            </a:r>
          </a:p>
        </p:txBody>
      </p:sp>
      <p:sp>
        <p:nvSpPr>
          <p:cNvPr id="35" name="Rounded Rectangle 34"/>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key layers meter work and accumulate state  </a:t>
            </a:r>
            <a:r>
              <a:rPr sz="1200">
                <a:solidFill>
                  <a:srgbClr val="1A2233"/>
                </a:solidFill>
                <a:latin typeface="Calibri"/>
              </a:rPr>
              <a:t>— L3 has the platform ceiling, L2 the durable economics. Some companies will span both.</a:t>
            </a:r>
          </a:p>
        </p:txBody>
      </p:sp>
      <p:sp>
        <p:nvSpPr>
          <p:cNvPr id="36" name="TextBox 35"/>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7" name="TextBox 36"/>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41</a:t>
            </a:r>
          </a:p>
        </p:txBody>
      </p:sp>
      <p:sp>
        <p:nvSpPr>
          <p:cNvPr id="38" name="TextBox 37"/>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framework, Jul 2026. Meters = the billable unit at each layer.</a:t>
            </a:r>
          </a:p>
        </p:txBody>
      </p:sp>
    </p:spTree>
    <p:extLst>
      <p:ext uri="{BB962C8B-B14F-4D97-AF65-F5344CB8AC3E}">
        <p14:creationId xmlns:p14="http://schemas.microsoft.com/office/powerpoint/2010/main" val="2999857052"/>
      </p:ext>
    </p:extLst>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one cut that matters: the backend and the worksite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WHAT AGENTS RUN ON VS. WHERE AGENTS DO THE WORK — THE MASTER FRAME FOR EVERYTHING THAT FOLLOWS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thesis in one cut — the backend is what all machine labor runs on; the worksite is where it lands. The royalty is collected on the backend.</a:t>
            </a:r>
            <a:r>
              <a:rPr sz="1200">
                <a:solidFill>
                  <a:srgbClr val="1A2233"/>
                </a:solidFill>
                <a:latin typeface="Calibri"/>
              </a:rPr>
              <a:t/>
            </a:r>
          </a:p>
        </p:txBody>
      </p:sp>
      <p:sp>
        <p:nvSpPr>
          <p:cNvPr id="24" name="TextBox 23"/>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5" name="TextBox 24"/>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42</a:t>
            </a:r>
          </a:p>
        </p:txBody>
      </p:sp>
      <p:sp>
        <p:nvSpPr>
          <p:cNvPr id="26" name="TextBox 25"/>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framework, Aug 2026. L0 compute and L1 intelligence sit beneath both — capital-heavy or unbuyable; priced elsewhere.</a:t>
            </a:r>
          </a:p>
        </p:txBody>
      </p:sp>
      <p:sp>
        <p:nvSpPr>
          <p:cNvPr id="27" name="Rounded Rectangle 26"/>
          <p:cNvSpPr/>
          <p:nvPr/>
        </p:nvSpPr>
        <p:spPr>
          <a:xfrm>
            <a:off x="777240" y="1645920"/>
            <a:ext cx="5303520" cy="3931920"/>
          </a:xfrm>
          <a:prstGeom prst="roundRect">
            <a:avLst>
              <a:gd name="adj" fmla="val 6000"/>
            </a:avLst>
          </a:prstGeom>
          <a:solidFill>
            <a:srgbClr val="EAF1FE"/>
          </a:solidFill>
          <a:ln w="1270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1828800"/>
            <a:ext cx="4754880" cy="237744"/>
          </a:xfrm>
          <a:prstGeom prst="rect">
            <a:avLst/>
          </a:prstGeom>
          <a:noFill/>
        </p:spPr>
        <p:txBody>
          <a:bodyPr wrap="square" lIns="0" rIns="0" tIns="0" bIns="0">
            <a:spAutoFit/>
          </a:bodyPr>
          <a:lstStyle/>
          <a:p>
            <a:pPr algn="l"/>
            <a:r>
              <a:rPr sz="1200" b="1">
                <a:solidFill>
                  <a:srgbClr val="2777EF"/>
                </a:solidFill>
                <a:latin typeface="Segoe UI"/>
              </a:rPr>
              <a:t>THE BACKEND</a:t>
            </a:r>
          </a:p>
        </p:txBody>
      </p:sp>
      <p:sp>
        <p:nvSpPr>
          <p:cNvPr id="29" name="TextBox 28"/>
          <p:cNvSpPr txBox="1"/>
          <p:nvPr/>
        </p:nvSpPr>
        <p:spPr>
          <a:xfrm>
            <a:off x="1051560" y="2103120"/>
            <a:ext cx="4754880" cy="274320"/>
          </a:xfrm>
          <a:prstGeom prst="rect">
            <a:avLst/>
          </a:prstGeom>
          <a:noFill/>
        </p:spPr>
        <p:txBody>
          <a:bodyPr wrap="square" lIns="0" rIns="0" tIns="0" bIns="0">
            <a:spAutoFit/>
          </a:bodyPr>
          <a:lstStyle/>
          <a:p>
            <a:pPr algn="l"/>
            <a:r>
              <a:rPr sz="1100" b="0">
                <a:solidFill>
                  <a:srgbClr val="5A6478"/>
                </a:solidFill>
                <a:latin typeface="Segoe UI"/>
              </a:rPr>
              <a:t>what agents run on</a:t>
            </a:r>
          </a:p>
        </p:txBody>
      </p:sp>
      <p:sp>
        <p:nvSpPr>
          <p:cNvPr id="30" name="TextBox 29"/>
          <p:cNvSpPr txBox="1"/>
          <p:nvPr/>
        </p:nvSpPr>
        <p:spPr>
          <a:xfrm>
            <a:off x="1051560" y="2523744"/>
            <a:ext cx="4800600" cy="1188720"/>
          </a:xfrm>
          <a:prstGeom prst="rect">
            <a:avLst/>
          </a:prstGeom>
          <a:noFill/>
        </p:spPr>
        <p:txBody>
          <a:bodyPr wrap="square" lIns="0" rIns="0" tIns="0" bIns="0">
            <a:spAutoFit/>
          </a:bodyPr>
          <a:lstStyle/>
          <a:p>
            <a:pPr algn="l"/>
            <a:r>
              <a:rPr sz="1050" b="0">
                <a:solidFill>
                  <a:srgbClr val="1A2233"/>
                </a:solidFill>
                <a:latin typeface="Segoe UI"/>
              </a:rPr>
              <a:t>Three unavoidable activities:
EXECUTE — runs, steps, compute-seconds
REMEMBER — reads, writes, queries, storage
ANSWER FOR IT — logs, identities, audit trails</a:t>
            </a:r>
          </a:p>
        </p:txBody>
      </p:sp>
      <p:sp>
        <p:nvSpPr>
          <p:cNvPr id="31" name="TextBox 30"/>
          <p:cNvSpPr txBox="1"/>
          <p:nvPr/>
        </p:nvSpPr>
        <p:spPr>
          <a:xfrm>
            <a:off x="1051560" y="4023360"/>
            <a:ext cx="4800600" cy="502920"/>
          </a:xfrm>
          <a:prstGeom prst="rect">
            <a:avLst/>
          </a:prstGeom>
          <a:noFill/>
        </p:spPr>
        <p:txBody>
          <a:bodyPr wrap="square" lIns="0" rIns="0" tIns="0" bIns="0">
            <a:spAutoFit/>
          </a:bodyPr>
          <a:lstStyle/>
          <a:p>
            <a:pPr algn="l"/>
            <a:r>
              <a:rPr sz="1100" b="1">
                <a:solidFill>
                  <a:srgbClr val="1B3F8F"/>
                </a:solidFill>
                <a:latin typeface="Segoe UI"/>
              </a:rPr>
              <a:t>L2 · STATE (6 names)  +  L3 · WORK (19 names)</a:t>
            </a:r>
          </a:p>
        </p:txBody>
      </p:sp>
      <p:sp>
        <p:nvSpPr>
          <p:cNvPr id="32" name="TextBox 31"/>
          <p:cNvSpPr txBox="1"/>
          <p:nvPr/>
        </p:nvSpPr>
        <p:spPr>
          <a:xfrm>
            <a:off x="1051560" y="4526280"/>
            <a:ext cx="4800600" cy="914400"/>
          </a:xfrm>
          <a:prstGeom prst="rect">
            <a:avLst/>
          </a:prstGeom>
          <a:noFill/>
        </p:spPr>
        <p:txBody>
          <a:bodyPr wrap="square" lIns="0" rIns="0" tIns="0" bIns="0">
            <a:spAutoFit/>
          </a:bodyPr>
          <a:lstStyle/>
          <a:p>
            <a:pPr algn="l"/>
            <a:r>
              <a:rPr sz="950" b="0">
                <a:solidFill>
                  <a:srgbClr val="5A6478"/>
                </a:solidFill>
                <a:latin typeface="Segoe UI"/>
              </a:rPr>
              <a:t>Every unit of machine labor passes through it, and most of it is billed by the unit. The royalty is collected here — the machine labor cohort (Part 04) is drawn from this side only.</a:t>
            </a:r>
          </a:p>
        </p:txBody>
      </p:sp>
      <p:sp>
        <p:nvSpPr>
          <p:cNvPr id="33" name="Rounded Rectangle 32"/>
          <p:cNvSpPr/>
          <p:nvPr/>
        </p:nvSpPr>
        <p:spPr>
          <a:xfrm>
            <a:off x="6336792" y="1645920"/>
            <a:ext cx="5303520" cy="39319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11112" y="1828800"/>
            <a:ext cx="4754880" cy="237744"/>
          </a:xfrm>
          <a:prstGeom prst="rect">
            <a:avLst/>
          </a:prstGeom>
          <a:noFill/>
        </p:spPr>
        <p:txBody>
          <a:bodyPr wrap="square" lIns="0" rIns="0" tIns="0" bIns="0">
            <a:spAutoFit/>
          </a:bodyPr>
          <a:lstStyle/>
          <a:p>
            <a:pPr algn="l"/>
            <a:r>
              <a:rPr sz="1200" b="1">
                <a:solidFill>
                  <a:srgbClr val="2777EF"/>
                </a:solidFill>
                <a:latin typeface="Segoe UI"/>
              </a:rPr>
              <a:t>THE WORKSITE</a:t>
            </a:r>
          </a:p>
        </p:txBody>
      </p:sp>
      <p:sp>
        <p:nvSpPr>
          <p:cNvPr id="35" name="TextBox 34"/>
          <p:cNvSpPr txBox="1"/>
          <p:nvPr/>
        </p:nvSpPr>
        <p:spPr>
          <a:xfrm>
            <a:off x="6611112" y="2103120"/>
            <a:ext cx="4754880" cy="274320"/>
          </a:xfrm>
          <a:prstGeom prst="rect">
            <a:avLst/>
          </a:prstGeom>
          <a:noFill/>
        </p:spPr>
        <p:txBody>
          <a:bodyPr wrap="square" lIns="0" rIns="0" tIns="0" bIns="0">
            <a:spAutoFit/>
          </a:bodyPr>
          <a:lstStyle/>
          <a:p>
            <a:pPr algn="l"/>
            <a:r>
              <a:rPr sz="1100" b="0">
                <a:solidFill>
                  <a:srgbClr val="5A6478"/>
                </a:solidFill>
                <a:latin typeface="Segoe UI"/>
              </a:rPr>
              <a:t>where agents do the work</a:t>
            </a:r>
          </a:p>
        </p:txBody>
      </p:sp>
      <p:sp>
        <p:nvSpPr>
          <p:cNvPr id="36" name="TextBox 35"/>
          <p:cNvSpPr txBox="1"/>
          <p:nvPr/>
        </p:nvSpPr>
        <p:spPr>
          <a:xfrm>
            <a:off x="6611112" y="2523744"/>
            <a:ext cx="4800600" cy="1188720"/>
          </a:xfrm>
          <a:prstGeom prst="rect">
            <a:avLst/>
          </a:prstGeom>
          <a:noFill/>
        </p:spPr>
        <p:txBody>
          <a:bodyPr wrap="square" lIns="0" rIns="0" tIns="0" bIns="0">
            <a:spAutoFit/>
          </a:bodyPr>
          <a:lstStyle/>
          <a:p>
            <a:pPr algn="l"/>
            <a:r>
              <a:rPr sz="1050" b="0">
                <a:solidFill>
                  <a:srgbClr val="1A2233"/>
                </a:solidFill>
                <a:latin typeface="Segoe UI"/>
              </a:rPr>
              <a:t>Three ways work lands:
ACT — messages, calls, payments (the rails)
READ &amp; WRITE THE RECORD — the systems agents work in
REPLACE THE SEAT — the tools they obsolete</a:t>
            </a:r>
          </a:p>
        </p:txBody>
      </p:sp>
      <p:sp>
        <p:nvSpPr>
          <p:cNvPr id="37" name="TextBox 36"/>
          <p:cNvSpPr txBox="1"/>
          <p:nvPr/>
        </p:nvSpPr>
        <p:spPr>
          <a:xfrm>
            <a:off x="6611112" y="4023360"/>
            <a:ext cx="4800600" cy="502920"/>
          </a:xfrm>
          <a:prstGeom prst="rect">
            <a:avLst/>
          </a:prstGeom>
          <a:noFill/>
        </p:spPr>
        <p:txBody>
          <a:bodyPr wrap="square" lIns="0" rIns="0" tIns="0" bIns="0">
            <a:spAutoFit/>
          </a:bodyPr>
          <a:lstStyle/>
          <a:p>
            <a:pPr algn="l"/>
            <a:r>
              <a:rPr sz="1100" b="1">
                <a:solidFill>
                  <a:srgbClr val="5A6478"/>
                </a:solidFill>
                <a:latin typeface="Segoe UI"/>
              </a:rPr>
              <a:t>L4 · APPS, RECORDS &amp; ACTION RAILS (42 names)</a:t>
            </a:r>
          </a:p>
        </p:txBody>
      </p:sp>
      <p:sp>
        <p:nvSpPr>
          <p:cNvPr id="38" name="TextBox 37"/>
          <p:cNvSpPr txBox="1"/>
          <p:nvPr/>
        </p:nvSpPr>
        <p:spPr>
          <a:xfrm>
            <a:off x="6611112" y="4526280"/>
            <a:ext cx="4800600" cy="914400"/>
          </a:xfrm>
          <a:prstGeom prst="rect">
            <a:avLst/>
          </a:prstGeom>
          <a:noFill/>
        </p:spPr>
        <p:txBody>
          <a:bodyPr wrap="square" lIns="0" rIns="0" tIns="0" bIns="0">
            <a:spAutoFit/>
          </a:bodyPr>
          <a:lstStyle/>
          <a:p>
            <a:pPr algn="l"/>
            <a:r>
              <a:rPr sz="950" b="0">
                <a:solidFill>
                  <a:srgbClr val="5A6478"/>
                </a:solidFill>
                <a:latin typeface="Segoe UI"/>
              </a:rPr>
              <a:t>Rails get paid per action; records convert or compress; seats are the other side of the trade. Winners here are tracked — the cohort is not picked here.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universe: 67 public companies — and growing</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BVP NASDAQ EMERGING CLOUD INDEX + SKYCATCHER EXTENSIONS — EVERY METER CANDIDATE LIVES HERE</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828800"/>
            <a:ext cx="2615184" cy="310896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2194560"/>
            <a:ext cx="2194560" cy="548640"/>
          </a:xfrm>
          <a:prstGeom prst="rect">
            <a:avLst/>
          </a:prstGeom>
          <a:noFill/>
        </p:spPr>
        <p:txBody>
          <a:bodyPr wrap="square" lIns="0" rIns="0" tIns="0" bIns="0">
            <a:spAutoFit/>
          </a:bodyPr>
          <a:lstStyle/>
          <a:p>
            <a:pPr algn="l"/>
            <a:r>
              <a:rPr sz="3000" b="1" i="0">
                <a:solidFill>
                  <a:srgbClr val="2777EF"/>
                </a:solidFill>
                <a:latin typeface="Cambria"/>
              </a:rPr>
              <a:t>67</a:t>
            </a:r>
          </a:p>
        </p:txBody>
      </p:sp>
      <p:sp>
        <p:nvSpPr>
          <p:cNvPr id="7" name="TextBox 6"/>
          <p:cNvSpPr txBox="1"/>
          <p:nvPr/>
        </p:nvSpPr>
        <p:spPr>
          <a:xfrm>
            <a:off x="1005840" y="2880360"/>
            <a:ext cx="2194560" cy="548640"/>
          </a:xfrm>
          <a:prstGeom prst="rect">
            <a:avLst/>
          </a:prstGeom>
          <a:noFill/>
        </p:spPr>
        <p:txBody>
          <a:bodyPr wrap="square" lIns="0" rIns="0" tIns="0" bIns="0">
            <a:spAutoFit/>
          </a:bodyPr>
          <a:lstStyle/>
          <a:p>
            <a:pPr algn="l"/>
            <a:r>
              <a:rPr sz="1300" b="1" i="0">
                <a:solidFill>
                  <a:srgbClr val="1A2233"/>
                </a:solidFill>
                <a:latin typeface="Calibri"/>
              </a:rPr>
              <a:t>public cloud companies</a:t>
            </a:r>
          </a:p>
        </p:txBody>
      </p:sp>
      <p:sp>
        <p:nvSpPr>
          <p:cNvPr id="8" name="TextBox 7"/>
          <p:cNvSpPr txBox="1"/>
          <p:nvPr/>
        </p:nvSpPr>
        <p:spPr>
          <a:xfrm>
            <a:off x="1005840" y="3520440"/>
            <a:ext cx="2194560" cy="1280160"/>
          </a:xfrm>
          <a:prstGeom prst="rect">
            <a:avLst/>
          </a:prstGeom>
          <a:noFill/>
        </p:spPr>
        <p:txBody>
          <a:bodyPr wrap="square" lIns="0" rIns="0" tIns="0" bIns="0">
            <a:spAutoFit/>
          </a:bodyPr>
          <a:lstStyle/>
          <a:p>
            <a:pPr algn="l"/>
            <a:r>
              <a:rPr sz="1100" b="0" i="0">
                <a:solidFill>
                  <a:srgbClr val="5A6478"/>
                </a:solidFill>
                <a:latin typeface="Calibri"/>
              </a:rPr>
              <a:t>EMCLOUD (63 of 64 — DigitalOcean reclassified to L0) + four extensions: AKAM, NTSK, AMPL, BAND</a:t>
            </a:r>
          </a:p>
        </p:txBody>
      </p:sp>
      <p:sp>
        <p:nvSpPr>
          <p:cNvPr id="9" name="Rounded Rectangle 8"/>
          <p:cNvSpPr/>
          <p:nvPr/>
        </p:nvSpPr>
        <p:spPr>
          <a:xfrm>
            <a:off x="3502152" y="1828800"/>
            <a:ext cx="2615184" cy="310896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30752" y="2194560"/>
            <a:ext cx="2194560" cy="548640"/>
          </a:xfrm>
          <a:prstGeom prst="rect">
            <a:avLst/>
          </a:prstGeom>
          <a:noFill/>
        </p:spPr>
        <p:txBody>
          <a:bodyPr wrap="square" lIns="0" rIns="0" tIns="0" bIns="0">
            <a:spAutoFit/>
          </a:bodyPr>
          <a:lstStyle/>
          <a:p>
            <a:pPr algn="l"/>
            <a:r>
              <a:rPr sz="3000" b="1" i="0">
                <a:solidFill>
                  <a:srgbClr val="2777EF"/>
                </a:solidFill>
                <a:latin typeface="Cambria"/>
              </a:rPr>
              <a:t>~4.1x</a:t>
            </a:r>
          </a:p>
        </p:txBody>
      </p:sp>
      <p:sp>
        <p:nvSpPr>
          <p:cNvPr id="11" name="TextBox 10"/>
          <p:cNvSpPr txBox="1"/>
          <p:nvPr/>
        </p:nvSpPr>
        <p:spPr>
          <a:xfrm>
            <a:off x="3730752" y="2880360"/>
            <a:ext cx="2194560" cy="548640"/>
          </a:xfrm>
          <a:prstGeom prst="rect">
            <a:avLst/>
          </a:prstGeom>
          <a:noFill/>
        </p:spPr>
        <p:txBody>
          <a:bodyPr wrap="square" lIns="0" rIns="0" tIns="0" bIns="0">
            <a:spAutoFit/>
          </a:bodyPr>
          <a:lstStyle/>
          <a:p>
            <a:pPr algn="l"/>
            <a:r>
              <a:rPr sz="1300" b="1" i="0">
                <a:solidFill>
                  <a:srgbClr val="1A2233"/>
                </a:solidFill>
                <a:latin typeface="Calibri"/>
              </a:rPr>
              <a:t>median EV / fwd revenue</a:t>
            </a:r>
          </a:p>
        </p:txBody>
      </p:sp>
      <p:sp>
        <p:nvSpPr>
          <p:cNvPr id="12" name="TextBox 11"/>
          <p:cNvSpPr txBox="1"/>
          <p:nvPr/>
        </p:nvSpPr>
        <p:spPr>
          <a:xfrm>
            <a:off x="3730752" y="3520440"/>
            <a:ext cx="2194560" cy="1280160"/>
          </a:xfrm>
          <a:prstGeom prst="rect">
            <a:avLst/>
          </a:prstGeom>
          <a:noFill/>
        </p:spPr>
        <p:txBody>
          <a:bodyPr wrap="square" lIns="0" rIns="0" tIns="0" bIns="0">
            <a:spAutoFit/>
          </a:bodyPr>
          <a:lstStyle/>
          <a:p>
            <a:pPr algn="l"/>
            <a:r>
              <a:rPr sz="1100" b="0" i="0">
                <a:solidFill>
                  <a:srgbClr val="5A6478"/>
                </a:solidFill>
                <a:latin typeface="Calibri"/>
              </a:rPr>
              <a:t>the tape pays little for the median cloud business — quartiles: 2.8x / 4.1x / 6.6x</a:t>
            </a:r>
          </a:p>
        </p:txBody>
      </p:sp>
      <p:sp>
        <p:nvSpPr>
          <p:cNvPr id="13" name="Rounded Rectangle 12"/>
          <p:cNvSpPr/>
          <p:nvPr/>
        </p:nvSpPr>
        <p:spPr>
          <a:xfrm>
            <a:off x="6227064" y="1828800"/>
            <a:ext cx="2615184" cy="310896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194560"/>
            <a:ext cx="2194560" cy="548640"/>
          </a:xfrm>
          <a:prstGeom prst="rect">
            <a:avLst/>
          </a:prstGeom>
          <a:noFill/>
        </p:spPr>
        <p:txBody>
          <a:bodyPr wrap="square" lIns="0" rIns="0" tIns="0" bIns="0">
            <a:spAutoFit/>
          </a:bodyPr>
          <a:lstStyle/>
          <a:p>
            <a:pPr algn="l"/>
            <a:r>
              <a:rPr sz="3000" b="1" i="0">
                <a:solidFill>
                  <a:srgbClr val="2777EF"/>
                </a:solidFill>
                <a:latin typeface="Cambria"/>
              </a:rPr>
              <a:t>~20%</a:t>
            </a:r>
          </a:p>
        </p:txBody>
      </p:sp>
      <p:sp>
        <p:nvSpPr>
          <p:cNvPr id="15" name="TextBox 14"/>
          <p:cNvSpPr txBox="1"/>
          <p:nvPr/>
        </p:nvSpPr>
        <p:spPr>
          <a:xfrm>
            <a:off x="6455664" y="2880360"/>
            <a:ext cx="2194560" cy="548640"/>
          </a:xfrm>
          <a:prstGeom prst="rect">
            <a:avLst/>
          </a:prstGeom>
          <a:noFill/>
        </p:spPr>
        <p:txBody>
          <a:bodyPr wrap="square" lIns="0" rIns="0" tIns="0" bIns="0">
            <a:spAutoFit/>
          </a:bodyPr>
          <a:lstStyle/>
          <a:p>
            <a:pPr algn="l"/>
            <a:r>
              <a:rPr sz="1300" b="1" i="0">
                <a:solidFill>
                  <a:srgbClr val="1A2233"/>
                </a:solidFill>
                <a:latin typeface="Calibri"/>
              </a:rPr>
              <a:t>median revenue growth</a:t>
            </a:r>
          </a:p>
        </p:txBody>
      </p:sp>
      <p:sp>
        <p:nvSpPr>
          <p:cNvPr id="16" name="TextBox 15"/>
          <p:cNvSpPr txBox="1"/>
          <p:nvPr/>
        </p:nvSpPr>
        <p:spPr>
          <a:xfrm>
            <a:off x="6455664" y="3520440"/>
            <a:ext cx="2194560" cy="1280160"/>
          </a:xfrm>
          <a:prstGeom prst="rect">
            <a:avLst/>
          </a:prstGeom>
          <a:noFill/>
        </p:spPr>
        <p:txBody>
          <a:bodyPr wrap="square" lIns="0" rIns="0" tIns="0" bIns="0">
            <a:spAutoFit/>
          </a:bodyPr>
          <a:lstStyle/>
          <a:p>
            <a:pPr algn="l"/>
            <a:r>
              <a:rPr sz="1100" b="0" i="0">
                <a:solidFill>
                  <a:srgbClr val="5A6478"/>
                </a:solidFill>
                <a:latin typeface="Calibri"/>
              </a:rPr>
              <a:t>turned back up in 2026 — top decile compounds at ~33%</a:t>
            </a:r>
          </a:p>
        </p:txBody>
      </p:sp>
      <p:sp>
        <p:nvSpPr>
          <p:cNvPr id="17" name="Rounded Rectangle 16"/>
          <p:cNvSpPr/>
          <p:nvPr/>
        </p:nvSpPr>
        <p:spPr>
          <a:xfrm>
            <a:off x="8951976" y="1828800"/>
            <a:ext cx="2615184" cy="310896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0576" y="2194560"/>
            <a:ext cx="2194560" cy="548640"/>
          </a:xfrm>
          <a:prstGeom prst="rect">
            <a:avLst/>
          </a:prstGeom>
          <a:noFill/>
        </p:spPr>
        <p:txBody>
          <a:bodyPr wrap="square" lIns="0" rIns="0" tIns="0" bIns="0">
            <a:spAutoFit/>
          </a:bodyPr>
          <a:lstStyle/>
          <a:p>
            <a:pPr algn="l"/>
            <a:r>
              <a:rPr sz="3000" b="1" i="0">
                <a:solidFill>
                  <a:srgbClr val="2777EF"/>
                </a:solidFill>
                <a:latin typeface="Cambria"/>
              </a:rPr>
              <a:t>~11</a:t>
            </a:r>
          </a:p>
        </p:txBody>
      </p:sp>
      <p:sp>
        <p:nvSpPr>
          <p:cNvPr id="19" name="TextBox 18"/>
          <p:cNvSpPr txBox="1"/>
          <p:nvPr/>
        </p:nvSpPr>
        <p:spPr>
          <a:xfrm>
            <a:off x="9180576" y="2880360"/>
            <a:ext cx="2194560" cy="548640"/>
          </a:xfrm>
          <a:prstGeom prst="rect">
            <a:avLst/>
          </a:prstGeom>
          <a:noFill/>
        </p:spPr>
        <p:txBody>
          <a:bodyPr wrap="square" lIns="0" rIns="0" tIns="0" bIns="0">
            <a:spAutoFit/>
          </a:bodyPr>
          <a:lstStyle/>
          <a:p>
            <a:pPr algn="l"/>
            <a:r>
              <a:rPr sz="1300" b="1" i="0">
                <a:solidFill>
                  <a:srgbClr val="1A2233"/>
                </a:solidFill>
                <a:latin typeface="Calibri"/>
              </a:rPr>
              <a:t>usage-billed business models</a:t>
            </a:r>
          </a:p>
        </p:txBody>
      </p:sp>
      <p:sp>
        <p:nvSpPr>
          <p:cNvPr id="20" name="TextBox 19"/>
          <p:cNvSpPr txBox="1"/>
          <p:nvPr/>
        </p:nvSpPr>
        <p:spPr>
          <a:xfrm>
            <a:off x="9180576" y="3520440"/>
            <a:ext cx="2194560" cy="1280160"/>
          </a:xfrm>
          <a:prstGeom prst="rect">
            <a:avLst/>
          </a:prstGeom>
          <a:noFill/>
        </p:spPr>
        <p:txBody>
          <a:bodyPr wrap="square" lIns="0" rIns="0" tIns="0" bIns="0">
            <a:spAutoFit/>
          </a:bodyPr>
          <a:lstStyle/>
          <a:p>
            <a:pPr algn="l"/>
            <a:r>
              <a:rPr sz="1100" b="0" i="0">
                <a:solidFill>
                  <a:srgbClr val="5A6478"/>
                </a:solidFill>
                <a:latin typeface="Calibri"/>
              </a:rPr>
              <a:t>the rest sell seats, suites and verticals — repriced by agents, not paid by them; Part 04 draws the mechanical line</a:t>
            </a:r>
          </a:p>
        </p:txBody>
      </p:sp>
      <p:sp>
        <p:nvSpPr>
          <p:cNvPr id="21" name="Rounded Rectangle 20"/>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We screen all of it, continuously — in Sky1  </a:t>
            </a:r>
            <a:r>
              <a:rPr sz="1200">
                <a:solidFill>
                  <a:srgbClr val="1A2233"/>
                </a:solidFill>
                <a:latin typeface="Calibri"/>
              </a:rPr>
              <a:t>— but a royalty on machine labor can only be collected where machine actions are billed.</a:t>
            </a:r>
          </a:p>
        </p:txBody>
      </p:sp>
      <p:sp>
        <p:nvSpPr>
          <p:cNvPr id="22" name="TextBox 2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3" name="TextBox 2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43</a:t>
            </a:r>
          </a:p>
        </p:txBody>
      </p:sp>
      <p:sp>
        <p:nvSpPr>
          <p:cNvPr id="24" name="TextBox 2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BVP Nasdaq Emerging Cloud Index constituents (64, verified against the published roster) + Skycatcher extensions (Akamai, Netskope, Amplitude, Bandwidth), Aug 2026; quartile stats computed on EMCLOUD names. Universe expands as new names list.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67 companies, one cut: the backend and the worksite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UNIVERSE BUCKETED ON THE MASTER FRAME — BACKEND: STATE (L2) · WORK (L3) — WORKSITE: RAILS · APPS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67 companies → a 25-name backend and a 42-name worksite — the royalty concentrates on the backend; everything else is tracked as watchlist.</a:t>
            </a:r>
            <a:r>
              <a:rPr sz="1200">
                <a:solidFill>
                  <a:srgbClr val="1A2233"/>
                </a:solidFill>
                <a:latin typeface="Calibri"/>
              </a:rPr>
              <a:t/>
            </a:r>
          </a:p>
        </p:txBody>
      </p:sp>
      <p:sp>
        <p:nvSpPr>
          <p:cNvPr id="31" name="TextBox 3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3" name="TextBox 3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classification of BVP EMCLOUD constituents + 4 extensions, Aug 2026. Return exhibits later this section use EMCLOUD names only.</a:t>
            </a:r>
          </a:p>
        </p:txBody>
      </p:sp>
      <p:sp>
        <p:nvSpPr>
          <p:cNvPr id="34" name="TextBox 33"/>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44</a:t>
            </a:r>
          </a:p>
        </p:txBody>
      </p:sp>
      <p:sp>
        <p:nvSpPr>
          <p:cNvPr id="35" name="Rounded Rectangle 34"/>
          <p:cNvSpPr/>
          <p:nvPr/>
        </p:nvSpPr>
        <p:spPr>
          <a:xfrm>
            <a:off x="777240" y="1627632"/>
            <a:ext cx="10954512" cy="7315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05840" y="1737360"/>
            <a:ext cx="548640" cy="274320"/>
          </a:xfrm>
          <a:prstGeom prst="rect">
            <a:avLst/>
          </a:prstGeom>
          <a:noFill/>
        </p:spPr>
        <p:txBody>
          <a:bodyPr wrap="square" lIns="0" rIns="0" tIns="0" bIns="0">
            <a:spAutoFit/>
          </a:bodyPr>
          <a:lstStyle/>
          <a:p>
            <a:pPr algn="l"/>
            <a:r>
              <a:rPr sz="1300" b="1">
                <a:solidFill>
                  <a:srgbClr val="5A6478"/>
                </a:solidFill>
                <a:latin typeface="Segoe UI"/>
              </a:rPr>
              <a:t>L4</a:t>
            </a:r>
          </a:p>
        </p:txBody>
      </p:sp>
      <p:sp>
        <p:nvSpPr>
          <p:cNvPr id="37" name="TextBox 36"/>
          <p:cNvSpPr txBox="1"/>
          <p:nvPr/>
        </p:nvSpPr>
        <p:spPr>
          <a:xfrm>
            <a:off x="1645920" y="1719072"/>
            <a:ext cx="4206240" cy="256032"/>
          </a:xfrm>
          <a:prstGeom prst="rect">
            <a:avLst/>
          </a:prstGeom>
          <a:noFill/>
        </p:spPr>
        <p:txBody>
          <a:bodyPr wrap="square" lIns="0" rIns="0" tIns="0" bIns="0">
            <a:spAutoFit/>
          </a:bodyPr>
          <a:lstStyle/>
          <a:p>
            <a:pPr algn="l"/>
            <a:r>
              <a:rPr sz="1100" b="1">
                <a:solidFill>
                  <a:srgbClr val="1A2233"/>
                </a:solidFill>
                <a:latin typeface="Segoe UI"/>
              </a:rPr>
              <a:t>Applications, records &amp; action rails</a:t>
            </a:r>
          </a:p>
        </p:txBody>
      </p:sp>
      <p:sp>
        <p:nvSpPr>
          <p:cNvPr id="38" name="TextBox 37"/>
          <p:cNvSpPr txBox="1"/>
          <p:nvPr/>
        </p:nvSpPr>
        <p:spPr>
          <a:xfrm>
            <a:off x="1645920" y="2011680"/>
            <a:ext cx="9692640" cy="256032"/>
          </a:xfrm>
          <a:prstGeom prst="rect">
            <a:avLst/>
          </a:prstGeom>
          <a:noFill/>
        </p:spPr>
        <p:txBody>
          <a:bodyPr wrap="square" lIns="0" rIns="0" tIns="0" bIns="0">
            <a:spAutoFit/>
          </a:bodyPr>
          <a:lstStyle/>
          <a:p>
            <a:pPr algn="l"/>
            <a:r>
              <a:rPr sz="900" b="0">
                <a:solidFill>
                  <a:srgbClr val="5A6478"/>
                </a:solidFill>
                <a:latin typeface="Segoe UI"/>
              </a:rPr>
              <a:t>seat suites and vertical records (convert or compress) + the per-action rails, Twilio and Bandwidth — where machine labor lands</a:t>
            </a:r>
          </a:p>
        </p:txBody>
      </p:sp>
      <p:sp>
        <p:nvSpPr>
          <p:cNvPr id="39" name="TextBox 38"/>
          <p:cNvSpPr txBox="1"/>
          <p:nvPr/>
        </p:nvSpPr>
        <p:spPr>
          <a:xfrm>
            <a:off x="6035040" y="1737360"/>
            <a:ext cx="822960" cy="365760"/>
          </a:xfrm>
          <a:prstGeom prst="rect">
            <a:avLst/>
          </a:prstGeom>
          <a:noFill/>
        </p:spPr>
        <p:txBody>
          <a:bodyPr wrap="square" lIns="0" rIns="0" tIns="0" bIns="0">
            <a:spAutoFit/>
          </a:bodyPr>
          <a:lstStyle/>
          <a:p>
            <a:pPr algn="l"/>
            <a:r>
              <a:rPr sz="1500" b="1">
                <a:solidFill>
                  <a:srgbClr val="5A6478"/>
                </a:solidFill>
                <a:latin typeface="Segoe UI"/>
              </a:rPr>
              <a:t>42</a:t>
            </a:r>
          </a:p>
        </p:txBody>
      </p:sp>
      <p:sp>
        <p:nvSpPr>
          <p:cNvPr id="40" name="TextBox 39"/>
          <p:cNvSpPr txBox="1"/>
          <p:nvPr/>
        </p:nvSpPr>
        <p:spPr>
          <a:xfrm>
            <a:off x="9692640" y="1810512"/>
            <a:ext cx="1874519" cy="256032"/>
          </a:xfrm>
          <a:prstGeom prst="rect">
            <a:avLst/>
          </a:prstGeom>
          <a:noFill/>
        </p:spPr>
        <p:txBody>
          <a:bodyPr wrap="square" lIns="0" rIns="0" tIns="0" bIns="0">
            <a:spAutoFit/>
          </a:bodyPr>
          <a:lstStyle/>
          <a:p>
            <a:pPr algn="l"/>
            <a:r>
              <a:rPr sz="850" b="1">
                <a:solidFill>
                  <a:srgbClr val="2777EF"/>
                </a:solidFill>
                <a:latin typeface="Segoe UI"/>
              </a:rPr>
              <a:t>WORKSITE</a:t>
            </a:r>
          </a:p>
        </p:txBody>
      </p:sp>
      <p:sp>
        <p:nvSpPr>
          <p:cNvPr id="41" name="Rounded Rectangle 40"/>
          <p:cNvSpPr/>
          <p:nvPr/>
        </p:nvSpPr>
        <p:spPr>
          <a:xfrm>
            <a:off x="777240" y="2487168"/>
            <a:ext cx="10954512" cy="731520"/>
          </a:xfrm>
          <a:prstGeom prst="roundRect">
            <a:avLst>
              <a:gd name="adj" fmla="val 6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 y="2596896"/>
            <a:ext cx="548640" cy="274320"/>
          </a:xfrm>
          <a:prstGeom prst="rect">
            <a:avLst/>
          </a:prstGeom>
          <a:noFill/>
        </p:spPr>
        <p:txBody>
          <a:bodyPr wrap="square" lIns="0" rIns="0" tIns="0" bIns="0">
            <a:spAutoFit/>
          </a:bodyPr>
          <a:lstStyle/>
          <a:p>
            <a:pPr algn="l"/>
            <a:r>
              <a:rPr sz="1300" b="1">
                <a:solidFill>
                  <a:srgbClr val="1B3F8F"/>
                </a:solidFill>
                <a:latin typeface="Segoe UI"/>
              </a:rPr>
              <a:t>L3</a:t>
            </a:r>
          </a:p>
        </p:txBody>
      </p:sp>
      <p:sp>
        <p:nvSpPr>
          <p:cNvPr id="43" name="TextBox 42"/>
          <p:cNvSpPr txBox="1"/>
          <p:nvPr/>
        </p:nvSpPr>
        <p:spPr>
          <a:xfrm>
            <a:off x="1645920" y="2578608"/>
            <a:ext cx="4206240" cy="256032"/>
          </a:xfrm>
          <a:prstGeom prst="rect">
            <a:avLst/>
          </a:prstGeom>
          <a:noFill/>
        </p:spPr>
        <p:txBody>
          <a:bodyPr wrap="square" lIns="0" rIns="0" tIns="0" bIns="0">
            <a:spAutoFit/>
          </a:bodyPr>
          <a:lstStyle/>
          <a:p>
            <a:pPr algn="l"/>
            <a:r>
              <a:rPr sz="1100" b="1">
                <a:solidFill>
                  <a:srgbClr val="1A2233"/>
                </a:solidFill>
                <a:latin typeface="Segoe UI"/>
              </a:rPr>
              <a:t>Agent runtime &amp; control plane</a:t>
            </a:r>
          </a:p>
        </p:txBody>
      </p:sp>
      <p:sp>
        <p:nvSpPr>
          <p:cNvPr id="44" name="TextBox 43"/>
          <p:cNvSpPr txBox="1"/>
          <p:nvPr/>
        </p:nvSpPr>
        <p:spPr>
          <a:xfrm>
            <a:off x="1645920" y="2871215"/>
            <a:ext cx="9692640" cy="256032"/>
          </a:xfrm>
          <a:prstGeom prst="rect">
            <a:avLst/>
          </a:prstGeom>
          <a:noFill/>
        </p:spPr>
        <p:txBody>
          <a:bodyPr wrap="square" lIns="0" rIns="0" tIns="0" bIns="0">
            <a:spAutoFit/>
          </a:bodyPr>
          <a:lstStyle/>
          <a:p>
            <a:pPr algn="l"/>
            <a:r>
              <a:rPr sz="900" b="0">
                <a:solidFill>
                  <a:srgbClr val="5A6478"/>
                </a:solidFill>
                <a:latin typeface="Segoe UI"/>
              </a:rPr>
              <a:t>the work meters — runtime, observability, security, identity, audit</a:t>
            </a:r>
          </a:p>
        </p:txBody>
      </p:sp>
      <p:sp>
        <p:nvSpPr>
          <p:cNvPr id="45" name="TextBox 44"/>
          <p:cNvSpPr txBox="1"/>
          <p:nvPr/>
        </p:nvSpPr>
        <p:spPr>
          <a:xfrm>
            <a:off x="6035040" y="2596896"/>
            <a:ext cx="822960" cy="365760"/>
          </a:xfrm>
          <a:prstGeom prst="rect">
            <a:avLst/>
          </a:prstGeom>
          <a:noFill/>
        </p:spPr>
        <p:txBody>
          <a:bodyPr wrap="square" lIns="0" rIns="0" tIns="0" bIns="0">
            <a:spAutoFit/>
          </a:bodyPr>
          <a:lstStyle/>
          <a:p>
            <a:pPr algn="l"/>
            <a:r>
              <a:rPr sz="1500" b="1">
                <a:solidFill>
                  <a:srgbClr val="1B3F8F"/>
                </a:solidFill>
                <a:latin typeface="Segoe UI"/>
              </a:rPr>
              <a:t>19</a:t>
            </a:r>
          </a:p>
        </p:txBody>
      </p:sp>
      <p:sp>
        <p:nvSpPr>
          <p:cNvPr id="46" name="TextBox 45"/>
          <p:cNvSpPr txBox="1"/>
          <p:nvPr/>
        </p:nvSpPr>
        <p:spPr>
          <a:xfrm>
            <a:off x="9692640" y="2670048"/>
            <a:ext cx="1874519" cy="256032"/>
          </a:xfrm>
          <a:prstGeom prst="rect">
            <a:avLst/>
          </a:prstGeom>
          <a:noFill/>
        </p:spPr>
        <p:txBody>
          <a:bodyPr wrap="square" lIns="0" rIns="0" tIns="0" bIns="0">
            <a:spAutoFit/>
          </a:bodyPr>
          <a:lstStyle/>
          <a:p>
            <a:pPr algn="l"/>
            <a:r>
              <a:rPr sz="850" b="1">
                <a:solidFill>
                  <a:srgbClr val="2777EF"/>
                </a:solidFill>
                <a:latin typeface="Segoe UI"/>
              </a:rPr>
              <a:t>BACKEND · KEY</a:t>
            </a:r>
          </a:p>
        </p:txBody>
      </p:sp>
      <p:sp>
        <p:nvSpPr>
          <p:cNvPr id="47" name="Rounded Rectangle 46"/>
          <p:cNvSpPr/>
          <p:nvPr/>
        </p:nvSpPr>
        <p:spPr>
          <a:xfrm>
            <a:off x="777240" y="3346703"/>
            <a:ext cx="10954512" cy="731520"/>
          </a:xfrm>
          <a:prstGeom prst="roundRect">
            <a:avLst>
              <a:gd name="adj" fmla="val 6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05840" y="3456432"/>
            <a:ext cx="548640" cy="274320"/>
          </a:xfrm>
          <a:prstGeom prst="rect">
            <a:avLst/>
          </a:prstGeom>
          <a:noFill/>
        </p:spPr>
        <p:txBody>
          <a:bodyPr wrap="square" lIns="0" rIns="0" tIns="0" bIns="0">
            <a:spAutoFit/>
          </a:bodyPr>
          <a:lstStyle/>
          <a:p>
            <a:pPr algn="l"/>
            <a:r>
              <a:rPr sz="1300" b="1">
                <a:solidFill>
                  <a:srgbClr val="0B8BB5"/>
                </a:solidFill>
                <a:latin typeface="Segoe UI"/>
              </a:rPr>
              <a:t>L2</a:t>
            </a:r>
          </a:p>
        </p:txBody>
      </p:sp>
      <p:sp>
        <p:nvSpPr>
          <p:cNvPr id="49" name="TextBox 48"/>
          <p:cNvSpPr txBox="1"/>
          <p:nvPr/>
        </p:nvSpPr>
        <p:spPr>
          <a:xfrm>
            <a:off x="1645920" y="3438144"/>
            <a:ext cx="4206240" cy="256032"/>
          </a:xfrm>
          <a:prstGeom prst="rect">
            <a:avLst/>
          </a:prstGeom>
          <a:noFill/>
        </p:spPr>
        <p:txBody>
          <a:bodyPr wrap="square" lIns="0" rIns="0" tIns="0" bIns="0">
            <a:spAutoFit/>
          </a:bodyPr>
          <a:lstStyle/>
          <a:p>
            <a:pPr algn="l"/>
            <a:r>
              <a:rPr sz="1100" b="1">
                <a:solidFill>
                  <a:srgbClr val="1A2233"/>
                </a:solidFill>
                <a:latin typeface="Segoe UI"/>
              </a:rPr>
              <a:t>State, data &amp; systems infrastructure</a:t>
            </a:r>
          </a:p>
        </p:txBody>
      </p:sp>
      <p:sp>
        <p:nvSpPr>
          <p:cNvPr id="50" name="TextBox 49"/>
          <p:cNvSpPr txBox="1"/>
          <p:nvPr/>
        </p:nvSpPr>
        <p:spPr>
          <a:xfrm>
            <a:off x="1645920" y="3730752"/>
            <a:ext cx="9692640" cy="256032"/>
          </a:xfrm>
          <a:prstGeom prst="rect">
            <a:avLst/>
          </a:prstGeom>
          <a:noFill/>
        </p:spPr>
        <p:txBody>
          <a:bodyPr wrap="square" lIns="0" rIns="0" tIns="0" bIns="0">
            <a:spAutoFit/>
          </a:bodyPr>
          <a:lstStyle/>
          <a:p>
            <a:pPr algn="l"/>
            <a:r>
              <a:rPr sz="900" b="0">
                <a:solidFill>
                  <a:srgbClr val="5A6478"/>
                </a:solidFill>
                <a:latin typeface="Segoe UI"/>
              </a:rPr>
              <a:t>the state meters — operational, analytical, retrieval, edge</a:t>
            </a:r>
          </a:p>
        </p:txBody>
      </p:sp>
      <p:sp>
        <p:nvSpPr>
          <p:cNvPr id="51" name="TextBox 50"/>
          <p:cNvSpPr txBox="1"/>
          <p:nvPr/>
        </p:nvSpPr>
        <p:spPr>
          <a:xfrm>
            <a:off x="6035040" y="3456432"/>
            <a:ext cx="822960" cy="365760"/>
          </a:xfrm>
          <a:prstGeom prst="rect">
            <a:avLst/>
          </a:prstGeom>
          <a:noFill/>
        </p:spPr>
        <p:txBody>
          <a:bodyPr wrap="square" lIns="0" rIns="0" tIns="0" bIns="0">
            <a:spAutoFit/>
          </a:bodyPr>
          <a:lstStyle/>
          <a:p>
            <a:pPr algn="l"/>
            <a:r>
              <a:rPr sz="1500" b="1">
                <a:solidFill>
                  <a:srgbClr val="0B8BB5"/>
                </a:solidFill>
                <a:latin typeface="Segoe UI"/>
              </a:rPr>
              <a:t>6</a:t>
            </a:r>
          </a:p>
        </p:txBody>
      </p:sp>
      <p:sp>
        <p:nvSpPr>
          <p:cNvPr id="52" name="TextBox 51"/>
          <p:cNvSpPr txBox="1"/>
          <p:nvPr/>
        </p:nvSpPr>
        <p:spPr>
          <a:xfrm>
            <a:off x="9692640" y="3529584"/>
            <a:ext cx="1874519" cy="256032"/>
          </a:xfrm>
          <a:prstGeom prst="rect">
            <a:avLst/>
          </a:prstGeom>
          <a:noFill/>
        </p:spPr>
        <p:txBody>
          <a:bodyPr wrap="square" lIns="0" rIns="0" tIns="0" bIns="0">
            <a:spAutoFit/>
          </a:bodyPr>
          <a:lstStyle/>
          <a:p>
            <a:pPr algn="l"/>
            <a:r>
              <a:rPr sz="850" b="1">
                <a:solidFill>
                  <a:srgbClr val="2777EF"/>
                </a:solidFill>
                <a:latin typeface="Segoe UI"/>
              </a:rPr>
              <a:t>BACKEND · KEY</a:t>
            </a:r>
          </a:p>
        </p:txBody>
      </p:sp>
      <p:sp>
        <p:nvSpPr>
          <p:cNvPr id="53" name="Rounded Rectangle 52"/>
          <p:cNvSpPr/>
          <p:nvPr/>
        </p:nvSpPr>
        <p:spPr>
          <a:xfrm>
            <a:off x="777240" y="4206240"/>
            <a:ext cx="10954512" cy="7315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05840" y="4315968"/>
            <a:ext cx="548640" cy="274320"/>
          </a:xfrm>
          <a:prstGeom prst="rect">
            <a:avLst/>
          </a:prstGeom>
          <a:noFill/>
        </p:spPr>
        <p:txBody>
          <a:bodyPr wrap="square" lIns="0" rIns="0" tIns="0" bIns="0">
            <a:spAutoFit/>
          </a:bodyPr>
          <a:lstStyle/>
          <a:p>
            <a:pPr algn="l"/>
            <a:r>
              <a:rPr sz="1300" b="1">
                <a:solidFill>
                  <a:srgbClr val="8A97B0"/>
                </a:solidFill>
                <a:latin typeface="Segoe UI"/>
              </a:rPr>
              <a:t>L1</a:t>
            </a:r>
          </a:p>
        </p:txBody>
      </p:sp>
      <p:sp>
        <p:nvSpPr>
          <p:cNvPr id="55" name="TextBox 54"/>
          <p:cNvSpPr txBox="1"/>
          <p:nvPr/>
        </p:nvSpPr>
        <p:spPr>
          <a:xfrm>
            <a:off x="1645920" y="4297679"/>
            <a:ext cx="4206240" cy="256032"/>
          </a:xfrm>
          <a:prstGeom prst="rect">
            <a:avLst/>
          </a:prstGeom>
          <a:noFill/>
        </p:spPr>
        <p:txBody>
          <a:bodyPr wrap="square" lIns="0" rIns="0" tIns="0" bIns="0">
            <a:spAutoFit/>
          </a:bodyPr>
          <a:lstStyle/>
          <a:p>
            <a:pPr algn="l"/>
            <a:r>
              <a:rPr sz="1100" b="1">
                <a:solidFill>
                  <a:srgbClr val="1A2233"/>
                </a:solidFill>
                <a:latin typeface="Segoe UI"/>
              </a:rPr>
              <a:t>Models &amp; inference software</a:t>
            </a:r>
          </a:p>
        </p:txBody>
      </p:sp>
      <p:sp>
        <p:nvSpPr>
          <p:cNvPr id="56" name="TextBox 55"/>
          <p:cNvSpPr txBox="1"/>
          <p:nvPr/>
        </p:nvSpPr>
        <p:spPr>
          <a:xfrm>
            <a:off x="1645920" y="4590288"/>
            <a:ext cx="9692640" cy="256032"/>
          </a:xfrm>
          <a:prstGeom prst="rect">
            <a:avLst/>
          </a:prstGeom>
          <a:noFill/>
        </p:spPr>
        <p:txBody>
          <a:bodyPr wrap="square" lIns="0" rIns="0" tIns="0" bIns="0">
            <a:spAutoFit/>
          </a:bodyPr>
          <a:lstStyle/>
          <a:p>
            <a:pPr algn="l"/>
            <a:r>
              <a:rPr sz="900" b="0">
                <a:solidFill>
                  <a:srgbClr val="5A6478"/>
                </a:solidFill>
                <a:latin typeface="Segoe UI"/>
              </a:rPr>
              <a:t>no public pure play — the labs are private; the biggest layer you cannot buy</a:t>
            </a:r>
          </a:p>
        </p:txBody>
      </p:sp>
      <p:sp>
        <p:nvSpPr>
          <p:cNvPr id="57" name="TextBox 56"/>
          <p:cNvSpPr txBox="1"/>
          <p:nvPr/>
        </p:nvSpPr>
        <p:spPr>
          <a:xfrm>
            <a:off x="6035040" y="4315968"/>
            <a:ext cx="822960" cy="365760"/>
          </a:xfrm>
          <a:prstGeom prst="rect">
            <a:avLst/>
          </a:prstGeom>
          <a:noFill/>
        </p:spPr>
        <p:txBody>
          <a:bodyPr wrap="square" lIns="0" rIns="0" tIns="0" bIns="0">
            <a:spAutoFit/>
          </a:bodyPr>
          <a:lstStyle/>
          <a:p>
            <a:pPr algn="l"/>
            <a:r>
              <a:rPr sz="1500" b="1">
                <a:solidFill>
                  <a:srgbClr val="8A97B0"/>
                </a:solidFill>
                <a:latin typeface="Segoe UI"/>
              </a:rPr>
              <a:t>—</a:t>
            </a:r>
          </a:p>
        </p:txBody>
      </p:sp>
      <p:sp>
        <p:nvSpPr>
          <p:cNvPr id="58" name="Rounded Rectangle 57"/>
          <p:cNvSpPr/>
          <p:nvPr/>
        </p:nvSpPr>
        <p:spPr>
          <a:xfrm>
            <a:off x="777240" y="5065775"/>
            <a:ext cx="10954512" cy="7315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05840" y="5175503"/>
            <a:ext cx="548640" cy="274320"/>
          </a:xfrm>
          <a:prstGeom prst="rect">
            <a:avLst/>
          </a:prstGeom>
          <a:noFill/>
        </p:spPr>
        <p:txBody>
          <a:bodyPr wrap="square" lIns="0" rIns="0" tIns="0" bIns="0">
            <a:spAutoFit/>
          </a:bodyPr>
          <a:lstStyle/>
          <a:p>
            <a:pPr algn="l"/>
            <a:r>
              <a:rPr sz="1300" b="1">
                <a:solidFill>
                  <a:srgbClr val="8A97B0"/>
                </a:solidFill>
                <a:latin typeface="Segoe UI"/>
              </a:rPr>
              <a:t>L0</a:t>
            </a:r>
          </a:p>
        </p:txBody>
      </p:sp>
      <p:sp>
        <p:nvSpPr>
          <p:cNvPr id="60" name="TextBox 59"/>
          <p:cNvSpPr txBox="1"/>
          <p:nvPr/>
        </p:nvSpPr>
        <p:spPr>
          <a:xfrm>
            <a:off x="1645920" y="5157215"/>
            <a:ext cx="4206240" cy="256032"/>
          </a:xfrm>
          <a:prstGeom prst="rect">
            <a:avLst/>
          </a:prstGeom>
          <a:noFill/>
        </p:spPr>
        <p:txBody>
          <a:bodyPr wrap="square" lIns="0" rIns="0" tIns="0" bIns="0">
            <a:spAutoFit/>
          </a:bodyPr>
          <a:lstStyle/>
          <a:p>
            <a:pPr algn="l"/>
            <a:r>
              <a:rPr sz="1100" b="1">
                <a:solidFill>
                  <a:srgbClr val="1A2233"/>
                </a:solidFill>
                <a:latin typeface="Segoe UI"/>
              </a:rPr>
              <a:t>Compute &amp; physical infrastructure</a:t>
            </a:r>
          </a:p>
        </p:txBody>
      </p:sp>
      <p:sp>
        <p:nvSpPr>
          <p:cNvPr id="61" name="TextBox 60"/>
          <p:cNvSpPr txBox="1"/>
          <p:nvPr/>
        </p:nvSpPr>
        <p:spPr>
          <a:xfrm>
            <a:off x="1645920" y="5449823"/>
            <a:ext cx="9692640" cy="256032"/>
          </a:xfrm>
          <a:prstGeom prst="rect">
            <a:avLst/>
          </a:prstGeom>
          <a:noFill/>
        </p:spPr>
        <p:txBody>
          <a:bodyPr wrap="square" lIns="0" rIns="0" tIns="0" bIns="0">
            <a:spAutoFit/>
          </a:bodyPr>
          <a:lstStyle/>
          <a:p>
            <a:pPr algn="l"/>
            <a:r>
              <a:rPr sz="900" b="0">
                <a:solidFill>
                  <a:srgbClr val="5A6478"/>
                </a:solidFill>
                <a:latin typeface="Segoe UI"/>
              </a:rPr>
              <a:t>outside a software universe by design — semis, data centers and metered compute, already priced</a:t>
            </a:r>
          </a:p>
        </p:txBody>
      </p:sp>
      <p:sp>
        <p:nvSpPr>
          <p:cNvPr id="62" name="TextBox 61"/>
          <p:cNvSpPr txBox="1"/>
          <p:nvPr/>
        </p:nvSpPr>
        <p:spPr>
          <a:xfrm>
            <a:off x="6035040" y="5175503"/>
            <a:ext cx="822960" cy="365760"/>
          </a:xfrm>
          <a:prstGeom prst="rect">
            <a:avLst/>
          </a:prstGeom>
          <a:noFill/>
        </p:spPr>
        <p:txBody>
          <a:bodyPr wrap="square" lIns="0" rIns="0" tIns="0" bIns="0">
            <a:spAutoFit/>
          </a:bodyPr>
          <a:lstStyle/>
          <a:p>
            <a:pPr algn="l"/>
            <a:r>
              <a:rPr sz="1500" b="1">
                <a:solidFill>
                  <a:srgbClr val="8A97B0"/>
                </a:solidFill>
                <a:latin typeface="Segoe UI"/>
              </a:rPr>
              <a: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Every name on the map: backend and worksite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FULL ROSTER — BACKEND (STATE · WORK) AND WORKSITE (RAILS · APPS) · CLASSIFICATION, NOT HOLDINGS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67 names, one cut  — the backend collects the royalty; the worksite is where machine labor lands. Part 04 draws the cohort from the backend alone.</a:t>
            </a:r>
            <a:r>
              <a:rPr sz="1200">
                <a:solidFill>
                  <a:srgbClr val="1A2233"/>
                </a:solidFill>
                <a:latin typeface="Calibri"/>
              </a:rPr>
              <a:t/>
            </a:r>
          </a:p>
        </p:txBody>
      </p:sp>
      <p:sp>
        <p:nvSpPr>
          <p:cNvPr id="38" name="TextBox 3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9" name="TextBox 3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45</a:t>
            </a:r>
          </a:p>
        </p:txBody>
      </p:sp>
      <p:sp>
        <p:nvSpPr>
          <p:cNvPr id="40" name="TextBox 39"/>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classification of the 67-name universe (p. 43–44); the consumption-revenue test follows in Part 04 (p. 71). Illustrative classification; not holdings or recommendations. All marks property of their owners.</a:t>
            </a:r>
          </a:p>
        </p:txBody>
      </p:sp>
      <p:sp>
        <p:nvSpPr>
          <p:cNvPr id="41" name="TextBox 40"/>
          <p:cNvSpPr txBox="1"/>
          <p:nvPr/>
        </p:nvSpPr>
        <p:spPr>
          <a:xfrm>
            <a:off x="777240" y="1481328"/>
            <a:ext cx="7315200" cy="201168"/>
          </a:xfrm>
          <a:prstGeom prst="rect">
            <a:avLst/>
          </a:prstGeom>
          <a:noFill/>
        </p:spPr>
        <p:txBody>
          <a:bodyPr wrap="square" lIns="0" rIns="0" tIns="0" bIns="0">
            <a:spAutoFit/>
          </a:bodyPr>
          <a:lstStyle/>
          <a:p>
            <a:pPr algn="l"/>
            <a:r>
              <a:rPr sz="1000" b="1">
                <a:solidFill>
                  <a:srgbClr val="0B8BB5"/>
                </a:solidFill>
                <a:latin typeface="Segoe UI"/>
              </a:rPr>
              <a:t>BACKEND — L2 · STATE (6)</a:t>
            </a:r>
          </a:p>
        </p:txBody>
      </p:sp>
      <p:sp>
        <p:nvSpPr>
          <p:cNvPr id="42" name="Rounded Rectangle 41"/>
          <p:cNvSpPr/>
          <p:nvPr/>
        </p:nvSpPr>
        <p:spPr>
          <a:xfrm>
            <a:off x="777240" y="1719072"/>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Snowflake</a:t>
            </a:r>
          </a:p>
        </p:txBody>
      </p:sp>
      <p:sp>
        <p:nvSpPr>
          <p:cNvPr id="43" name="Rounded Rectangle 42"/>
          <p:cNvSpPr/>
          <p:nvPr/>
        </p:nvSpPr>
        <p:spPr>
          <a:xfrm>
            <a:off x="1783080" y="1719072"/>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MongoDB</a:t>
            </a:r>
          </a:p>
        </p:txBody>
      </p:sp>
      <p:sp>
        <p:nvSpPr>
          <p:cNvPr id="44" name="Rounded Rectangle 43"/>
          <p:cNvSpPr/>
          <p:nvPr/>
        </p:nvSpPr>
        <p:spPr>
          <a:xfrm>
            <a:off x="2642616" y="1719072"/>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Elastic</a:t>
            </a:r>
          </a:p>
        </p:txBody>
      </p:sp>
      <p:sp>
        <p:nvSpPr>
          <p:cNvPr id="45" name="Rounded Rectangle 44"/>
          <p:cNvSpPr/>
          <p:nvPr/>
        </p:nvSpPr>
        <p:spPr>
          <a:xfrm>
            <a:off x="3502152" y="1719072"/>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Nutanix</a:t>
            </a:r>
          </a:p>
        </p:txBody>
      </p:sp>
      <p:sp>
        <p:nvSpPr>
          <p:cNvPr id="46" name="Rounded Rectangle 45"/>
          <p:cNvSpPr/>
          <p:nvPr/>
        </p:nvSpPr>
        <p:spPr>
          <a:xfrm>
            <a:off x="4361688" y="1719072"/>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Fastly</a:t>
            </a:r>
          </a:p>
        </p:txBody>
      </p:sp>
      <p:sp>
        <p:nvSpPr>
          <p:cNvPr id="47" name="Rounded Rectangle 46"/>
          <p:cNvSpPr/>
          <p:nvPr/>
        </p:nvSpPr>
        <p:spPr>
          <a:xfrm>
            <a:off x="5148072" y="1719072"/>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Amplitude</a:t>
            </a:r>
          </a:p>
        </p:txBody>
      </p:sp>
      <p:sp>
        <p:nvSpPr>
          <p:cNvPr id="48" name="TextBox 47"/>
          <p:cNvSpPr txBox="1"/>
          <p:nvPr/>
        </p:nvSpPr>
        <p:spPr>
          <a:xfrm>
            <a:off x="777240" y="2139696"/>
            <a:ext cx="7315200" cy="201168"/>
          </a:xfrm>
          <a:prstGeom prst="rect">
            <a:avLst/>
          </a:prstGeom>
          <a:noFill/>
        </p:spPr>
        <p:txBody>
          <a:bodyPr wrap="square" lIns="0" rIns="0" tIns="0" bIns="0">
            <a:spAutoFit/>
          </a:bodyPr>
          <a:lstStyle/>
          <a:p>
            <a:pPr algn="l"/>
            <a:r>
              <a:rPr sz="1000" b="1">
                <a:solidFill>
                  <a:srgbClr val="1B3F8F"/>
                </a:solidFill>
                <a:latin typeface="Segoe UI"/>
              </a:rPr>
              <a:t>BACKEND — L3 · WORK (19)</a:t>
            </a:r>
          </a:p>
        </p:txBody>
      </p:sp>
      <p:sp>
        <p:nvSpPr>
          <p:cNvPr id="49" name="Rounded Rectangle 48"/>
          <p:cNvSpPr/>
          <p:nvPr/>
        </p:nvSpPr>
        <p:spPr>
          <a:xfrm>
            <a:off x="777240" y="2377439"/>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Datadog</a:t>
            </a:r>
          </a:p>
        </p:txBody>
      </p:sp>
      <p:sp>
        <p:nvSpPr>
          <p:cNvPr id="50" name="Rounded Rectangle 49"/>
          <p:cNvSpPr/>
          <p:nvPr/>
        </p:nvSpPr>
        <p:spPr>
          <a:xfrm>
            <a:off x="1636776" y="2377439"/>
            <a:ext cx="98755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Cloudflare</a:t>
            </a:r>
          </a:p>
        </p:txBody>
      </p:sp>
      <p:sp>
        <p:nvSpPr>
          <p:cNvPr id="51" name="Rounded Rectangle 50"/>
          <p:cNvSpPr/>
          <p:nvPr/>
        </p:nvSpPr>
        <p:spPr>
          <a:xfrm>
            <a:off x="2715768" y="2377439"/>
            <a:ext cx="54864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Okta</a:t>
            </a:r>
          </a:p>
        </p:txBody>
      </p:sp>
      <p:sp>
        <p:nvSpPr>
          <p:cNvPr id="52" name="Rounded Rectangle 51"/>
          <p:cNvSpPr/>
          <p:nvPr/>
        </p:nvSpPr>
        <p:spPr>
          <a:xfrm>
            <a:off x="3355848" y="2377439"/>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GitLab</a:t>
            </a:r>
          </a:p>
        </p:txBody>
      </p:sp>
      <p:sp>
        <p:nvSpPr>
          <p:cNvPr id="53" name="Rounded Rectangle 52"/>
          <p:cNvSpPr/>
          <p:nvPr/>
        </p:nvSpPr>
        <p:spPr>
          <a:xfrm>
            <a:off x="4142232" y="2377439"/>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JFrog</a:t>
            </a:r>
          </a:p>
        </p:txBody>
      </p:sp>
      <p:sp>
        <p:nvSpPr>
          <p:cNvPr id="54" name="Rounded Rectangle 53"/>
          <p:cNvSpPr/>
          <p:nvPr/>
        </p:nvSpPr>
        <p:spPr>
          <a:xfrm>
            <a:off x="4855464" y="2377439"/>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Atlassian</a:t>
            </a:r>
          </a:p>
        </p:txBody>
      </p:sp>
      <p:sp>
        <p:nvSpPr>
          <p:cNvPr id="55" name="Rounded Rectangle 54"/>
          <p:cNvSpPr/>
          <p:nvPr/>
        </p:nvSpPr>
        <p:spPr>
          <a:xfrm>
            <a:off x="5861304" y="2377439"/>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Dynatrace</a:t>
            </a:r>
          </a:p>
        </p:txBody>
      </p:sp>
      <p:sp>
        <p:nvSpPr>
          <p:cNvPr id="56" name="Rounded Rectangle 55"/>
          <p:cNvSpPr/>
          <p:nvPr/>
        </p:nvSpPr>
        <p:spPr>
          <a:xfrm>
            <a:off x="6867144" y="2377439"/>
            <a:ext cx="106070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CrowdStrike</a:t>
            </a:r>
          </a:p>
        </p:txBody>
      </p:sp>
      <p:sp>
        <p:nvSpPr>
          <p:cNvPr id="57" name="Rounded Rectangle 56"/>
          <p:cNvSpPr/>
          <p:nvPr/>
        </p:nvSpPr>
        <p:spPr>
          <a:xfrm>
            <a:off x="8019288" y="2377439"/>
            <a:ext cx="106070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SentinelOne</a:t>
            </a:r>
          </a:p>
        </p:txBody>
      </p:sp>
      <p:sp>
        <p:nvSpPr>
          <p:cNvPr id="58" name="Rounded Rectangle 57"/>
          <p:cNvSpPr/>
          <p:nvPr/>
        </p:nvSpPr>
        <p:spPr>
          <a:xfrm>
            <a:off x="9171432" y="2377439"/>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Zscaler</a:t>
            </a:r>
          </a:p>
        </p:txBody>
      </p:sp>
      <p:sp>
        <p:nvSpPr>
          <p:cNvPr id="59" name="Rounded Rectangle 58"/>
          <p:cNvSpPr/>
          <p:nvPr/>
        </p:nvSpPr>
        <p:spPr>
          <a:xfrm>
            <a:off x="777240" y="2743199"/>
            <a:ext cx="157276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Palo Alto Networks</a:t>
            </a:r>
          </a:p>
        </p:txBody>
      </p:sp>
      <p:sp>
        <p:nvSpPr>
          <p:cNvPr id="60" name="Rounded Rectangle 59"/>
          <p:cNvSpPr/>
          <p:nvPr/>
        </p:nvSpPr>
        <p:spPr>
          <a:xfrm>
            <a:off x="2441448" y="2743199"/>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Rubrik</a:t>
            </a:r>
          </a:p>
        </p:txBody>
      </p:sp>
      <p:sp>
        <p:nvSpPr>
          <p:cNvPr id="61" name="Rounded Rectangle 60"/>
          <p:cNvSpPr/>
          <p:nvPr/>
        </p:nvSpPr>
        <p:spPr>
          <a:xfrm>
            <a:off x="3227832" y="2743199"/>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Tenable</a:t>
            </a:r>
          </a:p>
        </p:txBody>
      </p:sp>
      <p:sp>
        <p:nvSpPr>
          <p:cNvPr id="62" name="Rounded Rectangle 61"/>
          <p:cNvSpPr/>
          <p:nvPr/>
        </p:nvSpPr>
        <p:spPr>
          <a:xfrm>
            <a:off x="4087368" y="2743199"/>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Qualys</a:t>
            </a:r>
          </a:p>
        </p:txBody>
      </p:sp>
      <p:sp>
        <p:nvSpPr>
          <p:cNvPr id="63" name="Rounded Rectangle 62"/>
          <p:cNvSpPr/>
          <p:nvPr/>
        </p:nvSpPr>
        <p:spPr>
          <a:xfrm>
            <a:off x="4873752" y="2743199"/>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SailPoint</a:t>
            </a:r>
          </a:p>
        </p:txBody>
      </p:sp>
      <p:sp>
        <p:nvSpPr>
          <p:cNvPr id="64" name="Rounded Rectangle 63"/>
          <p:cNvSpPr/>
          <p:nvPr/>
        </p:nvSpPr>
        <p:spPr>
          <a:xfrm>
            <a:off x="5879592" y="2743199"/>
            <a:ext cx="98755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Cellebrite</a:t>
            </a:r>
          </a:p>
        </p:txBody>
      </p:sp>
      <p:sp>
        <p:nvSpPr>
          <p:cNvPr id="65" name="Rounded Rectangle 64"/>
          <p:cNvSpPr/>
          <p:nvPr/>
        </p:nvSpPr>
        <p:spPr>
          <a:xfrm>
            <a:off x="6958583" y="2743199"/>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Akamai</a:t>
            </a:r>
          </a:p>
        </p:txBody>
      </p:sp>
      <p:sp>
        <p:nvSpPr>
          <p:cNvPr id="66" name="Rounded Rectangle 65"/>
          <p:cNvSpPr/>
          <p:nvPr/>
        </p:nvSpPr>
        <p:spPr>
          <a:xfrm>
            <a:off x="7744967" y="2743199"/>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PagerDuty</a:t>
            </a:r>
          </a:p>
        </p:txBody>
      </p:sp>
      <p:sp>
        <p:nvSpPr>
          <p:cNvPr id="67" name="Rounded Rectangle 66"/>
          <p:cNvSpPr/>
          <p:nvPr/>
        </p:nvSpPr>
        <p:spPr>
          <a:xfrm>
            <a:off x="8750807" y="2743199"/>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Netskope</a:t>
            </a:r>
          </a:p>
        </p:txBody>
      </p:sp>
      <p:sp>
        <p:nvSpPr>
          <p:cNvPr id="68" name="TextBox 67"/>
          <p:cNvSpPr txBox="1"/>
          <p:nvPr/>
        </p:nvSpPr>
        <p:spPr>
          <a:xfrm>
            <a:off x="777240" y="3163823"/>
            <a:ext cx="10515600" cy="201168"/>
          </a:xfrm>
          <a:prstGeom prst="rect">
            <a:avLst/>
          </a:prstGeom>
          <a:noFill/>
        </p:spPr>
        <p:txBody>
          <a:bodyPr wrap="square" lIns="0" rIns="0" tIns="0" bIns="0">
            <a:spAutoFit/>
          </a:bodyPr>
          <a:lstStyle/>
          <a:p>
            <a:pPr algn="l"/>
            <a:r>
              <a:rPr sz="1000" b="1">
                <a:solidFill>
                  <a:srgbClr val="5A6478"/>
                </a:solidFill>
                <a:latin typeface="Segoe UI"/>
              </a:rPr>
              <a:t>WORKSITE — L4 · APPS, RECORDS &amp; ACTION RAILS (42)</a:t>
            </a:r>
          </a:p>
        </p:txBody>
      </p:sp>
      <p:sp>
        <p:nvSpPr>
          <p:cNvPr id="69" name="Rounded Rectangle 68"/>
          <p:cNvSpPr/>
          <p:nvPr/>
        </p:nvSpPr>
        <p:spPr>
          <a:xfrm>
            <a:off x="777240" y="3401567"/>
            <a:ext cx="694944" cy="283464"/>
          </a:xfrm>
          <a:prstGeom prst="roundRect">
            <a:avLst>
              <a:gd name="adj" fmla="val 50000"/>
            </a:avLst>
          </a:prstGeom>
          <a:solidFill>
            <a:srgbClr val="EAF1FE"/>
          </a:solidFill>
          <a:ln w="1143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Twilio</a:t>
            </a:r>
          </a:p>
        </p:txBody>
      </p:sp>
      <p:sp>
        <p:nvSpPr>
          <p:cNvPr id="70" name="Rounded Rectangle 69"/>
          <p:cNvSpPr/>
          <p:nvPr/>
        </p:nvSpPr>
        <p:spPr>
          <a:xfrm>
            <a:off x="1563624" y="3401567"/>
            <a:ext cx="914400" cy="283464"/>
          </a:xfrm>
          <a:prstGeom prst="roundRect">
            <a:avLst>
              <a:gd name="adj" fmla="val 50000"/>
            </a:avLst>
          </a:prstGeom>
          <a:solidFill>
            <a:srgbClr val="EAF1FE"/>
          </a:solidFill>
          <a:ln w="1143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Bandwidth</a:t>
            </a:r>
          </a:p>
        </p:txBody>
      </p:sp>
      <p:sp>
        <p:nvSpPr>
          <p:cNvPr id="71" name="Rounded Rectangle 70"/>
          <p:cNvSpPr/>
          <p:nvPr/>
        </p:nvSpPr>
        <p:spPr>
          <a:xfrm>
            <a:off x="2569464" y="3401567"/>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Adobe</a:t>
            </a:r>
          </a:p>
        </p:txBody>
      </p:sp>
      <p:sp>
        <p:nvSpPr>
          <p:cNvPr id="72" name="Rounded Rectangle 71"/>
          <p:cNvSpPr/>
          <p:nvPr/>
        </p:nvSpPr>
        <p:spPr>
          <a:xfrm>
            <a:off x="3282696" y="3401567"/>
            <a:ext cx="98755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Salesforce</a:t>
            </a:r>
          </a:p>
        </p:txBody>
      </p:sp>
      <p:sp>
        <p:nvSpPr>
          <p:cNvPr id="73" name="Rounded Rectangle 72"/>
          <p:cNvSpPr/>
          <p:nvPr/>
        </p:nvSpPr>
        <p:spPr>
          <a:xfrm>
            <a:off x="4361688" y="3401567"/>
            <a:ext cx="98755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ServiceNow</a:t>
            </a:r>
          </a:p>
        </p:txBody>
      </p:sp>
      <p:sp>
        <p:nvSpPr>
          <p:cNvPr id="74" name="Rounded Rectangle 73"/>
          <p:cNvSpPr/>
          <p:nvPr/>
        </p:nvSpPr>
        <p:spPr>
          <a:xfrm>
            <a:off x="5440679" y="3401567"/>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Workday</a:t>
            </a:r>
          </a:p>
        </p:txBody>
      </p:sp>
      <p:sp>
        <p:nvSpPr>
          <p:cNvPr id="75" name="Rounded Rectangle 74"/>
          <p:cNvSpPr/>
          <p:nvPr/>
        </p:nvSpPr>
        <p:spPr>
          <a:xfrm>
            <a:off x="6300216" y="3401567"/>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Shopify</a:t>
            </a:r>
          </a:p>
        </p:txBody>
      </p:sp>
      <p:sp>
        <p:nvSpPr>
          <p:cNvPr id="76" name="Rounded Rectangle 75"/>
          <p:cNvSpPr/>
          <p:nvPr/>
        </p:nvSpPr>
        <p:spPr>
          <a:xfrm>
            <a:off x="7159752" y="3401567"/>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Palantir</a:t>
            </a:r>
          </a:p>
        </p:txBody>
      </p:sp>
      <p:sp>
        <p:nvSpPr>
          <p:cNvPr id="77" name="Rounded Rectangle 76"/>
          <p:cNvSpPr/>
          <p:nvPr/>
        </p:nvSpPr>
        <p:spPr>
          <a:xfrm>
            <a:off x="8092440" y="3401567"/>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Samsara</a:t>
            </a:r>
          </a:p>
        </p:txBody>
      </p:sp>
      <p:sp>
        <p:nvSpPr>
          <p:cNvPr id="78" name="Rounded Rectangle 77"/>
          <p:cNvSpPr/>
          <p:nvPr/>
        </p:nvSpPr>
        <p:spPr>
          <a:xfrm>
            <a:off x="8951976" y="3401567"/>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Toast</a:t>
            </a:r>
          </a:p>
        </p:txBody>
      </p:sp>
      <p:sp>
        <p:nvSpPr>
          <p:cNvPr id="79" name="Rounded Rectangle 78"/>
          <p:cNvSpPr/>
          <p:nvPr/>
        </p:nvSpPr>
        <p:spPr>
          <a:xfrm>
            <a:off x="9665207" y="3401567"/>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Veeva</a:t>
            </a:r>
          </a:p>
        </p:txBody>
      </p:sp>
      <p:sp>
        <p:nvSpPr>
          <p:cNvPr id="80" name="Rounded Rectangle 79"/>
          <p:cNvSpPr/>
          <p:nvPr/>
        </p:nvSpPr>
        <p:spPr>
          <a:xfrm>
            <a:off x="10378439" y="3401567"/>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HubSpot</a:t>
            </a:r>
          </a:p>
        </p:txBody>
      </p:sp>
      <p:sp>
        <p:nvSpPr>
          <p:cNvPr id="81" name="Rounded Rectangle 80"/>
          <p:cNvSpPr/>
          <p:nvPr/>
        </p:nvSpPr>
        <p:spPr>
          <a:xfrm>
            <a:off x="777240" y="3767327"/>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Figma</a:t>
            </a:r>
          </a:p>
        </p:txBody>
      </p:sp>
      <p:sp>
        <p:nvSpPr>
          <p:cNvPr id="82" name="Rounded Rectangle 81"/>
          <p:cNvSpPr/>
          <p:nvPr/>
        </p:nvSpPr>
        <p:spPr>
          <a:xfrm>
            <a:off x="1490472" y="3767327"/>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DocuSign</a:t>
            </a:r>
          </a:p>
        </p:txBody>
      </p:sp>
      <p:sp>
        <p:nvSpPr>
          <p:cNvPr id="83" name="Rounded Rectangle 82"/>
          <p:cNvSpPr/>
          <p:nvPr/>
        </p:nvSpPr>
        <p:spPr>
          <a:xfrm>
            <a:off x="2423160" y="3767327"/>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Paycom</a:t>
            </a:r>
          </a:p>
        </p:txBody>
      </p:sp>
      <p:sp>
        <p:nvSpPr>
          <p:cNvPr id="84" name="Rounded Rectangle 83"/>
          <p:cNvSpPr/>
          <p:nvPr/>
        </p:nvSpPr>
        <p:spPr>
          <a:xfrm>
            <a:off x="3209544" y="3767327"/>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Paylocity</a:t>
            </a:r>
          </a:p>
        </p:txBody>
      </p:sp>
      <p:sp>
        <p:nvSpPr>
          <p:cNvPr id="85" name="Rounded Rectangle 84"/>
          <p:cNvSpPr/>
          <p:nvPr/>
        </p:nvSpPr>
        <p:spPr>
          <a:xfrm>
            <a:off x="4215383" y="3767327"/>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Procore</a:t>
            </a:r>
          </a:p>
        </p:txBody>
      </p:sp>
      <p:sp>
        <p:nvSpPr>
          <p:cNvPr id="86" name="Rounded Rectangle 85"/>
          <p:cNvSpPr/>
          <p:nvPr/>
        </p:nvSpPr>
        <p:spPr>
          <a:xfrm>
            <a:off x="5074920" y="3767327"/>
            <a:ext cx="113385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ServiceTitan</a:t>
            </a:r>
          </a:p>
        </p:txBody>
      </p:sp>
      <p:sp>
        <p:nvSpPr>
          <p:cNvPr id="87" name="Rounded Rectangle 86"/>
          <p:cNvSpPr/>
          <p:nvPr/>
        </p:nvSpPr>
        <p:spPr>
          <a:xfrm>
            <a:off x="6300216" y="3767327"/>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UiPath</a:t>
            </a:r>
          </a:p>
        </p:txBody>
      </p:sp>
      <p:sp>
        <p:nvSpPr>
          <p:cNvPr id="88" name="Rounded Rectangle 87"/>
          <p:cNvSpPr/>
          <p:nvPr/>
        </p:nvSpPr>
        <p:spPr>
          <a:xfrm>
            <a:off x="7086600" y="3767327"/>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AppFolio</a:t>
            </a:r>
          </a:p>
        </p:txBody>
      </p:sp>
      <p:sp>
        <p:nvSpPr>
          <p:cNvPr id="89" name="Rounded Rectangle 88"/>
          <p:cNvSpPr/>
          <p:nvPr/>
        </p:nvSpPr>
        <p:spPr>
          <a:xfrm>
            <a:off x="8019288" y="3767327"/>
            <a:ext cx="54864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Zeta</a:t>
            </a:r>
          </a:p>
        </p:txBody>
      </p:sp>
      <p:sp>
        <p:nvSpPr>
          <p:cNvPr id="90" name="Rounded Rectangle 89"/>
          <p:cNvSpPr/>
          <p:nvPr/>
        </p:nvSpPr>
        <p:spPr>
          <a:xfrm>
            <a:off x="8659367" y="3767327"/>
            <a:ext cx="106070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RingCentral</a:t>
            </a:r>
          </a:p>
        </p:txBody>
      </p:sp>
      <p:sp>
        <p:nvSpPr>
          <p:cNvPr id="91" name="Rounded Rectangle 90"/>
          <p:cNvSpPr/>
          <p:nvPr/>
        </p:nvSpPr>
        <p:spPr>
          <a:xfrm>
            <a:off x="9811511" y="3767327"/>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Klaviyo</a:t>
            </a:r>
          </a:p>
        </p:txBody>
      </p:sp>
      <p:sp>
        <p:nvSpPr>
          <p:cNvPr id="92" name="Rounded Rectangle 91"/>
          <p:cNvSpPr/>
          <p:nvPr/>
        </p:nvSpPr>
        <p:spPr>
          <a:xfrm>
            <a:off x="10671047" y="3767327"/>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Bill.com</a:t>
            </a:r>
          </a:p>
        </p:txBody>
      </p:sp>
      <p:sp>
        <p:nvSpPr>
          <p:cNvPr id="93" name="Rounded Rectangle 92"/>
          <p:cNvSpPr/>
          <p:nvPr/>
        </p:nvSpPr>
        <p:spPr>
          <a:xfrm>
            <a:off x="777240" y="4133087"/>
            <a:ext cx="40233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Q2</a:t>
            </a:r>
          </a:p>
        </p:txBody>
      </p:sp>
      <p:sp>
        <p:nvSpPr>
          <p:cNvPr id="94" name="Rounded Rectangle 93"/>
          <p:cNvSpPr/>
          <p:nvPr/>
        </p:nvSpPr>
        <p:spPr>
          <a:xfrm>
            <a:off x="1271016" y="4133087"/>
            <a:ext cx="98755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Monday.com</a:t>
            </a:r>
          </a:p>
        </p:txBody>
      </p:sp>
      <p:sp>
        <p:nvSpPr>
          <p:cNvPr id="95" name="Rounded Rectangle 94"/>
          <p:cNvSpPr/>
          <p:nvPr/>
        </p:nvSpPr>
        <p:spPr>
          <a:xfrm>
            <a:off x="2350008" y="4133087"/>
            <a:ext cx="76809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Workiva</a:t>
            </a:r>
          </a:p>
        </p:txBody>
      </p:sp>
      <p:sp>
        <p:nvSpPr>
          <p:cNvPr id="96" name="Rounded Rectangle 95"/>
          <p:cNvSpPr/>
          <p:nvPr/>
        </p:nvSpPr>
        <p:spPr>
          <a:xfrm>
            <a:off x="3209544" y="4133087"/>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Braze</a:t>
            </a:r>
          </a:p>
        </p:txBody>
      </p:sp>
      <p:sp>
        <p:nvSpPr>
          <p:cNvPr id="97" name="Rounded Rectangle 96"/>
          <p:cNvSpPr/>
          <p:nvPr/>
        </p:nvSpPr>
        <p:spPr>
          <a:xfrm>
            <a:off x="3922776" y="4133087"/>
            <a:ext cx="98755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Freshworks</a:t>
            </a:r>
          </a:p>
        </p:txBody>
      </p:sp>
      <p:sp>
        <p:nvSpPr>
          <p:cNvPr id="98" name="Rounded Rectangle 97"/>
          <p:cNvSpPr/>
          <p:nvPr/>
        </p:nvSpPr>
        <p:spPr>
          <a:xfrm>
            <a:off x="5001768" y="4133087"/>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Agilysys</a:t>
            </a:r>
          </a:p>
        </p:txBody>
      </p:sp>
      <p:sp>
        <p:nvSpPr>
          <p:cNvPr id="99" name="Rounded Rectangle 98"/>
          <p:cNvSpPr/>
          <p:nvPr/>
        </p:nvSpPr>
        <p:spPr>
          <a:xfrm>
            <a:off x="5934456" y="4133087"/>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Intapp</a:t>
            </a:r>
          </a:p>
        </p:txBody>
      </p:sp>
      <p:sp>
        <p:nvSpPr>
          <p:cNvPr id="100" name="Rounded Rectangle 99"/>
          <p:cNvSpPr/>
          <p:nvPr/>
        </p:nvSpPr>
        <p:spPr>
          <a:xfrm>
            <a:off x="6720840" y="4133087"/>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AvePoint</a:t>
            </a:r>
          </a:p>
        </p:txBody>
      </p:sp>
      <p:sp>
        <p:nvSpPr>
          <p:cNvPr id="101" name="Rounded Rectangle 100"/>
          <p:cNvSpPr/>
          <p:nvPr/>
        </p:nvSpPr>
        <p:spPr>
          <a:xfrm>
            <a:off x="7653528" y="4133087"/>
            <a:ext cx="1133856"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SPS Commerce</a:t>
            </a:r>
          </a:p>
        </p:txBody>
      </p:sp>
      <p:sp>
        <p:nvSpPr>
          <p:cNvPr id="102" name="Rounded Rectangle 101"/>
          <p:cNvSpPr/>
          <p:nvPr/>
        </p:nvSpPr>
        <p:spPr>
          <a:xfrm>
            <a:off x="8878824" y="4133087"/>
            <a:ext cx="47548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Wix</a:t>
            </a:r>
          </a:p>
        </p:txBody>
      </p:sp>
      <p:sp>
        <p:nvSpPr>
          <p:cNvPr id="103" name="Rounded Rectangle 102"/>
          <p:cNvSpPr/>
          <p:nvPr/>
        </p:nvSpPr>
        <p:spPr>
          <a:xfrm>
            <a:off x="9445752" y="4133087"/>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Five9</a:t>
            </a:r>
          </a:p>
        </p:txBody>
      </p:sp>
      <p:sp>
        <p:nvSpPr>
          <p:cNvPr id="104" name="Rounded Rectangle 103"/>
          <p:cNvSpPr/>
          <p:nvPr/>
        </p:nvSpPr>
        <p:spPr>
          <a:xfrm>
            <a:off x="10158984" y="4133087"/>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Asana</a:t>
            </a:r>
          </a:p>
        </p:txBody>
      </p:sp>
      <p:sp>
        <p:nvSpPr>
          <p:cNvPr id="105" name="Rounded Rectangle 104"/>
          <p:cNvSpPr/>
          <p:nvPr/>
        </p:nvSpPr>
        <p:spPr>
          <a:xfrm>
            <a:off x="777240" y="4498848"/>
            <a:ext cx="694944"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Alkami</a:t>
            </a:r>
          </a:p>
        </p:txBody>
      </p:sp>
      <p:sp>
        <p:nvSpPr>
          <p:cNvPr id="106" name="Rounded Rectangle 105"/>
          <p:cNvSpPr/>
          <p:nvPr/>
        </p:nvSpPr>
        <p:spPr>
          <a:xfrm>
            <a:off x="1563624" y="4498848"/>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nCino</a:t>
            </a:r>
          </a:p>
        </p:txBody>
      </p:sp>
      <p:sp>
        <p:nvSpPr>
          <p:cNvPr id="107" name="Rounded Rectangle 106"/>
          <p:cNvSpPr/>
          <p:nvPr/>
        </p:nvSpPr>
        <p:spPr>
          <a:xfrm>
            <a:off x="2276856" y="4498848"/>
            <a:ext cx="914400"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BlackLine</a:t>
            </a:r>
          </a:p>
        </p:txBody>
      </p:sp>
      <p:sp>
        <p:nvSpPr>
          <p:cNvPr id="108" name="Rounded Rectangle 107"/>
          <p:cNvSpPr/>
          <p:nvPr/>
        </p:nvSpPr>
        <p:spPr>
          <a:xfrm>
            <a:off x="3282696" y="4498848"/>
            <a:ext cx="841248"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Sprinklr</a:t>
            </a:r>
          </a:p>
        </p:txBody>
      </p:sp>
      <p:sp>
        <p:nvSpPr>
          <p:cNvPr id="109" name="Rounded Rectangle 108"/>
          <p:cNvSpPr/>
          <p:nvPr/>
        </p:nvSpPr>
        <p:spPr>
          <a:xfrm>
            <a:off x="4215384" y="4498848"/>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C3.ai</a:t>
            </a:r>
          </a:p>
        </p:txBody>
      </p:sp>
      <p:sp>
        <p:nvSpPr>
          <p:cNvPr id="110" name="Rounded Rectangle 109"/>
          <p:cNvSpPr/>
          <p:nvPr/>
        </p:nvSpPr>
        <p:spPr>
          <a:xfrm>
            <a:off x="4928616" y="4498848"/>
            <a:ext cx="621792" cy="283464"/>
          </a:xfrm>
          <a:prstGeom prst="roundRect">
            <a:avLst>
              <a:gd name="adj" fmla="val 50000"/>
            </a:avLst>
          </a:prstGeom>
          <a:solidFill>
            <a:srgbClr val="FFFFFF"/>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850" b="1">
                <a:solidFill>
                  <a:srgbClr val="1A2233"/>
                </a:solidFill>
                <a:latin typeface="Segoe UI"/>
              </a:rPr>
              <a:t>Weave</a:t>
            </a:r>
          </a:p>
        </p:txBody>
      </p:sp>
      <p:sp>
        <p:nvSpPr>
          <p:cNvPr id="111" name="TextBox 110"/>
          <p:cNvSpPr txBox="1"/>
          <p:nvPr/>
        </p:nvSpPr>
        <p:spPr>
          <a:xfrm>
            <a:off x="777240" y="4901184"/>
            <a:ext cx="10881360" cy="219456"/>
          </a:xfrm>
          <a:prstGeom prst="rect">
            <a:avLst/>
          </a:prstGeom>
          <a:noFill/>
        </p:spPr>
        <p:txBody>
          <a:bodyPr wrap="square" lIns="0" rIns="0" tIns="0" bIns="0">
            <a:spAutoFit/>
          </a:bodyPr>
          <a:lstStyle/>
          <a:p>
            <a:pPr algn="l"/>
            <a:r>
              <a:rPr sz="850" b="0">
                <a:solidFill>
                  <a:srgbClr val="8A97B0"/>
                </a:solidFill>
                <a:latin typeface="Segoe UI"/>
              </a:rPr>
              <a:t>Tinted chips = the action rails, billed per machine action. All others: records, suites and seats.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next meters are still private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LEADING PRIVATE COMPANIES, MAPPED TO THE STACK — WHAT THE PUBLIC UNIVERSE CANNOT SEE YET</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777240" y="603504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runtime is being built in private</a:t>
            </a:r>
            <a:r>
              <a:rPr sz="1200">
                <a:solidFill>
                  <a:srgbClr val="1A2233"/>
                </a:solidFill>
                <a:latin typeface="Calibri"/>
              </a:rPr>
              <a:t>  — and layer 1 cannot be bought at all. Every name here is a future universe entrant, on IPO and one 10-K.</a:t>
            </a:r>
          </a:p>
        </p:txBody>
      </p:sp>
      <p:sp>
        <p:nvSpPr>
          <p:cNvPr id="42" name="TextBox 4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43" name="TextBox 4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46</a:t>
            </a:r>
          </a:p>
        </p:txBody>
      </p:sp>
      <p:sp>
        <p:nvSpPr>
          <p:cNvPr id="44" name="TextBox 4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Illustrative, non-exhaustive; private-company details per public disclosures, Aug 2026. Skycatcher holds venture interests in certain companies shown — see Disclosures. No offer or solicitation.</a:t>
            </a:r>
          </a:p>
        </p:txBody>
      </p:sp>
      <p:sp>
        <p:nvSpPr>
          <p:cNvPr id="45" name="Rounded Rectangle 44"/>
          <p:cNvSpPr/>
          <p:nvPr/>
        </p:nvSpPr>
        <p:spPr>
          <a:xfrm>
            <a:off x="777240" y="1572768"/>
            <a:ext cx="10954512" cy="932688"/>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 y="1719072"/>
            <a:ext cx="2103120" cy="237744"/>
          </a:xfrm>
          <a:prstGeom prst="rect">
            <a:avLst/>
          </a:prstGeom>
          <a:noFill/>
        </p:spPr>
        <p:txBody>
          <a:bodyPr wrap="square" lIns="0" rIns="0" tIns="0" bIns="0">
            <a:spAutoFit/>
          </a:bodyPr>
          <a:lstStyle/>
          <a:p>
            <a:pPr algn="l"/>
            <a:r>
              <a:rPr sz="1050" b="1">
                <a:solidFill>
                  <a:srgbClr val="2777EF"/>
                </a:solidFill>
                <a:latin typeface="Segoe UI"/>
              </a:rPr>
              <a:t>L3 · WORK — RUNTIME</a:t>
            </a:r>
          </a:p>
        </p:txBody>
      </p:sp>
      <p:sp>
        <p:nvSpPr>
          <p:cNvPr id="47" name="TextBox 46"/>
          <p:cNvSpPr txBox="1"/>
          <p:nvPr/>
        </p:nvSpPr>
        <p:spPr>
          <a:xfrm>
            <a:off x="1051560" y="2011680"/>
            <a:ext cx="2103120" cy="402336"/>
          </a:xfrm>
          <a:prstGeom prst="rect">
            <a:avLst/>
          </a:prstGeom>
          <a:noFill/>
        </p:spPr>
        <p:txBody>
          <a:bodyPr wrap="square" lIns="0" rIns="0" tIns="0" bIns="0">
            <a:spAutoFit/>
          </a:bodyPr>
          <a:lstStyle/>
          <a:p>
            <a:pPr algn="l"/>
            <a:r>
              <a:rPr sz="850" b="0">
                <a:solidFill>
                  <a:srgbClr val="5A6478"/>
                </a:solidFill>
                <a:latin typeface="Segoe UI"/>
              </a:rPr>
              <a:t>where the execution meter is being built</a:t>
            </a:r>
          </a:p>
        </p:txBody>
      </p:sp>
      <p:sp>
        <p:nvSpPr>
          <p:cNvPr id="48" name="Rounded Rectangle 47"/>
          <p:cNvSpPr/>
          <p:nvPr/>
        </p:nvSpPr>
        <p:spPr>
          <a:xfrm>
            <a:off x="3337560" y="1883664"/>
            <a:ext cx="874166"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Temporal</a:t>
            </a:r>
          </a:p>
        </p:txBody>
      </p:sp>
      <p:sp>
        <p:nvSpPr>
          <p:cNvPr id="49" name="Rounded Rectangle 48"/>
          <p:cNvSpPr/>
          <p:nvPr/>
        </p:nvSpPr>
        <p:spPr>
          <a:xfrm>
            <a:off x="4339742" y="1883664"/>
            <a:ext cx="72420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Vercel</a:t>
            </a:r>
          </a:p>
        </p:txBody>
      </p:sp>
      <p:sp>
        <p:nvSpPr>
          <p:cNvPr id="50" name="Rounded Rectangle 49"/>
          <p:cNvSpPr/>
          <p:nvPr/>
        </p:nvSpPr>
        <p:spPr>
          <a:xfrm>
            <a:off x="5191963" y="1883664"/>
            <a:ext cx="64922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Modal</a:t>
            </a:r>
          </a:p>
        </p:txBody>
      </p:sp>
      <p:sp>
        <p:nvSpPr>
          <p:cNvPr id="51" name="Rounded Rectangle 50"/>
          <p:cNvSpPr/>
          <p:nvPr/>
        </p:nvSpPr>
        <p:spPr>
          <a:xfrm>
            <a:off x="5969203" y="1883664"/>
            <a:ext cx="499262"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E2B</a:t>
            </a:r>
          </a:p>
        </p:txBody>
      </p:sp>
      <p:sp>
        <p:nvSpPr>
          <p:cNvPr id="52" name="Rounded Rectangle 51"/>
          <p:cNvSpPr/>
          <p:nvPr/>
        </p:nvSpPr>
        <p:spPr>
          <a:xfrm>
            <a:off x="6596481" y="1883664"/>
            <a:ext cx="1099108"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Browserbase</a:t>
            </a:r>
          </a:p>
        </p:txBody>
      </p:sp>
      <p:sp>
        <p:nvSpPr>
          <p:cNvPr id="53" name="Rounded Rectangle 52"/>
          <p:cNvSpPr/>
          <p:nvPr/>
        </p:nvSpPr>
        <p:spPr>
          <a:xfrm>
            <a:off x="7823606" y="1883664"/>
            <a:ext cx="949147"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LangChain</a:t>
            </a:r>
          </a:p>
        </p:txBody>
      </p:sp>
      <p:sp>
        <p:nvSpPr>
          <p:cNvPr id="54" name="Rounded Rectangle 53"/>
          <p:cNvSpPr/>
          <p:nvPr/>
        </p:nvSpPr>
        <p:spPr>
          <a:xfrm>
            <a:off x="8900769" y="1883664"/>
            <a:ext cx="72420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Replit</a:t>
            </a:r>
          </a:p>
        </p:txBody>
      </p:sp>
      <p:sp>
        <p:nvSpPr>
          <p:cNvPr id="55" name="Rounded Rectangle 54"/>
          <p:cNvSpPr/>
          <p:nvPr/>
        </p:nvSpPr>
        <p:spPr>
          <a:xfrm>
            <a:off x="9752990" y="1883664"/>
            <a:ext cx="72420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Cursor</a:t>
            </a:r>
          </a:p>
        </p:txBody>
      </p:sp>
      <p:sp>
        <p:nvSpPr>
          <p:cNvPr id="56" name="Rounded Rectangle 55"/>
          <p:cNvSpPr/>
          <p:nvPr/>
        </p:nvSpPr>
        <p:spPr>
          <a:xfrm>
            <a:off x="10605211" y="1883664"/>
            <a:ext cx="799185"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Lovable</a:t>
            </a:r>
          </a:p>
        </p:txBody>
      </p:sp>
      <p:sp>
        <p:nvSpPr>
          <p:cNvPr id="57" name="Rounded Rectangle 56"/>
          <p:cNvSpPr/>
          <p:nvPr/>
        </p:nvSpPr>
        <p:spPr>
          <a:xfrm>
            <a:off x="777240" y="2651760"/>
            <a:ext cx="10954512" cy="932688"/>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51560" y="2798064"/>
            <a:ext cx="2103120" cy="237744"/>
          </a:xfrm>
          <a:prstGeom prst="rect">
            <a:avLst/>
          </a:prstGeom>
          <a:noFill/>
        </p:spPr>
        <p:txBody>
          <a:bodyPr wrap="square" lIns="0" rIns="0" tIns="0" bIns="0">
            <a:spAutoFit/>
          </a:bodyPr>
          <a:lstStyle/>
          <a:p>
            <a:pPr algn="l"/>
            <a:r>
              <a:rPr sz="1050" b="1">
                <a:solidFill>
                  <a:srgbClr val="2777EF"/>
                </a:solidFill>
                <a:latin typeface="Segoe UI"/>
              </a:rPr>
              <a:t>L3 · WORK — CONTROL</a:t>
            </a:r>
          </a:p>
        </p:txBody>
      </p:sp>
      <p:sp>
        <p:nvSpPr>
          <p:cNvPr id="59" name="TextBox 58"/>
          <p:cNvSpPr txBox="1"/>
          <p:nvPr/>
        </p:nvSpPr>
        <p:spPr>
          <a:xfrm>
            <a:off x="1051560" y="3090672"/>
            <a:ext cx="2103120" cy="402336"/>
          </a:xfrm>
          <a:prstGeom prst="rect">
            <a:avLst/>
          </a:prstGeom>
          <a:noFill/>
        </p:spPr>
        <p:txBody>
          <a:bodyPr wrap="square" lIns="0" rIns="0" tIns="0" bIns="0">
            <a:spAutoFit/>
          </a:bodyPr>
          <a:lstStyle/>
          <a:p>
            <a:pPr algn="l"/>
            <a:r>
              <a:rPr sz="850" b="0">
                <a:solidFill>
                  <a:srgbClr val="5A6478"/>
                </a:solidFill>
                <a:latin typeface="Segoe UI"/>
              </a:rPr>
              <a:t>observability, compliance &amp; evals for agents</a:t>
            </a:r>
          </a:p>
        </p:txBody>
      </p:sp>
      <p:sp>
        <p:nvSpPr>
          <p:cNvPr id="60" name="Rounded Rectangle 59"/>
          <p:cNvSpPr/>
          <p:nvPr/>
        </p:nvSpPr>
        <p:spPr>
          <a:xfrm>
            <a:off x="3337560" y="2962656"/>
            <a:ext cx="799185"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Grafana</a:t>
            </a:r>
          </a:p>
        </p:txBody>
      </p:sp>
      <p:sp>
        <p:nvSpPr>
          <p:cNvPr id="61" name="Rounded Rectangle 60"/>
          <p:cNvSpPr/>
          <p:nvPr/>
        </p:nvSpPr>
        <p:spPr>
          <a:xfrm>
            <a:off x="4264761" y="2962656"/>
            <a:ext cx="574243"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Snyk</a:t>
            </a:r>
          </a:p>
        </p:txBody>
      </p:sp>
      <p:sp>
        <p:nvSpPr>
          <p:cNvPr id="62" name="Rounded Rectangle 61"/>
          <p:cNvSpPr/>
          <p:nvPr/>
        </p:nvSpPr>
        <p:spPr>
          <a:xfrm>
            <a:off x="4967020" y="2962656"/>
            <a:ext cx="64922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Vanta</a:t>
            </a:r>
          </a:p>
        </p:txBody>
      </p:sp>
      <p:sp>
        <p:nvSpPr>
          <p:cNvPr id="63" name="Rounded Rectangle 62"/>
          <p:cNvSpPr/>
          <p:nvPr/>
        </p:nvSpPr>
        <p:spPr>
          <a:xfrm>
            <a:off x="5744260" y="2962656"/>
            <a:ext cx="1024128"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Braintrust</a:t>
            </a:r>
          </a:p>
        </p:txBody>
      </p:sp>
      <p:sp>
        <p:nvSpPr>
          <p:cNvPr id="64" name="Rounded Rectangle 63"/>
          <p:cNvSpPr/>
          <p:nvPr/>
        </p:nvSpPr>
        <p:spPr>
          <a:xfrm>
            <a:off x="777240" y="3730752"/>
            <a:ext cx="10954512" cy="932688"/>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051560" y="3877056"/>
            <a:ext cx="2103120" cy="237744"/>
          </a:xfrm>
          <a:prstGeom prst="rect">
            <a:avLst/>
          </a:prstGeom>
          <a:noFill/>
        </p:spPr>
        <p:txBody>
          <a:bodyPr wrap="square" lIns="0" rIns="0" tIns="0" bIns="0">
            <a:spAutoFit/>
          </a:bodyPr>
          <a:lstStyle/>
          <a:p>
            <a:pPr algn="l"/>
            <a:r>
              <a:rPr sz="1050" b="1">
                <a:solidFill>
                  <a:srgbClr val="2777EF"/>
                </a:solidFill>
                <a:latin typeface="Segoe UI"/>
              </a:rPr>
              <a:t>L2 · STATE</a:t>
            </a:r>
          </a:p>
        </p:txBody>
      </p:sp>
      <p:sp>
        <p:nvSpPr>
          <p:cNvPr id="66" name="TextBox 65"/>
          <p:cNvSpPr txBox="1"/>
          <p:nvPr/>
        </p:nvSpPr>
        <p:spPr>
          <a:xfrm>
            <a:off x="1051560" y="4169664"/>
            <a:ext cx="2103120" cy="402336"/>
          </a:xfrm>
          <a:prstGeom prst="rect">
            <a:avLst/>
          </a:prstGeom>
          <a:noFill/>
        </p:spPr>
        <p:txBody>
          <a:bodyPr wrap="square" lIns="0" rIns="0" tIns="0" bIns="0">
            <a:spAutoFit/>
          </a:bodyPr>
          <a:lstStyle/>
          <a:p>
            <a:pPr algn="l"/>
            <a:r>
              <a:rPr sz="850" b="0">
                <a:solidFill>
                  <a:srgbClr val="5A6478"/>
                </a:solidFill>
                <a:latin typeface="Segoe UI"/>
              </a:rPr>
              <a:t>state platforms; one fuses state + execution</a:t>
            </a:r>
          </a:p>
        </p:txBody>
      </p:sp>
      <p:sp>
        <p:nvSpPr>
          <p:cNvPr id="67" name="Rounded Rectangle 66"/>
          <p:cNvSpPr/>
          <p:nvPr/>
        </p:nvSpPr>
        <p:spPr>
          <a:xfrm>
            <a:off x="3337560" y="4041648"/>
            <a:ext cx="1024128"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Databricks</a:t>
            </a:r>
          </a:p>
        </p:txBody>
      </p:sp>
      <p:sp>
        <p:nvSpPr>
          <p:cNvPr id="68" name="Rounded Rectangle 67"/>
          <p:cNvSpPr/>
          <p:nvPr/>
        </p:nvSpPr>
        <p:spPr>
          <a:xfrm>
            <a:off x="4489704" y="4041648"/>
            <a:ext cx="1024128"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ClickHouse</a:t>
            </a:r>
          </a:p>
        </p:txBody>
      </p:sp>
      <p:sp>
        <p:nvSpPr>
          <p:cNvPr id="69" name="Rounded Rectangle 68"/>
          <p:cNvSpPr/>
          <p:nvPr/>
        </p:nvSpPr>
        <p:spPr>
          <a:xfrm>
            <a:off x="5641848" y="4041648"/>
            <a:ext cx="64922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Redis</a:t>
            </a:r>
          </a:p>
        </p:txBody>
      </p:sp>
      <p:sp>
        <p:nvSpPr>
          <p:cNvPr id="70" name="Rounded Rectangle 69"/>
          <p:cNvSpPr/>
          <p:nvPr/>
        </p:nvSpPr>
        <p:spPr>
          <a:xfrm>
            <a:off x="6419088" y="4041648"/>
            <a:ext cx="874166"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Supabase</a:t>
            </a:r>
          </a:p>
        </p:txBody>
      </p:sp>
      <p:sp>
        <p:nvSpPr>
          <p:cNvPr id="71" name="Rounded Rectangle 70"/>
          <p:cNvSpPr/>
          <p:nvPr/>
        </p:nvSpPr>
        <p:spPr>
          <a:xfrm>
            <a:off x="7421270" y="4041648"/>
            <a:ext cx="874166"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Pinecone</a:t>
            </a:r>
          </a:p>
        </p:txBody>
      </p:sp>
      <p:sp>
        <p:nvSpPr>
          <p:cNvPr id="72" name="Rounded Rectangle 71"/>
          <p:cNvSpPr/>
          <p:nvPr/>
        </p:nvSpPr>
        <p:spPr>
          <a:xfrm>
            <a:off x="8423452" y="4041648"/>
            <a:ext cx="64922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Neo4j</a:t>
            </a:r>
          </a:p>
        </p:txBody>
      </p:sp>
      <p:sp>
        <p:nvSpPr>
          <p:cNvPr id="73" name="Rounded Rectangle 72"/>
          <p:cNvSpPr/>
          <p:nvPr/>
        </p:nvSpPr>
        <p:spPr>
          <a:xfrm>
            <a:off x="9200692" y="4041648"/>
            <a:ext cx="1099108"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SpacetimeDB</a:t>
            </a:r>
          </a:p>
        </p:txBody>
      </p:sp>
      <p:sp>
        <p:nvSpPr>
          <p:cNvPr id="74" name="Rounded Rectangle 73"/>
          <p:cNvSpPr/>
          <p:nvPr/>
        </p:nvSpPr>
        <p:spPr>
          <a:xfrm>
            <a:off x="777240" y="4809744"/>
            <a:ext cx="10954512" cy="932688"/>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1051560" y="4956048"/>
            <a:ext cx="2103120" cy="237744"/>
          </a:xfrm>
          <a:prstGeom prst="rect">
            <a:avLst/>
          </a:prstGeom>
          <a:noFill/>
        </p:spPr>
        <p:txBody>
          <a:bodyPr wrap="square" lIns="0" rIns="0" tIns="0" bIns="0">
            <a:spAutoFit/>
          </a:bodyPr>
          <a:lstStyle/>
          <a:p>
            <a:pPr algn="l"/>
            <a:r>
              <a:rPr sz="1050" b="1">
                <a:solidFill>
                  <a:srgbClr val="2777EF"/>
                </a:solidFill>
                <a:latin typeface="Segoe UI"/>
              </a:rPr>
              <a:t>L1 · INTELLIGENCE</a:t>
            </a:r>
          </a:p>
        </p:txBody>
      </p:sp>
      <p:sp>
        <p:nvSpPr>
          <p:cNvPr id="76" name="TextBox 75"/>
          <p:cNvSpPr txBox="1"/>
          <p:nvPr/>
        </p:nvSpPr>
        <p:spPr>
          <a:xfrm>
            <a:off x="1051560" y="5248656"/>
            <a:ext cx="2103120" cy="402336"/>
          </a:xfrm>
          <a:prstGeom prst="rect">
            <a:avLst/>
          </a:prstGeom>
          <a:noFill/>
        </p:spPr>
        <p:txBody>
          <a:bodyPr wrap="square" lIns="0" rIns="0" tIns="0" bIns="0">
            <a:spAutoFit/>
          </a:bodyPr>
          <a:lstStyle/>
          <a:p>
            <a:pPr algn="l"/>
            <a:r>
              <a:rPr sz="850" b="0">
                <a:solidFill>
                  <a:srgbClr val="5A6478"/>
                </a:solidFill>
                <a:latin typeface="Segoe UI"/>
              </a:rPr>
              <a:t>the biggest layer — zero public pure plays</a:t>
            </a:r>
          </a:p>
        </p:txBody>
      </p:sp>
      <p:sp>
        <p:nvSpPr>
          <p:cNvPr id="77" name="Rounded Rectangle 76"/>
          <p:cNvSpPr/>
          <p:nvPr/>
        </p:nvSpPr>
        <p:spPr>
          <a:xfrm>
            <a:off x="3337560" y="5120640"/>
            <a:ext cx="724204"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OpenAI</a:t>
            </a:r>
          </a:p>
        </p:txBody>
      </p:sp>
      <p:sp>
        <p:nvSpPr>
          <p:cNvPr id="78" name="Rounded Rectangle 77"/>
          <p:cNvSpPr/>
          <p:nvPr/>
        </p:nvSpPr>
        <p:spPr>
          <a:xfrm>
            <a:off x="4189780" y="5120640"/>
            <a:ext cx="949147"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Anthropic</a:t>
            </a:r>
          </a:p>
        </p:txBody>
      </p:sp>
      <p:sp>
        <p:nvSpPr>
          <p:cNvPr id="79" name="Rounded Rectangle 78"/>
          <p:cNvSpPr/>
          <p:nvPr/>
        </p:nvSpPr>
        <p:spPr>
          <a:xfrm>
            <a:off x="5266944" y="5120640"/>
            <a:ext cx="499262"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xAI</a:t>
            </a:r>
          </a:p>
        </p:txBody>
      </p:sp>
      <p:sp>
        <p:nvSpPr>
          <p:cNvPr id="80" name="Rounded Rectangle 79"/>
          <p:cNvSpPr/>
          <p:nvPr/>
        </p:nvSpPr>
        <p:spPr>
          <a:xfrm>
            <a:off x="5894222" y="5120640"/>
            <a:ext cx="799185" cy="310896"/>
          </a:xfrm>
          <a:prstGeom prst="roundRect">
            <a:avLst>
              <a:gd name="adj" fmla="val 50000"/>
            </a:avLst>
          </a:prstGeom>
          <a:solidFill>
            <a:srgbClr val="EAF1FE"/>
          </a:solidFill>
          <a:ln w="9525">
            <a:solidFill>
              <a:srgbClr val="A8C6F5"/>
            </a:solid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00" b="1">
                <a:solidFill>
                  <a:srgbClr val="1A2233"/>
                </a:solidFill>
                <a:latin typeface="Segoe UI"/>
              </a:rPr>
              <a:t>Mistral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Two ponds: one giant, one being dug deeper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BACKEND'S TWO PONDS — STATE (L2) · WORK (L3), 2026 · PLUS THE UNCONVERTED AUDIT BUDGET BEHIND THEM</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27632"/>
            <a:ext cx="5230368" cy="4160520"/>
          </a:xfrm>
          <a:prstGeom prst="roundRect">
            <a:avLst>
              <a:gd name="adj" fmla="val 5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47088"/>
            <a:ext cx="4663440" cy="256032"/>
          </a:xfrm>
          <a:prstGeom prst="rect">
            <a:avLst/>
          </a:prstGeom>
          <a:noFill/>
        </p:spPr>
        <p:txBody>
          <a:bodyPr wrap="square" lIns="0" rIns="0" tIns="0" bIns="0">
            <a:spAutoFit/>
          </a:bodyPr>
          <a:lstStyle/>
          <a:p>
            <a:pPr algn="l"/>
            <a:r>
              <a:rPr sz="1150" b="1" i="0">
                <a:solidFill>
                  <a:srgbClr val="2777EF"/>
                </a:solidFill>
                <a:latin typeface="Calibri"/>
              </a:rPr>
              <a:t>L2 · STATE</a:t>
            </a:r>
          </a:p>
        </p:txBody>
      </p:sp>
      <p:sp>
        <p:nvSpPr>
          <p:cNvPr id="7" name="Oval 6"/>
          <p:cNvSpPr/>
          <p:nvPr/>
        </p:nvSpPr>
        <p:spPr>
          <a:xfrm>
            <a:off x="2455164" y="2464308"/>
            <a:ext cx="1874519" cy="1874519"/>
          </a:xfrm>
          <a:prstGeom prst="ellipse">
            <a:avLst/>
          </a:prstGeom>
          <a:solidFill>
            <a:srgbClr val="A8C6F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462272"/>
            <a:ext cx="4663440" cy="329184"/>
          </a:xfrm>
          <a:prstGeom prst="rect">
            <a:avLst/>
          </a:prstGeom>
          <a:noFill/>
        </p:spPr>
        <p:txBody>
          <a:bodyPr wrap="square" lIns="0" rIns="0" tIns="0" bIns="0">
            <a:spAutoFit/>
          </a:bodyPr>
          <a:lstStyle/>
          <a:p>
            <a:pPr algn="ctr"/>
            <a:r>
              <a:rPr sz="1800" b="1" i="0">
                <a:solidFill>
                  <a:srgbClr val="1A2233"/>
                </a:solidFill>
                <a:latin typeface="Cambria"/>
              </a:rPr>
              <a:t>$161B · +18%/yr</a:t>
            </a:r>
          </a:p>
        </p:txBody>
      </p:sp>
      <p:sp>
        <p:nvSpPr>
          <p:cNvPr id="9" name="TextBox 8"/>
          <p:cNvSpPr txBox="1"/>
          <p:nvPr/>
        </p:nvSpPr>
        <p:spPr>
          <a:xfrm>
            <a:off x="1051560" y="4828032"/>
            <a:ext cx="4663440" cy="237744"/>
          </a:xfrm>
          <a:prstGeom prst="rect">
            <a:avLst/>
          </a:prstGeom>
          <a:noFill/>
        </p:spPr>
        <p:txBody>
          <a:bodyPr wrap="square" lIns="0" rIns="0" tIns="0" bIns="0">
            <a:spAutoFit/>
          </a:bodyPr>
          <a:lstStyle/>
          <a:p>
            <a:pPr algn="ctr"/>
            <a:r>
              <a:rPr sz="1000" b="1" i="0">
                <a:solidFill>
                  <a:srgbClr val="8A97B0"/>
                </a:solidFill>
                <a:latin typeface="Calibri"/>
              </a:rPr>
              <a:t>GIANT POND — WIN SHARE OF IT</a:t>
            </a:r>
          </a:p>
        </p:txBody>
      </p:sp>
      <p:sp>
        <p:nvSpPr>
          <p:cNvPr id="10" name="TextBox 9"/>
          <p:cNvSpPr txBox="1"/>
          <p:nvPr/>
        </p:nvSpPr>
        <p:spPr>
          <a:xfrm>
            <a:off x="1234440" y="5120640"/>
            <a:ext cx="4343400" cy="640080"/>
          </a:xfrm>
          <a:prstGeom prst="rect">
            <a:avLst/>
          </a:prstGeom>
          <a:noFill/>
        </p:spPr>
        <p:txBody>
          <a:bodyPr wrap="square" lIns="0" rIns="0" tIns="0" bIns="0">
            <a:spAutoFit/>
          </a:bodyPr>
          <a:lstStyle/>
          <a:p>
            <a:pPr algn="l"/>
            <a:r>
              <a:rPr sz="980" b="0" i="0">
                <a:solidFill>
                  <a:srgbClr val="5A6478"/>
                </a:solidFill>
                <a:latin typeface="Calibri"/>
              </a:rPr>
              <a:t>Gartner's DBMS forecast — already massive, already growing. Every agent loop reads, reasons, acts and writes against governed state.</a:t>
            </a:r>
          </a:p>
        </p:txBody>
      </p:sp>
      <p:sp>
        <p:nvSpPr>
          <p:cNvPr id="11" name="Rounded Rectangle 10"/>
          <p:cNvSpPr/>
          <p:nvPr/>
        </p:nvSpPr>
        <p:spPr>
          <a:xfrm>
            <a:off x="6181344" y="1627632"/>
            <a:ext cx="5230368" cy="416052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5664" y="1847088"/>
            <a:ext cx="4663440" cy="256032"/>
          </a:xfrm>
          <a:prstGeom prst="rect">
            <a:avLst/>
          </a:prstGeom>
          <a:noFill/>
        </p:spPr>
        <p:txBody>
          <a:bodyPr wrap="square" lIns="0" rIns="0" tIns="0" bIns="0">
            <a:spAutoFit/>
          </a:bodyPr>
          <a:lstStyle/>
          <a:p>
            <a:pPr algn="l"/>
            <a:r>
              <a:rPr sz="1150" b="1" i="0">
                <a:solidFill>
                  <a:srgbClr val="2777EF"/>
                </a:solidFill>
                <a:latin typeface="Calibri"/>
              </a:rPr>
              <a:t>L3 · WORK</a:t>
            </a:r>
          </a:p>
        </p:txBody>
      </p:sp>
      <p:sp>
        <p:nvSpPr>
          <p:cNvPr id="13" name="Oval 12"/>
          <p:cNvSpPr/>
          <p:nvPr/>
        </p:nvSpPr>
        <p:spPr>
          <a:xfrm>
            <a:off x="8270748" y="2875788"/>
            <a:ext cx="1051560" cy="1051560"/>
          </a:xfrm>
          <a:prstGeom prst="ellipse">
            <a:avLst/>
          </a:prstGeom>
          <a:solidFill>
            <a:srgbClr val="1B3F8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859267" y="2464308"/>
            <a:ext cx="1874519" cy="1874519"/>
          </a:xfrm>
          <a:prstGeom prst="ellipse">
            <a:avLst/>
          </a:prstGeom>
          <a:noFill/>
          <a:ln w="19050">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4462272"/>
            <a:ext cx="4663440" cy="329184"/>
          </a:xfrm>
          <a:prstGeom prst="rect">
            <a:avLst/>
          </a:prstGeom>
          <a:noFill/>
        </p:spPr>
        <p:txBody>
          <a:bodyPr wrap="square" lIns="0" rIns="0" tIns="0" bIns="0">
            <a:spAutoFit/>
          </a:bodyPr>
          <a:lstStyle/>
          <a:p>
            <a:pPr algn="ctr"/>
            <a:r>
              <a:rPr sz="1800" b="1" i="0">
                <a:solidFill>
                  <a:srgbClr val="1A2233"/>
                </a:solidFill>
                <a:latin typeface="Cambria"/>
              </a:rPr>
              <a:t>~$25–30B · +12–14%/yr</a:t>
            </a:r>
          </a:p>
        </p:txBody>
      </p:sp>
      <p:sp>
        <p:nvSpPr>
          <p:cNvPr id="16" name="TextBox 15"/>
          <p:cNvSpPr txBox="1"/>
          <p:nvPr/>
        </p:nvSpPr>
        <p:spPr>
          <a:xfrm>
            <a:off x="6455664" y="4828032"/>
            <a:ext cx="4663440" cy="237744"/>
          </a:xfrm>
          <a:prstGeom prst="rect">
            <a:avLst/>
          </a:prstGeom>
          <a:noFill/>
        </p:spPr>
        <p:txBody>
          <a:bodyPr wrap="square" lIns="0" rIns="0" tIns="0" bIns="0">
            <a:spAutoFit/>
          </a:bodyPr>
          <a:lstStyle/>
          <a:p>
            <a:pPr algn="ctr"/>
            <a:r>
              <a:rPr sz="1000" b="1" i="0">
                <a:solidFill>
                  <a:srgbClr val="8A97B0"/>
                </a:solidFill>
                <a:latin typeface="Calibri"/>
              </a:rPr>
              <a:t>OWNED POND — RIM: RUNTIME &gt;100%/yr OFF ~$1–2B</a:t>
            </a:r>
          </a:p>
        </p:txBody>
      </p:sp>
      <p:sp>
        <p:nvSpPr>
          <p:cNvPr id="17" name="TextBox 16"/>
          <p:cNvSpPr txBox="1"/>
          <p:nvPr/>
        </p:nvSpPr>
        <p:spPr>
          <a:xfrm>
            <a:off x="6638544" y="5120640"/>
            <a:ext cx="4343400" cy="640080"/>
          </a:xfrm>
          <a:prstGeom prst="rect">
            <a:avLst/>
          </a:prstGeom>
          <a:noFill/>
        </p:spPr>
        <p:txBody>
          <a:bodyPr wrap="square" lIns="0" rIns="0" tIns="0" bIns="0">
            <a:spAutoFit/>
          </a:bodyPr>
          <a:lstStyle/>
          <a:p>
            <a:pPr algn="l"/>
            <a:r>
              <a:rPr sz="980" b="0" i="0">
                <a:solidFill>
                  <a:srgbClr val="5A6478"/>
                </a:solidFill>
                <a:latin typeface="Calibri"/>
              </a:rPr>
              <a:t>The metered core (observability + SIEM) grows 12–14%. Beside it, the wave is digging a new pond: runtime — ~$1–2B, growing &gt;100%, $10B+ by 2029 on our event forecasts. Behind both: ~$240B of security budget (Gartner, 2026), almost none usage-billed yet.</a:t>
            </a:r>
          </a:p>
        </p:txBody>
      </p:sp>
      <p:sp>
        <p:nvSpPr>
          <p:cNvPr id="18" name="Rounded Rectangle 17"/>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The backend’s ponds, one royalty  </a:t>
            </a:r>
            <a:r>
              <a:rPr sz="1200">
                <a:solidFill>
                  <a:srgbClr val="1A2233"/>
                </a:solidFill>
                <a:latin typeface="Calibri"/>
              </a:rPr>
              <a:t>— state rewards winning share; the metered work pond is being created outright — and the ~$240B audit budget behind it is the conversion prize.</a:t>
            </a:r>
          </a:p>
        </p:txBody>
      </p:sp>
      <p:sp>
        <p:nvSpPr>
          <p:cNvPr id="19" name="TextBox 18"/>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0" name="TextBox 19"/>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47</a:t>
            </a:r>
          </a:p>
        </p:txBody>
      </p:sp>
      <p:sp>
        <p:nvSpPr>
          <p:cNvPr id="21" name="TextBox 20"/>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State per Gartner DBMS forecast (2026, +18.4%); work = Skycatcher estimate of commercial observability + SIEM spend; agent-runtime category forming — no third-party forecast exists yet; security spending per Gartner (2026, ~$240B end-user, incl. services).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biggest pond: machine labor prices against wages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ENDGAME REFRAME — AGENTS ARE PRICED AGAINST SALARIES, NOT SOFTWARE BUDGETS · ILLUSTRATIVE</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37360"/>
            <a:ext cx="2542032" cy="2926080"/>
          </a:xfrm>
          <a:prstGeom prst="roundRect">
            <a:avLst>
              <a:gd name="adj" fmla="val 75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1956816"/>
            <a:ext cx="2148840" cy="502920"/>
          </a:xfrm>
          <a:prstGeom prst="rect">
            <a:avLst/>
          </a:prstGeom>
          <a:noFill/>
        </p:spPr>
        <p:txBody>
          <a:bodyPr wrap="square" lIns="0" rIns="0" tIns="0" bIns="0">
            <a:spAutoFit/>
          </a:bodyPr>
          <a:lstStyle/>
          <a:p>
            <a:pPr algn="l"/>
            <a:r>
              <a:rPr sz="2200" b="1" i="0">
                <a:solidFill>
                  <a:srgbClr val="1A2233"/>
                </a:solidFill>
                <a:latin typeface="Cambria"/>
              </a:rPr>
              <a:t>~$35T</a:t>
            </a:r>
          </a:p>
        </p:txBody>
      </p:sp>
      <p:sp>
        <p:nvSpPr>
          <p:cNvPr id="7" name="TextBox 6"/>
          <p:cNvSpPr txBox="1"/>
          <p:nvPr/>
        </p:nvSpPr>
        <p:spPr>
          <a:xfrm>
            <a:off x="978408" y="2578608"/>
            <a:ext cx="2148840" cy="594360"/>
          </a:xfrm>
          <a:prstGeom prst="rect">
            <a:avLst/>
          </a:prstGeom>
          <a:noFill/>
        </p:spPr>
        <p:txBody>
          <a:bodyPr wrap="square" lIns="0" rIns="0" tIns="0" bIns="0">
            <a:spAutoFit/>
          </a:bodyPr>
          <a:lstStyle/>
          <a:p>
            <a:pPr algn="l"/>
            <a:r>
              <a:rPr sz="1050" b="1" i="0">
                <a:solidFill>
                  <a:srgbClr val="1A2233"/>
                </a:solidFill>
                <a:latin typeface="Calibri"/>
              </a:rPr>
              <a:t>global knowledge-work wages</a:t>
            </a:r>
          </a:p>
        </p:txBody>
      </p:sp>
      <p:sp>
        <p:nvSpPr>
          <p:cNvPr id="8" name="TextBox 7"/>
          <p:cNvSpPr txBox="1"/>
          <p:nvPr/>
        </p:nvSpPr>
        <p:spPr>
          <a:xfrm>
            <a:off x="978408" y="3291840"/>
            <a:ext cx="2148840" cy="822960"/>
          </a:xfrm>
          <a:prstGeom prst="rect">
            <a:avLst/>
          </a:prstGeom>
          <a:noFill/>
        </p:spPr>
        <p:txBody>
          <a:bodyPr wrap="square" lIns="0" rIns="0" tIns="0" bIns="0">
            <a:spAutoFit/>
          </a:bodyPr>
          <a:lstStyle/>
          <a:p>
            <a:pPr algn="l"/>
            <a:r>
              <a:rPr sz="950" b="0" i="0">
                <a:solidFill>
                  <a:srgbClr val="5A6478"/>
                </a:solidFill>
                <a:latin typeface="Calibri"/>
              </a:rPr>
              <a:t>~1B+ workers — the pool agents ultimately price against</a:t>
            </a:r>
          </a:p>
        </p:txBody>
      </p:sp>
      <p:sp>
        <p:nvSpPr>
          <p:cNvPr id="9" name="TextBox 8"/>
          <p:cNvSpPr txBox="1"/>
          <p:nvPr/>
        </p:nvSpPr>
        <p:spPr>
          <a:xfrm>
            <a:off x="978408" y="4315968"/>
            <a:ext cx="2148840" cy="219456"/>
          </a:xfrm>
          <a:prstGeom prst="rect">
            <a:avLst/>
          </a:prstGeom>
          <a:noFill/>
        </p:spPr>
        <p:txBody>
          <a:bodyPr wrap="square" lIns="0" rIns="0" tIns="0" bIns="0">
            <a:spAutoFit/>
          </a:bodyPr>
          <a:lstStyle/>
          <a:p>
            <a:pPr algn="l"/>
            <a:r>
              <a:rPr sz="750" b="1" i="0">
                <a:solidFill>
                  <a:srgbClr val="8A97B0"/>
                </a:solidFill>
                <a:latin typeface="Calibri"/>
              </a:rPr>
              <a:t>EST.</a:t>
            </a:r>
          </a:p>
        </p:txBody>
      </p:sp>
      <p:sp>
        <p:nvSpPr>
          <p:cNvPr id="10" name="Right Arrow 9"/>
          <p:cNvSpPr/>
          <p:nvPr/>
        </p:nvSpPr>
        <p:spPr>
          <a:xfrm>
            <a:off x="3355848" y="2999232"/>
            <a:ext cx="274320" cy="310896"/>
          </a:xfrm>
          <a:prstGeom prst="rightArrow">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630168" y="1737360"/>
            <a:ext cx="2542032" cy="2926080"/>
          </a:xfrm>
          <a:prstGeom prst="roundRect">
            <a:avLst>
              <a:gd name="adj" fmla="val 75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831336" y="1956816"/>
            <a:ext cx="2148840" cy="502920"/>
          </a:xfrm>
          <a:prstGeom prst="rect">
            <a:avLst/>
          </a:prstGeom>
          <a:noFill/>
        </p:spPr>
        <p:txBody>
          <a:bodyPr wrap="square" lIns="0" rIns="0" tIns="0" bIns="0">
            <a:spAutoFit/>
          </a:bodyPr>
          <a:lstStyle/>
          <a:p>
            <a:pPr algn="l"/>
            <a:r>
              <a:rPr sz="2200" b="1" i="0">
                <a:solidFill>
                  <a:srgbClr val="1A2233"/>
                </a:solidFill>
                <a:latin typeface="Cambria"/>
              </a:rPr>
              <a:t>~1%</a:t>
            </a:r>
          </a:p>
        </p:txBody>
      </p:sp>
      <p:sp>
        <p:nvSpPr>
          <p:cNvPr id="13" name="TextBox 12"/>
          <p:cNvSpPr txBox="1"/>
          <p:nvPr/>
        </p:nvSpPr>
        <p:spPr>
          <a:xfrm>
            <a:off x="3831336" y="2578608"/>
            <a:ext cx="2148840" cy="594360"/>
          </a:xfrm>
          <a:prstGeom prst="rect">
            <a:avLst/>
          </a:prstGeom>
          <a:noFill/>
        </p:spPr>
        <p:txBody>
          <a:bodyPr wrap="square" lIns="0" rIns="0" tIns="0" bIns="0">
            <a:spAutoFit/>
          </a:bodyPr>
          <a:lstStyle/>
          <a:p>
            <a:pPr algn="l"/>
            <a:r>
              <a:rPr sz="1050" b="1" i="0">
                <a:solidFill>
                  <a:srgbClr val="1A2233"/>
                </a:solidFill>
                <a:latin typeface="Calibri"/>
              </a:rPr>
              <a:t>of task-value delegated to agents by 2029</a:t>
            </a:r>
          </a:p>
        </p:txBody>
      </p:sp>
      <p:sp>
        <p:nvSpPr>
          <p:cNvPr id="14" name="TextBox 13"/>
          <p:cNvSpPr txBox="1"/>
          <p:nvPr/>
        </p:nvSpPr>
        <p:spPr>
          <a:xfrm>
            <a:off x="3831336" y="3291840"/>
            <a:ext cx="2148840" cy="822960"/>
          </a:xfrm>
          <a:prstGeom prst="rect">
            <a:avLst/>
          </a:prstGeom>
          <a:noFill/>
        </p:spPr>
        <p:txBody>
          <a:bodyPr wrap="square" lIns="0" rIns="0" tIns="0" bIns="0">
            <a:spAutoFit/>
          </a:bodyPr>
          <a:lstStyle/>
          <a:p>
            <a:pPr algn="l"/>
            <a:r>
              <a:rPr sz="950" b="0" i="0">
                <a:solidFill>
                  <a:srgbClr val="5A6478"/>
                </a:solidFill>
                <a:latin typeface="Calibri"/>
              </a:rPr>
              <a:t>≈ $350B of work delivered by machine labor</a:t>
            </a:r>
          </a:p>
        </p:txBody>
      </p:sp>
      <p:sp>
        <p:nvSpPr>
          <p:cNvPr id="15" name="TextBox 14"/>
          <p:cNvSpPr txBox="1"/>
          <p:nvPr/>
        </p:nvSpPr>
        <p:spPr>
          <a:xfrm>
            <a:off x="3831336" y="4315968"/>
            <a:ext cx="2148840" cy="219456"/>
          </a:xfrm>
          <a:prstGeom prst="rect">
            <a:avLst/>
          </a:prstGeom>
          <a:noFill/>
        </p:spPr>
        <p:txBody>
          <a:bodyPr wrap="square" lIns="0" rIns="0" tIns="0" bIns="0">
            <a:spAutoFit/>
          </a:bodyPr>
          <a:lstStyle/>
          <a:p>
            <a:pPr algn="l"/>
            <a:r>
              <a:rPr sz="750" b="1" i="0">
                <a:solidFill>
                  <a:srgbClr val="8A97B0"/>
                </a:solidFill>
                <a:latin typeface="Calibri"/>
              </a:rPr>
              <a:t>MODELED</a:t>
            </a:r>
          </a:p>
        </p:txBody>
      </p:sp>
      <p:sp>
        <p:nvSpPr>
          <p:cNvPr id="16" name="Right Arrow 15"/>
          <p:cNvSpPr/>
          <p:nvPr/>
        </p:nvSpPr>
        <p:spPr>
          <a:xfrm>
            <a:off x="6208776" y="2999232"/>
            <a:ext cx="274320" cy="310896"/>
          </a:xfrm>
          <a:prstGeom prst="rightArrow">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483096" y="1737360"/>
            <a:ext cx="2542032" cy="2926080"/>
          </a:xfrm>
          <a:prstGeom prst="roundRect">
            <a:avLst>
              <a:gd name="adj" fmla="val 75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84264" y="1956816"/>
            <a:ext cx="2148840" cy="502920"/>
          </a:xfrm>
          <a:prstGeom prst="rect">
            <a:avLst/>
          </a:prstGeom>
          <a:noFill/>
        </p:spPr>
        <p:txBody>
          <a:bodyPr wrap="square" lIns="0" rIns="0" tIns="0" bIns="0">
            <a:spAutoFit/>
          </a:bodyPr>
          <a:lstStyle/>
          <a:p>
            <a:pPr algn="l"/>
            <a:r>
              <a:rPr sz="2200" b="1" i="0">
                <a:solidFill>
                  <a:srgbClr val="1A2233"/>
                </a:solidFill>
                <a:latin typeface="Cambria"/>
              </a:rPr>
              <a:t>~10–20¢</a:t>
            </a:r>
          </a:p>
        </p:txBody>
      </p:sp>
      <p:sp>
        <p:nvSpPr>
          <p:cNvPr id="19" name="TextBox 18"/>
          <p:cNvSpPr txBox="1"/>
          <p:nvPr/>
        </p:nvSpPr>
        <p:spPr>
          <a:xfrm>
            <a:off x="6684264" y="2578608"/>
            <a:ext cx="2148840" cy="594360"/>
          </a:xfrm>
          <a:prstGeom prst="rect">
            <a:avLst/>
          </a:prstGeom>
          <a:noFill/>
        </p:spPr>
        <p:txBody>
          <a:bodyPr wrap="square" lIns="0" rIns="0" tIns="0" bIns="0">
            <a:spAutoFit/>
          </a:bodyPr>
          <a:lstStyle/>
          <a:p>
            <a:pPr algn="l"/>
            <a:r>
              <a:rPr sz="1050" b="1" i="0">
                <a:solidFill>
                  <a:srgbClr val="1A2233"/>
                </a:solidFill>
                <a:latin typeface="Calibri"/>
              </a:rPr>
              <a:t>machine cost per human-dollar of work</a:t>
            </a:r>
          </a:p>
        </p:txBody>
      </p:sp>
      <p:sp>
        <p:nvSpPr>
          <p:cNvPr id="20" name="TextBox 19"/>
          <p:cNvSpPr txBox="1"/>
          <p:nvPr/>
        </p:nvSpPr>
        <p:spPr>
          <a:xfrm>
            <a:off x="6684264" y="3291840"/>
            <a:ext cx="2148840" cy="822960"/>
          </a:xfrm>
          <a:prstGeom prst="rect">
            <a:avLst/>
          </a:prstGeom>
          <a:noFill/>
        </p:spPr>
        <p:txBody>
          <a:bodyPr wrap="square" lIns="0" rIns="0" tIns="0" bIns="0">
            <a:spAutoFit/>
          </a:bodyPr>
          <a:lstStyle/>
          <a:p>
            <a:pPr algn="l"/>
            <a:r>
              <a:rPr sz="950" b="0" i="0">
                <a:solidFill>
                  <a:srgbClr val="5A6478"/>
                </a:solidFill>
                <a:latin typeface="Calibri"/>
              </a:rPr>
              <a:t>≈ $35–70B billed as machine labor</a:t>
            </a:r>
          </a:p>
        </p:txBody>
      </p:sp>
      <p:sp>
        <p:nvSpPr>
          <p:cNvPr id="21" name="TextBox 20"/>
          <p:cNvSpPr txBox="1"/>
          <p:nvPr/>
        </p:nvSpPr>
        <p:spPr>
          <a:xfrm>
            <a:off x="6684264" y="4315968"/>
            <a:ext cx="2148840" cy="219456"/>
          </a:xfrm>
          <a:prstGeom prst="rect">
            <a:avLst/>
          </a:prstGeom>
          <a:noFill/>
        </p:spPr>
        <p:txBody>
          <a:bodyPr wrap="square" lIns="0" rIns="0" tIns="0" bIns="0">
            <a:spAutoFit/>
          </a:bodyPr>
          <a:lstStyle/>
          <a:p>
            <a:pPr algn="l"/>
            <a:r>
              <a:rPr sz="750" b="1" i="0">
                <a:solidFill>
                  <a:srgbClr val="8A97B0"/>
                </a:solidFill>
                <a:latin typeface="Calibri"/>
              </a:rPr>
              <a:t>MODELED</a:t>
            </a:r>
          </a:p>
        </p:txBody>
      </p:sp>
      <p:sp>
        <p:nvSpPr>
          <p:cNvPr id="22" name="Right Arrow 21"/>
          <p:cNvSpPr/>
          <p:nvPr/>
        </p:nvSpPr>
        <p:spPr>
          <a:xfrm>
            <a:off x="9061704" y="2999232"/>
            <a:ext cx="274320" cy="310896"/>
          </a:xfrm>
          <a:prstGeom prst="rightArrow">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336024" y="1737360"/>
            <a:ext cx="2542032" cy="2926080"/>
          </a:xfrm>
          <a:prstGeom prst="roundRect">
            <a:avLst>
              <a:gd name="adj" fmla="val 7500"/>
            </a:avLst>
          </a:prstGeom>
          <a:solidFill>
            <a:srgbClr val="EAF1FE"/>
          </a:solidFill>
          <a:ln w="1651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37192" y="1956816"/>
            <a:ext cx="2148840" cy="502920"/>
          </a:xfrm>
          <a:prstGeom prst="rect">
            <a:avLst/>
          </a:prstGeom>
          <a:noFill/>
        </p:spPr>
        <p:txBody>
          <a:bodyPr wrap="square" lIns="0" rIns="0" tIns="0" bIns="0">
            <a:spAutoFit/>
          </a:bodyPr>
          <a:lstStyle/>
          <a:p>
            <a:pPr algn="l"/>
            <a:r>
              <a:rPr sz="2200" b="1" i="0">
                <a:solidFill>
                  <a:srgbClr val="2777EF"/>
                </a:solidFill>
                <a:latin typeface="Cambria"/>
              </a:rPr>
              <a:t>the backend meters</a:t>
            </a:r>
          </a:p>
        </p:txBody>
      </p:sp>
      <p:sp>
        <p:nvSpPr>
          <p:cNvPr id="25" name="TextBox 24"/>
          <p:cNvSpPr txBox="1"/>
          <p:nvPr/>
        </p:nvSpPr>
        <p:spPr>
          <a:xfrm>
            <a:off x="9537192" y="2578608"/>
            <a:ext cx="2148840" cy="594360"/>
          </a:xfrm>
          <a:prstGeom prst="rect">
            <a:avLst/>
          </a:prstGeom>
          <a:noFill/>
        </p:spPr>
        <p:txBody>
          <a:bodyPr wrap="square" lIns="0" rIns="0" tIns="0" bIns="0">
            <a:spAutoFit/>
          </a:bodyPr>
          <a:lstStyle/>
          <a:p>
            <a:pPr algn="l"/>
            <a:r>
              <a:rPr sz="1050" b="1" i="0">
                <a:solidFill>
                  <a:srgbClr val="1A2233"/>
                </a:solidFill>
                <a:latin typeface="Calibri"/>
              </a:rPr>
              <a:t>collect the royalty on that bill</a:t>
            </a:r>
          </a:p>
        </p:txBody>
      </p:sp>
      <p:sp>
        <p:nvSpPr>
          <p:cNvPr id="26" name="TextBox 25"/>
          <p:cNvSpPr txBox="1"/>
          <p:nvPr/>
        </p:nvSpPr>
        <p:spPr>
          <a:xfrm>
            <a:off x="9537192" y="3291840"/>
            <a:ext cx="2148840" cy="822960"/>
          </a:xfrm>
          <a:prstGeom prst="rect">
            <a:avLst/>
          </a:prstGeom>
          <a:noFill/>
        </p:spPr>
        <p:txBody>
          <a:bodyPr wrap="square" lIns="0" rIns="0" tIns="0" bIns="0">
            <a:spAutoFit/>
          </a:bodyPr>
          <a:lstStyle/>
          <a:p>
            <a:pPr algn="l"/>
            <a:r>
              <a:rPr sz="950" b="0" i="0">
                <a:solidFill>
                  <a:srgbClr val="5A6478"/>
                </a:solidFill>
                <a:latin typeface="Calibri"/>
              </a:rPr>
              <a:t>execution, state and audit — every task, metered</a:t>
            </a:r>
          </a:p>
        </p:txBody>
      </p:sp>
      <p:sp>
        <p:nvSpPr>
          <p:cNvPr id="27" name="TextBox 26"/>
          <p:cNvSpPr txBox="1"/>
          <p:nvPr/>
        </p:nvSpPr>
        <p:spPr>
          <a:xfrm>
            <a:off x="777240" y="4983480"/>
            <a:ext cx="10634472" cy="685800"/>
          </a:xfrm>
          <a:prstGeom prst="rect">
            <a:avLst/>
          </a:prstGeom>
          <a:noFill/>
        </p:spPr>
        <p:txBody>
          <a:bodyPr wrap="square" lIns="0" rIns="0" tIns="0" bIns="0">
            <a:spAutoFit/>
          </a:bodyPr>
          <a:lstStyle/>
          <a:p>
            <a:pPr algn="l"/>
            <a:r>
              <a:rPr sz="1050" b="0" i="1">
                <a:solidFill>
                  <a:srgbClr val="5A6478"/>
                </a:solidFill>
                <a:latin typeface="Calibri"/>
              </a:rPr>
              <a:t>Cross-check: our 2029 wave case for the usage-billed meters (~$42B of revenue, agents plus existing workloads; Part 04) is consistent with agents absorbing roughly 1% of knowledge work. The wage-pool frame is the ceiling, not the case — every additional point of delegation is a pond larger than today's entire software market.</a:t>
            </a:r>
          </a:p>
        </p:txBody>
      </p:sp>
      <p:sp>
        <p:nvSpPr>
          <p:cNvPr id="28" name="Rounded Rectangle 27"/>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Software TAMs measure the old pond  </a:t>
            </a:r>
            <a:r>
              <a:rPr sz="1200">
                <a:solidFill>
                  <a:srgbClr val="1A2233"/>
                </a:solidFill>
                <a:latin typeface="Calibri"/>
              </a:rPr>
              <a:t>— a royalty on machine labor ultimately prices against the wage pool it replaces.</a:t>
            </a:r>
          </a:p>
        </p:txBody>
      </p:sp>
      <p:sp>
        <p:nvSpPr>
          <p:cNvPr id="29" name="TextBox 28"/>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0" name="TextBox 29"/>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48</a:t>
            </a:r>
          </a:p>
        </p:txBody>
      </p:sp>
      <p:sp>
        <p:nvSpPr>
          <p:cNvPr id="31" name="TextBox 30"/>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Wage pool per ILO/industry estimates (ESTIMATED); delegation and pricing per Skycatcher model (MODELED), illustrative. 'Drop-in remote worker' endpoint per Aschenbrenner, Situational Awareness (Jun 2024).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TAM expansion: old pond, new ocean</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WHAT THE METERS ADDRESS TODAY VS. WHAT DELEGATION UNLOCKS — SCENARIOS, NOT FORECASTS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82496"/>
            <a:ext cx="3977639" cy="406908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83664"/>
            <a:ext cx="3474720" cy="256032"/>
          </a:xfrm>
          <a:prstGeom prst="rect">
            <a:avLst/>
          </a:prstGeom>
          <a:noFill/>
        </p:spPr>
        <p:txBody>
          <a:bodyPr wrap="square" lIns="0" rIns="0" tIns="0" bIns="0">
            <a:spAutoFit/>
          </a:bodyPr>
          <a:lstStyle/>
          <a:p>
            <a:pPr algn="l"/>
            <a:r>
              <a:rPr sz="1050" b="1" i="0">
                <a:solidFill>
                  <a:srgbClr val="8A97B0"/>
                </a:solidFill>
                <a:latin typeface="Calibri"/>
              </a:rPr>
              <a:t>THE OLD TAM — SOFTWARE BUDGETS</a:t>
            </a:r>
          </a:p>
        </p:txBody>
      </p:sp>
      <p:sp>
        <p:nvSpPr>
          <p:cNvPr id="7" name="TextBox 6"/>
          <p:cNvSpPr txBox="1"/>
          <p:nvPr/>
        </p:nvSpPr>
        <p:spPr>
          <a:xfrm>
            <a:off x="1051560" y="2267712"/>
            <a:ext cx="3474720" cy="548640"/>
          </a:xfrm>
          <a:prstGeom prst="rect">
            <a:avLst/>
          </a:prstGeom>
          <a:noFill/>
        </p:spPr>
        <p:txBody>
          <a:bodyPr wrap="square" lIns="0" rIns="0" tIns="0" bIns="0">
            <a:spAutoFit/>
          </a:bodyPr>
          <a:lstStyle/>
          <a:p>
            <a:pPr algn="l"/>
            <a:r>
              <a:rPr sz="3400" b="1" i="0">
                <a:solidFill>
                  <a:srgbClr val="1A2233"/>
                </a:solidFill>
                <a:latin typeface="Cambria"/>
              </a:rPr>
              <a:t>~$190B</a:t>
            </a:r>
          </a:p>
        </p:txBody>
      </p:sp>
      <p:sp>
        <p:nvSpPr>
          <p:cNvPr id="8" name="TextBox 7"/>
          <p:cNvSpPr txBox="1"/>
          <p:nvPr/>
        </p:nvSpPr>
        <p:spPr>
          <a:xfrm>
            <a:off x="1051560" y="2944368"/>
            <a:ext cx="3474720" cy="274320"/>
          </a:xfrm>
          <a:prstGeom prst="rect">
            <a:avLst/>
          </a:prstGeom>
          <a:noFill/>
        </p:spPr>
        <p:txBody>
          <a:bodyPr wrap="square" lIns="0" rIns="0" tIns="0" bIns="0">
            <a:spAutoFit/>
          </a:bodyPr>
          <a:lstStyle/>
          <a:p>
            <a:pPr algn="l"/>
            <a:r>
              <a:rPr sz="1100" b="1" i="0">
                <a:solidFill>
                  <a:srgbClr val="1A2233"/>
                </a:solidFill>
                <a:latin typeface="Calibri"/>
              </a:rPr>
              <a:t>what the backend addresses today</a:t>
            </a:r>
          </a:p>
        </p:txBody>
      </p:sp>
      <p:sp>
        <p:nvSpPr>
          <p:cNvPr id="9" name="TextBox 8"/>
          <p:cNvSpPr txBox="1"/>
          <p:nvPr/>
        </p:nvSpPr>
        <p:spPr>
          <a:xfrm>
            <a:off x="1051560" y="3383280"/>
            <a:ext cx="1234440" cy="274320"/>
          </a:xfrm>
          <a:prstGeom prst="rect">
            <a:avLst/>
          </a:prstGeom>
          <a:noFill/>
        </p:spPr>
        <p:txBody>
          <a:bodyPr wrap="square" lIns="0" rIns="0" tIns="0" bIns="0">
            <a:spAutoFit/>
          </a:bodyPr>
          <a:lstStyle/>
          <a:p>
            <a:pPr algn="l"/>
            <a:r>
              <a:rPr sz="1300" b="1" i="0">
                <a:solidFill>
                  <a:srgbClr val="5A6478"/>
                </a:solidFill>
                <a:latin typeface="Cambria"/>
              </a:rPr>
              <a:t>$161B</a:t>
            </a:r>
          </a:p>
        </p:txBody>
      </p:sp>
      <p:sp>
        <p:nvSpPr>
          <p:cNvPr id="10" name="TextBox 9"/>
          <p:cNvSpPr txBox="1"/>
          <p:nvPr/>
        </p:nvSpPr>
        <p:spPr>
          <a:xfrm>
            <a:off x="2377440" y="3419856"/>
            <a:ext cx="2286000" cy="502920"/>
          </a:xfrm>
          <a:prstGeom prst="rect">
            <a:avLst/>
          </a:prstGeom>
          <a:noFill/>
        </p:spPr>
        <p:txBody>
          <a:bodyPr wrap="square" lIns="0" rIns="0" tIns="0" bIns="0">
            <a:spAutoFit/>
          </a:bodyPr>
          <a:lstStyle/>
          <a:p>
            <a:pPr algn="l"/>
            <a:r>
              <a:rPr sz="900" b="0" i="0">
                <a:solidFill>
                  <a:srgbClr val="5A6478"/>
                </a:solidFill>
                <a:latin typeface="Calibri"/>
              </a:rPr>
              <a:t>state — the DBMS market (Gartner, +18%/yr)</a:t>
            </a:r>
          </a:p>
        </p:txBody>
      </p:sp>
      <p:sp>
        <p:nvSpPr>
          <p:cNvPr id="11" name="TextBox 10"/>
          <p:cNvSpPr txBox="1"/>
          <p:nvPr/>
        </p:nvSpPr>
        <p:spPr>
          <a:xfrm>
            <a:off x="1051560" y="3950208"/>
            <a:ext cx="1234440" cy="274320"/>
          </a:xfrm>
          <a:prstGeom prst="rect">
            <a:avLst/>
          </a:prstGeom>
          <a:noFill/>
        </p:spPr>
        <p:txBody>
          <a:bodyPr wrap="square" lIns="0" rIns="0" tIns="0" bIns="0">
            <a:spAutoFit/>
          </a:bodyPr>
          <a:lstStyle/>
          <a:p>
            <a:pPr algn="l"/>
            <a:r>
              <a:rPr sz="1300" b="1" i="0">
                <a:solidFill>
                  <a:srgbClr val="5A6478"/>
                </a:solidFill>
                <a:latin typeface="Cambria"/>
              </a:rPr>
              <a:t>~$25–30B</a:t>
            </a:r>
          </a:p>
        </p:txBody>
      </p:sp>
      <p:sp>
        <p:nvSpPr>
          <p:cNvPr id="12" name="TextBox 11"/>
          <p:cNvSpPr txBox="1"/>
          <p:nvPr/>
        </p:nvSpPr>
        <p:spPr>
          <a:xfrm>
            <a:off x="2377440" y="3986784"/>
            <a:ext cx="2286000" cy="502920"/>
          </a:xfrm>
          <a:prstGeom prst="rect">
            <a:avLst/>
          </a:prstGeom>
          <a:noFill/>
        </p:spPr>
        <p:txBody>
          <a:bodyPr wrap="square" lIns="0" rIns="0" tIns="0" bIns="0">
            <a:spAutoFit/>
          </a:bodyPr>
          <a:lstStyle/>
          <a:p>
            <a:pPr algn="l"/>
            <a:r>
              <a:rPr sz="900" b="0" i="0">
                <a:solidFill>
                  <a:srgbClr val="5A6478"/>
                </a:solidFill>
                <a:latin typeface="Calibri"/>
              </a:rPr>
              <a:t>work — observability + SIEM (+12–14%/yr)</a:t>
            </a:r>
          </a:p>
        </p:txBody>
      </p:sp>
      <p:sp>
        <p:nvSpPr>
          <p:cNvPr id="13" name="TextBox 12"/>
          <p:cNvSpPr txBox="1"/>
          <p:nvPr/>
        </p:nvSpPr>
        <p:spPr>
          <a:xfrm>
            <a:off x="1051560" y="4517136"/>
            <a:ext cx="1234440" cy="274320"/>
          </a:xfrm>
          <a:prstGeom prst="rect">
            <a:avLst/>
          </a:prstGeom>
          <a:noFill/>
        </p:spPr>
        <p:txBody>
          <a:bodyPr wrap="square" lIns="0" rIns="0" tIns="0" bIns="0">
            <a:spAutoFit/>
          </a:bodyPr>
          <a:lstStyle/>
          <a:p>
            <a:pPr algn="l"/>
            <a:r>
              <a:rPr sz="1300" b="1" i="0">
                <a:solidFill>
                  <a:srgbClr val="5A6478"/>
                </a:solidFill>
                <a:latin typeface="Cambria"/>
              </a:rPr>
              <a:t>~$1–2B</a:t>
            </a:r>
          </a:p>
        </p:txBody>
      </p:sp>
      <p:sp>
        <p:nvSpPr>
          <p:cNvPr id="14" name="TextBox 13"/>
          <p:cNvSpPr txBox="1"/>
          <p:nvPr/>
        </p:nvSpPr>
        <p:spPr>
          <a:xfrm>
            <a:off x="2377440" y="4553712"/>
            <a:ext cx="2286000" cy="502920"/>
          </a:xfrm>
          <a:prstGeom prst="rect">
            <a:avLst/>
          </a:prstGeom>
          <a:noFill/>
        </p:spPr>
        <p:txBody>
          <a:bodyPr wrap="square" lIns="0" rIns="0" tIns="0" bIns="0">
            <a:spAutoFit/>
          </a:bodyPr>
          <a:lstStyle/>
          <a:p>
            <a:pPr algn="l"/>
            <a:r>
              <a:rPr sz="900" b="0" i="0">
                <a:solidFill>
                  <a:srgbClr val="5A6478"/>
                </a:solidFill>
                <a:latin typeface="Calibri"/>
              </a:rPr>
              <a:t>runtime — being created, &gt;100%/yr</a:t>
            </a:r>
          </a:p>
        </p:txBody>
      </p:sp>
      <p:sp>
        <p:nvSpPr>
          <p:cNvPr id="15" name="TextBox 14"/>
          <p:cNvSpPr txBox="1"/>
          <p:nvPr/>
        </p:nvSpPr>
        <p:spPr>
          <a:xfrm>
            <a:off x="1051560" y="5212080"/>
            <a:ext cx="3474720" cy="457200"/>
          </a:xfrm>
          <a:prstGeom prst="rect">
            <a:avLst/>
          </a:prstGeom>
          <a:noFill/>
        </p:spPr>
        <p:txBody>
          <a:bodyPr wrap="square" lIns="0" rIns="0" tIns="0" bIns="0">
            <a:spAutoFit/>
          </a:bodyPr>
          <a:lstStyle/>
          <a:p>
            <a:pPr algn="l"/>
            <a:r>
              <a:rPr sz="950" b="0" i="1">
                <a:solidFill>
                  <a:srgbClr val="5A6478"/>
                </a:solidFill>
                <a:latin typeface="Calibri"/>
              </a:rPr>
              <a:t>Analyst categories, growing mid-teens. Behind them: ~$240B of security spend — unconverted to meters, not counted here.</a:t>
            </a:r>
          </a:p>
        </p:txBody>
      </p:sp>
      <p:sp>
        <p:nvSpPr>
          <p:cNvPr id="16" name="Rounded Rectangle 15"/>
          <p:cNvSpPr/>
          <p:nvPr/>
        </p:nvSpPr>
        <p:spPr>
          <a:xfrm>
            <a:off x="5074920" y="1682496"/>
            <a:ext cx="6336792" cy="4069080"/>
          </a:xfrm>
          <a:prstGeom prst="roundRect">
            <a:avLst>
              <a:gd name="adj" fmla="val 5000"/>
            </a:avLst>
          </a:prstGeom>
          <a:solidFill>
            <a:srgbClr val="EAF1FE"/>
          </a:solidFill>
          <a:ln w="1651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49240" y="1883664"/>
            <a:ext cx="5760720" cy="256032"/>
          </a:xfrm>
          <a:prstGeom prst="rect">
            <a:avLst/>
          </a:prstGeom>
          <a:noFill/>
        </p:spPr>
        <p:txBody>
          <a:bodyPr wrap="square" lIns="0" rIns="0" tIns="0" bIns="0">
            <a:spAutoFit/>
          </a:bodyPr>
          <a:lstStyle/>
          <a:p>
            <a:pPr algn="l"/>
            <a:r>
              <a:rPr sz="1050" b="1" i="0">
                <a:solidFill>
                  <a:srgbClr val="2777EF"/>
                </a:solidFill>
                <a:latin typeface="Calibri"/>
              </a:rPr>
              <a:t>THE NEW TAM — DELEGATED WORK, BILLED AS MACHINE LABOR</a:t>
            </a:r>
          </a:p>
        </p:txBody>
      </p:sp>
      <p:sp>
        <p:nvSpPr>
          <p:cNvPr id="18" name="TextBox 17"/>
          <p:cNvSpPr txBox="1"/>
          <p:nvPr/>
        </p:nvSpPr>
        <p:spPr>
          <a:xfrm>
            <a:off x="5349240" y="2350008"/>
            <a:ext cx="1417320" cy="256032"/>
          </a:xfrm>
          <a:prstGeom prst="rect">
            <a:avLst/>
          </a:prstGeom>
          <a:noFill/>
        </p:spPr>
        <p:txBody>
          <a:bodyPr wrap="square" lIns="0" rIns="0" tIns="0" bIns="0">
            <a:spAutoFit/>
          </a:bodyPr>
          <a:lstStyle/>
          <a:p>
            <a:pPr algn="l"/>
            <a:r>
              <a:rPr sz="1050" b="1" i="0">
                <a:solidFill>
                  <a:srgbClr val="1A2233"/>
                </a:solidFill>
                <a:latin typeface="Calibri"/>
              </a:rPr>
              <a:t>1% delegated</a:t>
            </a:r>
          </a:p>
        </p:txBody>
      </p:sp>
      <p:sp>
        <p:nvSpPr>
          <p:cNvPr id="19" name="Rounded Rectangle 18"/>
          <p:cNvSpPr/>
          <p:nvPr/>
        </p:nvSpPr>
        <p:spPr>
          <a:xfrm>
            <a:off x="6812280" y="2304288"/>
            <a:ext cx="888796" cy="365760"/>
          </a:xfrm>
          <a:prstGeom prst="roundRect">
            <a:avLst>
              <a:gd name="adj" fmla="val 50000"/>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2359152"/>
            <a:ext cx="3291840" cy="256032"/>
          </a:xfrm>
          <a:prstGeom prst="rect">
            <a:avLst/>
          </a:prstGeom>
          <a:noFill/>
        </p:spPr>
        <p:txBody>
          <a:bodyPr wrap="square" lIns="0" rIns="0" tIns="0" bIns="0">
            <a:spAutoFit/>
          </a:bodyPr>
          <a:lstStyle/>
          <a:p>
            <a:pPr algn="l"/>
            <a:r>
              <a:rPr sz="1100" b="1" i="0">
                <a:solidFill>
                  <a:srgbClr val="1A2233"/>
                </a:solidFill>
                <a:latin typeface="Calibri"/>
              </a:rPr>
              <a:t>$35–70B / yr</a:t>
            </a:r>
          </a:p>
        </p:txBody>
      </p:sp>
      <p:sp>
        <p:nvSpPr>
          <p:cNvPr id="21" name="TextBox 20"/>
          <p:cNvSpPr txBox="1"/>
          <p:nvPr/>
        </p:nvSpPr>
        <p:spPr>
          <a:xfrm>
            <a:off x="5349240" y="2706624"/>
            <a:ext cx="5852160" cy="256032"/>
          </a:xfrm>
          <a:prstGeom prst="rect">
            <a:avLst/>
          </a:prstGeom>
          <a:noFill/>
        </p:spPr>
        <p:txBody>
          <a:bodyPr wrap="square" lIns="0" rIns="0" tIns="0" bIns="0">
            <a:spAutoFit/>
          </a:bodyPr>
          <a:lstStyle/>
          <a:p>
            <a:pPr algn="l"/>
            <a:r>
              <a:rPr sz="900" b="0" i="1">
                <a:solidFill>
                  <a:srgbClr val="5A6478"/>
                </a:solidFill>
                <a:latin typeface="Calibri"/>
              </a:rPr>
              <a:t>≈ a third of the old TAM, added — roughly our 2029 wave case</a:t>
            </a:r>
          </a:p>
        </p:txBody>
      </p:sp>
      <p:sp>
        <p:nvSpPr>
          <p:cNvPr id="22" name="TextBox 21"/>
          <p:cNvSpPr txBox="1"/>
          <p:nvPr/>
        </p:nvSpPr>
        <p:spPr>
          <a:xfrm>
            <a:off x="5349240" y="3191256"/>
            <a:ext cx="1417320" cy="256032"/>
          </a:xfrm>
          <a:prstGeom prst="rect">
            <a:avLst/>
          </a:prstGeom>
          <a:noFill/>
        </p:spPr>
        <p:txBody>
          <a:bodyPr wrap="square" lIns="0" rIns="0" tIns="0" bIns="0">
            <a:spAutoFit/>
          </a:bodyPr>
          <a:lstStyle/>
          <a:p>
            <a:pPr algn="l"/>
            <a:r>
              <a:rPr sz="1050" b="1" i="0">
                <a:solidFill>
                  <a:srgbClr val="1A2233"/>
                </a:solidFill>
                <a:latin typeface="Calibri"/>
              </a:rPr>
              <a:t>5% delegated</a:t>
            </a:r>
          </a:p>
        </p:txBody>
      </p:sp>
      <p:sp>
        <p:nvSpPr>
          <p:cNvPr id="23" name="Rounded Rectangle 22"/>
          <p:cNvSpPr/>
          <p:nvPr/>
        </p:nvSpPr>
        <p:spPr>
          <a:xfrm>
            <a:off x="6812280" y="3145536"/>
            <a:ext cx="1733702" cy="365760"/>
          </a:xfrm>
          <a:prstGeom prst="roundRect">
            <a:avLst>
              <a:gd name="adj" fmla="val 50000"/>
            </a:avLst>
          </a:prstGeom>
          <a:solidFill>
            <a:srgbClr val="6E9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03720" y="3200400"/>
            <a:ext cx="3291840" cy="256032"/>
          </a:xfrm>
          <a:prstGeom prst="rect">
            <a:avLst/>
          </a:prstGeom>
          <a:noFill/>
        </p:spPr>
        <p:txBody>
          <a:bodyPr wrap="square" lIns="0" rIns="0" tIns="0" bIns="0">
            <a:spAutoFit/>
          </a:bodyPr>
          <a:lstStyle/>
          <a:p>
            <a:pPr algn="l"/>
            <a:r>
              <a:rPr sz="1100" b="1" i="0">
                <a:solidFill>
                  <a:srgbClr val="FFFFFF"/>
                </a:solidFill>
                <a:latin typeface="Calibri"/>
              </a:rPr>
              <a:t>$175–350B / yr</a:t>
            </a:r>
          </a:p>
        </p:txBody>
      </p:sp>
      <p:sp>
        <p:nvSpPr>
          <p:cNvPr id="25" name="TextBox 24"/>
          <p:cNvSpPr txBox="1"/>
          <p:nvPr/>
        </p:nvSpPr>
        <p:spPr>
          <a:xfrm>
            <a:off x="5349240" y="3547872"/>
            <a:ext cx="5852160" cy="256032"/>
          </a:xfrm>
          <a:prstGeom prst="rect">
            <a:avLst/>
          </a:prstGeom>
          <a:noFill/>
        </p:spPr>
        <p:txBody>
          <a:bodyPr wrap="square" lIns="0" rIns="0" tIns="0" bIns="0">
            <a:spAutoFit/>
          </a:bodyPr>
          <a:lstStyle/>
          <a:p>
            <a:pPr algn="l"/>
            <a:r>
              <a:rPr sz="900" b="0" i="1">
                <a:solidFill>
                  <a:srgbClr val="5A6478"/>
                </a:solidFill>
                <a:latin typeface="Calibri"/>
              </a:rPr>
              <a:t>≈ 1–2x the entire old TAM — every year</a:t>
            </a:r>
          </a:p>
        </p:txBody>
      </p:sp>
      <p:sp>
        <p:nvSpPr>
          <p:cNvPr id="26" name="TextBox 25"/>
          <p:cNvSpPr txBox="1"/>
          <p:nvPr/>
        </p:nvSpPr>
        <p:spPr>
          <a:xfrm>
            <a:off x="5349240" y="4032504"/>
            <a:ext cx="1417320" cy="256032"/>
          </a:xfrm>
          <a:prstGeom prst="rect">
            <a:avLst/>
          </a:prstGeom>
          <a:noFill/>
        </p:spPr>
        <p:txBody>
          <a:bodyPr wrap="square" lIns="0" rIns="0" tIns="0" bIns="0">
            <a:spAutoFit/>
          </a:bodyPr>
          <a:lstStyle/>
          <a:p>
            <a:pPr algn="l"/>
            <a:r>
              <a:rPr sz="1050" b="1" i="0">
                <a:solidFill>
                  <a:srgbClr val="1A2233"/>
                </a:solidFill>
                <a:latin typeface="Calibri"/>
              </a:rPr>
              <a:t>10% delegated</a:t>
            </a:r>
          </a:p>
        </p:txBody>
      </p:sp>
      <p:sp>
        <p:nvSpPr>
          <p:cNvPr id="27" name="Rounded Rectangle 26"/>
          <p:cNvSpPr/>
          <p:nvPr/>
        </p:nvSpPr>
        <p:spPr>
          <a:xfrm>
            <a:off x="6812280" y="3986784"/>
            <a:ext cx="3039465" cy="365760"/>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4041648"/>
            <a:ext cx="3291840" cy="256032"/>
          </a:xfrm>
          <a:prstGeom prst="rect">
            <a:avLst/>
          </a:prstGeom>
          <a:noFill/>
        </p:spPr>
        <p:txBody>
          <a:bodyPr wrap="square" lIns="0" rIns="0" tIns="0" bIns="0">
            <a:spAutoFit/>
          </a:bodyPr>
          <a:lstStyle/>
          <a:p>
            <a:pPr algn="l"/>
            <a:r>
              <a:rPr sz="1100" b="1" i="0">
                <a:solidFill>
                  <a:srgbClr val="FFFFFF"/>
                </a:solidFill>
                <a:latin typeface="Calibri"/>
              </a:rPr>
              <a:t>$350–700B / yr</a:t>
            </a:r>
          </a:p>
        </p:txBody>
      </p:sp>
      <p:sp>
        <p:nvSpPr>
          <p:cNvPr id="29" name="TextBox 28"/>
          <p:cNvSpPr txBox="1"/>
          <p:nvPr/>
        </p:nvSpPr>
        <p:spPr>
          <a:xfrm>
            <a:off x="5349240" y="4389120"/>
            <a:ext cx="5852160" cy="256032"/>
          </a:xfrm>
          <a:prstGeom prst="rect">
            <a:avLst/>
          </a:prstGeom>
          <a:noFill/>
        </p:spPr>
        <p:txBody>
          <a:bodyPr wrap="square" lIns="0" rIns="0" tIns="0" bIns="0">
            <a:spAutoFit/>
          </a:bodyPr>
          <a:lstStyle/>
          <a:p>
            <a:pPr algn="l"/>
            <a:r>
              <a:rPr sz="900" b="0" i="1">
                <a:solidFill>
                  <a:srgbClr val="5A6478"/>
                </a:solidFill>
                <a:latin typeface="Calibri"/>
              </a:rPr>
              <a:t>≈ 2–4x the old TAM — software budgets become a line item</a:t>
            </a:r>
          </a:p>
        </p:txBody>
      </p:sp>
      <p:sp>
        <p:nvSpPr>
          <p:cNvPr id="30" name="TextBox 29"/>
          <p:cNvSpPr txBox="1"/>
          <p:nvPr/>
        </p:nvSpPr>
        <p:spPr>
          <a:xfrm>
            <a:off x="5349240" y="4956048"/>
            <a:ext cx="5852160" cy="685800"/>
          </a:xfrm>
          <a:prstGeom prst="rect">
            <a:avLst/>
          </a:prstGeom>
          <a:noFill/>
        </p:spPr>
        <p:txBody>
          <a:bodyPr wrap="square" lIns="0" rIns="0" tIns="0" bIns="0">
            <a:spAutoFit/>
          </a:bodyPr>
          <a:lstStyle/>
          <a:p>
            <a:pPr algn="l"/>
            <a:r>
              <a:rPr sz="950" b="0" i="1">
                <a:solidFill>
                  <a:srgbClr val="5A6478"/>
                </a:solidFill>
                <a:latin typeface="Calibri"/>
              </a:rPr>
              <a:t>Basis: ~$35T knowledge-work wage pool × share of task-value delegated × machine labor billed at ~10–20¢ per human-dollar of work (prev. slide). The meters collect the royalty on whichever rung arrives.</a:t>
            </a:r>
          </a:p>
        </p:txBody>
      </p:sp>
      <p:sp>
        <p:nvSpPr>
          <p:cNvPr id="31" name="Rounded Rectangle 30"/>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old TAM is a line item inside the new one  </a:t>
            </a:r>
            <a:r>
              <a:rPr sz="1200">
                <a:solidFill>
                  <a:srgbClr val="1A2233"/>
                </a:solidFill>
                <a:latin typeface="Calibri"/>
              </a:rPr>
              <a:t>— delegation share, not software budgets, sets the ceiling on the royalty.</a:t>
            </a:r>
          </a:p>
        </p:txBody>
      </p:sp>
      <p:sp>
        <p:nvSpPr>
          <p:cNvPr id="32" name="TextBox 3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3" name="TextBox 3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49</a:t>
            </a:r>
          </a:p>
        </p:txBody>
      </p:sp>
      <p:sp>
        <p:nvSpPr>
          <p:cNvPr id="34" name="TextBox 3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Old TAM per Gartner DBMS forecast and Skycatcher observability/SIEM estimate (p. 47). New-TAM rungs = scenario arithmetic on the wage-pool funnel (prev. slide), MODELED, illustrative — not forecasts.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What the three layers earn — and what they cost</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MEDIAN NTM REVENUE GROWTH · EV / NTM REVENUE · LTM FCF MARGIN, BY LAYER — 67 COMPANIES, CONSENSUS BASIS, AUG 11, 2026</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017520" y="1627632"/>
            <a:ext cx="2286000" cy="274320"/>
          </a:xfrm>
          <a:prstGeom prst="rect">
            <a:avLst/>
          </a:prstGeom>
          <a:noFill/>
        </p:spPr>
        <p:txBody>
          <a:bodyPr wrap="square" lIns="0" rIns="0" tIns="0" bIns="0">
            <a:spAutoFit/>
          </a:bodyPr>
          <a:lstStyle/>
          <a:p>
            <a:pPr algn="ctr"/>
            <a:r>
              <a:rPr sz="1000" b="1" i="0">
                <a:solidFill>
                  <a:srgbClr val="5A6478"/>
                </a:solidFill>
                <a:latin typeface="Calibri"/>
              </a:rPr>
              <a:t>NTM REVENUE GROWTH</a:t>
            </a:r>
          </a:p>
        </p:txBody>
      </p:sp>
      <p:sp>
        <p:nvSpPr>
          <p:cNvPr id="6" name="TextBox 5"/>
          <p:cNvSpPr txBox="1"/>
          <p:nvPr/>
        </p:nvSpPr>
        <p:spPr>
          <a:xfrm>
            <a:off x="5577840" y="1627632"/>
            <a:ext cx="2286000" cy="274320"/>
          </a:xfrm>
          <a:prstGeom prst="rect">
            <a:avLst/>
          </a:prstGeom>
          <a:noFill/>
        </p:spPr>
        <p:txBody>
          <a:bodyPr wrap="square" lIns="0" rIns="0" tIns="0" bIns="0">
            <a:spAutoFit/>
          </a:bodyPr>
          <a:lstStyle/>
          <a:p>
            <a:pPr algn="ctr"/>
            <a:r>
              <a:rPr sz="1000" b="1" i="0">
                <a:solidFill>
                  <a:srgbClr val="5A6478"/>
                </a:solidFill>
                <a:latin typeface="Calibri"/>
              </a:rPr>
              <a:t>EV / NTM REVENUE</a:t>
            </a:r>
          </a:p>
        </p:txBody>
      </p:sp>
      <p:sp>
        <p:nvSpPr>
          <p:cNvPr id="7" name="TextBox 6"/>
          <p:cNvSpPr txBox="1"/>
          <p:nvPr/>
        </p:nvSpPr>
        <p:spPr>
          <a:xfrm>
            <a:off x="8138160" y="1627632"/>
            <a:ext cx="2286000" cy="274320"/>
          </a:xfrm>
          <a:prstGeom prst="rect">
            <a:avLst/>
          </a:prstGeom>
          <a:noFill/>
        </p:spPr>
        <p:txBody>
          <a:bodyPr wrap="square" lIns="0" rIns="0" tIns="0" bIns="0">
            <a:spAutoFit/>
          </a:bodyPr>
          <a:lstStyle/>
          <a:p>
            <a:pPr algn="ctr"/>
            <a:r>
              <a:rPr sz="1000" b="1" i="0">
                <a:solidFill>
                  <a:srgbClr val="5A6478"/>
                </a:solidFill>
                <a:latin typeface="Calibri"/>
              </a:rPr>
              <a:t>LTM FCF MARGIN</a:t>
            </a:r>
          </a:p>
        </p:txBody>
      </p:sp>
      <p:sp>
        <p:nvSpPr>
          <p:cNvPr id="8" name="Rounded Rectangle 7"/>
          <p:cNvSpPr/>
          <p:nvPr/>
        </p:nvSpPr>
        <p:spPr>
          <a:xfrm>
            <a:off x="777240" y="1996135"/>
            <a:ext cx="10634472" cy="859536"/>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93899"/>
            <a:ext cx="2377440" cy="310896"/>
          </a:xfrm>
          <a:prstGeom prst="rect">
            <a:avLst/>
          </a:prstGeom>
          <a:noFill/>
        </p:spPr>
        <p:txBody>
          <a:bodyPr wrap="square" lIns="0" rIns="0" tIns="0" bIns="0">
            <a:spAutoFit/>
          </a:bodyPr>
          <a:lstStyle/>
          <a:p>
            <a:pPr algn="l"/>
            <a:r>
              <a:rPr sz="1300" b="0" i="0">
                <a:solidFill>
                  <a:srgbClr val="1A2233"/>
                </a:solidFill>
                <a:latin typeface="Calibri"/>
              </a:rPr>
              <a:t>L4 · Apps</a:t>
            </a:r>
          </a:p>
        </p:txBody>
      </p:sp>
      <p:sp>
        <p:nvSpPr>
          <p:cNvPr id="10" name="TextBox 9"/>
          <p:cNvSpPr txBox="1"/>
          <p:nvPr/>
        </p:nvSpPr>
        <p:spPr>
          <a:xfrm>
            <a:off x="3246120" y="2234793"/>
            <a:ext cx="1828800" cy="457200"/>
          </a:xfrm>
          <a:prstGeom prst="rect">
            <a:avLst/>
          </a:prstGeom>
          <a:noFill/>
        </p:spPr>
        <p:txBody>
          <a:bodyPr wrap="square" lIns="0" rIns="0" tIns="0" bIns="0">
            <a:spAutoFit/>
          </a:bodyPr>
          <a:lstStyle/>
          <a:p>
            <a:pPr algn="ctr"/>
            <a:r>
              <a:rPr sz="2400" b="1" i="0">
                <a:solidFill>
                  <a:srgbClr val="5A6478"/>
                </a:solidFill>
                <a:latin typeface="Cambria"/>
              </a:rPr>
              <a:t>17%</a:t>
            </a:r>
          </a:p>
        </p:txBody>
      </p:sp>
      <p:sp>
        <p:nvSpPr>
          <p:cNvPr id="11" name="TextBox 10"/>
          <p:cNvSpPr txBox="1"/>
          <p:nvPr/>
        </p:nvSpPr>
        <p:spPr>
          <a:xfrm>
            <a:off x="5806440" y="2234793"/>
            <a:ext cx="1828800" cy="457200"/>
          </a:xfrm>
          <a:prstGeom prst="rect">
            <a:avLst/>
          </a:prstGeom>
          <a:noFill/>
        </p:spPr>
        <p:txBody>
          <a:bodyPr wrap="square" lIns="0" rIns="0" tIns="0" bIns="0">
            <a:spAutoFit/>
          </a:bodyPr>
          <a:lstStyle/>
          <a:p>
            <a:pPr algn="ctr"/>
            <a:r>
              <a:rPr sz="2400" b="1" i="0">
                <a:solidFill>
                  <a:srgbClr val="5A6478"/>
                </a:solidFill>
                <a:latin typeface="Cambria"/>
              </a:rPr>
              <a:t>4.0x</a:t>
            </a:r>
          </a:p>
        </p:txBody>
      </p:sp>
      <p:sp>
        <p:nvSpPr>
          <p:cNvPr id="12" name="TextBox 11"/>
          <p:cNvSpPr txBox="1"/>
          <p:nvPr/>
        </p:nvSpPr>
        <p:spPr>
          <a:xfrm>
            <a:off x="8366760" y="2234793"/>
            <a:ext cx="1828800" cy="457200"/>
          </a:xfrm>
          <a:prstGeom prst="rect">
            <a:avLst/>
          </a:prstGeom>
          <a:noFill/>
        </p:spPr>
        <p:txBody>
          <a:bodyPr wrap="square" lIns="0" rIns="0" tIns="0" bIns="0">
            <a:spAutoFit/>
          </a:bodyPr>
          <a:lstStyle/>
          <a:p>
            <a:pPr algn="ctr"/>
            <a:r>
              <a:rPr sz="2400" b="1" i="0">
                <a:solidFill>
                  <a:srgbClr val="5A6478"/>
                </a:solidFill>
                <a:latin typeface="Cambria"/>
              </a:rPr>
              <a:t>22%</a:t>
            </a:r>
          </a:p>
        </p:txBody>
      </p:sp>
      <p:sp>
        <p:nvSpPr>
          <p:cNvPr id="13" name="Rounded Rectangle 12"/>
          <p:cNvSpPr/>
          <p:nvPr/>
        </p:nvSpPr>
        <p:spPr>
          <a:xfrm>
            <a:off x="777240" y="3375050"/>
            <a:ext cx="10634472" cy="859536"/>
          </a:xfrm>
          <a:prstGeom prst="roundRect">
            <a:avLst>
              <a:gd name="adj" fmla="val 10000"/>
            </a:avLst>
          </a:prstGeom>
          <a:solidFill>
            <a:srgbClr val="F5F8FC"/>
          </a:solidFill>
          <a:ln w="13970">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772814"/>
            <a:ext cx="2377440" cy="310896"/>
          </a:xfrm>
          <a:prstGeom prst="rect">
            <a:avLst/>
          </a:prstGeom>
          <a:noFill/>
        </p:spPr>
        <p:txBody>
          <a:bodyPr wrap="square" lIns="0" rIns="0" tIns="0" bIns="0">
            <a:spAutoFit/>
          </a:bodyPr>
          <a:lstStyle/>
          <a:p>
            <a:pPr algn="l"/>
            <a:r>
              <a:rPr sz="1300" b="1" i="0">
                <a:solidFill>
                  <a:srgbClr val="1A2233"/>
                </a:solidFill>
                <a:latin typeface="Calibri"/>
              </a:rPr>
              <a:t>L3 · Work</a:t>
            </a:r>
          </a:p>
        </p:txBody>
      </p:sp>
      <p:sp>
        <p:nvSpPr>
          <p:cNvPr id="15" name="TextBox 14"/>
          <p:cNvSpPr txBox="1"/>
          <p:nvPr/>
        </p:nvSpPr>
        <p:spPr>
          <a:xfrm>
            <a:off x="3246120" y="3613708"/>
            <a:ext cx="1828800" cy="457200"/>
          </a:xfrm>
          <a:prstGeom prst="rect">
            <a:avLst/>
          </a:prstGeom>
          <a:noFill/>
        </p:spPr>
        <p:txBody>
          <a:bodyPr wrap="square" lIns="0" rIns="0" tIns="0" bIns="0">
            <a:spAutoFit/>
          </a:bodyPr>
          <a:lstStyle/>
          <a:p>
            <a:pPr algn="ctr"/>
            <a:r>
              <a:rPr sz="2400" b="1" i="0">
                <a:solidFill>
                  <a:srgbClr val="1A2233"/>
                </a:solidFill>
                <a:latin typeface="Cambria"/>
              </a:rPr>
              <a:t>23%</a:t>
            </a:r>
          </a:p>
        </p:txBody>
      </p:sp>
      <p:sp>
        <p:nvSpPr>
          <p:cNvPr id="16" name="TextBox 15"/>
          <p:cNvSpPr txBox="1"/>
          <p:nvPr/>
        </p:nvSpPr>
        <p:spPr>
          <a:xfrm>
            <a:off x="5806440" y="3613708"/>
            <a:ext cx="1828800" cy="457200"/>
          </a:xfrm>
          <a:prstGeom prst="rect">
            <a:avLst/>
          </a:prstGeom>
          <a:noFill/>
        </p:spPr>
        <p:txBody>
          <a:bodyPr wrap="square" lIns="0" rIns="0" tIns="0" bIns="0">
            <a:spAutoFit/>
          </a:bodyPr>
          <a:lstStyle/>
          <a:p>
            <a:pPr algn="ctr"/>
            <a:r>
              <a:rPr sz="2400" b="1" i="0">
                <a:solidFill>
                  <a:srgbClr val="1A2233"/>
                </a:solidFill>
                <a:latin typeface="Cambria"/>
              </a:rPr>
              <a:t>7.2x</a:t>
            </a:r>
          </a:p>
        </p:txBody>
      </p:sp>
      <p:sp>
        <p:nvSpPr>
          <p:cNvPr id="17" name="TextBox 16"/>
          <p:cNvSpPr txBox="1"/>
          <p:nvPr/>
        </p:nvSpPr>
        <p:spPr>
          <a:xfrm>
            <a:off x="8366760" y="3613708"/>
            <a:ext cx="1828800" cy="457200"/>
          </a:xfrm>
          <a:prstGeom prst="rect">
            <a:avLst/>
          </a:prstGeom>
          <a:noFill/>
        </p:spPr>
        <p:txBody>
          <a:bodyPr wrap="square" lIns="0" rIns="0" tIns="0" bIns="0">
            <a:spAutoFit/>
          </a:bodyPr>
          <a:lstStyle/>
          <a:p>
            <a:pPr algn="ctr"/>
            <a:r>
              <a:rPr sz="2400" b="1" i="0">
                <a:solidFill>
                  <a:srgbClr val="1A2233"/>
                </a:solidFill>
                <a:latin typeface="Cambria"/>
              </a:rPr>
              <a:t>26%</a:t>
            </a:r>
          </a:p>
        </p:txBody>
      </p:sp>
      <p:sp>
        <p:nvSpPr>
          <p:cNvPr id="18" name="Rounded Rectangle 17"/>
          <p:cNvSpPr/>
          <p:nvPr/>
        </p:nvSpPr>
        <p:spPr>
          <a:xfrm>
            <a:off x="777240" y="4753965"/>
            <a:ext cx="10634472" cy="859536"/>
          </a:xfrm>
          <a:prstGeom prst="roundRect">
            <a:avLst>
              <a:gd name="adj" fmla="val 10000"/>
            </a:avLst>
          </a:prstGeom>
          <a:solidFill>
            <a:srgbClr val="F5F8FC"/>
          </a:solidFill>
          <a:ln w="13970">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151729"/>
            <a:ext cx="2377440" cy="310896"/>
          </a:xfrm>
          <a:prstGeom prst="rect">
            <a:avLst/>
          </a:prstGeom>
          <a:noFill/>
        </p:spPr>
        <p:txBody>
          <a:bodyPr wrap="square" lIns="0" rIns="0" tIns="0" bIns="0">
            <a:spAutoFit/>
          </a:bodyPr>
          <a:lstStyle/>
          <a:p>
            <a:pPr algn="l"/>
            <a:r>
              <a:rPr sz="1300" b="1" i="0">
                <a:solidFill>
                  <a:srgbClr val="1A2233"/>
                </a:solidFill>
                <a:latin typeface="Calibri"/>
              </a:rPr>
              <a:t>L2 · State</a:t>
            </a:r>
          </a:p>
        </p:txBody>
      </p:sp>
      <p:sp>
        <p:nvSpPr>
          <p:cNvPr id="20" name="TextBox 19"/>
          <p:cNvSpPr txBox="1"/>
          <p:nvPr/>
        </p:nvSpPr>
        <p:spPr>
          <a:xfrm>
            <a:off x="3246120" y="4992624"/>
            <a:ext cx="1828800" cy="457200"/>
          </a:xfrm>
          <a:prstGeom prst="rect">
            <a:avLst/>
          </a:prstGeom>
          <a:noFill/>
        </p:spPr>
        <p:txBody>
          <a:bodyPr wrap="square" lIns="0" rIns="0" tIns="0" bIns="0">
            <a:spAutoFit/>
          </a:bodyPr>
          <a:lstStyle/>
          <a:p>
            <a:pPr algn="ctr"/>
            <a:r>
              <a:rPr sz="2400" b="1" i="0">
                <a:solidFill>
                  <a:srgbClr val="1A2233"/>
                </a:solidFill>
                <a:latin typeface="Cambria"/>
              </a:rPr>
              <a:t>20%</a:t>
            </a:r>
          </a:p>
        </p:txBody>
      </p:sp>
      <p:sp>
        <p:nvSpPr>
          <p:cNvPr id="21" name="TextBox 20"/>
          <p:cNvSpPr txBox="1"/>
          <p:nvPr/>
        </p:nvSpPr>
        <p:spPr>
          <a:xfrm>
            <a:off x="5806440" y="4992624"/>
            <a:ext cx="1828800" cy="457200"/>
          </a:xfrm>
          <a:prstGeom prst="rect">
            <a:avLst/>
          </a:prstGeom>
          <a:noFill/>
        </p:spPr>
        <p:txBody>
          <a:bodyPr wrap="square" lIns="0" rIns="0" tIns="0" bIns="0">
            <a:spAutoFit/>
          </a:bodyPr>
          <a:lstStyle/>
          <a:p>
            <a:pPr algn="ctr"/>
            <a:r>
              <a:rPr sz="2400" b="1" i="0">
                <a:solidFill>
                  <a:srgbClr val="1A2233"/>
                </a:solidFill>
                <a:latin typeface="Cambria"/>
              </a:rPr>
              <a:t>5.2x</a:t>
            </a:r>
          </a:p>
        </p:txBody>
      </p:sp>
      <p:sp>
        <p:nvSpPr>
          <p:cNvPr id="22" name="TextBox 21"/>
          <p:cNvSpPr txBox="1"/>
          <p:nvPr/>
        </p:nvSpPr>
        <p:spPr>
          <a:xfrm>
            <a:off x="8366760" y="4992624"/>
            <a:ext cx="1828800" cy="457200"/>
          </a:xfrm>
          <a:prstGeom prst="rect">
            <a:avLst/>
          </a:prstGeom>
          <a:noFill/>
        </p:spPr>
        <p:txBody>
          <a:bodyPr wrap="square" lIns="0" rIns="0" tIns="0" bIns="0">
            <a:spAutoFit/>
          </a:bodyPr>
          <a:lstStyle/>
          <a:p>
            <a:pPr algn="ctr"/>
            <a:r>
              <a:rPr sz="2400" b="1" i="0">
                <a:solidFill>
                  <a:srgbClr val="1A2233"/>
                </a:solidFill>
                <a:latin typeface="Cambria"/>
              </a:rPr>
              <a:t>21%</a:t>
            </a:r>
          </a:p>
        </p:txBody>
      </p:sp>
      <p:sp>
        <p:nvSpPr>
          <p:cNvPr id="28" name="TextBox 27"/>
          <p:cNvSpPr txBox="1"/>
          <p:nvPr/>
        </p:nvSpPr>
        <p:spPr>
          <a:xfrm>
            <a:off x="777240" y="5760720"/>
            <a:ext cx="10634472" cy="274320"/>
          </a:xfrm>
          <a:prstGeom prst="rect">
            <a:avLst/>
          </a:prstGeom>
          <a:noFill/>
        </p:spPr>
        <p:txBody>
          <a:bodyPr wrap="square" lIns="0" rIns="0" tIns="0" bIns="0">
            <a:spAutoFit/>
          </a:bodyPr>
          <a:lstStyle/>
          <a:p>
            <a:pPr algn="l"/>
            <a:r>
              <a:rPr sz="950" b="0" i="1">
                <a:solidFill>
                  <a:srgbClr val="5A6478"/>
                </a:solidFill>
                <a:latin typeface="Calibri"/>
              </a:rPr>
              <a:t>The work layer converts growth into cash today (26% FCF); the state layer carries the deepest re-investment; the apps grow slowest and cost the least — for a reason.</a:t>
            </a:r>
          </a:p>
        </p:txBody>
      </p:sp>
      <p:sp>
        <p:nvSpPr>
          <p:cNvPr id="29" name="Rounded Rectangle 28"/>
          <p:cNvSpPr/>
          <p:nvPr/>
        </p:nvSpPr>
        <p:spPr>
          <a:xfrm>
            <a:off x="777240" y="603504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Work earns today; state compounds for decades  </a:t>
            </a:r>
            <a:r>
              <a:rPr sz="1200">
                <a:solidFill>
                  <a:srgbClr val="1A2233"/>
                </a:solidFill>
                <a:latin typeface="Calibri"/>
              </a:rPr>
              <a:t>— the two layers every royalty on machine labor must run through.</a:t>
            </a:r>
          </a:p>
        </p:txBody>
      </p:sp>
      <p:sp>
        <p:nvSpPr>
          <p:cNvPr id="30" name="TextBox 2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1" name="TextBox 3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50</a:t>
            </a:r>
          </a:p>
        </p:txBody>
      </p:sp>
      <p:sp>
        <p:nvSpPr>
          <p:cNvPr id="32" name="TextBox 31"/>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Medians by layer. Consensus NTM revenue (FMP), fundamentals Jul 30, prices Aug 11, 2026; EV = market cap + net debt. NTM basis differs slightly from fwd-revenue figures elsewhere in this deck.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67 companies: what growth costs, layer by layer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NTM REVENUE GROWTH (X) VS. EV / NTM REVENUE (Y) — EVERY NAME IN THE UNIVERSE, COLORED BY LAYER · NAMES WITHHELD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481942"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207622" y="5815583"/>
            <a:ext cx="548640" cy="182880"/>
          </a:xfrm>
          <a:prstGeom prst="rect">
            <a:avLst/>
          </a:prstGeom>
          <a:noFill/>
        </p:spPr>
        <p:txBody>
          <a:bodyPr wrap="square" lIns="0" rIns="0" tIns="0" bIns="0">
            <a:spAutoFit/>
          </a:bodyPr>
          <a:lstStyle/>
          <a:p>
            <a:pPr algn="ctr"/>
            <a:r>
              <a:rPr sz="850" b="0" i="0">
                <a:solidFill>
                  <a:srgbClr val="8A97B0"/>
                </a:solidFill>
                <a:latin typeface="Calibri"/>
              </a:rPr>
              <a:t>0%</a:t>
            </a:r>
          </a:p>
        </p:txBody>
      </p:sp>
      <p:cxnSp>
        <p:nvCxnSpPr>
          <p:cNvPr id="7" name="Connector 6"/>
          <p:cNvCxnSpPr/>
          <p:nvPr/>
        </p:nvCxnSpPr>
        <p:spPr>
          <a:xfrm>
            <a:off x="5068388"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94068" y="5815583"/>
            <a:ext cx="548640" cy="182880"/>
          </a:xfrm>
          <a:prstGeom prst="rect">
            <a:avLst/>
          </a:prstGeom>
          <a:noFill/>
        </p:spPr>
        <p:txBody>
          <a:bodyPr wrap="square" lIns="0" rIns="0" tIns="0" bIns="0">
            <a:spAutoFit/>
          </a:bodyPr>
          <a:lstStyle/>
          <a:p>
            <a:pPr algn="ctr"/>
            <a:r>
              <a:rPr sz="850" b="0" i="0">
                <a:solidFill>
                  <a:srgbClr val="8A97B0"/>
                </a:solidFill>
                <a:latin typeface="Calibri"/>
              </a:rPr>
              <a:t>20%</a:t>
            </a:r>
          </a:p>
        </p:txBody>
      </p:sp>
      <p:cxnSp>
        <p:nvCxnSpPr>
          <p:cNvPr id="9" name="Connector 8"/>
          <p:cNvCxnSpPr/>
          <p:nvPr/>
        </p:nvCxnSpPr>
        <p:spPr>
          <a:xfrm>
            <a:off x="7654834"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80514" y="5815583"/>
            <a:ext cx="548640" cy="182880"/>
          </a:xfrm>
          <a:prstGeom prst="rect">
            <a:avLst/>
          </a:prstGeom>
          <a:noFill/>
        </p:spPr>
        <p:txBody>
          <a:bodyPr wrap="square" lIns="0" rIns="0" tIns="0" bIns="0">
            <a:spAutoFit/>
          </a:bodyPr>
          <a:lstStyle/>
          <a:p>
            <a:pPr algn="ctr"/>
            <a:r>
              <a:rPr sz="850" b="0" i="0">
                <a:solidFill>
                  <a:srgbClr val="8A97B0"/>
                </a:solidFill>
                <a:latin typeface="Calibri"/>
              </a:rPr>
              <a:t>40%</a:t>
            </a:r>
          </a:p>
        </p:txBody>
      </p:sp>
      <p:cxnSp>
        <p:nvCxnSpPr>
          <p:cNvPr id="11" name="Connector 10"/>
          <p:cNvCxnSpPr/>
          <p:nvPr/>
        </p:nvCxnSpPr>
        <p:spPr>
          <a:xfrm>
            <a:off x="10241280"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966959" y="5815583"/>
            <a:ext cx="548640" cy="182880"/>
          </a:xfrm>
          <a:prstGeom prst="rect">
            <a:avLst/>
          </a:prstGeom>
          <a:noFill/>
        </p:spPr>
        <p:txBody>
          <a:bodyPr wrap="square" lIns="0" rIns="0" tIns="0" bIns="0">
            <a:spAutoFit/>
          </a:bodyPr>
          <a:lstStyle/>
          <a:p>
            <a:pPr algn="ctr"/>
            <a:r>
              <a:rPr sz="850" b="0" i="0">
                <a:solidFill>
                  <a:srgbClr val="8A97B0"/>
                </a:solidFill>
                <a:latin typeface="Calibri"/>
              </a:rPr>
              <a:t>60%</a:t>
            </a:r>
          </a:p>
        </p:txBody>
      </p:sp>
      <p:cxnSp>
        <p:nvCxnSpPr>
          <p:cNvPr id="13" name="Connector 12"/>
          <p:cNvCxnSpPr/>
          <p:nvPr/>
        </p:nvCxnSpPr>
        <p:spPr>
          <a:xfrm>
            <a:off x="1188720" y="5145578"/>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77240" y="5063282"/>
            <a:ext cx="347472" cy="182880"/>
          </a:xfrm>
          <a:prstGeom prst="rect">
            <a:avLst/>
          </a:prstGeom>
          <a:noFill/>
        </p:spPr>
        <p:txBody>
          <a:bodyPr wrap="square" lIns="0" rIns="0" tIns="0" bIns="0">
            <a:spAutoFit/>
          </a:bodyPr>
          <a:lstStyle/>
          <a:p>
            <a:pPr algn="r"/>
            <a:r>
              <a:rPr sz="850" b="0" i="0">
                <a:solidFill>
                  <a:srgbClr val="8A97B0"/>
                </a:solidFill>
                <a:latin typeface="Calibri"/>
              </a:rPr>
              <a:t>5x</a:t>
            </a:r>
          </a:p>
        </p:txBody>
      </p:sp>
      <p:cxnSp>
        <p:nvCxnSpPr>
          <p:cNvPr id="15" name="Connector 14"/>
          <p:cNvCxnSpPr/>
          <p:nvPr/>
        </p:nvCxnSpPr>
        <p:spPr>
          <a:xfrm>
            <a:off x="1188720" y="4530436"/>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77240" y="4448140"/>
            <a:ext cx="347472" cy="182880"/>
          </a:xfrm>
          <a:prstGeom prst="rect">
            <a:avLst/>
          </a:prstGeom>
          <a:noFill/>
        </p:spPr>
        <p:txBody>
          <a:bodyPr wrap="square" lIns="0" rIns="0" tIns="0" bIns="0">
            <a:spAutoFit/>
          </a:bodyPr>
          <a:lstStyle/>
          <a:p>
            <a:pPr algn="r"/>
            <a:r>
              <a:rPr sz="850" b="0" i="0">
                <a:solidFill>
                  <a:srgbClr val="8A97B0"/>
                </a:solidFill>
                <a:latin typeface="Calibri"/>
              </a:rPr>
              <a:t>10x</a:t>
            </a:r>
          </a:p>
        </p:txBody>
      </p:sp>
      <p:cxnSp>
        <p:nvCxnSpPr>
          <p:cNvPr id="17" name="Connector 16"/>
          <p:cNvCxnSpPr/>
          <p:nvPr/>
        </p:nvCxnSpPr>
        <p:spPr>
          <a:xfrm>
            <a:off x="1188720" y="3915294"/>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7240" y="3832998"/>
            <a:ext cx="347472" cy="182880"/>
          </a:xfrm>
          <a:prstGeom prst="rect">
            <a:avLst/>
          </a:prstGeom>
          <a:noFill/>
        </p:spPr>
        <p:txBody>
          <a:bodyPr wrap="square" lIns="0" rIns="0" tIns="0" bIns="0">
            <a:spAutoFit/>
          </a:bodyPr>
          <a:lstStyle/>
          <a:p>
            <a:pPr algn="r"/>
            <a:r>
              <a:rPr sz="850" b="0" i="0">
                <a:solidFill>
                  <a:srgbClr val="8A97B0"/>
                </a:solidFill>
                <a:latin typeface="Calibri"/>
              </a:rPr>
              <a:t>15x</a:t>
            </a:r>
          </a:p>
        </p:txBody>
      </p:sp>
      <p:cxnSp>
        <p:nvCxnSpPr>
          <p:cNvPr id="19" name="Connector 18"/>
          <p:cNvCxnSpPr/>
          <p:nvPr/>
        </p:nvCxnSpPr>
        <p:spPr>
          <a:xfrm>
            <a:off x="1188720" y="3300152"/>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3217856"/>
            <a:ext cx="347472" cy="182880"/>
          </a:xfrm>
          <a:prstGeom prst="rect">
            <a:avLst/>
          </a:prstGeom>
          <a:noFill/>
        </p:spPr>
        <p:txBody>
          <a:bodyPr wrap="square" lIns="0" rIns="0" tIns="0" bIns="0">
            <a:spAutoFit/>
          </a:bodyPr>
          <a:lstStyle/>
          <a:p>
            <a:pPr algn="r"/>
            <a:r>
              <a:rPr sz="850" b="0" i="0">
                <a:solidFill>
                  <a:srgbClr val="8A97B0"/>
                </a:solidFill>
                <a:latin typeface="Calibri"/>
              </a:rPr>
              <a:t>20x</a:t>
            </a:r>
          </a:p>
        </p:txBody>
      </p:sp>
      <p:cxnSp>
        <p:nvCxnSpPr>
          <p:cNvPr id="21" name="Connector 20"/>
          <p:cNvCxnSpPr/>
          <p:nvPr/>
        </p:nvCxnSpPr>
        <p:spPr>
          <a:xfrm>
            <a:off x="1188720" y="2685010"/>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2602714"/>
            <a:ext cx="347472" cy="182880"/>
          </a:xfrm>
          <a:prstGeom prst="rect">
            <a:avLst/>
          </a:prstGeom>
          <a:noFill/>
        </p:spPr>
        <p:txBody>
          <a:bodyPr wrap="square" lIns="0" rIns="0" tIns="0" bIns="0">
            <a:spAutoFit/>
          </a:bodyPr>
          <a:lstStyle/>
          <a:p>
            <a:pPr algn="r"/>
            <a:r>
              <a:rPr sz="850" b="0" i="0">
                <a:solidFill>
                  <a:srgbClr val="8A97B0"/>
                </a:solidFill>
                <a:latin typeface="Calibri"/>
              </a:rPr>
              <a:t>25x</a:t>
            </a:r>
          </a:p>
        </p:txBody>
      </p:sp>
      <p:cxnSp>
        <p:nvCxnSpPr>
          <p:cNvPr id="23" name="Connector 22"/>
          <p:cNvCxnSpPr/>
          <p:nvPr/>
        </p:nvCxnSpPr>
        <p:spPr>
          <a:xfrm>
            <a:off x="1188720" y="2069869"/>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77240" y="1987573"/>
            <a:ext cx="347472" cy="182880"/>
          </a:xfrm>
          <a:prstGeom prst="rect">
            <a:avLst/>
          </a:prstGeom>
          <a:noFill/>
        </p:spPr>
        <p:txBody>
          <a:bodyPr wrap="square" lIns="0" rIns="0" tIns="0" bIns="0">
            <a:spAutoFit/>
          </a:bodyPr>
          <a:lstStyle/>
          <a:p>
            <a:pPr algn="r"/>
            <a:r>
              <a:rPr sz="850" b="0" i="0">
                <a:solidFill>
                  <a:srgbClr val="8A97B0"/>
                </a:solidFill>
                <a:latin typeface="Calibri"/>
              </a:rPr>
              <a:t>30x</a:t>
            </a:r>
          </a:p>
        </p:txBody>
      </p:sp>
      <p:sp>
        <p:nvSpPr>
          <p:cNvPr id="25" name="Oval 24"/>
          <p:cNvSpPr/>
          <p:nvPr/>
        </p:nvSpPr>
        <p:spPr>
          <a:xfrm>
            <a:off x="3928355" y="5260958"/>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76495" y="4777686"/>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4863229" y="523240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335414" y="4994148"/>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764833" y="5362040"/>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182448" y="5457446"/>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579720" y="4850360"/>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567399" y="5192556"/>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685149" y="5237012"/>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192139" y="511692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5857068" y="543025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812868" y="530079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541422" y="471565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049675" y="548296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852504" y="5094092"/>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796306" y="543396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183754" y="520995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194812" y="536251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463200" y="5352176"/>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954754" y="539384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5341421" y="535910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937691" y="5266794"/>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159628" y="536534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472900" y="5422004"/>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753213" y="5292156"/>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3761297" y="522186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3055945" y="5436045"/>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4055911" y="5239784"/>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5969127" y="4557104"/>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2619632" y="550506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3343163" y="536676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567868" y="552698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4258252" y="521299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5302940" y="529431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7076973" y="5369232"/>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181844" y="218718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5029854" y="496947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6859168" y="453711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534007" y="5343630"/>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5259718" y="4881185"/>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7606703" y="1802499"/>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3936040" y="4848051"/>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4520142" y="5103356"/>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919002" y="5142424"/>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5476159" y="4023207"/>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4950721" y="5262143"/>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6688419" y="3263370"/>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077809" y="5089633"/>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6196532" y="2237891"/>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5565174" y="5122250"/>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340191" y="4905783"/>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6333828" y="3332126"/>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5985675" y="4646797"/>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376428" y="5304800"/>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695095" y="4914760"/>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4891837" y="4883036"/>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5773043" y="4999001"/>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3983898" y="5132050"/>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2608045" y="5409882"/>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222382" y="5006905"/>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7131322" y="3829247"/>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5516612" y="4731161"/>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808729" y="5304228"/>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511541" y="5044279"/>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9910975" y="4525233"/>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4658288" y="5110022"/>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5289402" y="5390966"/>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1417320" y="1810512"/>
            <a:ext cx="137160" cy="137160"/>
          </a:xfrm>
          <a:prstGeom prst="ellipse">
            <a:avLst/>
          </a:prstGeom>
          <a:solidFill>
            <a:srgbClr val="29C2F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618488" y="1773936"/>
            <a:ext cx="1051560" cy="201168"/>
          </a:xfrm>
          <a:prstGeom prst="rect">
            <a:avLst/>
          </a:prstGeom>
          <a:noFill/>
        </p:spPr>
        <p:txBody>
          <a:bodyPr wrap="square" lIns="0" rIns="0" tIns="0" bIns="0">
            <a:spAutoFit/>
          </a:bodyPr>
          <a:lstStyle/>
          <a:p>
            <a:pPr algn="l"/>
            <a:r>
              <a:rPr sz="950" b="1" i="0">
                <a:solidFill>
                  <a:srgbClr val="5A6478"/>
                </a:solidFill>
                <a:latin typeface="Calibri"/>
              </a:rPr>
              <a:t>L2 · State</a:t>
            </a:r>
          </a:p>
        </p:txBody>
      </p:sp>
      <p:sp>
        <p:nvSpPr>
          <p:cNvPr id="98" name="Oval 97"/>
          <p:cNvSpPr/>
          <p:nvPr/>
        </p:nvSpPr>
        <p:spPr>
          <a:xfrm>
            <a:off x="2743200" y="1810512"/>
            <a:ext cx="137160" cy="137160"/>
          </a:xfrm>
          <a:prstGeom prst="ellipse">
            <a:avLst/>
          </a:prstGeom>
          <a:solidFill>
            <a:srgbClr val="1B3F8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944368" y="1773936"/>
            <a:ext cx="1051560" cy="201168"/>
          </a:xfrm>
          <a:prstGeom prst="rect">
            <a:avLst/>
          </a:prstGeom>
          <a:noFill/>
        </p:spPr>
        <p:txBody>
          <a:bodyPr wrap="square" lIns="0" rIns="0" tIns="0" bIns="0">
            <a:spAutoFit/>
          </a:bodyPr>
          <a:lstStyle/>
          <a:p>
            <a:pPr algn="l"/>
            <a:r>
              <a:rPr sz="950" b="1" i="0">
                <a:solidFill>
                  <a:srgbClr val="5A6478"/>
                </a:solidFill>
                <a:latin typeface="Calibri"/>
              </a:rPr>
              <a:t>L3 · Work</a:t>
            </a:r>
          </a:p>
        </p:txBody>
      </p:sp>
      <p:sp>
        <p:nvSpPr>
          <p:cNvPr id="100" name="Oval 99"/>
          <p:cNvSpPr/>
          <p:nvPr/>
        </p:nvSpPr>
        <p:spPr>
          <a:xfrm>
            <a:off x="4069080" y="1810512"/>
            <a:ext cx="137160" cy="137160"/>
          </a:xfrm>
          <a:prstGeom prst="ellipse">
            <a:avLst/>
          </a:prstGeom>
          <a:solidFill>
            <a:srgbClr val="C9D2E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270248" y="1773936"/>
            <a:ext cx="1051560" cy="201168"/>
          </a:xfrm>
          <a:prstGeom prst="rect">
            <a:avLst/>
          </a:prstGeom>
          <a:noFill/>
        </p:spPr>
        <p:txBody>
          <a:bodyPr wrap="square" lIns="0" rIns="0" tIns="0" bIns="0">
            <a:spAutoFit/>
          </a:bodyPr>
          <a:lstStyle/>
          <a:p>
            <a:pPr algn="l"/>
            <a:r>
              <a:rPr sz="950" b="1" i="0">
                <a:solidFill>
                  <a:srgbClr val="5A6478"/>
                </a:solidFill>
                <a:latin typeface="Calibri"/>
              </a:rPr>
              <a:t>L4 · Apps</a:t>
            </a:r>
          </a:p>
        </p:txBody>
      </p:sp>
      <p:sp>
        <p:nvSpPr>
          <p:cNvPr id="104" name="TextBox 103"/>
          <p:cNvSpPr txBox="1"/>
          <p:nvPr/>
        </p:nvSpPr>
        <p:spPr>
          <a:xfrm>
            <a:off x="7315200" y="5074920"/>
            <a:ext cx="3657600" cy="274320"/>
          </a:xfrm>
          <a:prstGeom prst="rect">
            <a:avLst/>
          </a:prstGeom>
          <a:noFill/>
        </p:spPr>
        <p:txBody>
          <a:bodyPr wrap="square" lIns="0" rIns="0" tIns="0" bIns="0">
            <a:spAutoFit/>
          </a:bodyPr>
          <a:lstStyle/>
          <a:p>
            <a:pPr algn="l"/>
            <a:r>
              <a:rPr sz="950" b="0" i="1">
                <a:solidFill>
                  <a:srgbClr val="8A97B0"/>
                </a:solidFill>
                <a:latin typeface="Calibri"/>
              </a:rPr>
              <a:t>most of the universe: &lt;25% growth, &lt;8x</a:t>
            </a:r>
          </a:p>
        </p:txBody>
      </p:sp>
      <p:sp>
        <p:nvSpPr>
          <p:cNvPr id="105" name="TextBox 104"/>
          <p:cNvSpPr txBox="1"/>
          <p:nvPr/>
        </p:nvSpPr>
        <p:spPr>
          <a:xfrm>
            <a:off x="7223760" y="2148840"/>
            <a:ext cx="3840480" cy="457200"/>
          </a:xfrm>
          <a:prstGeom prst="rect">
            <a:avLst/>
          </a:prstGeom>
          <a:noFill/>
        </p:spPr>
        <p:txBody>
          <a:bodyPr wrap="square" lIns="0" rIns="0" tIns="0" bIns="0">
            <a:spAutoFit/>
          </a:bodyPr>
          <a:lstStyle/>
          <a:p>
            <a:pPr algn="l"/>
            <a:r>
              <a:rPr sz="950" b="0" i="1">
                <a:solidFill>
                  <a:srgbClr val="5A6478"/>
                </a:solidFill>
                <a:latin typeface="Calibri"/>
              </a:rPr>
              <a:t>the right edge is thin — the tape pays double-digit multiples only where usage growth is on file</a:t>
            </a:r>
          </a:p>
        </p:txBody>
      </p:sp>
      <p:sp>
        <p:nvSpPr>
          <p:cNvPr id="106" name="Rounded Rectangle 105"/>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Growth is scarce and priced with discipline  </a:t>
            </a:r>
            <a:r>
              <a:rPr sz="1200">
                <a:solidFill>
                  <a:srgbClr val="1A2233"/>
                </a:solidFill>
                <a:latin typeface="Calibri"/>
              </a:rPr>
              <a:t>— and the meter layers hold the scarce corner of the tape.</a:t>
            </a:r>
          </a:p>
        </p:txBody>
      </p:sp>
      <p:sp>
        <p:nvSpPr>
          <p:cNvPr id="107" name="TextBox 106"/>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08" name="TextBox 107"/>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51</a:t>
            </a:r>
          </a:p>
        </p:txBody>
      </p:sp>
      <p:sp>
        <p:nvSpPr>
          <p:cNvPr id="109" name="TextBox 108"/>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Consensus NTM growth vs EV/NTM revenue, 67 names, Jul 30 2026 (FMP consensus, market data). Axes clipped at 60% / 33x (2 names beyond). Names withheld; action rails (Twilio, Bandwidth) plotted with work.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Growth and cash are no longer a trade-off — for the meters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NTM REVENUE GROWTH (X) VS. LTM FCF MARGIN (Y) — 67 COMPANIES, RULE-OF-40 LINE MARKED · NAMES WITHHELD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481942"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207622" y="5815583"/>
            <a:ext cx="548640" cy="182880"/>
          </a:xfrm>
          <a:prstGeom prst="rect">
            <a:avLst/>
          </a:prstGeom>
          <a:noFill/>
        </p:spPr>
        <p:txBody>
          <a:bodyPr wrap="square" lIns="0" rIns="0" tIns="0" bIns="0">
            <a:spAutoFit/>
          </a:bodyPr>
          <a:lstStyle/>
          <a:p>
            <a:pPr algn="ctr"/>
            <a:r>
              <a:rPr sz="850" b="0" i="0">
                <a:solidFill>
                  <a:srgbClr val="8A97B0"/>
                </a:solidFill>
                <a:latin typeface="Calibri"/>
              </a:rPr>
              <a:t>0%</a:t>
            </a:r>
          </a:p>
        </p:txBody>
      </p:sp>
      <p:cxnSp>
        <p:nvCxnSpPr>
          <p:cNvPr id="7" name="Connector 6"/>
          <p:cNvCxnSpPr/>
          <p:nvPr/>
        </p:nvCxnSpPr>
        <p:spPr>
          <a:xfrm>
            <a:off x="5068388"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794068" y="5815583"/>
            <a:ext cx="548640" cy="182880"/>
          </a:xfrm>
          <a:prstGeom prst="rect">
            <a:avLst/>
          </a:prstGeom>
          <a:noFill/>
        </p:spPr>
        <p:txBody>
          <a:bodyPr wrap="square" lIns="0" rIns="0" tIns="0" bIns="0">
            <a:spAutoFit/>
          </a:bodyPr>
          <a:lstStyle/>
          <a:p>
            <a:pPr algn="ctr"/>
            <a:r>
              <a:rPr sz="850" b="0" i="0">
                <a:solidFill>
                  <a:srgbClr val="8A97B0"/>
                </a:solidFill>
                <a:latin typeface="Calibri"/>
              </a:rPr>
              <a:t>20%</a:t>
            </a:r>
          </a:p>
        </p:txBody>
      </p:sp>
      <p:cxnSp>
        <p:nvCxnSpPr>
          <p:cNvPr id="9" name="Connector 8"/>
          <p:cNvCxnSpPr/>
          <p:nvPr/>
        </p:nvCxnSpPr>
        <p:spPr>
          <a:xfrm>
            <a:off x="7654834"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80514" y="5815583"/>
            <a:ext cx="548640" cy="182880"/>
          </a:xfrm>
          <a:prstGeom prst="rect">
            <a:avLst/>
          </a:prstGeom>
          <a:noFill/>
        </p:spPr>
        <p:txBody>
          <a:bodyPr wrap="square" lIns="0" rIns="0" tIns="0" bIns="0">
            <a:spAutoFit/>
          </a:bodyPr>
          <a:lstStyle/>
          <a:p>
            <a:pPr algn="ctr"/>
            <a:r>
              <a:rPr sz="850" b="0" i="0">
                <a:solidFill>
                  <a:srgbClr val="8A97B0"/>
                </a:solidFill>
                <a:latin typeface="Calibri"/>
              </a:rPr>
              <a:t>40%</a:t>
            </a:r>
          </a:p>
        </p:txBody>
      </p:sp>
      <p:cxnSp>
        <p:nvCxnSpPr>
          <p:cNvPr id="11" name="Connector 10"/>
          <p:cNvCxnSpPr/>
          <p:nvPr/>
        </p:nvCxnSpPr>
        <p:spPr>
          <a:xfrm>
            <a:off x="10241280" y="1700784"/>
            <a:ext cx="0" cy="4059936"/>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966959" y="5815583"/>
            <a:ext cx="548640" cy="182880"/>
          </a:xfrm>
          <a:prstGeom prst="rect">
            <a:avLst/>
          </a:prstGeom>
          <a:noFill/>
        </p:spPr>
        <p:txBody>
          <a:bodyPr wrap="square" lIns="0" rIns="0" tIns="0" bIns="0">
            <a:spAutoFit/>
          </a:bodyPr>
          <a:lstStyle/>
          <a:p>
            <a:pPr algn="ctr"/>
            <a:r>
              <a:rPr sz="850" b="0" i="0">
                <a:solidFill>
                  <a:srgbClr val="8A97B0"/>
                </a:solidFill>
                <a:latin typeface="Calibri"/>
              </a:rPr>
              <a:t>60%</a:t>
            </a:r>
          </a:p>
        </p:txBody>
      </p:sp>
      <p:cxnSp>
        <p:nvCxnSpPr>
          <p:cNvPr id="13" name="Connector 12"/>
          <p:cNvCxnSpPr/>
          <p:nvPr/>
        </p:nvCxnSpPr>
        <p:spPr>
          <a:xfrm>
            <a:off x="1188720" y="5490057"/>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5407761"/>
            <a:ext cx="393192" cy="182880"/>
          </a:xfrm>
          <a:prstGeom prst="rect">
            <a:avLst/>
          </a:prstGeom>
          <a:noFill/>
        </p:spPr>
        <p:txBody>
          <a:bodyPr wrap="square" lIns="0" rIns="0" tIns="0" bIns="0">
            <a:spAutoFit/>
          </a:bodyPr>
          <a:lstStyle/>
          <a:p>
            <a:pPr algn="r"/>
            <a:r>
              <a:rPr sz="850" b="0" i="0">
                <a:solidFill>
                  <a:srgbClr val="8A97B0"/>
                </a:solidFill>
                <a:latin typeface="Calibri"/>
              </a:rPr>
              <a:t>-20%</a:t>
            </a:r>
          </a:p>
        </p:txBody>
      </p:sp>
      <p:cxnSp>
        <p:nvCxnSpPr>
          <p:cNvPr id="15" name="Connector 14"/>
          <p:cNvCxnSpPr/>
          <p:nvPr/>
        </p:nvCxnSpPr>
        <p:spPr>
          <a:xfrm>
            <a:off x="1188720" y="4407408"/>
            <a:ext cx="9052560" cy="0"/>
          </a:xfrm>
          <a:prstGeom prst="line">
            <a:avLst/>
          </a:prstGeom>
          <a:ln w="1524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4325112"/>
            <a:ext cx="393192" cy="182880"/>
          </a:xfrm>
          <a:prstGeom prst="rect">
            <a:avLst/>
          </a:prstGeom>
          <a:noFill/>
        </p:spPr>
        <p:txBody>
          <a:bodyPr wrap="square" lIns="0" rIns="0" tIns="0" bIns="0">
            <a:spAutoFit/>
          </a:bodyPr>
          <a:lstStyle/>
          <a:p>
            <a:pPr algn="r"/>
            <a:r>
              <a:rPr sz="850" b="0" i="0">
                <a:solidFill>
                  <a:srgbClr val="8A97B0"/>
                </a:solidFill>
                <a:latin typeface="Calibri"/>
              </a:rPr>
              <a:t>0%</a:t>
            </a:r>
          </a:p>
        </p:txBody>
      </p:sp>
      <p:cxnSp>
        <p:nvCxnSpPr>
          <p:cNvPr id="17" name="Connector 16"/>
          <p:cNvCxnSpPr/>
          <p:nvPr/>
        </p:nvCxnSpPr>
        <p:spPr>
          <a:xfrm>
            <a:off x="1188720" y="3324758"/>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31520" y="3242462"/>
            <a:ext cx="393192" cy="182880"/>
          </a:xfrm>
          <a:prstGeom prst="rect">
            <a:avLst/>
          </a:prstGeom>
          <a:noFill/>
        </p:spPr>
        <p:txBody>
          <a:bodyPr wrap="square" lIns="0" rIns="0" tIns="0" bIns="0">
            <a:spAutoFit/>
          </a:bodyPr>
          <a:lstStyle/>
          <a:p>
            <a:pPr algn="r"/>
            <a:r>
              <a:rPr sz="850" b="0" i="0">
                <a:solidFill>
                  <a:srgbClr val="8A97B0"/>
                </a:solidFill>
                <a:latin typeface="Calibri"/>
              </a:rPr>
              <a:t>20%</a:t>
            </a:r>
          </a:p>
        </p:txBody>
      </p:sp>
      <p:cxnSp>
        <p:nvCxnSpPr>
          <p:cNvPr id="19" name="Connector 18"/>
          <p:cNvCxnSpPr/>
          <p:nvPr/>
        </p:nvCxnSpPr>
        <p:spPr>
          <a:xfrm>
            <a:off x="1188720" y="2242108"/>
            <a:ext cx="90525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2159812"/>
            <a:ext cx="393192" cy="182880"/>
          </a:xfrm>
          <a:prstGeom prst="rect">
            <a:avLst/>
          </a:prstGeom>
          <a:noFill/>
        </p:spPr>
        <p:txBody>
          <a:bodyPr wrap="square" lIns="0" rIns="0" tIns="0" bIns="0">
            <a:spAutoFit/>
          </a:bodyPr>
          <a:lstStyle/>
          <a:p>
            <a:pPr algn="r"/>
            <a:r>
              <a:rPr sz="850" b="0" i="0">
                <a:solidFill>
                  <a:srgbClr val="8A97B0"/>
                </a:solidFill>
                <a:latin typeface="Calibri"/>
              </a:rPr>
              <a:t>40%</a:t>
            </a:r>
          </a:p>
        </p:txBody>
      </p:sp>
      <p:cxnSp>
        <p:nvCxnSpPr>
          <p:cNvPr id="21" name="Connector 20"/>
          <p:cNvCxnSpPr/>
          <p:nvPr/>
        </p:nvCxnSpPr>
        <p:spPr>
          <a:xfrm>
            <a:off x="1188720" y="1700784"/>
            <a:ext cx="9052560" cy="3789273"/>
          </a:xfrm>
          <a:prstGeom prst="line">
            <a:avLst/>
          </a:prstGeom>
          <a:ln w="15240">
            <a:solidFill>
              <a:srgbClr val="8A97B0"/>
            </a:solidFill>
            <a:prstDash val="dash"/>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2148840" y="1874519"/>
            <a:ext cx="1645920" cy="201168"/>
          </a:xfrm>
          <a:prstGeom prst="rect">
            <a:avLst/>
          </a:prstGeom>
          <a:noFill/>
        </p:spPr>
        <p:txBody>
          <a:bodyPr wrap="square" lIns="0" rIns="0" tIns="0" bIns="0">
            <a:spAutoFit/>
          </a:bodyPr>
          <a:lstStyle/>
          <a:p>
            <a:pPr algn="l"/>
            <a:r>
              <a:rPr sz="950" b="1" i="0">
                <a:solidFill>
                  <a:srgbClr val="8A97B0"/>
                </a:solidFill>
                <a:latin typeface="Calibri"/>
              </a:rPr>
              <a:t>Rule of 40</a:t>
            </a:r>
          </a:p>
        </p:txBody>
      </p:sp>
      <p:sp>
        <p:nvSpPr>
          <p:cNvPr id="23" name="Oval 22"/>
          <p:cNvSpPr/>
          <p:nvPr/>
        </p:nvSpPr>
        <p:spPr>
          <a:xfrm>
            <a:off x="3928355" y="206498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776495" y="302968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863229" y="362839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335414" y="570128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3764833" y="2502666"/>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4182448" y="344373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579720" y="324105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3567399" y="3203304"/>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685149" y="2874664"/>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92139" y="316802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5857068" y="379875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812868" y="3133358"/>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4541422" y="166713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5049675" y="4139290"/>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852504" y="2948560"/>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796306" y="3593864"/>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183754" y="306850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4194812" y="319509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463200" y="3894478"/>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954754" y="2766715"/>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341421" y="3178445"/>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4937691" y="3167912"/>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159628" y="342560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472900" y="3082448"/>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3753213" y="3365223"/>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3761297" y="3052459"/>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3055945" y="294147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4055911" y="249493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5969127" y="361312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2619632" y="3500472"/>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3343163" y="295560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4567868" y="2930205"/>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258252" y="2715317"/>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5302940" y="3343105"/>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7076973" y="3595285"/>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181844" y="1641348"/>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5029854" y="382577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6859168" y="3416460"/>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4534007" y="3052241"/>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5259718" y="2665058"/>
            <a:ext cx="118872" cy="118872"/>
          </a:xfrm>
          <a:prstGeom prst="ellipse">
            <a:avLst/>
          </a:prstGeom>
          <a:solidFill>
            <a:srgbClr val="C9D2E0"/>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7606703" y="3512345"/>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3936040" y="2710878"/>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520142" y="3331036"/>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919002" y="2919661"/>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476159" y="2884079"/>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4950721" y="3285330"/>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688419" y="2747549"/>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5077809" y="2924779"/>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6196532" y="2795742"/>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565174" y="4110037"/>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340191" y="2700936"/>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333828" y="2147407"/>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5985675" y="3174486"/>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76428" y="2946474"/>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695095" y="2046164"/>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891837" y="3445670"/>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5773043" y="2659122"/>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3983898" y="3368582"/>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2608045" y="2968214"/>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222382" y="4758562"/>
            <a:ext cx="137160" cy="137160"/>
          </a:xfrm>
          <a:prstGeom prst="ellipse">
            <a:avLst/>
          </a:prstGeom>
          <a:solidFill>
            <a:srgbClr val="1B3F8F"/>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7131322" y="3080709"/>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5516612" y="3091802"/>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4808729" y="3337296"/>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4511541" y="2821231"/>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9910975" y="4278328"/>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4658288" y="3884824"/>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5289402" y="4003096"/>
            <a:ext cx="137160" cy="137160"/>
          </a:xfrm>
          <a:prstGeom prst="ellipse">
            <a:avLst/>
          </a:prstGeom>
          <a:solidFill>
            <a:srgbClr val="29C2F1"/>
          </a:solidFill>
          <a:ln w="9525">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1417320" y="5989320"/>
            <a:ext cx="137160" cy="137160"/>
          </a:xfrm>
          <a:prstGeom prst="ellipse">
            <a:avLst/>
          </a:prstGeom>
          <a:solidFill>
            <a:srgbClr val="29C2F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618488" y="5952744"/>
            <a:ext cx="1051560" cy="201168"/>
          </a:xfrm>
          <a:prstGeom prst="rect">
            <a:avLst/>
          </a:prstGeom>
          <a:noFill/>
        </p:spPr>
        <p:txBody>
          <a:bodyPr wrap="square" lIns="0" rIns="0" tIns="0" bIns="0">
            <a:spAutoFit/>
          </a:bodyPr>
          <a:lstStyle/>
          <a:p>
            <a:pPr algn="l"/>
            <a:r>
              <a:rPr sz="950" b="1" i="0">
                <a:solidFill>
                  <a:srgbClr val="5A6478"/>
                </a:solidFill>
                <a:latin typeface="Calibri"/>
              </a:rPr>
              <a:t>L2 · State</a:t>
            </a:r>
          </a:p>
        </p:txBody>
      </p:sp>
      <p:sp>
        <p:nvSpPr>
          <p:cNvPr id="96" name="Oval 95"/>
          <p:cNvSpPr/>
          <p:nvPr/>
        </p:nvSpPr>
        <p:spPr>
          <a:xfrm>
            <a:off x="2743200" y="5989320"/>
            <a:ext cx="137160" cy="137160"/>
          </a:xfrm>
          <a:prstGeom prst="ellipse">
            <a:avLst/>
          </a:prstGeom>
          <a:solidFill>
            <a:srgbClr val="1B3F8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2944368" y="5952744"/>
            <a:ext cx="1051560" cy="201168"/>
          </a:xfrm>
          <a:prstGeom prst="rect">
            <a:avLst/>
          </a:prstGeom>
          <a:noFill/>
        </p:spPr>
        <p:txBody>
          <a:bodyPr wrap="square" lIns="0" rIns="0" tIns="0" bIns="0">
            <a:spAutoFit/>
          </a:bodyPr>
          <a:lstStyle/>
          <a:p>
            <a:pPr algn="l"/>
            <a:r>
              <a:rPr sz="950" b="1" i="0">
                <a:solidFill>
                  <a:srgbClr val="5A6478"/>
                </a:solidFill>
                <a:latin typeface="Calibri"/>
              </a:rPr>
              <a:t>L3 · Work</a:t>
            </a:r>
          </a:p>
        </p:txBody>
      </p:sp>
      <p:sp>
        <p:nvSpPr>
          <p:cNvPr id="98" name="Oval 97"/>
          <p:cNvSpPr/>
          <p:nvPr/>
        </p:nvSpPr>
        <p:spPr>
          <a:xfrm>
            <a:off x="4069080" y="5989320"/>
            <a:ext cx="137160" cy="137160"/>
          </a:xfrm>
          <a:prstGeom prst="ellipse">
            <a:avLst/>
          </a:prstGeom>
          <a:solidFill>
            <a:srgbClr val="C9D2E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270248" y="5952744"/>
            <a:ext cx="1051560" cy="201168"/>
          </a:xfrm>
          <a:prstGeom prst="rect">
            <a:avLst/>
          </a:prstGeom>
          <a:noFill/>
        </p:spPr>
        <p:txBody>
          <a:bodyPr wrap="square" lIns="0" rIns="0" tIns="0" bIns="0">
            <a:spAutoFit/>
          </a:bodyPr>
          <a:lstStyle/>
          <a:p>
            <a:pPr algn="l"/>
            <a:r>
              <a:rPr sz="950" b="1" i="0">
                <a:solidFill>
                  <a:srgbClr val="5A6478"/>
                </a:solidFill>
                <a:latin typeface="Calibri"/>
              </a:rPr>
              <a:t>L4 · Apps</a:t>
            </a:r>
          </a:p>
        </p:txBody>
      </p:sp>
      <p:sp>
        <p:nvSpPr>
          <p:cNvPr id="102" name="TextBox 101"/>
          <p:cNvSpPr txBox="1"/>
          <p:nvPr/>
        </p:nvSpPr>
        <p:spPr>
          <a:xfrm>
            <a:off x="7223760" y="1965960"/>
            <a:ext cx="3840480" cy="457200"/>
          </a:xfrm>
          <a:prstGeom prst="rect">
            <a:avLst/>
          </a:prstGeom>
          <a:noFill/>
        </p:spPr>
        <p:txBody>
          <a:bodyPr wrap="square" lIns="0" rIns="0" tIns="0" bIns="0">
            <a:spAutoFit/>
          </a:bodyPr>
          <a:lstStyle/>
          <a:p>
            <a:pPr algn="l"/>
            <a:r>
              <a:rPr sz="950" b="0" i="1">
                <a:solidFill>
                  <a:srgbClr val="5A6478"/>
                </a:solidFill>
                <a:latin typeface="Calibri"/>
              </a:rPr>
              <a:t>above the line and right of 30% growth: almost nobody — and what's there is work and state, not apps</a:t>
            </a:r>
          </a:p>
        </p:txBody>
      </p:sp>
      <p:sp>
        <p:nvSpPr>
          <p:cNvPr id="103" name="TextBox 102"/>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04" name="TextBox 103"/>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52</a:t>
            </a:r>
          </a:p>
        </p:txBody>
      </p:sp>
      <p:sp>
        <p:nvSpPr>
          <p:cNvPr id="105" name="TextBox 104"/>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Consensus NTM growth vs LTM FCF margin (sum of last 4 quarters / LTM revenue), 67 names, Jul 30 2026. Axes clipped; names withheld; action rails (Twilio, Bandwidth) plotted with work.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Two layers, two business models: the ledger and the toll road</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BUSINESS QUALITY, LAYER 2 (STATE) VS LAYER 3 (WORK) — MOAT · METER · MARGIN · RISK</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60520" y="1591056"/>
            <a:ext cx="3291840" cy="256032"/>
          </a:xfrm>
          <a:prstGeom prst="rect">
            <a:avLst/>
          </a:prstGeom>
          <a:noFill/>
        </p:spPr>
        <p:txBody>
          <a:bodyPr wrap="square" lIns="0" rIns="0" tIns="0" bIns="0">
            <a:spAutoFit/>
          </a:bodyPr>
          <a:lstStyle/>
          <a:p>
            <a:pPr algn="ctr"/>
            <a:r>
              <a:rPr sz="1100" b="1" i="0">
                <a:solidFill>
                  <a:srgbClr val="29C2F1"/>
                </a:solidFill>
                <a:latin typeface="Calibri"/>
              </a:rPr>
              <a:t>L2 · STATE — THE LEDGER</a:t>
            </a:r>
          </a:p>
        </p:txBody>
      </p:sp>
      <p:sp>
        <p:nvSpPr>
          <p:cNvPr id="6" name="TextBox 5"/>
          <p:cNvSpPr txBox="1"/>
          <p:nvPr/>
        </p:nvSpPr>
        <p:spPr>
          <a:xfrm>
            <a:off x="8001000" y="1591056"/>
            <a:ext cx="3291840" cy="256032"/>
          </a:xfrm>
          <a:prstGeom prst="rect">
            <a:avLst/>
          </a:prstGeom>
          <a:noFill/>
        </p:spPr>
        <p:txBody>
          <a:bodyPr wrap="square" lIns="0" rIns="0" tIns="0" bIns="0">
            <a:spAutoFit/>
          </a:bodyPr>
          <a:lstStyle/>
          <a:p>
            <a:pPr algn="ctr"/>
            <a:r>
              <a:rPr sz="1100" b="1" i="0">
                <a:solidFill>
                  <a:srgbClr val="1B3F8F"/>
                </a:solidFill>
                <a:latin typeface="Calibri"/>
              </a:rPr>
              <a:t>L3 · WORK — THE TOLL ROAD</a:t>
            </a:r>
          </a:p>
        </p:txBody>
      </p:sp>
      <p:sp>
        <p:nvSpPr>
          <p:cNvPr id="7" name="Rounded Rectangle 6"/>
          <p:cNvSpPr/>
          <p:nvPr/>
        </p:nvSpPr>
        <p:spPr>
          <a:xfrm>
            <a:off x="777240" y="1956816"/>
            <a:ext cx="10634472" cy="603504"/>
          </a:xfrm>
          <a:prstGeom prst="roundRect">
            <a:avLst>
              <a:gd name="adj" fmla="val 12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2048256"/>
            <a:ext cx="2926080" cy="420624"/>
          </a:xfrm>
          <a:prstGeom prst="rect">
            <a:avLst/>
          </a:prstGeom>
          <a:noFill/>
        </p:spPr>
        <p:txBody>
          <a:bodyPr wrap="square" lIns="0" rIns="0" tIns="0" bIns="0">
            <a:spAutoFit/>
          </a:bodyPr>
          <a:lstStyle/>
          <a:p>
            <a:pPr algn="l"/>
            <a:r>
              <a:rPr sz="950" b="1" i="0">
                <a:solidFill>
                  <a:srgbClr val="5A6478"/>
                </a:solidFill>
                <a:latin typeface="Calibri"/>
              </a:rPr>
              <a:t>WHAT IT METERS</a:t>
            </a:r>
          </a:p>
        </p:txBody>
      </p:sp>
      <p:sp>
        <p:nvSpPr>
          <p:cNvPr id="9" name="TextBox 8"/>
          <p:cNvSpPr txBox="1"/>
          <p:nvPr/>
        </p:nvSpPr>
        <p:spPr>
          <a:xfrm>
            <a:off x="4160520" y="2020824"/>
            <a:ext cx="3566160" cy="493776"/>
          </a:xfrm>
          <a:prstGeom prst="rect">
            <a:avLst/>
          </a:prstGeom>
          <a:noFill/>
        </p:spPr>
        <p:txBody>
          <a:bodyPr wrap="square" lIns="0" rIns="0" tIns="0" bIns="0">
            <a:spAutoFit/>
          </a:bodyPr>
          <a:lstStyle/>
          <a:p>
            <a:pPr algn="l"/>
            <a:r>
              <a:rPr sz="980" b="0" i="0">
                <a:solidFill>
                  <a:srgbClr val="1A2233"/>
                </a:solidFill>
                <a:latin typeface="Calibri"/>
              </a:rPr>
              <a:t>reads, writes, queries, storage — the memory of machine labor</a:t>
            </a:r>
          </a:p>
        </p:txBody>
      </p:sp>
      <p:sp>
        <p:nvSpPr>
          <p:cNvPr id="10" name="TextBox 9"/>
          <p:cNvSpPr txBox="1"/>
          <p:nvPr/>
        </p:nvSpPr>
        <p:spPr>
          <a:xfrm>
            <a:off x="8001000" y="2020824"/>
            <a:ext cx="3291840" cy="493776"/>
          </a:xfrm>
          <a:prstGeom prst="rect">
            <a:avLst/>
          </a:prstGeom>
          <a:noFill/>
        </p:spPr>
        <p:txBody>
          <a:bodyPr wrap="square" lIns="0" rIns="0" tIns="0" bIns="0">
            <a:spAutoFit/>
          </a:bodyPr>
          <a:lstStyle/>
          <a:p>
            <a:pPr algn="l"/>
            <a:r>
              <a:rPr sz="980" b="0" i="0">
                <a:solidFill>
                  <a:srgbClr val="1A2233"/>
                </a:solidFill>
                <a:latin typeface="Calibri"/>
              </a:rPr>
              <a:t>runs, steps, traces, scans — the doing and the watching of it</a:t>
            </a:r>
          </a:p>
        </p:txBody>
      </p:sp>
      <p:sp>
        <p:nvSpPr>
          <p:cNvPr id="11" name="Rounded Rectangle 10"/>
          <p:cNvSpPr/>
          <p:nvPr/>
        </p:nvSpPr>
        <p:spPr>
          <a:xfrm>
            <a:off x="777240" y="2615184"/>
            <a:ext cx="10634472" cy="603504"/>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706624"/>
            <a:ext cx="2926080" cy="420624"/>
          </a:xfrm>
          <a:prstGeom prst="rect">
            <a:avLst/>
          </a:prstGeom>
          <a:noFill/>
        </p:spPr>
        <p:txBody>
          <a:bodyPr wrap="square" lIns="0" rIns="0" tIns="0" bIns="0">
            <a:spAutoFit/>
          </a:bodyPr>
          <a:lstStyle/>
          <a:p>
            <a:pPr algn="l"/>
            <a:r>
              <a:rPr sz="950" b="1" i="0">
                <a:solidFill>
                  <a:srgbClr val="5A6478"/>
                </a:solidFill>
                <a:latin typeface="Calibri"/>
              </a:rPr>
              <a:t>MOAT SOURCE</a:t>
            </a:r>
          </a:p>
        </p:txBody>
      </p:sp>
      <p:sp>
        <p:nvSpPr>
          <p:cNvPr id="13" name="TextBox 12"/>
          <p:cNvSpPr txBox="1"/>
          <p:nvPr/>
        </p:nvSpPr>
        <p:spPr>
          <a:xfrm>
            <a:off x="4160520" y="2679192"/>
            <a:ext cx="3566160" cy="493776"/>
          </a:xfrm>
          <a:prstGeom prst="rect">
            <a:avLst/>
          </a:prstGeom>
          <a:noFill/>
        </p:spPr>
        <p:txBody>
          <a:bodyPr wrap="square" lIns="0" rIns="0" tIns="0" bIns="0">
            <a:spAutoFit/>
          </a:bodyPr>
          <a:lstStyle/>
          <a:p>
            <a:pPr algn="l"/>
            <a:r>
              <a:rPr sz="980" b="0" i="0">
                <a:solidFill>
                  <a:srgbClr val="1A2233"/>
                </a:solidFill>
                <a:latin typeface="Calibri"/>
              </a:rPr>
              <a:t>data gravity: state accumulates, migration cost compounds with every write</a:t>
            </a:r>
          </a:p>
        </p:txBody>
      </p:sp>
      <p:sp>
        <p:nvSpPr>
          <p:cNvPr id="14" name="TextBox 13"/>
          <p:cNvSpPr txBox="1"/>
          <p:nvPr/>
        </p:nvSpPr>
        <p:spPr>
          <a:xfrm>
            <a:off x="8001000" y="2679192"/>
            <a:ext cx="3291840" cy="493776"/>
          </a:xfrm>
          <a:prstGeom prst="rect">
            <a:avLst/>
          </a:prstGeom>
          <a:noFill/>
        </p:spPr>
        <p:txBody>
          <a:bodyPr wrap="square" lIns="0" rIns="0" tIns="0" bIns="0">
            <a:spAutoFit/>
          </a:bodyPr>
          <a:lstStyle/>
          <a:p>
            <a:pPr algn="l"/>
            <a:r>
              <a:rPr sz="980" b="0" i="0">
                <a:solidFill>
                  <a:srgbClr val="1A2233"/>
                </a:solidFill>
                <a:latin typeface="Calibri"/>
              </a:rPr>
              <a:t>workflow lock-in + the audit mandate: you cannot self-audit</a:t>
            </a:r>
          </a:p>
        </p:txBody>
      </p:sp>
      <p:sp>
        <p:nvSpPr>
          <p:cNvPr id="15" name="Rounded Rectangle 14"/>
          <p:cNvSpPr/>
          <p:nvPr/>
        </p:nvSpPr>
        <p:spPr>
          <a:xfrm>
            <a:off x="777240" y="3273552"/>
            <a:ext cx="10634472" cy="603504"/>
          </a:xfrm>
          <a:prstGeom prst="roundRect">
            <a:avLst>
              <a:gd name="adj" fmla="val 12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3364992"/>
            <a:ext cx="2926080" cy="420624"/>
          </a:xfrm>
          <a:prstGeom prst="rect">
            <a:avLst/>
          </a:prstGeom>
          <a:noFill/>
        </p:spPr>
        <p:txBody>
          <a:bodyPr wrap="square" lIns="0" rIns="0" tIns="0" bIns="0">
            <a:spAutoFit/>
          </a:bodyPr>
          <a:lstStyle/>
          <a:p>
            <a:pPr algn="l"/>
            <a:r>
              <a:rPr sz="950" b="1" i="0">
                <a:solidFill>
                  <a:srgbClr val="5A6478"/>
                </a:solidFill>
                <a:latin typeface="Calibri"/>
              </a:rPr>
              <a:t>REVENUE CHARACTER</a:t>
            </a:r>
          </a:p>
        </p:txBody>
      </p:sp>
      <p:sp>
        <p:nvSpPr>
          <p:cNvPr id="17" name="TextBox 16"/>
          <p:cNvSpPr txBox="1"/>
          <p:nvPr/>
        </p:nvSpPr>
        <p:spPr>
          <a:xfrm>
            <a:off x="4160520" y="3337560"/>
            <a:ext cx="3566160" cy="493776"/>
          </a:xfrm>
          <a:prstGeom prst="rect">
            <a:avLst/>
          </a:prstGeom>
          <a:noFill/>
        </p:spPr>
        <p:txBody>
          <a:bodyPr wrap="square" lIns="0" rIns="0" tIns="0" bIns="0">
            <a:spAutoFit/>
          </a:bodyPr>
          <a:lstStyle/>
          <a:p>
            <a:pPr algn="l"/>
            <a:r>
              <a:rPr sz="980" b="0" i="0">
                <a:solidFill>
                  <a:srgbClr val="1A2233"/>
                </a:solidFill>
                <a:latin typeface="Calibri"/>
              </a:rPr>
              <a:t>balance-sheet-like: slow to win, brutal to displace — commitment leads (+20% backlog)</a:t>
            </a:r>
          </a:p>
        </p:txBody>
      </p:sp>
      <p:sp>
        <p:nvSpPr>
          <p:cNvPr id="18" name="TextBox 17"/>
          <p:cNvSpPr txBox="1"/>
          <p:nvPr/>
        </p:nvSpPr>
        <p:spPr>
          <a:xfrm>
            <a:off x="8001000" y="3337560"/>
            <a:ext cx="3291840" cy="493776"/>
          </a:xfrm>
          <a:prstGeom prst="rect">
            <a:avLst/>
          </a:prstGeom>
          <a:noFill/>
        </p:spPr>
        <p:txBody>
          <a:bodyPr wrap="square" lIns="0" rIns="0" tIns="0" bIns="0">
            <a:spAutoFit/>
          </a:bodyPr>
          <a:lstStyle/>
          <a:p>
            <a:pPr algn="l"/>
            <a:r>
              <a:rPr sz="980" b="0" i="0">
                <a:solidFill>
                  <a:srgbClr val="1A2233"/>
                </a:solidFill>
                <a:latin typeface="Calibri"/>
              </a:rPr>
              <a:t>income-statement-like: bills the work as it happens — first to feel the wave</a:t>
            </a:r>
          </a:p>
        </p:txBody>
      </p:sp>
      <p:sp>
        <p:nvSpPr>
          <p:cNvPr id="19" name="Rounded Rectangle 18"/>
          <p:cNvSpPr/>
          <p:nvPr/>
        </p:nvSpPr>
        <p:spPr>
          <a:xfrm>
            <a:off x="777240" y="3931920"/>
            <a:ext cx="10634472" cy="603504"/>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4023359"/>
            <a:ext cx="2926080" cy="420624"/>
          </a:xfrm>
          <a:prstGeom prst="rect">
            <a:avLst/>
          </a:prstGeom>
          <a:noFill/>
        </p:spPr>
        <p:txBody>
          <a:bodyPr wrap="square" lIns="0" rIns="0" tIns="0" bIns="0">
            <a:spAutoFit/>
          </a:bodyPr>
          <a:lstStyle/>
          <a:p>
            <a:pPr algn="l"/>
            <a:r>
              <a:rPr sz="950" b="1" i="0">
                <a:solidFill>
                  <a:srgbClr val="5A6478"/>
                </a:solidFill>
                <a:latin typeface="Calibri"/>
              </a:rPr>
              <a:t>MARGIN PROFILE</a:t>
            </a:r>
          </a:p>
        </p:txBody>
      </p:sp>
      <p:sp>
        <p:nvSpPr>
          <p:cNvPr id="21" name="TextBox 20"/>
          <p:cNvSpPr txBox="1"/>
          <p:nvPr/>
        </p:nvSpPr>
        <p:spPr>
          <a:xfrm>
            <a:off x="4160520" y="3995928"/>
            <a:ext cx="3566160" cy="493776"/>
          </a:xfrm>
          <a:prstGeom prst="rect">
            <a:avLst/>
          </a:prstGeom>
          <a:noFill/>
        </p:spPr>
        <p:txBody>
          <a:bodyPr wrap="square" lIns="0" rIns="0" tIns="0" bIns="0">
            <a:spAutoFit/>
          </a:bodyPr>
          <a:lstStyle/>
          <a:p>
            <a:pPr algn="l"/>
            <a:r>
              <a:rPr sz="980" b="0" i="0">
                <a:solidFill>
                  <a:srgbClr val="1A2233"/>
                </a:solidFill>
                <a:latin typeface="Calibri"/>
              </a:rPr>
              <a:t>21% FCF — deeper re-investment, longer duration</a:t>
            </a:r>
          </a:p>
        </p:txBody>
      </p:sp>
      <p:sp>
        <p:nvSpPr>
          <p:cNvPr id="22" name="TextBox 21"/>
          <p:cNvSpPr txBox="1"/>
          <p:nvPr/>
        </p:nvSpPr>
        <p:spPr>
          <a:xfrm>
            <a:off x="8001000" y="3995928"/>
            <a:ext cx="3291840" cy="493776"/>
          </a:xfrm>
          <a:prstGeom prst="rect">
            <a:avLst/>
          </a:prstGeom>
          <a:noFill/>
        </p:spPr>
        <p:txBody>
          <a:bodyPr wrap="square" lIns="0" rIns="0" tIns="0" bIns="0">
            <a:spAutoFit/>
          </a:bodyPr>
          <a:lstStyle/>
          <a:p>
            <a:pPr algn="l"/>
            <a:r>
              <a:rPr sz="980" b="0" i="0">
                <a:solidFill>
                  <a:srgbClr val="1A2233"/>
                </a:solidFill>
                <a:latin typeface="Calibri"/>
              </a:rPr>
              <a:t>26% FCF — converts growth to cash today</a:t>
            </a:r>
          </a:p>
        </p:txBody>
      </p:sp>
      <p:sp>
        <p:nvSpPr>
          <p:cNvPr id="23" name="Rounded Rectangle 22"/>
          <p:cNvSpPr/>
          <p:nvPr/>
        </p:nvSpPr>
        <p:spPr>
          <a:xfrm>
            <a:off x="777240" y="4590288"/>
            <a:ext cx="10634472" cy="603504"/>
          </a:xfrm>
          <a:prstGeom prst="roundRect">
            <a:avLst>
              <a:gd name="adj" fmla="val 12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4681727"/>
            <a:ext cx="2926080" cy="420624"/>
          </a:xfrm>
          <a:prstGeom prst="rect">
            <a:avLst/>
          </a:prstGeom>
          <a:noFill/>
        </p:spPr>
        <p:txBody>
          <a:bodyPr wrap="square" lIns="0" rIns="0" tIns="0" bIns="0">
            <a:spAutoFit/>
          </a:bodyPr>
          <a:lstStyle/>
          <a:p>
            <a:pPr algn="l"/>
            <a:r>
              <a:rPr sz="950" b="1" i="0">
                <a:solidFill>
                  <a:srgbClr val="5A6478"/>
                </a:solidFill>
                <a:latin typeface="Calibri"/>
              </a:rPr>
              <a:t>MAIN RISK</a:t>
            </a:r>
          </a:p>
        </p:txBody>
      </p:sp>
      <p:sp>
        <p:nvSpPr>
          <p:cNvPr id="25" name="TextBox 24"/>
          <p:cNvSpPr txBox="1"/>
          <p:nvPr/>
        </p:nvSpPr>
        <p:spPr>
          <a:xfrm>
            <a:off x="4160520" y="4654296"/>
            <a:ext cx="3566160" cy="493776"/>
          </a:xfrm>
          <a:prstGeom prst="rect">
            <a:avLst/>
          </a:prstGeom>
          <a:noFill/>
        </p:spPr>
        <p:txBody>
          <a:bodyPr wrap="square" lIns="0" rIns="0" tIns="0" bIns="0">
            <a:spAutoFit/>
          </a:bodyPr>
          <a:lstStyle/>
          <a:p>
            <a:pPr algn="l"/>
            <a:r>
              <a:rPr sz="980" b="0" i="0">
                <a:solidFill>
                  <a:srgbClr val="1A2233"/>
                </a:solidFill>
                <a:latin typeface="Calibri"/>
              </a:rPr>
              <a:t>open formats &amp; object storage chip the analytical edge</a:t>
            </a:r>
          </a:p>
        </p:txBody>
      </p:sp>
      <p:sp>
        <p:nvSpPr>
          <p:cNvPr id="26" name="TextBox 25"/>
          <p:cNvSpPr txBox="1"/>
          <p:nvPr/>
        </p:nvSpPr>
        <p:spPr>
          <a:xfrm>
            <a:off x="8001000" y="4654296"/>
            <a:ext cx="3291840" cy="493776"/>
          </a:xfrm>
          <a:prstGeom prst="rect">
            <a:avLst/>
          </a:prstGeom>
          <a:noFill/>
        </p:spPr>
        <p:txBody>
          <a:bodyPr wrap="square" lIns="0" rIns="0" tIns="0" bIns="0">
            <a:spAutoFit/>
          </a:bodyPr>
          <a:lstStyle/>
          <a:p>
            <a:pPr algn="l"/>
            <a:r>
              <a:rPr sz="980" b="0" i="0">
                <a:solidFill>
                  <a:srgbClr val="1A2233"/>
                </a:solidFill>
                <a:latin typeface="Calibri"/>
              </a:rPr>
              <a:t>model vendors absorb the runtime; telemetry compresses</a:t>
            </a:r>
          </a:p>
        </p:txBody>
      </p:sp>
      <p:sp>
        <p:nvSpPr>
          <p:cNvPr id="27" name="Rounded Rectangle 26"/>
          <p:cNvSpPr/>
          <p:nvPr/>
        </p:nvSpPr>
        <p:spPr>
          <a:xfrm>
            <a:off x="777240" y="5248655"/>
            <a:ext cx="10634472" cy="603504"/>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5340095"/>
            <a:ext cx="2926080" cy="420624"/>
          </a:xfrm>
          <a:prstGeom prst="rect">
            <a:avLst/>
          </a:prstGeom>
          <a:noFill/>
        </p:spPr>
        <p:txBody>
          <a:bodyPr wrap="square" lIns="0" rIns="0" tIns="0" bIns="0">
            <a:spAutoFit/>
          </a:bodyPr>
          <a:lstStyle/>
          <a:p>
            <a:pPr algn="l"/>
            <a:r>
              <a:rPr sz="950" b="1" i="0">
                <a:solidFill>
                  <a:srgbClr val="5A6478"/>
                </a:solidFill>
                <a:latin typeface="Calibri"/>
              </a:rPr>
              <a:t>FAILURE LOOKS LIKE</a:t>
            </a:r>
          </a:p>
        </p:txBody>
      </p:sp>
      <p:sp>
        <p:nvSpPr>
          <p:cNvPr id="29" name="TextBox 28"/>
          <p:cNvSpPr txBox="1"/>
          <p:nvPr/>
        </p:nvSpPr>
        <p:spPr>
          <a:xfrm>
            <a:off x="4160520" y="5312664"/>
            <a:ext cx="3566160" cy="493776"/>
          </a:xfrm>
          <a:prstGeom prst="rect">
            <a:avLst/>
          </a:prstGeom>
          <a:noFill/>
        </p:spPr>
        <p:txBody>
          <a:bodyPr wrap="square" lIns="0" rIns="0" tIns="0" bIns="0">
            <a:spAutoFit/>
          </a:bodyPr>
          <a:lstStyle/>
          <a:p>
            <a:pPr algn="l"/>
            <a:r>
              <a:rPr sz="980" b="0" i="0">
                <a:solidFill>
                  <a:srgbClr val="1A2233"/>
                </a:solidFill>
                <a:latin typeface="Calibri"/>
              </a:rPr>
              <a:t>gravity breaks: state becomes portable</a:t>
            </a:r>
          </a:p>
        </p:txBody>
      </p:sp>
      <p:sp>
        <p:nvSpPr>
          <p:cNvPr id="30" name="TextBox 29"/>
          <p:cNvSpPr txBox="1"/>
          <p:nvPr/>
        </p:nvSpPr>
        <p:spPr>
          <a:xfrm>
            <a:off x="8001000" y="5312664"/>
            <a:ext cx="3291840" cy="493776"/>
          </a:xfrm>
          <a:prstGeom prst="rect">
            <a:avLst/>
          </a:prstGeom>
          <a:noFill/>
        </p:spPr>
        <p:txBody>
          <a:bodyPr wrap="square" lIns="0" rIns="0" tIns="0" bIns="0">
            <a:spAutoFit/>
          </a:bodyPr>
          <a:lstStyle/>
          <a:p>
            <a:pPr algn="l"/>
            <a:r>
              <a:rPr sz="980" b="0" i="0">
                <a:solidFill>
                  <a:srgbClr val="1A2233"/>
                </a:solidFill>
                <a:latin typeface="Calibri"/>
              </a:rPr>
              <a:t>the meter gets bypassed: agents run and audit in-house</a:t>
            </a:r>
          </a:p>
        </p:txBody>
      </p:sp>
      <p:sp>
        <p:nvSpPr>
          <p:cNvPr id="31" name="Rounded Rectangle 30"/>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State compounds like a ledger; work earns like a toll road  </a:t>
            </a:r>
            <a:r>
              <a:rPr sz="1200">
                <a:solidFill>
                  <a:srgbClr val="1A2233"/>
                </a:solidFill>
                <a:latin typeface="Calibri"/>
              </a:rPr>
              <a:t>— different moats, different risks, independent falsifiers. One royalty.</a:t>
            </a:r>
          </a:p>
        </p:txBody>
      </p:sp>
      <p:sp>
        <p:nvSpPr>
          <p:cNvPr id="32" name="TextBox 3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3" name="TextBox 3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53</a:t>
            </a:r>
          </a:p>
        </p:txBody>
      </p:sp>
      <p:sp>
        <p:nvSpPr>
          <p:cNvPr id="34" name="TextBox 3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FCF margins = layer medians (prev. exhibits); backlog = median deferred-revenue growth y/y. Characterizations are Skycatcher judgments.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Today’s attach says 0.2–0.3 — that’s the entry price, not the ceiling</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WHY THE MEASURED ATTACH IS A LAG, NOT A LEAK — THE SURGE HITS BACKLOG BEFORE IT HITS REVENUE</a:t>
            </a:r>
            <a:endParaRPr lang="en-US" sz="1150" dirty="0"/>
          </a:p>
        </p:txBody>
      </p:sp>
      <p:sp>
        <p:nvSpPr>
          <p:cNvPr id="4" name="Shape 2"/>
          <p:cNvSpPr/>
          <p:nvPr/>
        </p:nvSpPr>
        <p:spPr>
          <a:xfrm>
            <a:off x="502920" y="1335024"/>
            <a:ext cx="11185855" cy="0"/>
          </a:xfrm>
          <a:prstGeom prst="line">
            <a:avLst/>
          </a:prstGeom>
          <a:noFill/>
          <a:ln w="17780">
            <a:solidFill>
              <a:srgbClr val="D5DCE8"/>
            </a:solidFill>
            <a:prstDash val="solid"/>
          </a:ln>
        </p:spPr>
        <p:txBody>
          <a:bodyPr/>
          <a:lstStyle/>
          <a:p>
            <a:endParaRPr lang="en-US"/>
          </a:p>
        </p:txBody>
      </p:sp>
      <p:sp>
        <p:nvSpPr>
          <p:cNvPr id="5" name="Shape 3"/>
          <p:cNvSpPr/>
          <p:nvPr/>
        </p:nvSpPr>
        <p:spPr>
          <a:xfrm>
            <a:off x="502920" y="1737360"/>
            <a:ext cx="8778240" cy="859536"/>
          </a:xfrm>
          <a:prstGeom prst="roundRect">
            <a:avLst>
              <a:gd name="adj" fmla="val 8511"/>
            </a:avLst>
          </a:prstGeom>
          <a:solidFill>
            <a:srgbClr val="F5F8FC"/>
          </a:solidFill>
          <a:ln w="9525">
            <a:solidFill>
              <a:srgbClr val="D5DCE8"/>
            </a:solidFill>
            <a:prstDash val="solid"/>
          </a:ln>
        </p:spPr>
        <p:txBody>
          <a:bodyPr/>
          <a:lstStyle/>
          <a:p>
            <a:endParaRPr lang="en-US"/>
          </a:p>
        </p:txBody>
      </p:sp>
      <p:sp>
        <p:nvSpPr>
          <p:cNvPr id="6" name="Text 4"/>
          <p:cNvSpPr/>
          <p:nvPr/>
        </p:nvSpPr>
        <p:spPr>
          <a:xfrm>
            <a:off x="667512" y="1892808"/>
            <a:ext cx="502920" cy="548640"/>
          </a:xfrm>
          <a:prstGeom prst="rect">
            <a:avLst/>
          </a:prstGeom>
          <a:noFill/>
        </p:spPr>
        <p:txBody>
          <a:bodyPr wrap="square" lIns="0" tIns="0" rIns="0" bIns="0" rtlCol="0" anchor="ctr"/>
          <a:lstStyle/>
          <a:p>
            <a:pPr marL="0" indent="0">
              <a:buNone/>
            </a:pPr>
            <a:r>
              <a:rPr lang="en-US" sz="2600" b="1" dirty="0">
                <a:solidFill>
                  <a:srgbClr val="A8C6F5"/>
                </a:solidFill>
                <a:latin typeface="Cambria" pitchFamily="34" charset="0"/>
                <a:ea typeface="Cambria" pitchFamily="34" charset="-122"/>
                <a:cs typeface="Cambria" pitchFamily="34" charset="-120"/>
              </a:rPr>
              <a:t>1</a:t>
            </a:r>
            <a:endParaRPr lang="en-US" sz="2600" dirty="0"/>
          </a:p>
        </p:txBody>
      </p:sp>
      <p:sp>
        <p:nvSpPr>
          <p:cNvPr id="7" name="Text 5"/>
          <p:cNvSpPr/>
          <p:nvPr/>
        </p:nvSpPr>
        <p:spPr>
          <a:xfrm>
            <a:off x="1280160" y="1847088"/>
            <a:ext cx="7772400" cy="320040"/>
          </a:xfrm>
          <a:prstGeom prst="rect">
            <a:avLst/>
          </a:prstGeom>
          <a:noFill/>
        </p:spPr>
        <p:txBody>
          <a:bodyPr wrap="square" lIns="0" tIns="0" rIns="0" bIns="0" rtlCol="0" anchor="ctr"/>
          <a:lstStyle/>
          <a:p>
            <a:pPr marL="0" indent="0">
              <a:buNone/>
            </a:pPr>
            <a:r>
              <a:rPr lang="en-US" sz="1650" b="1" dirty="0">
                <a:solidFill>
                  <a:srgbClr val="1A2233"/>
                </a:solidFill>
                <a:latin typeface="Cambria" pitchFamily="34" charset="0"/>
                <a:ea typeface="Cambria" pitchFamily="34" charset="-122"/>
                <a:cs typeface="Cambria" pitchFamily="34" charset="-120"/>
              </a:rPr>
              <a:t>Committed contracts burn first</a:t>
            </a:r>
            <a:endParaRPr lang="en-US" sz="1650" dirty="0"/>
          </a:p>
        </p:txBody>
      </p:sp>
      <p:sp>
        <p:nvSpPr>
          <p:cNvPr id="8" name="Text 6"/>
          <p:cNvSpPr/>
          <p:nvPr/>
        </p:nvSpPr>
        <p:spPr>
          <a:xfrm>
            <a:off x="1280160" y="2194560"/>
            <a:ext cx="7772400" cy="320040"/>
          </a:xfrm>
          <a:prstGeom prst="rect">
            <a:avLst/>
          </a:prstGeom>
          <a:noFill/>
        </p:spPr>
        <p:txBody>
          <a:bodyPr wrap="square" lIns="0" tIns="0" rIns="0" bIns="0" rtlCol="0" anchor="ctr"/>
          <a:lstStyle/>
          <a:p>
            <a:pPr marL="0" indent="0">
              <a:buNone/>
            </a:pPr>
            <a:r>
              <a:rPr lang="en-US" sz="1300" dirty="0">
                <a:solidFill>
                  <a:srgbClr val="5A6478"/>
                </a:solidFill>
                <a:latin typeface="Calibri" pitchFamily="34" charset="0"/>
                <a:ea typeface="Calibri" pitchFamily="34" charset="-122"/>
                <a:cs typeface="Calibri" pitchFamily="34" charset="-120"/>
              </a:rPr>
              <a:t>usage draws down prepaid credits — surge appears in RPO, not revenue</a:t>
            </a:r>
            <a:endParaRPr lang="en-US" sz="1300" dirty="0"/>
          </a:p>
        </p:txBody>
      </p:sp>
      <p:sp>
        <p:nvSpPr>
          <p:cNvPr id="9" name="Shape 7"/>
          <p:cNvSpPr/>
          <p:nvPr/>
        </p:nvSpPr>
        <p:spPr>
          <a:xfrm>
            <a:off x="9464040" y="1938528"/>
            <a:ext cx="1051560" cy="457200"/>
          </a:xfrm>
          <a:prstGeom prst="roundRect">
            <a:avLst>
              <a:gd name="adj" fmla="val 50000"/>
            </a:avLst>
          </a:prstGeom>
          <a:solidFill>
            <a:srgbClr val="EAF1FE"/>
          </a:solidFill>
          <a:ln w="9525">
            <a:solidFill>
              <a:srgbClr val="A8C6F5"/>
            </a:solidFill>
            <a:prstDash val="solid"/>
          </a:ln>
        </p:spPr>
        <p:txBody>
          <a:bodyPr/>
          <a:lstStyle/>
          <a:p>
            <a:endParaRPr lang="en-US"/>
          </a:p>
        </p:txBody>
      </p:sp>
      <p:sp>
        <p:nvSpPr>
          <p:cNvPr id="10" name="Text 8"/>
          <p:cNvSpPr/>
          <p:nvPr/>
        </p:nvSpPr>
        <p:spPr>
          <a:xfrm>
            <a:off x="9464040" y="1929384"/>
            <a:ext cx="1051560" cy="457200"/>
          </a:xfrm>
          <a:prstGeom prst="rect">
            <a:avLst/>
          </a:prstGeom>
          <a:noFill/>
        </p:spPr>
        <p:txBody>
          <a:bodyPr wrap="square" lIns="0" tIns="0" rIns="0" bIns="0" rtlCol="0" anchor="ctr"/>
          <a:lstStyle/>
          <a:p>
            <a:pPr marL="0" indent="0" algn="ctr">
              <a:buNone/>
            </a:pPr>
            <a:r>
              <a:rPr lang="en-US" sz="1200" b="1" dirty="0">
                <a:solidFill>
                  <a:srgbClr val="2777EF"/>
                </a:solidFill>
                <a:latin typeface="Calibri" pitchFamily="34" charset="0"/>
                <a:ea typeface="Calibri" pitchFamily="34" charset="-122"/>
                <a:cs typeface="Calibri" pitchFamily="34" charset="-120"/>
              </a:rPr>
              <a:t>1–2 qtrs</a:t>
            </a:r>
            <a:endParaRPr lang="en-US" sz="1200" dirty="0"/>
          </a:p>
        </p:txBody>
      </p:sp>
      <p:sp>
        <p:nvSpPr>
          <p:cNvPr id="11" name="Shape 9"/>
          <p:cNvSpPr/>
          <p:nvPr/>
        </p:nvSpPr>
        <p:spPr>
          <a:xfrm>
            <a:off x="502920" y="2724912"/>
            <a:ext cx="8778240" cy="859536"/>
          </a:xfrm>
          <a:prstGeom prst="roundRect">
            <a:avLst>
              <a:gd name="adj" fmla="val 8511"/>
            </a:avLst>
          </a:prstGeom>
          <a:solidFill>
            <a:srgbClr val="F5F8FC"/>
          </a:solidFill>
          <a:ln w="9525">
            <a:solidFill>
              <a:srgbClr val="D5DCE8"/>
            </a:solidFill>
            <a:prstDash val="solid"/>
          </a:ln>
        </p:spPr>
        <p:txBody>
          <a:bodyPr/>
          <a:lstStyle/>
          <a:p>
            <a:endParaRPr lang="en-US"/>
          </a:p>
        </p:txBody>
      </p:sp>
      <p:sp>
        <p:nvSpPr>
          <p:cNvPr id="12" name="Text 10"/>
          <p:cNvSpPr/>
          <p:nvPr/>
        </p:nvSpPr>
        <p:spPr>
          <a:xfrm>
            <a:off x="667512" y="2880360"/>
            <a:ext cx="502920" cy="548640"/>
          </a:xfrm>
          <a:prstGeom prst="rect">
            <a:avLst/>
          </a:prstGeom>
          <a:noFill/>
        </p:spPr>
        <p:txBody>
          <a:bodyPr wrap="square" lIns="0" tIns="0" rIns="0" bIns="0" rtlCol="0" anchor="ctr"/>
          <a:lstStyle/>
          <a:p>
            <a:pPr marL="0" indent="0">
              <a:buNone/>
            </a:pPr>
            <a:r>
              <a:rPr lang="en-US" sz="2600" b="1" dirty="0">
                <a:solidFill>
                  <a:srgbClr val="A8C6F5"/>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1280160" y="2834640"/>
            <a:ext cx="7772400" cy="320040"/>
          </a:xfrm>
          <a:prstGeom prst="rect">
            <a:avLst/>
          </a:prstGeom>
          <a:noFill/>
        </p:spPr>
        <p:txBody>
          <a:bodyPr wrap="square" lIns="0" tIns="0" rIns="0" bIns="0" rtlCol="0" anchor="ctr"/>
          <a:lstStyle/>
          <a:p>
            <a:pPr marL="0" indent="0">
              <a:buNone/>
            </a:pPr>
            <a:r>
              <a:rPr lang="en-US" sz="1650" b="1" dirty="0">
                <a:solidFill>
                  <a:srgbClr val="1A2233"/>
                </a:solidFill>
                <a:latin typeface="Cambria" pitchFamily="34" charset="0"/>
                <a:ea typeface="Cambria" pitchFamily="34" charset="-122"/>
                <a:cs typeface="Cambria" pitchFamily="34" charset="-120"/>
              </a:rPr>
              <a:t>Overage bills only above the floors</a:t>
            </a:r>
            <a:endParaRPr lang="en-US" sz="1650" dirty="0"/>
          </a:p>
        </p:txBody>
      </p:sp>
      <p:sp>
        <p:nvSpPr>
          <p:cNvPr id="14" name="Text 12"/>
          <p:cNvSpPr/>
          <p:nvPr/>
        </p:nvSpPr>
        <p:spPr>
          <a:xfrm>
            <a:off x="1280160" y="3182112"/>
            <a:ext cx="7772400" cy="320040"/>
          </a:xfrm>
          <a:prstGeom prst="rect">
            <a:avLst/>
          </a:prstGeom>
          <a:noFill/>
        </p:spPr>
        <p:txBody>
          <a:bodyPr wrap="square" lIns="0" tIns="0" rIns="0" bIns="0" rtlCol="0" anchor="ctr"/>
          <a:lstStyle/>
          <a:p>
            <a:pPr marL="0" indent="0">
              <a:buNone/>
            </a:pPr>
            <a:r>
              <a:rPr lang="en-US" sz="1300" dirty="0">
                <a:solidFill>
                  <a:srgbClr val="5A6478"/>
                </a:solidFill>
                <a:latin typeface="Calibri" pitchFamily="34" charset="0"/>
                <a:ea typeface="Calibri" pitchFamily="34" charset="-122"/>
                <a:cs typeface="Calibri" pitchFamily="34" charset="-120"/>
              </a:rPr>
              <a:t>then at list price — the spending nobody budgeted</a:t>
            </a:r>
            <a:endParaRPr lang="en-US" sz="1300" dirty="0"/>
          </a:p>
        </p:txBody>
      </p:sp>
      <p:sp>
        <p:nvSpPr>
          <p:cNvPr id="15" name="Shape 13"/>
          <p:cNvSpPr/>
          <p:nvPr/>
        </p:nvSpPr>
        <p:spPr>
          <a:xfrm>
            <a:off x="9464040" y="2926080"/>
            <a:ext cx="1051560" cy="457200"/>
          </a:xfrm>
          <a:prstGeom prst="roundRect">
            <a:avLst>
              <a:gd name="adj" fmla="val 50000"/>
            </a:avLst>
          </a:prstGeom>
          <a:solidFill>
            <a:srgbClr val="EAF1FE"/>
          </a:solidFill>
          <a:ln w="9525">
            <a:solidFill>
              <a:srgbClr val="A8C6F5"/>
            </a:solidFill>
            <a:prstDash val="solid"/>
          </a:ln>
        </p:spPr>
        <p:txBody>
          <a:bodyPr/>
          <a:lstStyle/>
          <a:p>
            <a:endParaRPr lang="en-US"/>
          </a:p>
        </p:txBody>
      </p:sp>
      <p:sp>
        <p:nvSpPr>
          <p:cNvPr id="16" name="Text 14"/>
          <p:cNvSpPr/>
          <p:nvPr/>
        </p:nvSpPr>
        <p:spPr>
          <a:xfrm>
            <a:off x="9464040" y="2916936"/>
            <a:ext cx="1051560" cy="457200"/>
          </a:xfrm>
          <a:prstGeom prst="rect">
            <a:avLst/>
          </a:prstGeom>
          <a:noFill/>
        </p:spPr>
        <p:txBody>
          <a:bodyPr wrap="square" lIns="0" tIns="0" rIns="0" bIns="0" rtlCol="0" anchor="ctr"/>
          <a:lstStyle/>
          <a:p>
            <a:pPr marL="0" indent="0" algn="ctr">
              <a:buNone/>
            </a:pPr>
            <a:r>
              <a:rPr lang="en-US" sz="1200" b="1" dirty="0">
                <a:solidFill>
                  <a:srgbClr val="2777EF"/>
                </a:solidFill>
                <a:latin typeface="Calibri" pitchFamily="34" charset="0"/>
                <a:ea typeface="Calibri" pitchFamily="34" charset="-122"/>
                <a:cs typeface="Calibri" pitchFamily="34" charset="-120"/>
              </a:rPr>
              <a:t>1–2 qtrs</a:t>
            </a:r>
            <a:endParaRPr lang="en-US" sz="1200" dirty="0"/>
          </a:p>
        </p:txBody>
      </p:sp>
      <p:sp>
        <p:nvSpPr>
          <p:cNvPr id="17" name="Shape 15"/>
          <p:cNvSpPr/>
          <p:nvPr/>
        </p:nvSpPr>
        <p:spPr>
          <a:xfrm>
            <a:off x="502920" y="3712464"/>
            <a:ext cx="8778240" cy="859536"/>
          </a:xfrm>
          <a:prstGeom prst="roundRect">
            <a:avLst>
              <a:gd name="adj" fmla="val 8511"/>
            </a:avLst>
          </a:prstGeom>
          <a:solidFill>
            <a:srgbClr val="F5F8FC"/>
          </a:solidFill>
          <a:ln w="9525">
            <a:solidFill>
              <a:srgbClr val="D5DCE8"/>
            </a:solidFill>
            <a:prstDash val="solid"/>
          </a:ln>
        </p:spPr>
        <p:txBody>
          <a:bodyPr/>
          <a:lstStyle/>
          <a:p>
            <a:endParaRPr lang="en-US"/>
          </a:p>
        </p:txBody>
      </p:sp>
      <p:sp>
        <p:nvSpPr>
          <p:cNvPr id="18" name="Text 16"/>
          <p:cNvSpPr/>
          <p:nvPr/>
        </p:nvSpPr>
        <p:spPr>
          <a:xfrm>
            <a:off x="667512" y="3867912"/>
            <a:ext cx="502920" cy="548640"/>
          </a:xfrm>
          <a:prstGeom prst="rect">
            <a:avLst/>
          </a:prstGeom>
          <a:noFill/>
        </p:spPr>
        <p:txBody>
          <a:bodyPr wrap="square" lIns="0" tIns="0" rIns="0" bIns="0" rtlCol="0" anchor="ctr"/>
          <a:lstStyle/>
          <a:p>
            <a:pPr marL="0" indent="0">
              <a:buNone/>
            </a:pPr>
            <a:r>
              <a:rPr lang="en-US" sz="2600" b="1" dirty="0">
                <a:solidFill>
                  <a:srgbClr val="A8C6F5"/>
                </a:solidFill>
                <a:latin typeface="Cambria" pitchFamily="34" charset="0"/>
                <a:ea typeface="Cambria" pitchFamily="34" charset="-122"/>
                <a:cs typeface="Cambria" pitchFamily="34" charset="-120"/>
              </a:rPr>
              <a:t>3</a:t>
            </a:r>
            <a:endParaRPr lang="en-US" sz="2600" dirty="0"/>
          </a:p>
        </p:txBody>
      </p:sp>
      <p:sp>
        <p:nvSpPr>
          <p:cNvPr id="19" name="Text 17"/>
          <p:cNvSpPr/>
          <p:nvPr/>
        </p:nvSpPr>
        <p:spPr>
          <a:xfrm>
            <a:off x="1280160" y="3822192"/>
            <a:ext cx="7772400" cy="320040"/>
          </a:xfrm>
          <a:prstGeom prst="rect">
            <a:avLst/>
          </a:prstGeom>
          <a:noFill/>
        </p:spPr>
        <p:txBody>
          <a:bodyPr wrap="square" lIns="0" tIns="0" rIns="0" bIns="0" rtlCol="0" anchor="ctr"/>
          <a:lstStyle/>
          <a:p>
            <a:pPr marL="0" indent="0">
              <a:buNone/>
            </a:pPr>
            <a:r>
              <a:rPr lang="en-US" sz="1650" b="1" dirty="0">
                <a:solidFill>
                  <a:srgbClr val="1A2233"/>
                </a:solidFill>
                <a:latin typeface="Cambria" pitchFamily="34" charset="0"/>
                <a:ea typeface="Cambria" pitchFamily="34" charset="-122"/>
                <a:cs typeface="Cambria" pitchFamily="34" charset="-120"/>
              </a:rPr>
              <a:t>Pilots meter lightly; production meters everything</a:t>
            </a:r>
            <a:endParaRPr lang="en-US" sz="1650" dirty="0"/>
          </a:p>
        </p:txBody>
      </p:sp>
      <p:sp>
        <p:nvSpPr>
          <p:cNvPr id="20" name="Text 18"/>
          <p:cNvSpPr/>
          <p:nvPr/>
        </p:nvSpPr>
        <p:spPr>
          <a:xfrm>
            <a:off x="1280160" y="4169664"/>
            <a:ext cx="7772400" cy="320040"/>
          </a:xfrm>
          <a:prstGeom prst="rect">
            <a:avLst/>
          </a:prstGeom>
          <a:noFill/>
        </p:spPr>
        <p:txBody>
          <a:bodyPr wrap="square" lIns="0" tIns="0" rIns="0" bIns="0" rtlCol="0" anchor="ctr"/>
          <a:lstStyle/>
          <a:p>
            <a:pPr marL="0" indent="0">
              <a:buNone/>
            </a:pPr>
            <a:r>
              <a:rPr lang="en-US" sz="1300" dirty="0">
                <a:solidFill>
                  <a:srgbClr val="5A6478"/>
                </a:solidFill>
                <a:latin typeface="Calibri" pitchFamily="34" charset="0"/>
                <a:ea typeface="Calibri" pitchFamily="34" charset="-122"/>
                <a:cs typeface="Calibri" pitchFamily="34" charset="-120"/>
              </a:rPr>
              <a:t>audit, security, observability attach when workloads graduate</a:t>
            </a:r>
            <a:endParaRPr lang="en-US" sz="1300" dirty="0"/>
          </a:p>
        </p:txBody>
      </p:sp>
      <p:sp>
        <p:nvSpPr>
          <p:cNvPr id="21" name="Shape 19"/>
          <p:cNvSpPr/>
          <p:nvPr/>
        </p:nvSpPr>
        <p:spPr>
          <a:xfrm>
            <a:off x="9464040" y="3913632"/>
            <a:ext cx="1051560" cy="457200"/>
          </a:xfrm>
          <a:prstGeom prst="roundRect">
            <a:avLst>
              <a:gd name="adj" fmla="val 50000"/>
            </a:avLst>
          </a:prstGeom>
          <a:solidFill>
            <a:srgbClr val="EAF1FE"/>
          </a:solidFill>
          <a:ln w="9525">
            <a:solidFill>
              <a:srgbClr val="A8C6F5"/>
            </a:solidFill>
            <a:prstDash val="solid"/>
          </a:ln>
        </p:spPr>
        <p:txBody>
          <a:bodyPr/>
          <a:lstStyle/>
          <a:p>
            <a:endParaRPr lang="en-US"/>
          </a:p>
        </p:txBody>
      </p:sp>
      <p:sp>
        <p:nvSpPr>
          <p:cNvPr id="22" name="Text 20"/>
          <p:cNvSpPr/>
          <p:nvPr/>
        </p:nvSpPr>
        <p:spPr>
          <a:xfrm>
            <a:off x="9464040" y="3904488"/>
            <a:ext cx="1051560" cy="457200"/>
          </a:xfrm>
          <a:prstGeom prst="rect">
            <a:avLst/>
          </a:prstGeom>
          <a:noFill/>
        </p:spPr>
        <p:txBody>
          <a:bodyPr wrap="square" lIns="0" tIns="0" rIns="0" bIns="0" rtlCol="0" anchor="ctr"/>
          <a:lstStyle/>
          <a:p>
            <a:pPr marL="0" indent="0" algn="ctr">
              <a:buNone/>
            </a:pPr>
            <a:r>
              <a:rPr lang="en-US" sz="1200" b="1" dirty="0">
                <a:solidFill>
                  <a:srgbClr val="2777EF"/>
                </a:solidFill>
                <a:latin typeface="Calibri" pitchFamily="34" charset="0"/>
                <a:ea typeface="Calibri" pitchFamily="34" charset="-122"/>
                <a:cs typeface="Calibri" pitchFamily="34" charset="-120"/>
              </a:rPr>
              <a:t>2–3 qtrs</a:t>
            </a:r>
            <a:endParaRPr lang="en-US" sz="1200" dirty="0"/>
          </a:p>
        </p:txBody>
      </p:sp>
      <p:sp>
        <p:nvSpPr>
          <p:cNvPr id="23" name="Shape 21"/>
          <p:cNvSpPr/>
          <p:nvPr/>
        </p:nvSpPr>
        <p:spPr>
          <a:xfrm>
            <a:off x="502920" y="4700016"/>
            <a:ext cx="8778240" cy="859536"/>
          </a:xfrm>
          <a:prstGeom prst="roundRect">
            <a:avLst>
              <a:gd name="adj" fmla="val 8511"/>
            </a:avLst>
          </a:prstGeom>
          <a:solidFill>
            <a:srgbClr val="F5F8FC"/>
          </a:solidFill>
          <a:ln w="9525">
            <a:solidFill>
              <a:srgbClr val="D5DCE8"/>
            </a:solidFill>
            <a:prstDash val="solid"/>
          </a:ln>
        </p:spPr>
        <p:txBody>
          <a:bodyPr/>
          <a:lstStyle/>
          <a:p>
            <a:endParaRPr lang="en-US"/>
          </a:p>
        </p:txBody>
      </p:sp>
      <p:sp>
        <p:nvSpPr>
          <p:cNvPr id="24" name="Text 22"/>
          <p:cNvSpPr/>
          <p:nvPr/>
        </p:nvSpPr>
        <p:spPr>
          <a:xfrm>
            <a:off x="667512" y="4855464"/>
            <a:ext cx="502920" cy="548640"/>
          </a:xfrm>
          <a:prstGeom prst="rect">
            <a:avLst/>
          </a:prstGeom>
          <a:noFill/>
        </p:spPr>
        <p:txBody>
          <a:bodyPr wrap="square" lIns="0" tIns="0" rIns="0" bIns="0" rtlCol="0" anchor="ctr"/>
          <a:lstStyle/>
          <a:p>
            <a:pPr marL="0" indent="0">
              <a:buNone/>
            </a:pPr>
            <a:r>
              <a:rPr lang="en-US" sz="2600" b="1" dirty="0">
                <a:solidFill>
                  <a:srgbClr val="A8C6F5"/>
                </a:solidFill>
                <a:latin typeface="Cambria" pitchFamily="34" charset="0"/>
                <a:ea typeface="Cambria" pitchFamily="34" charset="-122"/>
                <a:cs typeface="Cambria" pitchFamily="34" charset="-120"/>
              </a:rPr>
              <a:t>4</a:t>
            </a:r>
            <a:endParaRPr lang="en-US" sz="2600" dirty="0"/>
          </a:p>
        </p:txBody>
      </p:sp>
      <p:sp>
        <p:nvSpPr>
          <p:cNvPr id="25" name="Text 23"/>
          <p:cNvSpPr/>
          <p:nvPr/>
        </p:nvSpPr>
        <p:spPr>
          <a:xfrm>
            <a:off x="1280160" y="4809744"/>
            <a:ext cx="7772400" cy="320040"/>
          </a:xfrm>
          <a:prstGeom prst="rect">
            <a:avLst/>
          </a:prstGeom>
          <a:noFill/>
        </p:spPr>
        <p:txBody>
          <a:bodyPr wrap="square" lIns="0" tIns="0" rIns="0" bIns="0" rtlCol="0" anchor="ctr"/>
          <a:lstStyle/>
          <a:p>
            <a:pPr marL="0" indent="0">
              <a:buNone/>
            </a:pPr>
            <a:r>
              <a:rPr lang="en-US" sz="1650" b="1" dirty="0">
                <a:solidFill>
                  <a:srgbClr val="1A2233"/>
                </a:solidFill>
                <a:latin typeface="Cambria" pitchFamily="34" charset="0"/>
                <a:ea typeface="Cambria" pitchFamily="34" charset="-122"/>
                <a:cs typeface="Cambria" pitchFamily="34" charset="-120"/>
              </a:rPr>
              <a:t>Efficiency comes before scale</a:t>
            </a:r>
            <a:endParaRPr lang="en-US" sz="1650" dirty="0"/>
          </a:p>
        </p:txBody>
      </p:sp>
      <p:sp>
        <p:nvSpPr>
          <p:cNvPr id="26" name="Text 24"/>
          <p:cNvSpPr/>
          <p:nvPr/>
        </p:nvSpPr>
        <p:spPr>
          <a:xfrm>
            <a:off x="1280160" y="5157216"/>
            <a:ext cx="7772400" cy="320040"/>
          </a:xfrm>
          <a:prstGeom prst="rect">
            <a:avLst/>
          </a:prstGeom>
          <a:noFill/>
        </p:spPr>
        <p:txBody>
          <a:bodyPr wrap="square" lIns="0" tIns="0" rIns="0" bIns="0" rtlCol="0" anchor="ctr"/>
          <a:lstStyle/>
          <a:p>
            <a:pPr marL="0" indent="0">
              <a:buNone/>
            </a:pPr>
            <a:r>
              <a:rPr lang="en-US" sz="1300" dirty="0">
                <a:solidFill>
                  <a:srgbClr val="5A6478"/>
                </a:solidFill>
                <a:latin typeface="Calibri" pitchFamily="34" charset="0"/>
                <a:ea typeface="Calibri" pitchFamily="34" charset="-122"/>
                <a:cs typeface="Calibri" pitchFamily="34" charset="-120"/>
              </a:rPr>
              <a:t>teams optimize before they let agents rip</a:t>
            </a:r>
            <a:endParaRPr lang="en-US" sz="1300" dirty="0"/>
          </a:p>
        </p:txBody>
      </p:sp>
      <p:sp>
        <p:nvSpPr>
          <p:cNvPr id="27" name="Shape 25"/>
          <p:cNvSpPr/>
          <p:nvPr/>
        </p:nvSpPr>
        <p:spPr>
          <a:xfrm>
            <a:off x="9464040" y="4901184"/>
            <a:ext cx="1051560" cy="457200"/>
          </a:xfrm>
          <a:prstGeom prst="roundRect">
            <a:avLst>
              <a:gd name="adj" fmla="val 50000"/>
            </a:avLst>
          </a:prstGeom>
          <a:solidFill>
            <a:srgbClr val="EAF1FE"/>
          </a:solidFill>
          <a:ln w="9525">
            <a:solidFill>
              <a:srgbClr val="A8C6F5"/>
            </a:solidFill>
            <a:prstDash val="solid"/>
          </a:ln>
        </p:spPr>
        <p:txBody>
          <a:bodyPr/>
          <a:lstStyle/>
          <a:p>
            <a:endParaRPr lang="en-US"/>
          </a:p>
        </p:txBody>
      </p:sp>
      <p:sp>
        <p:nvSpPr>
          <p:cNvPr id="28" name="Text 26"/>
          <p:cNvSpPr/>
          <p:nvPr/>
        </p:nvSpPr>
        <p:spPr>
          <a:xfrm>
            <a:off x="9464040" y="4892040"/>
            <a:ext cx="1051560" cy="457200"/>
          </a:xfrm>
          <a:prstGeom prst="rect">
            <a:avLst/>
          </a:prstGeom>
          <a:noFill/>
        </p:spPr>
        <p:txBody>
          <a:bodyPr wrap="square" lIns="0" tIns="0" rIns="0" bIns="0" rtlCol="0" anchor="ctr"/>
          <a:lstStyle/>
          <a:p>
            <a:pPr marL="0" indent="0" algn="ctr">
              <a:buNone/>
            </a:pPr>
            <a:r>
              <a:rPr lang="en-US" sz="1200" b="1" dirty="0">
                <a:solidFill>
                  <a:srgbClr val="2777EF"/>
                </a:solidFill>
                <a:latin typeface="Calibri" pitchFamily="34" charset="0"/>
                <a:ea typeface="Calibri" pitchFamily="34" charset="-122"/>
                <a:cs typeface="Calibri" pitchFamily="34" charset="-120"/>
              </a:rPr>
              <a:t>1–2 qtrs</a:t>
            </a:r>
            <a:endParaRPr lang="en-US" sz="1200" dirty="0"/>
          </a:p>
        </p:txBody>
      </p:sp>
      <p:sp>
        <p:nvSpPr>
          <p:cNvPr id="32" name="Text 30"/>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33" name="Text 31"/>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Contract mechanics per usage-platform disclosures. Each lag closes on a disclosure date.</a:t>
            </a:r>
            <a:endParaRPr lang="en-US" sz="750" dirty="0"/>
          </a:p>
        </p:txBody>
      </p:sp>
      <p:sp>
        <p:nvSpPr>
          <p:cNvPr id="34"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54</a:t>
            </a:fld>
            <a:endParaRPr lang="en-US"/>
          </a:p>
        </p:txBody>
      </p:sp>
      <p:sp>
        <p:nvSpPr>
          <p:cNvPr id="35" name="Rounded Rectangle 34"/>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lag is mechanical — and it expires on disclosure dates  </a:t>
            </a:r>
            <a:r>
              <a:rPr sz="1200">
                <a:solidFill>
                  <a:srgbClr val="1A2233"/>
                </a:solidFill>
                <a:latin typeface="Calibri"/>
              </a:rPr>
              <a:t>— each of the four delays above closes on a filing.</a:t>
            </a:r>
          </a:p>
        </p:txBody>
      </p:sp>
    </p:spTree>
    <p:extLst>
      <p:ext uri="{BB962C8B-B14F-4D97-AF65-F5344CB8AC3E}">
        <p14:creationId xmlns:p14="http://schemas.microsoft.com/office/powerpoint/2010/main" val="17738238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Retention tells you who gets paid by agents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NET DOLLAR RETENTION — USAGE-BILLED METER NAMES (L2 + L3) VS SEAT-PRICED APPS — SKYCATCHER ESTIMATES, JUL 2026</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00784"/>
            <a:ext cx="5230368" cy="3017520"/>
          </a:xfrm>
          <a:prstGeom prst="roundRect">
            <a:avLst>
              <a:gd name="adj" fmla="val 6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20240"/>
            <a:ext cx="4663440" cy="237744"/>
          </a:xfrm>
          <a:prstGeom prst="rect">
            <a:avLst/>
          </a:prstGeom>
          <a:noFill/>
        </p:spPr>
        <p:txBody>
          <a:bodyPr wrap="square" lIns="0" rIns="0" tIns="0" bIns="0">
            <a:spAutoFit/>
          </a:bodyPr>
          <a:lstStyle/>
          <a:p>
            <a:pPr algn="l"/>
            <a:r>
              <a:rPr sz="1050" b="1" i="0">
                <a:solidFill>
                  <a:srgbClr val="2777EF"/>
                </a:solidFill>
                <a:latin typeface="Calibri"/>
              </a:rPr>
              <a:t>THE METERS — USAGE-BILLED (L2 + L3)</a:t>
            </a:r>
          </a:p>
        </p:txBody>
      </p:sp>
      <p:sp>
        <p:nvSpPr>
          <p:cNvPr id="7" name="TextBox 6"/>
          <p:cNvSpPr txBox="1"/>
          <p:nvPr/>
        </p:nvSpPr>
        <p:spPr>
          <a:xfrm>
            <a:off x="1051560" y="2286000"/>
            <a:ext cx="4663440" cy="822960"/>
          </a:xfrm>
          <a:prstGeom prst="rect">
            <a:avLst/>
          </a:prstGeom>
          <a:noFill/>
        </p:spPr>
        <p:txBody>
          <a:bodyPr wrap="square" lIns="0" rIns="0" tIns="0" bIns="0">
            <a:spAutoFit/>
          </a:bodyPr>
          <a:lstStyle/>
          <a:p>
            <a:pPr algn="l"/>
            <a:r>
              <a:rPr sz="4000" b="1" i="0">
                <a:solidFill>
                  <a:srgbClr val="1A2233"/>
                </a:solidFill>
                <a:latin typeface="Cambria"/>
              </a:rPr>
              <a:t>~112 → ~117</a:t>
            </a:r>
          </a:p>
        </p:txBody>
      </p:sp>
      <p:sp>
        <p:nvSpPr>
          <p:cNvPr id="8" name="TextBox 7"/>
          <p:cNvSpPr txBox="1"/>
          <p:nvPr/>
        </p:nvSpPr>
        <p:spPr>
          <a:xfrm>
            <a:off x="1051560" y="3246120"/>
            <a:ext cx="4663440" cy="274320"/>
          </a:xfrm>
          <a:prstGeom prst="rect">
            <a:avLst/>
          </a:prstGeom>
          <a:noFill/>
        </p:spPr>
        <p:txBody>
          <a:bodyPr wrap="square" lIns="0" rIns="0" tIns="0" bIns="0">
            <a:spAutoFit/>
          </a:bodyPr>
          <a:lstStyle/>
          <a:p>
            <a:pPr algn="l"/>
            <a:r>
              <a:rPr sz="1150" b="1" i="0">
                <a:solidFill>
                  <a:srgbClr val="1A2233"/>
                </a:solidFill>
                <a:latin typeface="Calibri"/>
              </a:rPr>
              <a:t>median NDR, six quarters — rising</a:t>
            </a:r>
          </a:p>
        </p:txBody>
      </p:sp>
      <p:sp>
        <p:nvSpPr>
          <p:cNvPr id="9" name="TextBox 8"/>
          <p:cNvSpPr txBox="1"/>
          <p:nvPr/>
        </p:nvSpPr>
        <p:spPr>
          <a:xfrm>
            <a:off x="1051560" y="3611880"/>
            <a:ext cx="4663440" cy="822960"/>
          </a:xfrm>
          <a:prstGeom prst="rect">
            <a:avLst/>
          </a:prstGeom>
          <a:noFill/>
        </p:spPr>
        <p:txBody>
          <a:bodyPr wrap="square" lIns="0" rIns="0" tIns="0" bIns="0">
            <a:spAutoFit/>
          </a:bodyPr>
          <a:lstStyle/>
          <a:p>
            <a:pPr algn="l"/>
            <a:r>
              <a:rPr sz="1050" b="0" i="0">
                <a:solidFill>
                  <a:srgbClr val="5A6478"/>
                </a:solidFill>
                <a:latin typeface="Calibri"/>
              </a:rPr>
              <a:t>Every task an agent runs meters more revenue from the same customer — expansion without a salesperson. The best names print 120–126.</a:t>
            </a:r>
          </a:p>
        </p:txBody>
      </p:sp>
      <p:sp>
        <p:nvSpPr>
          <p:cNvPr id="10" name="Rounded Rectangle 9"/>
          <p:cNvSpPr/>
          <p:nvPr/>
        </p:nvSpPr>
        <p:spPr>
          <a:xfrm>
            <a:off x="6181344" y="1700784"/>
            <a:ext cx="5230368" cy="30175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1920240"/>
            <a:ext cx="4663440" cy="237744"/>
          </a:xfrm>
          <a:prstGeom prst="rect">
            <a:avLst/>
          </a:prstGeom>
          <a:noFill/>
        </p:spPr>
        <p:txBody>
          <a:bodyPr wrap="square" lIns="0" rIns="0" tIns="0" bIns="0">
            <a:spAutoFit/>
          </a:bodyPr>
          <a:lstStyle/>
          <a:p>
            <a:pPr algn="l"/>
            <a:r>
              <a:rPr sz="1050" b="1" i="0">
                <a:solidFill>
                  <a:srgbClr val="8A97B0"/>
                </a:solidFill>
                <a:latin typeface="Calibri"/>
              </a:rPr>
              <a:t>THE APPS — SEAT-PRICED (L4)</a:t>
            </a:r>
          </a:p>
        </p:txBody>
      </p:sp>
      <p:sp>
        <p:nvSpPr>
          <p:cNvPr id="12" name="TextBox 11"/>
          <p:cNvSpPr txBox="1"/>
          <p:nvPr/>
        </p:nvSpPr>
        <p:spPr>
          <a:xfrm>
            <a:off x="6455664" y="2286000"/>
            <a:ext cx="4663440" cy="822960"/>
          </a:xfrm>
          <a:prstGeom prst="rect">
            <a:avLst/>
          </a:prstGeom>
          <a:noFill/>
        </p:spPr>
        <p:txBody>
          <a:bodyPr wrap="square" lIns="0" rIns="0" tIns="0" bIns="0">
            <a:spAutoFit/>
          </a:bodyPr>
          <a:lstStyle/>
          <a:p>
            <a:pPr algn="l"/>
            <a:r>
              <a:rPr sz="4000" b="1" i="0">
                <a:solidFill>
                  <a:srgbClr val="5A6478"/>
                </a:solidFill>
                <a:latin typeface="Cambria"/>
              </a:rPr>
              <a:t>~101, flat</a:t>
            </a:r>
          </a:p>
        </p:txBody>
      </p:sp>
      <p:sp>
        <p:nvSpPr>
          <p:cNvPr id="13" name="TextBox 12"/>
          <p:cNvSpPr txBox="1"/>
          <p:nvPr/>
        </p:nvSpPr>
        <p:spPr>
          <a:xfrm>
            <a:off x="6455664" y="3246120"/>
            <a:ext cx="4663440" cy="274320"/>
          </a:xfrm>
          <a:prstGeom prst="rect">
            <a:avLst/>
          </a:prstGeom>
          <a:noFill/>
        </p:spPr>
        <p:txBody>
          <a:bodyPr wrap="square" lIns="0" rIns="0" tIns="0" bIns="0">
            <a:spAutoFit/>
          </a:bodyPr>
          <a:lstStyle/>
          <a:p>
            <a:pPr algn="l"/>
            <a:r>
              <a:rPr sz="1150" b="1" i="0">
                <a:solidFill>
                  <a:srgbClr val="5A6478"/>
                </a:solidFill>
                <a:latin typeface="Calibri"/>
              </a:rPr>
              <a:t>median NDR — expansion engine stalled</a:t>
            </a:r>
          </a:p>
        </p:txBody>
      </p:sp>
      <p:sp>
        <p:nvSpPr>
          <p:cNvPr id="14" name="TextBox 13"/>
          <p:cNvSpPr txBox="1"/>
          <p:nvPr/>
        </p:nvSpPr>
        <p:spPr>
          <a:xfrm>
            <a:off x="6455664" y="3611880"/>
            <a:ext cx="4663440" cy="822960"/>
          </a:xfrm>
          <a:prstGeom prst="rect">
            <a:avLst/>
          </a:prstGeom>
          <a:noFill/>
        </p:spPr>
        <p:txBody>
          <a:bodyPr wrap="square" lIns="0" rIns="0" tIns="0" bIns="0">
            <a:spAutoFit/>
          </a:bodyPr>
          <a:lstStyle/>
          <a:p>
            <a:pPr algn="l"/>
            <a:r>
              <a:rPr sz="1050" b="0" i="0">
                <a:solidFill>
                  <a:srgbClr val="5A6478"/>
                </a:solidFill>
                <a:latin typeface="Calibri"/>
              </a:rPr>
              <a:t>Seats saturated; agents cap headcount growth. Renewal is the ceiling, not the floor — the other side of the same trade.</a:t>
            </a:r>
          </a:p>
        </p:txBody>
      </p:sp>
      <p:sp>
        <p:nvSpPr>
          <p:cNvPr id="15" name="TextBox 14"/>
          <p:cNvSpPr txBox="1"/>
          <p:nvPr/>
        </p:nvSpPr>
        <p:spPr>
          <a:xfrm>
            <a:off x="777240" y="4983480"/>
            <a:ext cx="10634472" cy="640080"/>
          </a:xfrm>
          <a:prstGeom prst="rect">
            <a:avLst/>
          </a:prstGeom>
          <a:noFill/>
        </p:spPr>
        <p:txBody>
          <a:bodyPr wrap="square" lIns="0" rIns="0" tIns="0" bIns="0">
            <a:spAutoFit/>
          </a:bodyPr>
          <a:lstStyle/>
          <a:p>
            <a:pPr algn="l"/>
            <a:r>
              <a:rPr sz="1100" b="0" i="1">
                <a:solidFill>
                  <a:srgbClr val="5A6478"/>
                </a:solidFill>
                <a:latin typeface="Calibri"/>
              </a:rPr>
              <a:t>Why the gap widens: a seat is bought once and renewed; a meter is billed every time an agent acts. As agent activity compounds, only one of these lines moves with it.</a:t>
            </a:r>
          </a:p>
        </p:txBody>
      </p:sp>
      <p:sp>
        <p:nvSpPr>
          <p:cNvPr id="16" name="Rounded Rectangle 15"/>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~117 and rising vs ~101 and flat  </a:t>
            </a:r>
            <a:r>
              <a:rPr sz="1200">
                <a:solidFill>
                  <a:srgbClr val="1A2233"/>
                </a:solidFill>
                <a:latin typeface="Calibri"/>
              </a:rPr>
              <a:t>— retention is the cleanest split between the meters and the seats. The contracts print it next.</a:t>
            </a:r>
          </a:p>
        </p:txBody>
      </p:sp>
      <p:sp>
        <p:nvSpPr>
          <p:cNvPr id="17" name="TextBox 16"/>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8" name="TextBox 17"/>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55</a:t>
            </a:r>
          </a:p>
        </p:txBody>
      </p:sp>
      <p:sp>
        <p:nvSpPr>
          <p:cNvPr id="19" name="TextBox 18"/>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estimates from company disclosures (NDR definitions vary by company; medians approximate). Meters = usage-billed backend names and worksite rails; apps = remaining seat-priced layer-4 names.</a:t>
            </a:r>
          </a:p>
        </p:txBody>
      </p:sp>
    </p:spTree>
    <p:extLst>
      <p:ext uri="{BB962C8B-B14F-4D97-AF65-F5344CB8AC3E}">
        <p14:creationId xmlns:p14="http://schemas.microsoft.com/office/powerpoint/2010/main" val="1168235485"/>
      </p:ext>
    </p:extLst>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Commitment, quarter by quarter: state pulls ahead</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CONTRACTED BALANCES (DEFERRED REVENUE), MEDIAN Y/Y BY LAYER, LAST FIVE QUARTERS — MEASURED FROM FILINGS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State +15% → +22% and accelerating; work +17%; apps ~+14% — commitment compounds fastest where usage is metered.</a:t>
            </a:r>
            <a:r>
              <a:rPr sz="1200">
                <a:solidFill>
                  <a:srgbClr val="1A2233"/>
                </a:solidFill>
                <a:latin typeface="Calibri"/>
              </a:rPr>
              <a:t/>
            </a:r>
          </a:p>
        </p:txBody>
      </p:sp>
      <p:sp>
        <p:nvSpPr>
          <p:cNvPr id="50" name="TextBox 4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51" name="TextBox 5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56</a:t>
            </a:r>
          </a:p>
        </p:txBody>
      </p:sp>
      <p:sp>
        <p:nvSpPr>
          <p:cNvPr id="52" name="TextBox 51"/>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Median y/y growth of deferred revenue (current + non-current), company filings via FMP, by layer; latest quarter = filings to Jun 2026. Deferred revenue is the uniform public proxy; usage commitments also sit in RPO, which this proxy misses.</a:t>
            </a:r>
          </a:p>
        </p:txBody>
      </p:sp>
      <p:cxnSp>
        <p:nvCxnSpPr>
          <p:cNvPr id="53" name="Connector 52"/>
          <p:cNvCxnSpPr/>
          <p:nvPr/>
        </p:nvCxnSpPr>
        <p:spPr>
          <a:xfrm>
            <a:off x="1097280" y="4611485"/>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475488" y="4520045"/>
            <a:ext cx="530352" cy="182880"/>
          </a:xfrm>
          <a:prstGeom prst="rect">
            <a:avLst/>
          </a:prstGeom>
          <a:noFill/>
        </p:spPr>
        <p:txBody>
          <a:bodyPr wrap="square" lIns="0" rIns="0" tIns="0" bIns="0">
            <a:spAutoFit/>
          </a:bodyPr>
          <a:lstStyle/>
          <a:p>
            <a:pPr algn="r"/>
            <a:r>
              <a:rPr sz="900" b="0">
                <a:solidFill>
                  <a:srgbClr val="8A97B0"/>
                </a:solidFill>
                <a:latin typeface="Segoe UI"/>
              </a:rPr>
              <a:t>5%</a:t>
            </a:r>
          </a:p>
        </p:txBody>
      </p:sp>
      <p:cxnSp>
        <p:nvCxnSpPr>
          <p:cNvPr id="55" name="Connector 54"/>
          <p:cNvCxnSpPr/>
          <p:nvPr/>
        </p:nvCxnSpPr>
        <p:spPr>
          <a:xfrm>
            <a:off x="1097280" y="3873730"/>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475488" y="3782290"/>
            <a:ext cx="530352" cy="182880"/>
          </a:xfrm>
          <a:prstGeom prst="rect">
            <a:avLst/>
          </a:prstGeom>
          <a:noFill/>
        </p:spPr>
        <p:txBody>
          <a:bodyPr wrap="square" lIns="0" rIns="0" tIns="0" bIns="0">
            <a:spAutoFit/>
          </a:bodyPr>
          <a:lstStyle/>
          <a:p>
            <a:pPr algn="r"/>
            <a:r>
              <a:rPr sz="900" b="0">
                <a:solidFill>
                  <a:srgbClr val="8A97B0"/>
                </a:solidFill>
                <a:latin typeface="Segoe UI"/>
              </a:rPr>
              <a:t>10%</a:t>
            </a:r>
          </a:p>
        </p:txBody>
      </p:sp>
      <p:cxnSp>
        <p:nvCxnSpPr>
          <p:cNvPr id="57" name="Connector 56"/>
          <p:cNvCxnSpPr/>
          <p:nvPr/>
        </p:nvCxnSpPr>
        <p:spPr>
          <a:xfrm>
            <a:off x="1097280" y="3135976"/>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475488" y="3044536"/>
            <a:ext cx="530352" cy="182880"/>
          </a:xfrm>
          <a:prstGeom prst="rect">
            <a:avLst/>
          </a:prstGeom>
          <a:noFill/>
        </p:spPr>
        <p:txBody>
          <a:bodyPr wrap="square" lIns="0" rIns="0" tIns="0" bIns="0">
            <a:spAutoFit/>
          </a:bodyPr>
          <a:lstStyle/>
          <a:p>
            <a:pPr algn="r"/>
            <a:r>
              <a:rPr sz="900" b="0">
                <a:solidFill>
                  <a:srgbClr val="8A97B0"/>
                </a:solidFill>
                <a:latin typeface="Segoe UI"/>
              </a:rPr>
              <a:t>15%</a:t>
            </a:r>
          </a:p>
        </p:txBody>
      </p:sp>
      <p:cxnSp>
        <p:nvCxnSpPr>
          <p:cNvPr id="59" name="Connector 58"/>
          <p:cNvCxnSpPr/>
          <p:nvPr/>
        </p:nvCxnSpPr>
        <p:spPr>
          <a:xfrm>
            <a:off x="1097280" y="2398221"/>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475488" y="2306781"/>
            <a:ext cx="530352" cy="182880"/>
          </a:xfrm>
          <a:prstGeom prst="rect">
            <a:avLst/>
          </a:prstGeom>
          <a:noFill/>
        </p:spPr>
        <p:txBody>
          <a:bodyPr wrap="square" lIns="0" rIns="0" tIns="0" bIns="0">
            <a:spAutoFit/>
          </a:bodyPr>
          <a:lstStyle/>
          <a:p>
            <a:pPr algn="r"/>
            <a:r>
              <a:rPr sz="900" b="0">
                <a:solidFill>
                  <a:srgbClr val="8A97B0"/>
                </a:solidFill>
                <a:latin typeface="Segoe UI"/>
              </a:rPr>
              <a:t>20%</a:t>
            </a:r>
          </a:p>
        </p:txBody>
      </p:sp>
      <p:sp>
        <p:nvSpPr>
          <p:cNvPr id="61" name="Oval 60"/>
          <p:cNvSpPr/>
          <p:nvPr/>
        </p:nvSpPr>
        <p:spPr>
          <a:xfrm>
            <a:off x="1234440" y="1536192"/>
            <a:ext cx="137160" cy="137160"/>
          </a:xfrm>
          <a:prstGeom prst="ellipse">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435608" y="1499616"/>
            <a:ext cx="2377440" cy="201168"/>
          </a:xfrm>
          <a:prstGeom prst="rect">
            <a:avLst/>
          </a:prstGeom>
          <a:noFill/>
        </p:spPr>
        <p:txBody>
          <a:bodyPr wrap="square" lIns="0" rIns="0" tIns="0" bIns="0">
            <a:spAutoFit/>
          </a:bodyPr>
          <a:lstStyle/>
          <a:p>
            <a:pPr algn="l"/>
            <a:r>
              <a:rPr sz="1000" b="1">
                <a:solidFill>
                  <a:srgbClr val="5A6478"/>
                </a:solidFill>
                <a:latin typeface="Segoe UI"/>
              </a:rPr>
              <a:t>L2 · State  15→22%</a:t>
            </a:r>
          </a:p>
        </p:txBody>
      </p:sp>
      <p:sp>
        <p:nvSpPr>
          <p:cNvPr id="63" name="Oval 62"/>
          <p:cNvSpPr/>
          <p:nvPr/>
        </p:nvSpPr>
        <p:spPr>
          <a:xfrm>
            <a:off x="4160520" y="1536192"/>
            <a:ext cx="137160" cy="137160"/>
          </a:xfrm>
          <a:prstGeom prst="ellipse">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361688" y="1499616"/>
            <a:ext cx="2377440" cy="201168"/>
          </a:xfrm>
          <a:prstGeom prst="rect">
            <a:avLst/>
          </a:prstGeom>
          <a:noFill/>
        </p:spPr>
        <p:txBody>
          <a:bodyPr wrap="square" lIns="0" rIns="0" tIns="0" bIns="0">
            <a:spAutoFit/>
          </a:bodyPr>
          <a:lstStyle/>
          <a:p>
            <a:pPr algn="l"/>
            <a:r>
              <a:rPr sz="1000" b="1">
                <a:solidFill>
                  <a:srgbClr val="5A6478"/>
                </a:solidFill>
                <a:latin typeface="Segoe UI"/>
              </a:rPr>
              <a:t>L3 · Work  19→17%</a:t>
            </a:r>
          </a:p>
        </p:txBody>
      </p:sp>
      <p:sp>
        <p:nvSpPr>
          <p:cNvPr id="65" name="Oval 64"/>
          <p:cNvSpPr/>
          <p:nvPr/>
        </p:nvSpPr>
        <p:spPr>
          <a:xfrm>
            <a:off x="6995160" y="1536192"/>
            <a:ext cx="137160" cy="137160"/>
          </a:xfrm>
          <a:prstGeom prst="ellipse">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196328" y="1499616"/>
            <a:ext cx="2377440" cy="201168"/>
          </a:xfrm>
          <a:prstGeom prst="rect">
            <a:avLst/>
          </a:prstGeom>
          <a:noFill/>
        </p:spPr>
        <p:txBody>
          <a:bodyPr wrap="square" lIns="0" rIns="0" tIns="0" bIns="0">
            <a:spAutoFit/>
          </a:bodyPr>
          <a:lstStyle/>
          <a:p>
            <a:pPr algn="l"/>
            <a:r>
              <a:rPr sz="1000" b="1">
                <a:solidFill>
                  <a:srgbClr val="5A6478"/>
                </a:solidFill>
                <a:latin typeface="Segoe UI"/>
              </a:rPr>
              <a:t>L4 · Apps  13→14%</a:t>
            </a:r>
          </a:p>
        </p:txBody>
      </p:sp>
      <p:sp>
        <p:nvSpPr>
          <p:cNvPr id="67" name="Rounded Rectangle 66"/>
          <p:cNvSpPr/>
          <p:nvPr/>
        </p:nvSpPr>
        <p:spPr>
          <a:xfrm>
            <a:off x="1444751" y="3135976"/>
            <a:ext cx="502920" cy="2213263"/>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316736" y="2916520"/>
            <a:ext cx="758952" cy="182880"/>
          </a:xfrm>
          <a:prstGeom prst="rect">
            <a:avLst/>
          </a:prstGeom>
          <a:noFill/>
        </p:spPr>
        <p:txBody>
          <a:bodyPr wrap="square" lIns="0" rIns="0" tIns="0" bIns="0">
            <a:spAutoFit/>
          </a:bodyPr>
          <a:lstStyle/>
          <a:p>
            <a:pPr algn="ctr"/>
            <a:r>
              <a:rPr sz="850" b="1">
                <a:solidFill>
                  <a:srgbClr val="0B8BB5"/>
                </a:solidFill>
                <a:latin typeface="Segoe UI"/>
              </a:rPr>
              <a:t>15%</a:t>
            </a:r>
          </a:p>
        </p:txBody>
      </p:sp>
      <p:sp>
        <p:nvSpPr>
          <p:cNvPr id="69" name="Rounded Rectangle 68"/>
          <p:cNvSpPr/>
          <p:nvPr/>
        </p:nvSpPr>
        <p:spPr>
          <a:xfrm>
            <a:off x="2029967" y="2722833"/>
            <a:ext cx="502920" cy="2626406"/>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01951" y="2503377"/>
            <a:ext cx="758952" cy="182880"/>
          </a:xfrm>
          <a:prstGeom prst="rect">
            <a:avLst/>
          </a:prstGeom>
          <a:noFill/>
        </p:spPr>
        <p:txBody>
          <a:bodyPr wrap="square" lIns="0" rIns="0" tIns="0" bIns="0">
            <a:spAutoFit/>
          </a:bodyPr>
          <a:lstStyle/>
          <a:p>
            <a:pPr algn="ctr"/>
            <a:r>
              <a:rPr sz="850" b="1">
                <a:solidFill>
                  <a:srgbClr val="1B3F8F"/>
                </a:solidFill>
                <a:latin typeface="Segoe UI"/>
              </a:rPr>
              <a:t>18%</a:t>
            </a:r>
          </a:p>
        </p:txBody>
      </p:sp>
      <p:sp>
        <p:nvSpPr>
          <p:cNvPr id="71" name="Rounded Rectangle 70"/>
          <p:cNvSpPr/>
          <p:nvPr/>
        </p:nvSpPr>
        <p:spPr>
          <a:xfrm>
            <a:off x="2615184" y="3431078"/>
            <a:ext cx="502920" cy="1918161"/>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487168" y="3211622"/>
            <a:ext cx="758952" cy="182880"/>
          </a:xfrm>
          <a:prstGeom prst="rect">
            <a:avLst/>
          </a:prstGeom>
          <a:noFill/>
        </p:spPr>
        <p:txBody>
          <a:bodyPr wrap="square" lIns="0" rIns="0" tIns="0" bIns="0">
            <a:spAutoFit/>
          </a:bodyPr>
          <a:lstStyle/>
          <a:p>
            <a:pPr algn="ctr"/>
            <a:r>
              <a:rPr sz="850" b="1">
                <a:solidFill>
                  <a:srgbClr val="8A97B0"/>
                </a:solidFill>
                <a:latin typeface="Segoe UI"/>
              </a:rPr>
              <a:t>13%</a:t>
            </a:r>
          </a:p>
        </p:txBody>
      </p:sp>
      <p:sp>
        <p:nvSpPr>
          <p:cNvPr id="73" name="TextBox 72"/>
          <p:cNvSpPr txBox="1"/>
          <p:nvPr/>
        </p:nvSpPr>
        <p:spPr>
          <a:xfrm>
            <a:off x="1280160" y="5458968"/>
            <a:ext cx="2002536" cy="201168"/>
          </a:xfrm>
          <a:prstGeom prst="rect">
            <a:avLst/>
          </a:prstGeom>
          <a:noFill/>
        </p:spPr>
        <p:txBody>
          <a:bodyPr wrap="square" lIns="0" rIns="0" tIns="0" bIns="0">
            <a:spAutoFit/>
          </a:bodyPr>
          <a:lstStyle/>
          <a:p>
            <a:pPr algn="ctr"/>
            <a:r>
              <a:rPr sz="1050" b="1">
                <a:solidFill>
                  <a:srgbClr val="5A6478"/>
                </a:solidFill>
                <a:latin typeface="Segoe UI"/>
              </a:rPr>
              <a:t>Q2 '25</a:t>
            </a:r>
          </a:p>
        </p:txBody>
      </p:sp>
      <p:sp>
        <p:nvSpPr>
          <p:cNvPr id="74" name="Rounded Rectangle 73"/>
          <p:cNvSpPr/>
          <p:nvPr/>
        </p:nvSpPr>
        <p:spPr>
          <a:xfrm>
            <a:off x="3447288" y="3681914"/>
            <a:ext cx="502920" cy="1667325"/>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319272" y="3462458"/>
            <a:ext cx="758952" cy="182880"/>
          </a:xfrm>
          <a:prstGeom prst="rect">
            <a:avLst/>
          </a:prstGeom>
          <a:noFill/>
        </p:spPr>
        <p:txBody>
          <a:bodyPr wrap="square" lIns="0" rIns="0" tIns="0" bIns="0">
            <a:spAutoFit/>
          </a:bodyPr>
          <a:lstStyle/>
          <a:p>
            <a:pPr algn="ctr"/>
            <a:r>
              <a:rPr sz="850" b="1">
                <a:solidFill>
                  <a:srgbClr val="0B8BB5"/>
                </a:solidFill>
                <a:latin typeface="Segoe UI"/>
              </a:rPr>
              <a:t>11%</a:t>
            </a:r>
          </a:p>
        </p:txBody>
      </p:sp>
      <p:sp>
        <p:nvSpPr>
          <p:cNvPr id="76" name="Rounded Rectangle 75"/>
          <p:cNvSpPr/>
          <p:nvPr/>
        </p:nvSpPr>
        <p:spPr>
          <a:xfrm>
            <a:off x="4032504" y="2412976"/>
            <a:ext cx="502920" cy="2936263"/>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904488" y="2193520"/>
            <a:ext cx="758952" cy="182880"/>
          </a:xfrm>
          <a:prstGeom prst="rect">
            <a:avLst/>
          </a:prstGeom>
          <a:noFill/>
        </p:spPr>
        <p:txBody>
          <a:bodyPr wrap="square" lIns="0" rIns="0" tIns="0" bIns="0">
            <a:spAutoFit/>
          </a:bodyPr>
          <a:lstStyle/>
          <a:p>
            <a:pPr algn="ctr"/>
            <a:r>
              <a:rPr sz="850" b="1">
                <a:solidFill>
                  <a:srgbClr val="1B3F8F"/>
                </a:solidFill>
                <a:latin typeface="Segoe UI"/>
              </a:rPr>
              <a:t>20%</a:t>
            </a:r>
          </a:p>
        </p:txBody>
      </p:sp>
      <p:sp>
        <p:nvSpPr>
          <p:cNvPr id="78" name="Rounded Rectangle 77"/>
          <p:cNvSpPr/>
          <p:nvPr/>
        </p:nvSpPr>
        <p:spPr>
          <a:xfrm>
            <a:off x="4617720" y="3386812"/>
            <a:ext cx="502920" cy="1962427"/>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489704" y="3167356"/>
            <a:ext cx="758952" cy="182880"/>
          </a:xfrm>
          <a:prstGeom prst="rect">
            <a:avLst/>
          </a:prstGeom>
          <a:noFill/>
        </p:spPr>
        <p:txBody>
          <a:bodyPr wrap="square" lIns="0" rIns="0" tIns="0" bIns="0">
            <a:spAutoFit/>
          </a:bodyPr>
          <a:lstStyle/>
          <a:p>
            <a:pPr algn="ctr"/>
            <a:r>
              <a:rPr sz="850" b="1">
                <a:solidFill>
                  <a:srgbClr val="8A97B0"/>
                </a:solidFill>
                <a:latin typeface="Segoe UI"/>
              </a:rPr>
              <a:t>13%</a:t>
            </a:r>
          </a:p>
        </p:txBody>
      </p:sp>
      <p:sp>
        <p:nvSpPr>
          <p:cNvPr id="80" name="TextBox 79"/>
          <p:cNvSpPr txBox="1"/>
          <p:nvPr/>
        </p:nvSpPr>
        <p:spPr>
          <a:xfrm>
            <a:off x="3282696" y="5458968"/>
            <a:ext cx="2002536" cy="201168"/>
          </a:xfrm>
          <a:prstGeom prst="rect">
            <a:avLst/>
          </a:prstGeom>
          <a:noFill/>
        </p:spPr>
        <p:txBody>
          <a:bodyPr wrap="square" lIns="0" rIns="0" tIns="0" bIns="0">
            <a:spAutoFit/>
          </a:bodyPr>
          <a:lstStyle/>
          <a:p>
            <a:pPr algn="ctr"/>
            <a:r>
              <a:rPr sz="1050" b="1">
                <a:solidFill>
                  <a:srgbClr val="5A6478"/>
                </a:solidFill>
                <a:latin typeface="Segoe UI"/>
              </a:rPr>
              <a:t>Q3 '25</a:t>
            </a:r>
          </a:p>
        </p:txBody>
      </p:sp>
      <p:sp>
        <p:nvSpPr>
          <p:cNvPr id="81" name="Rounded Rectangle 80"/>
          <p:cNvSpPr/>
          <p:nvPr/>
        </p:nvSpPr>
        <p:spPr>
          <a:xfrm>
            <a:off x="5449823" y="3047445"/>
            <a:ext cx="502920" cy="2301794"/>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21807" y="2827989"/>
            <a:ext cx="758952" cy="182880"/>
          </a:xfrm>
          <a:prstGeom prst="rect">
            <a:avLst/>
          </a:prstGeom>
          <a:noFill/>
        </p:spPr>
        <p:txBody>
          <a:bodyPr wrap="square" lIns="0" rIns="0" tIns="0" bIns="0">
            <a:spAutoFit/>
          </a:bodyPr>
          <a:lstStyle/>
          <a:p>
            <a:pPr algn="ctr"/>
            <a:r>
              <a:rPr sz="850" b="1">
                <a:solidFill>
                  <a:srgbClr val="0B8BB5"/>
                </a:solidFill>
                <a:latin typeface="Segoe UI"/>
              </a:rPr>
              <a:t>16%</a:t>
            </a:r>
          </a:p>
        </p:txBody>
      </p:sp>
      <p:sp>
        <p:nvSpPr>
          <p:cNvPr id="83" name="Rounded Rectangle 82"/>
          <p:cNvSpPr/>
          <p:nvPr/>
        </p:nvSpPr>
        <p:spPr>
          <a:xfrm>
            <a:off x="6035039" y="3254017"/>
            <a:ext cx="502920" cy="2095222"/>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907023" y="3034561"/>
            <a:ext cx="758952" cy="182880"/>
          </a:xfrm>
          <a:prstGeom prst="rect">
            <a:avLst/>
          </a:prstGeom>
          <a:noFill/>
        </p:spPr>
        <p:txBody>
          <a:bodyPr wrap="square" lIns="0" rIns="0" tIns="0" bIns="0">
            <a:spAutoFit/>
          </a:bodyPr>
          <a:lstStyle/>
          <a:p>
            <a:pPr algn="ctr"/>
            <a:r>
              <a:rPr sz="850" b="1">
                <a:solidFill>
                  <a:srgbClr val="1B3F8F"/>
                </a:solidFill>
                <a:latin typeface="Segoe UI"/>
              </a:rPr>
              <a:t>14%</a:t>
            </a:r>
          </a:p>
        </p:txBody>
      </p:sp>
      <p:sp>
        <p:nvSpPr>
          <p:cNvPr id="85" name="Rounded Rectangle 84"/>
          <p:cNvSpPr/>
          <p:nvPr/>
        </p:nvSpPr>
        <p:spPr>
          <a:xfrm>
            <a:off x="6620255" y="3504853"/>
            <a:ext cx="502920" cy="1844386"/>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6492240" y="3285397"/>
            <a:ext cx="758952" cy="182880"/>
          </a:xfrm>
          <a:prstGeom prst="rect">
            <a:avLst/>
          </a:prstGeom>
          <a:noFill/>
        </p:spPr>
        <p:txBody>
          <a:bodyPr wrap="square" lIns="0" rIns="0" tIns="0" bIns="0">
            <a:spAutoFit/>
          </a:bodyPr>
          <a:lstStyle/>
          <a:p>
            <a:pPr algn="ctr"/>
            <a:r>
              <a:rPr sz="850" b="1">
                <a:solidFill>
                  <a:srgbClr val="8A97B0"/>
                </a:solidFill>
                <a:latin typeface="Segoe UI"/>
              </a:rPr>
              <a:t>12%</a:t>
            </a:r>
          </a:p>
        </p:txBody>
      </p:sp>
      <p:sp>
        <p:nvSpPr>
          <p:cNvPr id="87" name="TextBox 86"/>
          <p:cNvSpPr txBox="1"/>
          <p:nvPr/>
        </p:nvSpPr>
        <p:spPr>
          <a:xfrm>
            <a:off x="5285231" y="5458968"/>
            <a:ext cx="2002536" cy="201168"/>
          </a:xfrm>
          <a:prstGeom prst="rect">
            <a:avLst/>
          </a:prstGeom>
          <a:noFill/>
        </p:spPr>
        <p:txBody>
          <a:bodyPr wrap="square" lIns="0" rIns="0" tIns="0" bIns="0">
            <a:spAutoFit/>
          </a:bodyPr>
          <a:lstStyle/>
          <a:p>
            <a:pPr algn="ctr"/>
            <a:r>
              <a:rPr sz="1050" b="1">
                <a:solidFill>
                  <a:srgbClr val="5A6478"/>
                </a:solidFill>
                <a:latin typeface="Segoe UI"/>
              </a:rPr>
              <a:t>Q4 '25</a:t>
            </a:r>
          </a:p>
        </p:txBody>
      </p:sp>
      <p:sp>
        <p:nvSpPr>
          <p:cNvPr id="88" name="Rounded Rectangle 87"/>
          <p:cNvSpPr/>
          <p:nvPr/>
        </p:nvSpPr>
        <p:spPr>
          <a:xfrm>
            <a:off x="7452360" y="2103120"/>
            <a:ext cx="502920" cy="3246120"/>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324344" y="1883663"/>
            <a:ext cx="758952" cy="182880"/>
          </a:xfrm>
          <a:prstGeom prst="rect">
            <a:avLst/>
          </a:prstGeom>
          <a:noFill/>
        </p:spPr>
        <p:txBody>
          <a:bodyPr wrap="square" lIns="0" rIns="0" tIns="0" bIns="0">
            <a:spAutoFit/>
          </a:bodyPr>
          <a:lstStyle/>
          <a:p>
            <a:pPr algn="ctr"/>
            <a:r>
              <a:rPr sz="850" b="1">
                <a:solidFill>
                  <a:srgbClr val="0B8BB5"/>
                </a:solidFill>
                <a:latin typeface="Segoe UI"/>
              </a:rPr>
              <a:t>22%</a:t>
            </a:r>
          </a:p>
        </p:txBody>
      </p:sp>
      <p:sp>
        <p:nvSpPr>
          <p:cNvPr id="90" name="Rounded Rectangle 89"/>
          <p:cNvSpPr/>
          <p:nvPr/>
        </p:nvSpPr>
        <p:spPr>
          <a:xfrm>
            <a:off x="8037576" y="3563874"/>
            <a:ext cx="502920" cy="1785365"/>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7909560" y="3344418"/>
            <a:ext cx="758952" cy="182880"/>
          </a:xfrm>
          <a:prstGeom prst="rect">
            <a:avLst/>
          </a:prstGeom>
          <a:noFill/>
        </p:spPr>
        <p:txBody>
          <a:bodyPr wrap="square" lIns="0" rIns="0" tIns="0" bIns="0">
            <a:spAutoFit/>
          </a:bodyPr>
          <a:lstStyle/>
          <a:p>
            <a:pPr algn="ctr"/>
            <a:r>
              <a:rPr sz="850" b="1">
                <a:solidFill>
                  <a:srgbClr val="1B3F8F"/>
                </a:solidFill>
                <a:latin typeface="Segoe UI"/>
              </a:rPr>
              <a:t>12%</a:t>
            </a:r>
          </a:p>
        </p:txBody>
      </p:sp>
      <p:sp>
        <p:nvSpPr>
          <p:cNvPr id="92" name="Rounded Rectangle 91"/>
          <p:cNvSpPr/>
          <p:nvPr/>
        </p:nvSpPr>
        <p:spPr>
          <a:xfrm>
            <a:off x="8622792" y="3091711"/>
            <a:ext cx="502920" cy="2257528"/>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8494776" y="2872255"/>
            <a:ext cx="758952" cy="182880"/>
          </a:xfrm>
          <a:prstGeom prst="rect">
            <a:avLst/>
          </a:prstGeom>
          <a:noFill/>
        </p:spPr>
        <p:txBody>
          <a:bodyPr wrap="square" lIns="0" rIns="0" tIns="0" bIns="0">
            <a:spAutoFit/>
          </a:bodyPr>
          <a:lstStyle/>
          <a:p>
            <a:pPr algn="ctr"/>
            <a:r>
              <a:rPr sz="850" b="1">
                <a:solidFill>
                  <a:srgbClr val="8A97B0"/>
                </a:solidFill>
                <a:latin typeface="Segoe UI"/>
              </a:rPr>
              <a:t>15%</a:t>
            </a:r>
          </a:p>
        </p:txBody>
      </p:sp>
      <p:sp>
        <p:nvSpPr>
          <p:cNvPr id="94" name="TextBox 93"/>
          <p:cNvSpPr txBox="1"/>
          <p:nvPr/>
        </p:nvSpPr>
        <p:spPr>
          <a:xfrm>
            <a:off x="7287768" y="5458968"/>
            <a:ext cx="2002536" cy="201168"/>
          </a:xfrm>
          <a:prstGeom prst="rect">
            <a:avLst/>
          </a:prstGeom>
          <a:noFill/>
        </p:spPr>
        <p:txBody>
          <a:bodyPr wrap="square" lIns="0" rIns="0" tIns="0" bIns="0">
            <a:spAutoFit/>
          </a:bodyPr>
          <a:lstStyle/>
          <a:p>
            <a:pPr algn="ctr"/>
            <a:r>
              <a:rPr sz="1050" b="1">
                <a:solidFill>
                  <a:srgbClr val="5A6478"/>
                </a:solidFill>
                <a:latin typeface="Segoe UI"/>
              </a:rPr>
              <a:t>Q1 '26</a:t>
            </a:r>
          </a:p>
        </p:txBody>
      </p:sp>
      <p:sp>
        <p:nvSpPr>
          <p:cNvPr id="95" name="Rounded Rectangle 94"/>
          <p:cNvSpPr/>
          <p:nvPr/>
        </p:nvSpPr>
        <p:spPr>
          <a:xfrm>
            <a:off x="9454896" y="2088364"/>
            <a:ext cx="502920" cy="3260875"/>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9326880" y="1868908"/>
            <a:ext cx="758952" cy="182880"/>
          </a:xfrm>
          <a:prstGeom prst="rect">
            <a:avLst/>
          </a:prstGeom>
          <a:noFill/>
        </p:spPr>
        <p:txBody>
          <a:bodyPr wrap="square" lIns="0" rIns="0" tIns="0" bIns="0">
            <a:spAutoFit/>
          </a:bodyPr>
          <a:lstStyle/>
          <a:p>
            <a:pPr algn="ctr"/>
            <a:r>
              <a:rPr sz="850" b="1">
                <a:solidFill>
                  <a:srgbClr val="0B8BB5"/>
                </a:solidFill>
                <a:latin typeface="Segoe UI"/>
              </a:rPr>
              <a:t>22%</a:t>
            </a:r>
          </a:p>
        </p:txBody>
      </p:sp>
      <p:sp>
        <p:nvSpPr>
          <p:cNvPr id="97" name="Rounded Rectangle 96"/>
          <p:cNvSpPr/>
          <p:nvPr/>
        </p:nvSpPr>
        <p:spPr>
          <a:xfrm>
            <a:off x="10040112" y="2914650"/>
            <a:ext cx="502920" cy="2434589"/>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9912096" y="2695194"/>
            <a:ext cx="758952" cy="182880"/>
          </a:xfrm>
          <a:prstGeom prst="rect">
            <a:avLst/>
          </a:prstGeom>
          <a:noFill/>
        </p:spPr>
        <p:txBody>
          <a:bodyPr wrap="square" lIns="0" rIns="0" tIns="0" bIns="0">
            <a:spAutoFit/>
          </a:bodyPr>
          <a:lstStyle/>
          <a:p>
            <a:pPr algn="ctr"/>
            <a:r>
              <a:rPr sz="850" b="1">
                <a:solidFill>
                  <a:srgbClr val="1B3F8F"/>
                </a:solidFill>
                <a:latin typeface="Segoe UI"/>
              </a:rPr>
              <a:t>16%</a:t>
            </a:r>
          </a:p>
        </p:txBody>
      </p:sp>
      <p:sp>
        <p:nvSpPr>
          <p:cNvPr id="99" name="Rounded Rectangle 98"/>
          <p:cNvSpPr/>
          <p:nvPr/>
        </p:nvSpPr>
        <p:spPr>
          <a:xfrm>
            <a:off x="10625328" y="3342547"/>
            <a:ext cx="502920" cy="2006692"/>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0497311" y="3123091"/>
            <a:ext cx="758952" cy="182880"/>
          </a:xfrm>
          <a:prstGeom prst="rect">
            <a:avLst/>
          </a:prstGeom>
          <a:noFill/>
        </p:spPr>
        <p:txBody>
          <a:bodyPr wrap="square" lIns="0" rIns="0" tIns="0" bIns="0">
            <a:spAutoFit/>
          </a:bodyPr>
          <a:lstStyle/>
          <a:p>
            <a:pPr algn="ctr"/>
            <a:r>
              <a:rPr sz="850" b="1">
                <a:solidFill>
                  <a:srgbClr val="8A97B0"/>
                </a:solidFill>
                <a:latin typeface="Segoe UI"/>
              </a:rPr>
              <a:t>14%</a:t>
            </a:r>
          </a:p>
        </p:txBody>
      </p:sp>
      <p:sp>
        <p:nvSpPr>
          <p:cNvPr id="101" name="TextBox 100"/>
          <p:cNvSpPr txBox="1"/>
          <p:nvPr/>
        </p:nvSpPr>
        <p:spPr>
          <a:xfrm>
            <a:off x="9290304" y="5458968"/>
            <a:ext cx="2002536" cy="201168"/>
          </a:xfrm>
          <a:prstGeom prst="rect">
            <a:avLst/>
          </a:prstGeom>
          <a:noFill/>
        </p:spPr>
        <p:txBody>
          <a:bodyPr wrap="square" lIns="0" rIns="0" tIns="0" bIns="0">
            <a:spAutoFit/>
          </a:bodyPr>
          <a:lstStyle/>
          <a:p>
            <a:pPr algn="ctr"/>
            <a:r>
              <a:rPr sz="1050" b="1">
                <a:solidFill>
                  <a:srgbClr val="5A6478"/>
                </a:solidFill>
                <a:latin typeface="Segoe UI"/>
              </a:rPr>
              <a:t>Q2 '26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Overage, quarter by quarter: only meters climb</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USAGE BILLED ABOVE COMMITTED FLOORS, EST. SHARE OF LAYER REVENUE BY QUARTER — SKYCATCHER ESTIMATES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State 14% → 24%, work 9% → 16%, apps 0% — quarter after quarter, overage exists only where a meter runs. You cannot bill above a floor that doesn't exist.</a:t>
            </a:r>
            <a:r>
              <a:rPr sz="1200">
                <a:solidFill>
                  <a:srgbClr val="1A2233"/>
                </a:solidFill>
                <a:latin typeface="Calibri"/>
              </a:rPr>
              <a:t/>
            </a:r>
          </a:p>
        </p:txBody>
      </p:sp>
      <p:sp>
        <p:nvSpPr>
          <p:cNvPr id="22" name="TextBox 2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3" name="TextBox 2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57</a:t>
            </a:r>
          </a:p>
        </p:txBody>
      </p:sp>
      <p:sp>
        <p:nvSpPr>
          <p:cNvPr id="24" name="TextBox 2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estimates from on-demand revenue, consumption-vs-capacity timing, and credit disclosures across usage-billed names in each layer; apps have no comparable line. Approximate, ESTIMATED.</a:t>
            </a:r>
          </a:p>
        </p:txBody>
      </p:sp>
      <p:cxnSp>
        <p:nvCxnSpPr>
          <p:cNvPr id="25" name="Connector 24"/>
          <p:cNvCxnSpPr/>
          <p:nvPr/>
        </p:nvCxnSpPr>
        <p:spPr>
          <a:xfrm>
            <a:off x="1097280" y="4700016"/>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75488" y="4608576"/>
            <a:ext cx="530352" cy="182880"/>
          </a:xfrm>
          <a:prstGeom prst="rect">
            <a:avLst/>
          </a:prstGeom>
          <a:noFill/>
        </p:spPr>
        <p:txBody>
          <a:bodyPr wrap="square" lIns="0" rIns="0" tIns="0" bIns="0">
            <a:spAutoFit/>
          </a:bodyPr>
          <a:lstStyle/>
          <a:p>
            <a:pPr algn="r"/>
            <a:r>
              <a:rPr sz="900" b="0">
                <a:solidFill>
                  <a:srgbClr val="8A97B0"/>
                </a:solidFill>
                <a:latin typeface="Segoe UI"/>
              </a:rPr>
              <a:t>5%</a:t>
            </a:r>
          </a:p>
        </p:txBody>
      </p:sp>
      <p:cxnSp>
        <p:nvCxnSpPr>
          <p:cNvPr id="27" name="Connector 26"/>
          <p:cNvCxnSpPr/>
          <p:nvPr/>
        </p:nvCxnSpPr>
        <p:spPr>
          <a:xfrm>
            <a:off x="1097280" y="4050791"/>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75488" y="3959352"/>
            <a:ext cx="530352" cy="182880"/>
          </a:xfrm>
          <a:prstGeom prst="rect">
            <a:avLst/>
          </a:prstGeom>
          <a:noFill/>
        </p:spPr>
        <p:txBody>
          <a:bodyPr wrap="square" lIns="0" rIns="0" tIns="0" bIns="0">
            <a:spAutoFit/>
          </a:bodyPr>
          <a:lstStyle/>
          <a:p>
            <a:pPr algn="r"/>
            <a:r>
              <a:rPr sz="900" b="0">
                <a:solidFill>
                  <a:srgbClr val="8A97B0"/>
                </a:solidFill>
                <a:latin typeface="Segoe UI"/>
              </a:rPr>
              <a:t>10%</a:t>
            </a:r>
          </a:p>
        </p:txBody>
      </p:sp>
      <p:cxnSp>
        <p:nvCxnSpPr>
          <p:cNvPr id="29" name="Connector 28"/>
          <p:cNvCxnSpPr/>
          <p:nvPr/>
        </p:nvCxnSpPr>
        <p:spPr>
          <a:xfrm>
            <a:off x="1097280" y="3401568"/>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75488" y="3310127"/>
            <a:ext cx="530352" cy="182880"/>
          </a:xfrm>
          <a:prstGeom prst="rect">
            <a:avLst/>
          </a:prstGeom>
          <a:noFill/>
        </p:spPr>
        <p:txBody>
          <a:bodyPr wrap="square" lIns="0" rIns="0" tIns="0" bIns="0">
            <a:spAutoFit/>
          </a:bodyPr>
          <a:lstStyle/>
          <a:p>
            <a:pPr algn="r"/>
            <a:r>
              <a:rPr sz="900" b="0">
                <a:solidFill>
                  <a:srgbClr val="8A97B0"/>
                </a:solidFill>
                <a:latin typeface="Segoe UI"/>
              </a:rPr>
              <a:t>15%</a:t>
            </a:r>
          </a:p>
        </p:txBody>
      </p:sp>
      <p:cxnSp>
        <p:nvCxnSpPr>
          <p:cNvPr id="31" name="Connector 30"/>
          <p:cNvCxnSpPr/>
          <p:nvPr/>
        </p:nvCxnSpPr>
        <p:spPr>
          <a:xfrm>
            <a:off x="1097280" y="2752344"/>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75488" y="2660903"/>
            <a:ext cx="530352" cy="182880"/>
          </a:xfrm>
          <a:prstGeom prst="rect">
            <a:avLst/>
          </a:prstGeom>
          <a:noFill/>
        </p:spPr>
        <p:txBody>
          <a:bodyPr wrap="square" lIns="0" rIns="0" tIns="0" bIns="0">
            <a:spAutoFit/>
          </a:bodyPr>
          <a:lstStyle/>
          <a:p>
            <a:pPr algn="r"/>
            <a:r>
              <a:rPr sz="900" b="0">
                <a:solidFill>
                  <a:srgbClr val="8A97B0"/>
                </a:solidFill>
                <a:latin typeface="Segoe UI"/>
              </a:rPr>
              <a:t>20%</a:t>
            </a:r>
          </a:p>
        </p:txBody>
      </p:sp>
      <p:cxnSp>
        <p:nvCxnSpPr>
          <p:cNvPr id="33" name="Connector 32"/>
          <p:cNvCxnSpPr/>
          <p:nvPr/>
        </p:nvCxnSpPr>
        <p:spPr>
          <a:xfrm>
            <a:off x="1097280" y="2103120"/>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75488" y="2011679"/>
            <a:ext cx="530352" cy="182880"/>
          </a:xfrm>
          <a:prstGeom prst="rect">
            <a:avLst/>
          </a:prstGeom>
          <a:noFill/>
        </p:spPr>
        <p:txBody>
          <a:bodyPr wrap="square" lIns="0" rIns="0" tIns="0" bIns="0">
            <a:spAutoFit/>
          </a:bodyPr>
          <a:lstStyle/>
          <a:p>
            <a:pPr algn="r"/>
            <a:r>
              <a:rPr sz="900" b="0">
                <a:solidFill>
                  <a:srgbClr val="8A97B0"/>
                </a:solidFill>
                <a:latin typeface="Segoe UI"/>
              </a:rPr>
              <a:t>25%</a:t>
            </a:r>
          </a:p>
        </p:txBody>
      </p:sp>
      <p:sp>
        <p:nvSpPr>
          <p:cNvPr id="35" name="Oval 34"/>
          <p:cNvSpPr/>
          <p:nvPr/>
        </p:nvSpPr>
        <p:spPr>
          <a:xfrm>
            <a:off x="1234440" y="1536192"/>
            <a:ext cx="137160" cy="137160"/>
          </a:xfrm>
          <a:prstGeom prst="ellipse">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35608" y="1499616"/>
            <a:ext cx="2377440" cy="201168"/>
          </a:xfrm>
          <a:prstGeom prst="rect">
            <a:avLst/>
          </a:prstGeom>
          <a:noFill/>
        </p:spPr>
        <p:txBody>
          <a:bodyPr wrap="square" lIns="0" rIns="0" tIns="0" bIns="0">
            <a:spAutoFit/>
          </a:bodyPr>
          <a:lstStyle/>
          <a:p>
            <a:pPr algn="l"/>
            <a:r>
              <a:rPr sz="1000" b="1">
                <a:solidFill>
                  <a:srgbClr val="5A6478"/>
                </a:solidFill>
                <a:latin typeface="Segoe UI"/>
              </a:rPr>
              <a:t>L2 · State  14→24%</a:t>
            </a:r>
          </a:p>
        </p:txBody>
      </p:sp>
      <p:sp>
        <p:nvSpPr>
          <p:cNvPr id="37" name="Oval 36"/>
          <p:cNvSpPr/>
          <p:nvPr/>
        </p:nvSpPr>
        <p:spPr>
          <a:xfrm>
            <a:off x="4160520" y="1536192"/>
            <a:ext cx="137160" cy="137160"/>
          </a:xfrm>
          <a:prstGeom prst="ellipse">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361688" y="1499616"/>
            <a:ext cx="2377440" cy="201168"/>
          </a:xfrm>
          <a:prstGeom prst="rect">
            <a:avLst/>
          </a:prstGeom>
          <a:noFill/>
        </p:spPr>
        <p:txBody>
          <a:bodyPr wrap="square" lIns="0" rIns="0" tIns="0" bIns="0">
            <a:spAutoFit/>
          </a:bodyPr>
          <a:lstStyle/>
          <a:p>
            <a:pPr algn="l"/>
            <a:r>
              <a:rPr sz="1000" b="1">
                <a:solidFill>
                  <a:srgbClr val="5A6478"/>
                </a:solidFill>
                <a:latin typeface="Segoe UI"/>
              </a:rPr>
              <a:t>L3 · Work  9→16%</a:t>
            </a:r>
          </a:p>
        </p:txBody>
      </p:sp>
      <p:sp>
        <p:nvSpPr>
          <p:cNvPr id="39" name="Oval 38"/>
          <p:cNvSpPr/>
          <p:nvPr/>
        </p:nvSpPr>
        <p:spPr>
          <a:xfrm>
            <a:off x="6995160" y="1536192"/>
            <a:ext cx="137160" cy="137160"/>
          </a:xfrm>
          <a:prstGeom prst="ellipse">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96328" y="1499616"/>
            <a:ext cx="2377440" cy="201168"/>
          </a:xfrm>
          <a:prstGeom prst="rect">
            <a:avLst/>
          </a:prstGeom>
          <a:noFill/>
        </p:spPr>
        <p:txBody>
          <a:bodyPr wrap="square" lIns="0" rIns="0" tIns="0" bIns="0">
            <a:spAutoFit/>
          </a:bodyPr>
          <a:lstStyle/>
          <a:p>
            <a:pPr algn="l"/>
            <a:r>
              <a:rPr sz="1000" b="1">
                <a:solidFill>
                  <a:srgbClr val="5A6478"/>
                </a:solidFill>
                <a:latin typeface="Segoe UI"/>
              </a:rPr>
              <a:t>L4 · Apps — seat-priced, 0%</a:t>
            </a:r>
          </a:p>
        </p:txBody>
      </p:sp>
      <p:sp>
        <p:nvSpPr>
          <p:cNvPr id="41" name="Rounded Rectangle 40"/>
          <p:cNvSpPr/>
          <p:nvPr/>
        </p:nvSpPr>
        <p:spPr>
          <a:xfrm>
            <a:off x="1408176" y="3531412"/>
            <a:ext cx="438912" cy="1817827"/>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280160" y="3311956"/>
            <a:ext cx="694944" cy="182880"/>
          </a:xfrm>
          <a:prstGeom prst="rect">
            <a:avLst/>
          </a:prstGeom>
          <a:noFill/>
        </p:spPr>
        <p:txBody>
          <a:bodyPr wrap="square" lIns="0" rIns="0" tIns="0" bIns="0">
            <a:spAutoFit/>
          </a:bodyPr>
          <a:lstStyle/>
          <a:p>
            <a:pPr algn="ctr"/>
            <a:r>
              <a:rPr sz="850" b="1">
                <a:solidFill>
                  <a:srgbClr val="0B8BB5"/>
                </a:solidFill>
                <a:latin typeface="Segoe UI"/>
              </a:rPr>
              <a:t>14%</a:t>
            </a:r>
          </a:p>
        </p:txBody>
      </p:sp>
      <p:sp>
        <p:nvSpPr>
          <p:cNvPr id="43" name="Rounded Rectangle 42"/>
          <p:cNvSpPr/>
          <p:nvPr/>
        </p:nvSpPr>
        <p:spPr>
          <a:xfrm>
            <a:off x="1929384" y="4180636"/>
            <a:ext cx="438912" cy="1168603"/>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01367" y="3961180"/>
            <a:ext cx="694944" cy="182880"/>
          </a:xfrm>
          <a:prstGeom prst="rect">
            <a:avLst/>
          </a:prstGeom>
          <a:noFill/>
        </p:spPr>
        <p:txBody>
          <a:bodyPr wrap="square" lIns="0" rIns="0" tIns="0" bIns="0">
            <a:spAutoFit/>
          </a:bodyPr>
          <a:lstStyle/>
          <a:p>
            <a:pPr algn="ctr"/>
            <a:r>
              <a:rPr sz="850" b="1">
                <a:solidFill>
                  <a:srgbClr val="1B3F8F"/>
                </a:solidFill>
                <a:latin typeface="Segoe UI"/>
              </a:rPr>
              <a:t>9%</a:t>
            </a:r>
          </a:p>
        </p:txBody>
      </p:sp>
      <p:sp>
        <p:nvSpPr>
          <p:cNvPr id="45" name="Rounded Rectangle 44"/>
          <p:cNvSpPr/>
          <p:nvPr/>
        </p:nvSpPr>
        <p:spPr>
          <a:xfrm>
            <a:off x="2450591" y="5303520"/>
            <a:ext cx="438912" cy="45720"/>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322575" y="5084064"/>
            <a:ext cx="694944" cy="182880"/>
          </a:xfrm>
          <a:prstGeom prst="rect">
            <a:avLst/>
          </a:prstGeom>
          <a:noFill/>
        </p:spPr>
        <p:txBody>
          <a:bodyPr wrap="square" lIns="0" rIns="0" tIns="0" bIns="0">
            <a:spAutoFit/>
          </a:bodyPr>
          <a:lstStyle/>
          <a:p>
            <a:pPr algn="ctr"/>
            <a:r>
              <a:rPr sz="850" b="1">
                <a:solidFill>
                  <a:srgbClr val="8A97B0"/>
                </a:solidFill>
                <a:latin typeface="Segoe UI"/>
              </a:rPr>
              <a:t>0%</a:t>
            </a:r>
          </a:p>
        </p:txBody>
      </p:sp>
      <p:sp>
        <p:nvSpPr>
          <p:cNvPr id="47" name="TextBox 46"/>
          <p:cNvSpPr txBox="1"/>
          <p:nvPr/>
        </p:nvSpPr>
        <p:spPr>
          <a:xfrm>
            <a:off x="1280160" y="5458968"/>
            <a:ext cx="1668780" cy="201168"/>
          </a:xfrm>
          <a:prstGeom prst="rect">
            <a:avLst/>
          </a:prstGeom>
          <a:noFill/>
        </p:spPr>
        <p:txBody>
          <a:bodyPr wrap="square" lIns="0" rIns="0" tIns="0" bIns="0">
            <a:spAutoFit/>
          </a:bodyPr>
          <a:lstStyle/>
          <a:p>
            <a:pPr algn="ctr"/>
            <a:r>
              <a:rPr sz="1050" b="1">
                <a:solidFill>
                  <a:srgbClr val="5A6478"/>
                </a:solidFill>
                <a:latin typeface="Segoe UI"/>
              </a:rPr>
              <a:t>Q1 '25</a:t>
            </a:r>
          </a:p>
        </p:txBody>
      </p:sp>
      <p:sp>
        <p:nvSpPr>
          <p:cNvPr id="48" name="Rounded Rectangle 47"/>
          <p:cNvSpPr/>
          <p:nvPr/>
        </p:nvSpPr>
        <p:spPr>
          <a:xfrm>
            <a:off x="3076956" y="3271723"/>
            <a:ext cx="438912" cy="2077516"/>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948939" y="3052267"/>
            <a:ext cx="694944" cy="182880"/>
          </a:xfrm>
          <a:prstGeom prst="rect">
            <a:avLst/>
          </a:prstGeom>
          <a:noFill/>
        </p:spPr>
        <p:txBody>
          <a:bodyPr wrap="square" lIns="0" rIns="0" tIns="0" bIns="0">
            <a:spAutoFit/>
          </a:bodyPr>
          <a:lstStyle/>
          <a:p>
            <a:pPr algn="ctr"/>
            <a:r>
              <a:rPr sz="850" b="1">
                <a:solidFill>
                  <a:srgbClr val="0B8BB5"/>
                </a:solidFill>
                <a:latin typeface="Segoe UI"/>
              </a:rPr>
              <a:t>16%</a:t>
            </a:r>
          </a:p>
        </p:txBody>
      </p:sp>
      <p:sp>
        <p:nvSpPr>
          <p:cNvPr id="50" name="Rounded Rectangle 49"/>
          <p:cNvSpPr/>
          <p:nvPr/>
        </p:nvSpPr>
        <p:spPr>
          <a:xfrm>
            <a:off x="3598163" y="4050791"/>
            <a:ext cx="438912" cy="1298448"/>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470147" y="3831335"/>
            <a:ext cx="694944" cy="182880"/>
          </a:xfrm>
          <a:prstGeom prst="rect">
            <a:avLst/>
          </a:prstGeom>
          <a:noFill/>
        </p:spPr>
        <p:txBody>
          <a:bodyPr wrap="square" lIns="0" rIns="0" tIns="0" bIns="0">
            <a:spAutoFit/>
          </a:bodyPr>
          <a:lstStyle/>
          <a:p>
            <a:pPr algn="ctr"/>
            <a:r>
              <a:rPr sz="850" b="1">
                <a:solidFill>
                  <a:srgbClr val="1B3F8F"/>
                </a:solidFill>
                <a:latin typeface="Segoe UI"/>
              </a:rPr>
              <a:t>10%</a:t>
            </a:r>
          </a:p>
        </p:txBody>
      </p:sp>
      <p:sp>
        <p:nvSpPr>
          <p:cNvPr id="52" name="Rounded Rectangle 51"/>
          <p:cNvSpPr/>
          <p:nvPr/>
        </p:nvSpPr>
        <p:spPr>
          <a:xfrm>
            <a:off x="4119372" y="5303520"/>
            <a:ext cx="438912" cy="45720"/>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991356" y="5084064"/>
            <a:ext cx="694944" cy="182880"/>
          </a:xfrm>
          <a:prstGeom prst="rect">
            <a:avLst/>
          </a:prstGeom>
          <a:noFill/>
        </p:spPr>
        <p:txBody>
          <a:bodyPr wrap="square" lIns="0" rIns="0" tIns="0" bIns="0">
            <a:spAutoFit/>
          </a:bodyPr>
          <a:lstStyle/>
          <a:p>
            <a:pPr algn="ctr"/>
            <a:r>
              <a:rPr sz="850" b="1">
                <a:solidFill>
                  <a:srgbClr val="8A97B0"/>
                </a:solidFill>
                <a:latin typeface="Segoe UI"/>
              </a:rPr>
              <a:t>0%</a:t>
            </a:r>
          </a:p>
        </p:txBody>
      </p:sp>
      <p:sp>
        <p:nvSpPr>
          <p:cNvPr id="54" name="TextBox 53"/>
          <p:cNvSpPr txBox="1"/>
          <p:nvPr/>
        </p:nvSpPr>
        <p:spPr>
          <a:xfrm>
            <a:off x="2948939" y="5458968"/>
            <a:ext cx="1668780" cy="201168"/>
          </a:xfrm>
          <a:prstGeom prst="rect">
            <a:avLst/>
          </a:prstGeom>
          <a:noFill/>
        </p:spPr>
        <p:txBody>
          <a:bodyPr wrap="square" lIns="0" rIns="0" tIns="0" bIns="0">
            <a:spAutoFit/>
          </a:bodyPr>
          <a:lstStyle/>
          <a:p>
            <a:pPr algn="ctr"/>
            <a:r>
              <a:rPr sz="1050" b="1">
                <a:solidFill>
                  <a:srgbClr val="5A6478"/>
                </a:solidFill>
                <a:latin typeface="Segoe UI"/>
              </a:rPr>
              <a:t>Q2 '25</a:t>
            </a:r>
          </a:p>
        </p:txBody>
      </p:sp>
      <p:sp>
        <p:nvSpPr>
          <p:cNvPr id="55" name="Rounded Rectangle 54"/>
          <p:cNvSpPr/>
          <p:nvPr/>
        </p:nvSpPr>
        <p:spPr>
          <a:xfrm>
            <a:off x="4745736" y="3012033"/>
            <a:ext cx="438912" cy="2337206"/>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17720" y="2792577"/>
            <a:ext cx="694944" cy="182880"/>
          </a:xfrm>
          <a:prstGeom prst="rect">
            <a:avLst/>
          </a:prstGeom>
          <a:noFill/>
        </p:spPr>
        <p:txBody>
          <a:bodyPr wrap="square" lIns="0" rIns="0" tIns="0" bIns="0">
            <a:spAutoFit/>
          </a:bodyPr>
          <a:lstStyle/>
          <a:p>
            <a:pPr algn="ctr"/>
            <a:r>
              <a:rPr sz="850" b="1">
                <a:solidFill>
                  <a:srgbClr val="0B8BB5"/>
                </a:solidFill>
                <a:latin typeface="Segoe UI"/>
              </a:rPr>
              <a:t>18%</a:t>
            </a:r>
          </a:p>
        </p:txBody>
      </p:sp>
      <p:sp>
        <p:nvSpPr>
          <p:cNvPr id="57" name="Rounded Rectangle 56"/>
          <p:cNvSpPr/>
          <p:nvPr/>
        </p:nvSpPr>
        <p:spPr>
          <a:xfrm>
            <a:off x="5266944" y="3856024"/>
            <a:ext cx="438912" cy="1493215"/>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138928" y="3636568"/>
            <a:ext cx="694944" cy="182880"/>
          </a:xfrm>
          <a:prstGeom prst="rect">
            <a:avLst/>
          </a:prstGeom>
          <a:noFill/>
        </p:spPr>
        <p:txBody>
          <a:bodyPr wrap="square" lIns="0" rIns="0" tIns="0" bIns="0">
            <a:spAutoFit/>
          </a:bodyPr>
          <a:lstStyle/>
          <a:p>
            <a:pPr algn="ctr"/>
            <a:r>
              <a:rPr sz="850" b="1">
                <a:solidFill>
                  <a:srgbClr val="1B3F8F"/>
                </a:solidFill>
                <a:latin typeface="Segoe UI"/>
              </a:rPr>
              <a:t>11.5%</a:t>
            </a:r>
          </a:p>
        </p:txBody>
      </p:sp>
      <p:sp>
        <p:nvSpPr>
          <p:cNvPr id="59" name="Rounded Rectangle 58"/>
          <p:cNvSpPr/>
          <p:nvPr/>
        </p:nvSpPr>
        <p:spPr>
          <a:xfrm>
            <a:off x="5788151" y="5303520"/>
            <a:ext cx="438912" cy="45720"/>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660136" y="5084064"/>
            <a:ext cx="694944" cy="182880"/>
          </a:xfrm>
          <a:prstGeom prst="rect">
            <a:avLst/>
          </a:prstGeom>
          <a:noFill/>
        </p:spPr>
        <p:txBody>
          <a:bodyPr wrap="square" lIns="0" rIns="0" tIns="0" bIns="0">
            <a:spAutoFit/>
          </a:bodyPr>
          <a:lstStyle/>
          <a:p>
            <a:pPr algn="ctr"/>
            <a:r>
              <a:rPr sz="850" b="1">
                <a:solidFill>
                  <a:srgbClr val="8A97B0"/>
                </a:solidFill>
                <a:latin typeface="Segoe UI"/>
              </a:rPr>
              <a:t>0%</a:t>
            </a:r>
          </a:p>
        </p:txBody>
      </p:sp>
      <p:sp>
        <p:nvSpPr>
          <p:cNvPr id="61" name="TextBox 60"/>
          <p:cNvSpPr txBox="1"/>
          <p:nvPr/>
        </p:nvSpPr>
        <p:spPr>
          <a:xfrm>
            <a:off x="4617720" y="5458968"/>
            <a:ext cx="1668780" cy="201168"/>
          </a:xfrm>
          <a:prstGeom prst="rect">
            <a:avLst/>
          </a:prstGeom>
          <a:noFill/>
        </p:spPr>
        <p:txBody>
          <a:bodyPr wrap="square" lIns="0" rIns="0" tIns="0" bIns="0">
            <a:spAutoFit/>
          </a:bodyPr>
          <a:lstStyle/>
          <a:p>
            <a:pPr algn="ctr"/>
            <a:r>
              <a:rPr sz="1050" b="1">
                <a:solidFill>
                  <a:srgbClr val="5A6478"/>
                </a:solidFill>
                <a:latin typeface="Segoe UI"/>
              </a:rPr>
              <a:t>Q3 '25</a:t>
            </a:r>
          </a:p>
        </p:txBody>
      </p:sp>
      <p:sp>
        <p:nvSpPr>
          <p:cNvPr id="62" name="Rounded Rectangle 61"/>
          <p:cNvSpPr/>
          <p:nvPr/>
        </p:nvSpPr>
        <p:spPr>
          <a:xfrm>
            <a:off x="6414516" y="2752344"/>
            <a:ext cx="438912" cy="2596896"/>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86500" y="2532887"/>
            <a:ext cx="694944" cy="182880"/>
          </a:xfrm>
          <a:prstGeom prst="rect">
            <a:avLst/>
          </a:prstGeom>
          <a:noFill/>
        </p:spPr>
        <p:txBody>
          <a:bodyPr wrap="square" lIns="0" rIns="0" tIns="0" bIns="0">
            <a:spAutoFit/>
          </a:bodyPr>
          <a:lstStyle/>
          <a:p>
            <a:pPr algn="ctr"/>
            <a:r>
              <a:rPr sz="850" b="1">
                <a:solidFill>
                  <a:srgbClr val="0B8BB5"/>
                </a:solidFill>
                <a:latin typeface="Segoe UI"/>
              </a:rPr>
              <a:t>20%</a:t>
            </a:r>
          </a:p>
        </p:txBody>
      </p:sp>
      <p:sp>
        <p:nvSpPr>
          <p:cNvPr id="64" name="Rounded Rectangle 63"/>
          <p:cNvSpPr/>
          <p:nvPr/>
        </p:nvSpPr>
        <p:spPr>
          <a:xfrm>
            <a:off x="6935723" y="3661257"/>
            <a:ext cx="438912" cy="1687982"/>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07707" y="3441801"/>
            <a:ext cx="694944" cy="182880"/>
          </a:xfrm>
          <a:prstGeom prst="rect">
            <a:avLst/>
          </a:prstGeom>
          <a:noFill/>
        </p:spPr>
        <p:txBody>
          <a:bodyPr wrap="square" lIns="0" rIns="0" tIns="0" bIns="0">
            <a:spAutoFit/>
          </a:bodyPr>
          <a:lstStyle/>
          <a:p>
            <a:pPr algn="ctr"/>
            <a:r>
              <a:rPr sz="850" b="1">
                <a:solidFill>
                  <a:srgbClr val="1B3F8F"/>
                </a:solidFill>
                <a:latin typeface="Segoe UI"/>
              </a:rPr>
              <a:t>13%</a:t>
            </a:r>
          </a:p>
        </p:txBody>
      </p:sp>
      <p:sp>
        <p:nvSpPr>
          <p:cNvPr id="66" name="Rounded Rectangle 65"/>
          <p:cNvSpPr/>
          <p:nvPr/>
        </p:nvSpPr>
        <p:spPr>
          <a:xfrm>
            <a:off x="7456931" y="5303520"/>
            <a:ext cx="438912" cy="45720"/>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328915" y="5084064"/>
            <a:ext cx="694944" cy="182880"/>
          </a:xfrm>
          <a:prstGeom prst="rect">
            <a:avLst/>
          </a:prstGeom>
          <a:noFill/>
        </p:spPr>
        <p:txBody>
          <a:bodyPr wrap="square" lIns="0" rIns="0" tIns="0" bIns="0">
            <a:spAutoFit/>
          </a:bodyPr>
          <a:lstStyle/>
          <a:p>
            <a:pPr algn="ctr"/>
            <a:r>
              <a:rPr sz="850" b="1">
                <a:solidFill>
                  <a:srgbClr val="8A97B0"/>
                </a:solidFill>
                <a:latin typeface="Segoe UI"/>
              </a:rPr>
              <a:t>0%</a:t>
            </a:r>
          </a:p>
        </p:txBody>
      </p:sp>
      <p:sp>
        <p:nvSpPr>
          <p:cNvPr id="68" name="TextBox 67"/>
          <p:cNvSpPr txBox="1"/>
          <p:nvPr/>
        </p:nvSpPr>
        <p:spPr>
          <a:xfrm>
            <a:off x="6286500" y="5458968"/>
            <a:ext cx="1668780" cy="201168"/>
          </a:xfrm>
          <a:prstGeom prst="rect">
            <a:avLst/>
          </a:prstGeom>
          <a:noFill/>
        </p:spPr>
        <p:txBody>
          <a:bodyPr wrap="square" lIns="0" rIns="0" tIns="0" bIns="0">
            <a:spAutoFit/>
          </a:bodyPr>
          <a:lstStyle/>
          <a:p>
            <a:pPr algn="ctr"/>
            <a:r>
              <a:rPr sz="1050" b="1">
                <a:solidFill>
                  <a:srgbClr val="5A6478"/>
                </a:solidFill>
                <a:latin typeface="Segoe UI"/>
              </a:rPr>
              <a:t>Q4 '25</a:t>
            </a:r>
          </a:p>
        </p:txBody>
      </p:sp>
      <p:sp>
        <p:nvSpPr>
          <p:cNvPr id="69" name="Rounded Rectangle 68"/>
          <p:cNvSpPr/>
          <p:nvPr/>
        </p:nvSpPr>
        <p:spPr>
          <a:xfrm>
            <a:off x="8083296" y="2492654"/>
            <a:ext cx="438912" cy="2856585"/>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955279" y="2273198"/>
            <a:ext cx="694944" cy="182880"/>
          </a:xfrm>
          <a:prstGeom prst="rect">
            <a:avLst/>
          </a:prstGeom>
          <a:noFill/>
        </p:spPr>
        <p:txBody>
          <a:bodyPr wrap="square" lIns="0" rIns="0" tIns="0" bIns="0">
            <a:spAutoFit/>
          </a:bodyPr>
          <a:lstStyle/>
          <a:p>
            <a:pPr algn="ctr"/>
            <a:r>
              <a:rPr sz="850" b="1">
                <a:solidFill>
                  <a:srgbClr val="0B8BB5"/>
                </a:solidFill>
                <a:latin typeface="Segoe UI"/>
              </a:rPr>
              <a:t>22%</a:t>
            </a:r>
          </a:p>
        </p:txBody>
      </p:sp>
      <p:sp>
        <p:nvSpPr>
          <p:cNvPr id="71" name="Rounded Rectangle 70"/>
          <p:cNvSpPr/>
          <p:nvPr/>
        </p:nvSpPr>
        <p:spPr>
          <a:xfrm>
            <a:off x="8604504" y="3466490"/>
            <a:ext cx="438912" cy="1882749"/>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476488" y="3247034"/>
            <a:ext cx="694944" cy="182880"/>
          </a:xfrm>
          <a:prstGeom prst="rect">
            <a:avLst/>
          </a:prstGeom>
          <a:noFill/>
        </p:spPr>
        <p:txBody>
          <a:bodyPr wrap="square" lIns="0" rIns="0" tIns="0" bIns="0">
            <a:spAutoFit/>
          </a:bodyPr>
          <a:lstStyle/>
          <a:p>
            <a:pPr algn="ctr"/>
            <a:r>
              <a:rPr sz="850" b="1">
                <a:solidFill>
                  <a:srgbClr val="1B3F8F"/>
                </a:solidFill>
                <a:latin typeface="Segoe UI"/>
              </a:rPr>
              <a:t>14.5%</a:t>
            </a:r>
          </a:p>
        </p:txBody>
      </p:sp>
      <p:sp>
        <p:nvSpPr>
          <p:cNvPr id="73" name="Rounded Rectangle 72"/>
          <p:cNvSpPr/>
          <p:nvPr/>
        </p:nvSpPr>
        <p:spPr>
          <a:xfrm>
            <a:off x="9125712" y="5303520"/>
            <a:ext cx="438912" cy="45720"/>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997696" y="5084064"/>
            <a:ext cx="694944" cy="182880"/>
          </a:xfrm>
          <a:prstGeom prst="rect">
            <a:avLst/>
          </a:prstGeom>
          <a:noFill/>
        </p:spPr>
        <p:txBody>
          <a:bodyPr wrap="square" lIns="0" rIns="0" tIns="0" bIns="0">
            <a:spAutoFit/>
          </a:bodyPr>
          <a:lstStyle/>
          <a:p>
            <a:pPr algn="ctr"/>
            <a:r>
              <a:rPr sz="850" b="1">
                <a:solidFill>
                  <a:srgbClr val="8A97B0"/>
                </a:solidFill>
                <a:latin typeface="Segoe UI"/>
              </a:rPr>
              <a:t>0%</a:t>
            </a:r>
          </a:p>
        </p:txBody>
      </p:sp>
      <p:sp>
        <p:nvSpPr>
          <p:cNvPr id="75" name="TextBox 74"/>
          <p:cNvSpPr txBox="1"/>
          <p:nvPr/>
        </p:nvSpPr>
        <p:spPr>
          <a:xfrm>
            <a:off x="7955279" y="5458968"/>
            <a:ext cx="1668780" cy="201168"/>
          </a:xfrm>
          <a:prstGeom prst="rect">
            <a:avLst/>
          </a:prstGeom>
          <a:noFill/>
        </p:spPr>
        <p:txBody>
          <a:bodyPr wrap="square" lIns="0" rIns="0" tIns="0" bIns="0">
            <a:spAutoFit/>
          </a:bodyPr>
          <a:lstStyle/>
          <a:p>
            <a:pPr algn="ctr"/>
            <a:r>
              <a:rPr sz="1050" b="1">
                <a:solidFill>
                  <a:srgbClr val="5A6478"/>
                </a:solidFill>
                <a:latin typeface="Segoe UI"/>
              </a:rPr>
              <a:t>Q1 '26</a:t>
            </a:r>
          </a:p>
        </p:txBody>
      </p:sp>
      <p:sp>
        <p:nvSpPr>
          <p:cNvPr id="76" name="Rounded Rectangle 75"/>
          <p:cNvSpPr/>
          <p:nvPr/>
        </p:nvSpPr>
        <p:spPr>
          <a:xfrm>
            <a:off x="9752076" y="2232964"/>
            <a:ext cx="438912" cy="3116275"/>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624060" y="2013508"/>
            <a:ext cx="694944" cy="182880"/>
          </a:xfrm>
          <a:prstGeom prst="rect">
            <a:avLst/>
          </a:prstGeom>
          <a:noFill/>
        </p:spPr>
        <p:txBody>
          <a:bodyPr wrap="square" lIns="0" rIns="0" tIns="0" bIns="0">
            <a:spAutoFit/>
          </a:bodyPr>
          <a:lstStyle/>
          <a:p>
            <a:pPr algn="ctr"/>
            <a:r>
              <a:rPr sz="850" b="1">
                <a:solidFill>
                  <a:srgbClr val="0B8BB5"/>
                </a:solidFill>
                <a:latin typeface="Segoe UI"/>
              </a:rPr>
              <a:t>24%</a:t>
            </a:r>
          </a:p>
        </p:txBody>
      </p:sp>
      <p:sp>
        <p:nvSpPr>
          <p:cNvPr id="78" name="Rounded Rectangle 77"/>
          <p:cNvSpPr/>
          <p:nvPr/>
        </p:nvSpPr>
        <p:spPr>
          <a:xfrm>
            <a:off x="10273284" y="3271723"/>
            <a:ext cx="438912" cy="2077516"/>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10145268" y="3052267"/>
            <a:ext cx="694944" cy="182880"/>
          </a:xfrm>
          <a:prstGeom prst="rect">
            <a:avLst/>
          </a:prstGeom>
          <a:noFill/>
        </p:spPr>
        <p:txBody>
          <a:bodyPr wrap="square" lIns="0" rIns="0" tIns="0" bIns="0">
            <a:spAutoFit/>
          </a:bodyPr>
          <a:lstStyle/>
          <a:p>
            <a:pPr algn="ctr"/>
            <a:r>
              <a:rPr sz="850" b="1">
                <a:solidFill>
                  <a:srgbClr val="1B3F8F"/>
                </a:solidFill>
                <a:latin typeface="Segoe UI"/>
              </a:rPr>
              <a:t>16%</a:t>
            </a:r>
          </a:p>
        </p:txBody>
      </p:sp>
      <p:sp>
        <p:nvSpPr>
          <p:cNvPr id="80" name="Rounded Rectangle 79"/>
          <p:cNvSpPr/>
          <p:nvPr/>
        </p:nvSpPr>
        <p:spPr>
          <a:xfrm>
            <a:off x="10794492" y="5303520"/>
            <a:ext cx="438912" cy="45720"/>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666476" y="5084064"/>
            <a:ext cx="694944" cy="182880"/>
          </a:xfrm>
          <a:prstGeom prst="rect">
            <a:avLst/>
          </a:prstGeom>
          <a:noFill/>
        </p:spPr>
        <p:txBody>
          <a:bodyPr wrap="square" lIns="0" rIns="0" tIns="0" bIns="0">
            <a:spAutoFit/>
          </a:bodyPr>
          <a:lstStyle/>
          <a:p>
            <a:pPr algn="ctr"/>
            <a:r>
              <a:rPr sz="850" b="1">
                <a:solidFill>
                  <a:srgbClr val="8A97B0"/>
                </a:solidFill>
                <a:latin typeface="Segoe UI"/>
              </a:rPr>
              <a:t>0%</a:t>
            </a:r>
          </a:p>
        </p:txBody>
      </p:sp>
      <p:sp>
        <p:nvSpPr>
          <p:cNvPr id="82" name="TextBox 81"/>
          <p:cNvSpPr txBox="1"/>
          <p:nvPr/>
        </p:nvSpPr>
        <p:spPr>
          <a:xfrm>
            <a:off x="9624060" y="5458968"/>
            <a:ext cx="1668780" cy="201168"/>
          </a:xfrm>
          <a:prstGeom prst="rect">
            <a:avLst/>
          </a:prstGeom>
          <a:noFill/>
        </p:spPr>
        <p:txBody>
          <a:bodyPr wrap="square" lIns="0" rIns="0" tIns="0" bIns="0">
            <a:spAutoFit/>
          </a:bodyPr>
          <a:lstStyle/>
          <a:p>
            <a:pPr algn="ctr"/>
            <a:r>
              <a:rPr sz="1050" b="1">
                <a:solidFill>
                  <a:srgbClr val="5A6478"/>
                </a:solidFill>
                <a:latin typeface="Segoe UI"/>
              </a:rPr>
              <a:t>Q2 '26</a:t>
            </a:r>
          </a:p>
        </p:txBody>
      </p:sp>
    </p:spTree>
    <p:extLst>
      <p:ext uri="{BB962C8B-B14F-4D97-AF65-F5344CB8AC3E}">
        <p14:creationId xmlns:p14="http://schemas.microsoft.com/office/powerpoint/2010/main" val="3582429060"/>
      </p:ext>
    </p:extLst>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Revenue growth, quarter by quarter: turning up at the meters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REVENUE GROWTH, MEDIAN Y/Y BY LAYER, LAST SIX QUARTERS — MEASURED FROM FILINGS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70" name="Rounded Rectangle 69"/>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State holds ~18–20%, work grinds toward ~23%, apps fade toward 16% — growth is turning up exactly where usage is billed.</a:t>
            </a:r>
            <a:r>
              <a:rPr sz="1200">
                <a:solidFill>
                  <a:srgbClr val="1A2233"/>
                </a:solidFill>
                <a:latin typeface="Calibri"/>
              </a:rPr>
              <a:t/>
            </a:r>
          </a:p>
        </p:txBody>
      </p:sp>
      <p:sp>
        <p:nvSpPr>
          <p:cNvPr id="71" name="TextBox 7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72" name="TextBox 71"/>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58</a:t>
            </a:r>
          </a:p>
        </p:txBody>
      </p:sp>
      <p:sp>
        <p:nvSpPr>
          <p:cNvPr id="73" name="TextBox 7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Company filings via FMP, median y/y revenue growth by layer; latest quarter = filings to Jun 2026.</a:t>
            </a:r>
          </a:p>
        </p:txBody>
      </p:sp>
      <p:cxnSp>
        <p:nvCxnSpPr>
          <p:cNvPr id="74" name="Connector 73"/>
          <p:cNvCxnSpPr/>
          <p:nvPr/>
        </p:nvCxnSpPr>
        <p:spPr>
          <a:xfrm>
            <a:off x="1097280" y="4700016"/>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475488" y="4608576"/>
            <a:ext cx="530352" cy="182880"/>
          </a:xfrm>
          <a:prstGeom prst="rect">
            <a:avLst/>
          </a:prstGeom>
          <a:noFill/>
        </p:spPr>
        <p:txBody>
          <a:bodyPr wrap="square" lIns="0" rIns="0" tIns="0" bIns="0">
            <a:spAutoFit/>
          </a:bodyPr>
          <a:lstStyle/>
          <a:p>
            <a:pPr algn="r"/>
            <a:r>
              <a:rPr sz="900" b="0">
                <a:solidFill>
                  <a:srgbClr val="8A97B0"/>
                </a:solidFill>
                <a:latin typeface="Segoe UI"/>
              </a:rPr>
              <a:t>5%</a:t>
            </a:r>
          </a:p>
        </p:txBody>
      </p:sp>
      <p:cxnSp>
        <p:nvCxnSpPr>
          <p:cNvPr id="76" name="Connector 75"/>
          <p:cNvCxnSpPr/>
          <p:nvPr/>
        </p:nvCxnSpPr>
        <p:spPr>
          <a:xfrm>
            <a:off x="1097280" y="4050791"/>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77" name="TextBox 76"/>
          <p:cNvSpPr txBox="1"/>
          <p:nvPr/>
        </p:nvSpPr>
        <p:spPr>
          <a:xfrm>
            <a:off x="475488" y="3959352"/>
            <a:ext cx="530352" cy="182880"/>
          </a:xfrm>
          <a:prstGeom prst="rect">
            <a:avLst/>
          </a:prstGeom>
          <a:noFill/>
        </p:spPr>
        <p:txBody>
          <a:bodyPr wrap="square" lIns="0" rIns="0" tIns="0" bIns="0">
            <a:spAutoFit/>
          </a:bodyPr>
          <a:lstStyle/>
          <a:p>
            <a:pPr algn="r"/>
            <a:r>
              <a:rPr sz="900" b="0">
                <a:solidFill>
                  <a:srgbClr val="8A97B0"/>
                </a:solidFill>
                <a:latin typeface="Segoe UI"/>
              </a:rPr>
              <a:t>10%</a:t>
            </a:r>
          </a:p>
        </p:txBody>
      </p:sp>
      <p:cxnSp>
        <p:nvCxnSpPr>
          <p:cNvPr id="78" name="Connector 77"/>
          <p:cNvCxnSpPr/>
          <p:nvPr/>
        </p:nvCxnSpPr>
        <p:spPr>
          <a:xfrm>
            <a:off x="1097280" y="3401568"/>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475488" y="3310127"/>
            <a:ext cx="530352" cy="182880"/>
          </a:xfrm>
          <a:prstGeom prst="rect">
            <a:avLst/>
          </a:prstGeom>
          <a:noFill/>
        </p:spPr>
        <p:txBody>
          <a:bodyPr wrap="square" lIns="0" rIns="0" tIns="0" bIns="0">
            <a:spAutoFit/>
          </a:bodyPr>
          <a:lstStyle/>
          <a:p>
            <a:pPr algn="r"/>
            <a:r>
              <a:rPr sz="900" b="0">
                <a:solidFill>
                  <a:srgbClr val="8A97B0"/>
                </a:solidFill>
                <a:latin typeface="Segoe UI"/>
              </a:rPr>
              <a:t>15%</a:t>
            </a:r>
          </a:p>
        </p:txBody>
      </p:sp>
      <p:cxnSp>
        <p:nvCxnSpPr>
          <p:cNvPr id="80" name="Connector 79"/>
          <p:cNvCxnSpPr/>
          <p:nvPr/>
        </p:nvCxnSpPr>
        <p:spPr>
          <a:xfrm>
            <a:off x="1097280" y="2752344"/>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475488" y="2660903"/>
            <a:ext cx="530352" cy="182880"/>
          </a:xfrm>
          <a:prstGeom prst="rect">
            <a:avLst/>
          </a:prstGeom>
          <a:noFill/>
        </p:spPr>
        <p:txBody>
          <a:bodyPr wrap="square" lIns="0" rIns="0" tIns="0" bIns="0">
            <a:spAutoFit/>
          </a:bodyPr>
          <a:lstStyle/>
          <a:p>
            <a:pPr algn="r"/>
            <a:r>
              <a:rPr sz="900" b="0">
                <a:solidFill>
                  <a:srgbClr val="8A97B0"/>
                </a:solidFill>
                <a:latin typeface="Segoe UI"/>
              </a:rPr>
              <a:t>20%</a:t>
            </a:r>
          </a:p>
        </p:txBody>
      </p:sp>
      <p:cxnSp>
        <p:nvCxnSpPr>
          <p:cNvPr id="82" name="Connector 81"/>
          <p:cNvCxnSpPr/>
          <p:nvPr/>
        </p:nvCxnSpPr>
        <p:spPr>
          <a:xfrm>
            <a:off x="1097280" y="2103120"/>
            <a:ext cx="1024128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475488" y="2011679"/>
            <a:ext cx="530352" cy="182880"/>
          </a:xfrm>
          <a:prstGeom prst="rect">
            <a:avLst/>
          </a:prstGeom>
          <a:noFill/>
        </p:spPr>
        <p:txBody>
          <a:bodyPr wrap="square" lIns="0" rIns="0" tIns="0" bIns="0">
            <a:spAutoFit/>
          </a:bodyPr>
          <a:lstStyle/>
          <a:p>
            <a:pPr algn="r"/>
            <a:r>
              <a:rPr sz="900" b="0">
                <a:solidFill>
                  <a:srgbClr val="8A97B0"/>
                </a:solidFill>
                <a:latin typeface="Segoe UI"/>
              </a:rPr>
              <a:t>25%</a:t>
            </a:r>
          </a:p>
        </p:txBody>
      </p:sp>
      <p:sp>
        <p:nvSpPr>
          <p:cNvPr id="84" name="Oval 83"/>
          <p:cNvSpPr/>
          <p:nvPr/>
        </p:nvSpPr>
        <p:spPr>
          <a:xfrm>
            <a:off x="1234440" y="1536192"/>
            <a:ext cx="137160" cy="137160"/>
          </a:xfrm>
          <a:prstGeom prst="ellipse">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435608" y="1499616"/>
            <a:ext cx="2377440" cy="201168"/>
          </a:xfrm>
          <a:prstGeom prst="rect">
            <a:avLst/>
          </a:prstGeom>
          <a:noFill/>
        </p:spPr>
        <p:txBody>
          <a:bodyPr wrap="square" lIns="0" rIns="0" tIns="0" bIns="0">
            <a:spAutoFit/>
          </a:bodyPr>
          <a:lstStyle/>
          <a:p>
            <a:pPr algn="l"/>
            <a:r>
              <a:rPr sz="1000" b="1">
                <a:solidFill>
                  <a:srgbClr val="5A6478"/>
                </a:solidFill>
                <a:latin typeface="Segoe UI"/>
              </a:rPr>
              <a:t>L2 · State  16→18%</a:t>
            </a:r>
          </a:p>
        </p:txBody>
      </p:sp>
      <p:sp>
        <p:nvSpPr>
          <p:cNvPr id="86" name="Oval 85"/>
          <p:cNvSpPr/>
          <p:nvPr/>
        </p:nvSpPr>
        <p:spPr>
          <a:xfrm>
            <a:off x="4160520" y="1536192"/>
            <a:ext cx="137160" cy="137160"/>
          </a:xfrm>
          <a:prstGeom prst="ellipse">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4361688" y="1499616"/>
            <a:ext cx="2377440" cy="201168"/>
          </a:xfrm>
          <a:prstGeom prst="rect">
            <a:avLst/>
          </a:prstGeom>
          <a:noFill/>
        </p:spPr>
        <p:txBody>
          <a:bodyPr wrap="square" lIns="0" rIns="0" tIns="0" bIns="0">
            <a:spAutoFit/>
          </a:bodyPr>
          <a:lstStyle/>
          <a:p>
            <a:pPr algn="l"/>
            <a:r>
              <a:rPr sz="1000" b="1">
                <a:solidFill>
                  <a:srgbClr val="5A6478"/>
                </a:solidFill>
                <a:latin typeface="Segoe UI"/>
              </a:rPr>
              <a:t>L3 · Work  20→23%</a:t>
            </a:r>
          </a:p>
        </p:txBody>
      </p:sp>
      <p:sp>
        <p:nvSpPr>
          <p:cNvPr id="88" name="Oval 87"/>
          <p:cNvSpPr/>
          <p:nvPr/>
        </p:nvSpPr>
        <p:spPr>
          <a:xfrm>
            <a:off x="6995160" y="1536192"/>
            <a:ext cx="137160" cy="137160"/>
          </a:xfrm>
          <a:prstGeom prst="ellipse">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196328" y="1499616"/>
            <a:ext cx="2377440" cy="201168"/>
          </a:xfrm>
          <a:prstGeom prst="rect">
            <a:avLst/>
          </a:prstGeom>
          <a:noFill/>
        </p:spPr>
        <p:txBody>
          <a:bodyPr wrap="square" lIns="0" rIns="0" tIns="0" bIns="0">
            <a:spAutoFit/>
          </a:bodyPr>
          <a:lstStyle/>
          <a:p>
            <a:pPr algn="l"/>
            <a:r>
              <a:rPr sz="1000" b="1">
                <a:solidFill>
                  <a:srgbClr val="5A6478"/>
                </a:solidFill>
                <a:latin typeface="Segoe UI"/>
              </a:rPr>
              <a:t>L4 · Apps  18→16%</a:t>
            </a:r>
          </a:p>
        </p:txBody>
      </p:sp>
      <p:sp>
        <p:nvSpPr>
          <p:cNvPr id="90" name="Rounded Rectangle 89"/>
          <p:cNvSpPr/>
          <p:nvPr/>
        </p:nvSpPr>
        <p:spPr>
          <a:xfrm>
            <a:off x="1408176" y="3245754"/>
            <a:ext cx="438912" cy="2103485"/>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280160" y="3026298"/>
            <a:ext cx="694944" cy="182880"/>
          </a:xfrm>
          <a:prstGeom prst="rect">
            <a:avLst/>
          </a:prstGeom>
          <a:noFill/>
        </p:spPr>
        <p:txBody>
          <a:bodyPr wrap="square" lIns="0" rIns="0" tIns="0" bIns="0">
            <a:spAutoFit/>
          </a:bodyPr>
          <a:lstStyle/>
          <a:p>
            <a:pPr algn="ctr"/>
            <a:r>
              <a:rPr sz="850" b="1">
                <a:solidFill>
                  <a:srgbClr val="0B8BB5"/>
                </a:solidFill>
                <a:latin typeface="Segoe UI"/>
              </a:rPr>
              <a:t>16%</a:t>
            </a:r>
          </a:p>
        </p:txBody>
      </p:sp>
      <p:sp>
        <p:nvSpPr>
          <p:cNvPr id="92" name="Rounded Rectangle 91"/>
          <p:cNvSpPr/>
          <p:nvPr/>
        </p:nvSpPr>
        <p:spPr>
          <a:xfrm>
            <a:off x="1929384" y="2830250"/>
            <a:ext cx="438912" cy="2518989"/>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1801367" y="2610794"/>
            <a:ext cx="694944" cy="182880"/>
          </a:xfrm>
          <a:prstGeom prst="rect">
            <a:avLst/>
          </a:prstGeom>
          <a:noFill/>
        </p:spPr>
        <p:txBody>
          <a:bodyPr wrap="square" lIns="0" rIns="0" tIns="0" bIns="0">
            <a:spAutoFit/>
          </a:bodyPr>
          <a:lstStyle/>
          <a:p>
            <a:pPr algn="ctr"/>
            <a:r>
              <a:rPr sz="850" b="1">
                <a:solidFill>
                  <a:srgbClr val="1B3F8F"/>
                </a:solidFill>
                <a:latin typeface="Segoe UI"/>
              </a:rPr>
              <a:t>20%</a:t>
            </a:r>
          </a:p>
        </p:txBody>
      </p:sp>
      <p:sp>
        <p:nvSpPr>
          <p:cNvPr id="94" name="Rounded Rectangle 93"/>
          <p:cNvSpPr/>
          <p:nvPr/>
        </p:nvSpPr>
        <p:spPr>
          <a:xfrm>
            <a:off x="2450591" y="3063971"/>
            <a:ext cx="438912" cy="2285268"/>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322575" y="2844515"/>
            <a:ext cx="694944" cy="182880"/>
          </a:xfrm>
          <a:prstGeom prst="rect">
            <a:avLst/>
          </a:prstGeom>
          <a:noFill/>
        </p:spPr>
        <p:txBody>
          <a:bodyPr wrap="square" lIns="0" rIns="0" tIns="0" bIns="0">
            <a:spAutoFit/>
          </a:bodyPr>
          <a:lstStyle/>
          <a:p>
            <a:pPr algn="ctr"/>
            <a:r>
              <a:rPr sz="850" b="1">
                <a:solidFill>
                  <a:srgbClr val="8A97B0"/>
                </a:solidFill>
                <a:latin typeface="Segoe UI"/>
              </a:rPr>
              <a:t>18%</a:t>
            </a:r>
          </a:p>
        </p:txBody>
      </p:sp>
      <p:sp>
        <p:nvSpPr>
          <p:cNvPr id="96" name="TextBox 95"/>
          <p:cNvSpPr txBox="1"/>
          <p:nvPr/>
        </p:nvSpPr>
        <p:spPr>
          <a:xfrm>
            <a:off x="1280160" y="5458968"/>
            <a:ext cx="1668780" cy="201168"/>
          </a:xfrm>
          <a:prstGeom prst="rect">
            <a:avLst/>
          </a:prstGeom>
          <a:noFill/>
        </p:spPr>
        <p:txBody>
          <a:bodyPr wrap="square" lIns="0" rIns="0" tIns="0" bIns="0">
            <a:spAutoFit/>
          </a:bodyPr>
          <a:lstStyle/>
          <a:p>
            <a:pPr algn="ctr"/>
            <a:r>
              <a:rPr sz="1050" b="1">
                <a:solidFill>
                  <a:srgbClr val="5A6478"/>
                </a:solidFill>
                <a:latin typeface="Segoe UI"/>
              </a:rPr>
              <a:t>Q1 '25</a:t>
            </a:r>
          </a:p>
        </p:txBody>
      </p:sp>
      <p:sp>
        <p:nvSpPr>
          <p:cNvPr id="97" name="Rounded Rectangle 96"/>
          <p:cNvSpPr/>
          <p:nvPr/>
        </p:nvSpPr>
        <p:spPr>
          <a:xfrm>
            <a:off x="3076956" y="2895173"/>
            <a:ext cx="438912" cy="2454066"/>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2948939" y="2675717"/>
            <a:ext cx="694944" cy="182880"/>
          </a:xfrm>
          <a:prstGeom prst="rect">
            <a:avLst/>
          </a:prstGeom>
          <a:noFill/>
        </p:spPr>
        <p:txBody>
          <a:bodyPr wrap="square" lIns="0" rIns="0" tIns="0" bIns="0">
            <a:spAutoFit/>
          </a:bodyPr>
          <a:lstStyle/>
          <a:p>
            <a:pPr algn="ctr"/>
            <a:r>
              <a:rPr sz="850" b="1">
                <a:solidFill>
                  <a:srgbClr val="0B8BB5"/>
                </a:solidFill>
                <a:latin typeface="Segoe UI"/>
              </a:rPr>
              <a:t>19%</a:t>
            </a:r>
          </a:p>
        </p:txBody>
      </p:sp>
      <p:sp>
        <p:nvSpPr>
          <p:cNvPr id="99" name="Rounded Rectangle 98"/>
          <p:cNvSpPr/>
          <p:nvPr/>
        </p:nvSpPr>
        <p:spPr>
          <a:xfrm>
            <a:off x="3598163" y="2765328"/>
            <a:ext cx="438912" cy="2583911"/>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3470147" y="2545872"/>
            <a:ext cx="694944" cy="182880"/>
          </a:xfrm>
          <a:prstGeom prst="rect">
            <a:avLst/>
          </a:prstGeom>
          <a:noFill/>
        </p:spPr>
        <p:txBody>
          <a:bodyPr wrap="square" lIns="0" rIns="0" tIns="0" bIns="0">
            <a:spAutoFit/>
          </a:bodyPr>
          <a:lstStyle/>
          <a:p>
            <a:pPr algn="ctr"/>
            <a:r>
              <a:rPr sz="850" b="1">
                <a:solidFill>
                  <a:srgbClr val="1B3F8F"/>
                </a:solidFill>
                <a:latin typeface="Segoe UI"/>
              </a:rPr>
              <a:t>20%</a:t>
            </a:r>
          </a:p>
        </p:txBody>
      </p:sp>
      <p:sp>
        <p:nvSpPr>
          <p:cNvPr id="101" name="Rounded Rectangle 100"/>
          <p:cNvSpPr/>
          <p:nvPr/>
        </p:nvSpPr>
        <p:spPr>
          <a:xfrm>
            <a:off x="4119372" y="3128893"/>
            <a:ext cx="438912" cy="2220346"/>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3991356" y="2909437"/>
            <a:ext cx="694944" cy="182880"/>
          </a:xfrm>
          <a:prstGeom prst="rect">
            <a:avLst/>
          </a:prstGeom>
          <a:noFill/>
        </p:spPr>
        <p:txBody>
          <a:bodyPr wrap="square" lIns="0" rIns="0" tIns="0" bIns="0">
            <a:spAutoFit/>
          </a:bodyPr>
          <a:lstStyle/>
          <a:p>
            <a:pPr algn="ctr"/>
            <a:r>
              <a:rPr sz="850" b="1">
                <a:solidFill>
                  <a:srgbClr val="8A97B0"/>
                </a:solidFill>
                <a:latin typeface="Segoe UI"/>
              </a:rPr>
              <a:t>17%</a:t>
            </a:r>
          </a:p>
        </p:txBody>
      </p:sp>
      <p:sp>
        <p:nvSpPr>
          <p:cNvPr id="103" name="TextBox 102"/>
          <p:cNvSpPr txBox="1"/>
          <p:nvPr/>
        </p:nvSpPr>
        <p:spPr>
          <a:xfrm>
            <a:off x="2948939" y="5458968"/>
            <a:ext cx="1668780" cy="201168"/>
          </a:xfrm>
          <a:prstGeom prst="rect">
            <a:avLst/>
          </a:prstGeom>
          <a:noFill/>
        </p:spPr>
        <p:txBody>
          <a:bodyPr wrap="square" lIns="0" rIns="0" tIns="0" bIns="0">
            <a:spAutoFit/>
          </a:bodyPr>
          <a:lstStyle/>
          <a:p>
            <a:pPr algn="ctr"/>
            <a:r>
              <a:rPr sz="1050" b="1">
                <a:solidFill>
                  <a:srgbClr val="5A6478"/>
                </a:solidFill>
                <a:latin typeface="Segoe UI"/>
              </a:rPr>
              <a:t>Q2 '25</a:t>
            </a:r>
          </a:p>
        </p:txBody>
      </p:sp>
      <p:sp>
        <p:nvSpPr>
          <p:cNvPr id="104" name="Rounded Rectangle 103"/>
          <p:cNvSpPr/>
          <p:nvPr/>
        </p:nvSpPr>
        <p:spPr>
          <a:xfrm>
            <a:off x="4745736" y="2830250"/>
            <a:ext cx="438912" cy="2518989"/>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617720" y="2610794"/>
            <a:ext cx="694944" cy="182880"/>
          </a:xfrm>
          <a:prstGeom prst="rect">
            <a:avLst/>
          </a:prstGeom>
          <a:noFill/>
        </p:spPr>
        <p:txBody>
          <a:bodyPr wrap="square" lIns="0" rIns="0" tIns="0" bIns="0">
            <a:spAutoFit/>
          </a:bodyPr>
          <a:lstStyle/>
          <a:p>
            <a:pPr algn="ctr"/>
            <a:r>
              <a:rPr sz="850" b="1">
                <a:solidFill>
                  <a:srgbClr val="0B8BB5"/>
                </a:solidFill>
                <a:latin typeface="Segoe UI"/>
              </a:rPr>
              <a:t>19%</a:t>
            </a:r>
          </a:p>
        </p:txBody>
      </p:sp>
      <p:sp>
        <p:nvSpPr>
          <p:cNvPr id="106" name="Rounded Rectangle 105"/>
          <p:cNvSpPr/>
          <p:nvPr/>
        </p:nvSpPr>
        <p:spPr>
          <a:xfrm>
            <a:off x="5266944" y="2583545"/>
            <a:ext cx="438912" cy="2765694"/>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138928" y="2364089"/>
            <a:ext cx="694944" cy="182880"/>
          </a:xfrm>
          <a:prstGeom prst="rect">
            <a:avLst/>
          </a:prstGeom>
          <a:noFill/>
        </p:spPr>
        <p:txBody>
          <a:bodyPr wrap="square" lIns="0" rIns="0" tIns="0" bIns="0">
            <a:spAutoFit/>
          </a:bodyPr>
          <a:lstStyle/>
          <a:p>
            <a:pPr algn="ctr"/>
            <a:r>
              <a:rPr sz="850" b="1">
                <a:solidFill>
                  <a:srgbClr val="1B3F8F"/>
                </a:solidFill>
                <a:latin typeface="Segoe UI"/>
              </a:rPr>
              <a:t>21%</a:t>
            </a:r>
          </a:p>
        </p:txBody>
      </p:sp>
      <p:sp>
        <p:nvSpPr>
          <p:cNvPr id="108" name="Rounded Rectangle 107"/>
          <p:cNvSpPr/>
          <p:nvPr/>
        </p:nvSpPr>
        <p:spPr>
          <a:xfrm>
            <a:off x="5788151" y="3297692"/>
            <a:ext cx="438912" cy="2051547"/>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660136" y="3078236"/>
            <a:ext cx="694944" cy="182880"/>
          </a:xfrm>
          <a:prstGeom prst="rect">
            <a:avLst/>
          </a:prstGeom>
          <a:noFill/>
        </p:spPr>
        <p:txBody>
          <a:bodyPr wrap="square" lIns="0" rIns="0" tIns="0" bIns="0">
            <a:spAutoFit/>
          </a:bodyPr>
          <a:lstStyle/>
          <a:p>
            <a:pPr algn="ctr"/>
            <a:r>
              <a:rPr sz="850" b="1">
                <a:solidFill>
                  <a:srgbClr val="8A97B0"/>
                </a:solidFill>
                <a:latin typeface="Segoe UI"/>
              </a:rPr>
              <a:t>16%</a:t>
            </a:r>
          </a:p>
        </p:txBody>
      </p:sp>
      <p:sp>
        <p:nvSpPr>
          <p:cNvPr id="110" name="TextBox 109"/>
          <p:cNvSpPr txBox="1"/>
          <p:nvPr/>
        </p:nvSpPr>
        <p:spPr>
          <a:xfrm>
            <a:off x="4617720" y="5458968"/>
            <a:ext cx="1668780" cy="201168"/>
          </a:xfrm>
          <a:prstGeom prst="rect">
            <a:avLst/>
          </a:prstGeom>
          <a:noFill/>
        </p:spPr>
        <p:txBody>
          <a:bodyPr wrap="square" lIns="0" rIns="0" tIns="0" bIns="0">
            <a:spAutoFit/>
          </a:bodyPr>
          <a:lstStyle/>
          <a:p>
            <a:pPr algn="ctr"/>
            <a:r>
              <a:rPr sz="1050" b="1">
                <a:solidFill>
                  <a:srgbClr val="5A6478"/>
                </a:solidFill>
                <a:latin typeface="Segoe UI"/>
              </a:rPr>
              <a:t>Q3 '25</a:t>
            </a:r>
          </a:p>
        </p:txBody>
      </p:sp>
      <p:sp>
        <p:nvSpPr>
          <p:cNvPr id="111" name="Rounded Rectangle 110"/>
          <p:cNvSpPr/>
          <p:nvPr/>
        </p:nvSpPr>
        <p:spPr>
          <a:xfrm>
            <a:off x="6414516" y="3167847"/>
            <a:ext cx="438912" cy="2181392"/>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286500" y="2948391"/>
            <a:ext cx="694944" cy="182880"/>
          </a:xfrm>
          <a:prstGeom prst="rect">
            <a:avLst/>
          </a:prstGeom>
          <a:noFill/>
        </p:spPr>
        <p:txBody>
          <a:bodyPr wrap="square" lIns="0" rIns="0" tIns="0" bIns="0">
            <a:spAutoFit/>
          </a:bodyPr>
          <a:lstStyle/>
          <a:p>
            <a:pPr algn="ctr"/>
            <a:r>
              <a:rPr sz="850" b="1">
                <a:solidFill>
                  <a:srgbClr val="0B8BB5"/>
                </a:solidFill>
                <a:latin typeface="Segoe UI"/>
              </a:rPr>
              <a:t>17%</a:t>
            </a:r>
          </a:p>
        </p:txBody>
      </p:sp>
      <p:sp>
        <p:nvSpPr>
          <p:cNvPr id="113" name="Rounded Rectangle 112"/>
          <p:cNvSpPr/>
          <p:nvPr/>
        </p:nvSpPr>
        <p:spPr>
          <a:xfrm>
            <a:off x="6935724" y="2726375"/>
            <a:ext cx="438912" cy="2622864"/>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6807708" y="2506919"/>
            <a:ext cx="694944" cy="182880"/>
          </a:xfrm>
          <a:prstGeom prst="rect">
            <a:avLst/>
          </a:prstGeom>
          <a:noFill/>
        </p:spPr>
        <p:txBody>
          <a:bodyPr wrap="square" lIns="0" rIns="0" tIns="0" bIns="0">
            <a:spAutoFit/>
          </a:bodyPr>
          <a:lstStyle/>
          <a:p>
            <a:pPr algn="ctr"/>
            <a:r>
              <a:rPr sz="850" b="1">
                <a:solidFill>
                  <a:srgbClr val="1B3F8F"/>
                </a:solidFill>
                <a:latin typeface="Segoe UI"/>
              </a:rPr>
              <a:t>21%</a:t>
            </a:r>
          </a:p>
        </p:txBody>
      </p:sp>
      <p:sp>
        <p:nvSpPr>
          <p:cNvPr id="115" name="Rounded Rectangle 114"/>
          <p:cNvSpPr/>
          <p:nvPr/>
        </p:nvSpPr>
        <p:spPr>
          <a:xfrm>
            <a:off x="7456931" y="3271723"/>
            <a:ext cx="438912" cy="2077516"/>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7328915" y="3052267"/>
            <a:ext cx="694944" cy="182880"/>
          </a:xfrm>
          <a:prstGeom prst="rect">
            <a:avLst/>
          </a:prstGeom>
          <a:noFill/>
        </p:spPr>
        <p:txBody>
          <a:bodyPr wrap="square" lIns="0" rIns="0" tIns="0" bIns="0">
            <a:spAutoFit/>
          </a:bodyPr>
          <a:lstStyle/>
          <a:p>
            <a:pPr algn="ctr"/>
            <a:r>
              <a:rPr sz="850" b="1">
                <a:solidFill>
                  <a:srgbClr val="8A97B0"/>
                </a:solidFill>
                <a:latin typeface="Segoe UI"/>
              </a:rPr>
              <a:t>16%</a:t>
            </a:r>
          </a:p>
        </p:txBody>
      </p:sp>
      <p:sp>
        <p:nvSpPr>
          <p:cNvPr id="117" name="TextBox 116"/>
          <p:cNvSpPr txBox="1"/>
          <p:nvPr/>
        </p:nvSpPr>
        <p:spPr>
          <a:xfrm>
            <a:off x="6286500" y="5458968"/>
            <a:ext cx="1668780" cy="201168"/>
          </a:xfrm>
          <a:prstGeom prst="rect">
            <a:avLst/>
          </a:prstGeom>
          <a:noFill/>
        </p:spPr>
        <p:txBody>
          <a:bodyPr wrap="square" lIns="0" rIns="0" tIns="0" bIns="0">
            <a:spAutoFit/>
          </a:bodyPr>
          <a:lstStyle/>
          <a:p>
            <a:pPr algn="ctr"/>
            <a:r>
              <a:rPr sz="1050" b="1">
                <a:solidFill>
                  <a:srgbClr val="5A6478"/>
                </a:solidFill>
                <a:latin typeface="Segoe UI"/>
              </a:rPr>
              <a:t>Q4 '25</a:t>
            </a:r>
          </a:p>
        </p:txBody>
      </p:sp>
      <p:sp>
        <p:nvSpPr>
          <p:cNvPr id="118" name="Rounded Rectangle 117"/>
          <p:cNvSpPr/>
          <p:nvPr/>
        </p:nvSpPr>
        <p:spPr>
          <a:xfrm>
            <a:off x="8083296" y="2713390"/>
            <a:ext cx="438912" cy="2635849"/>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7955279" y="2493934"/>
            <a:ext cx="694944" cy="182880"/>
          </a:xfrm>
          <a:prstGeom prst="rect">
            <a:avLst/>
          </a:prstGeom>
          <a:noFill/>
        </p:spPr>
        <p:txBody>
          <a:bodyPr wrap="square" lIns="0" rIns="0" tIns="0" bIns="0">
            <a:spAutoFit/>
          </a:bodyPr>
          <a:lstStyle/>
          <a:p>
            <a:pPr algn="ctr"/>
            <a:r>
              <a:rPr sz="850" b="1">
                <a:solidFill>
                  <a:srgbClr val="0B8BB5"/>
                </a:solidFill>
                <a:latin typeface="Segoe UI"/>
              </a:rPr>
              <a:t>20%</a:t>
            </a:r>
          </a:p>
        </p:txBody>
      </p:sp>
      <p:sp>
        <p:nvSpPr>
          <p:cNvPr id="120" name="Rounded Rectangle 119"/>
          <p:cNvSpPr/>
          <p:nvPr/>
        </p:nvSpPr>
        <p:spPr>
          <a:xfrm>
            <a:off x="8604504" y="2557576"/>
            <a:ext cx="438912" cy="2791663"/>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476488" y="2338120"/>
            <a:ext cx="694944" cy="182880"/>
          </a:xfrm>
          <a:prstGeom prst="rect">
            <a:avLst/>
          </a:prstGeom>
          <a:noFill/>
        </p:spPr>
        <p:txBody>
          <a:bodyPr wrap="square" lIns="0" rIns="0" tIns="0" bIns="0">
            <a:spAutoFit/>
          </a:bodyPr>
          <a:lstStyle/>
          <a:p>
            <a:pPr algn="ctr"/>
            <a:r>
              <a:rPr sz="850" b="1">
                <a:solidFill>
                  <a:srgbClr val="1B3F8F"/>
                </a:solidFill>
                <a:latin typeface="Segoe UI"/>
              </a:rPr>
              <a:t>23%</a:t>
            </a:r>
          </a:p>
        </p:txBody>
      </p:sp>
      <p:sp>
        <p:nvSpPr>
          <p:cNvPr id="122" name="Rounded Rectangle 121"/>
          <p:cNvSpPr/>
          <p:nvPr/>
        </p:nvSpPr>
        <p:spPr>
          <a:xfrm>
            <a:off x="9125712" y="3388583"/>
            <a:ext cx="438912" cy="1960656"/>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8997696" y="3169127"/>
            <a:ext cx="694944" cy="182880"/>
          </a:xfrm>
          <a:prstGeom prst="rect">
            <a:avLst/>
          </a:prstGeom>
          <a:noFill/>
        </p:spPr>
        <p:txBody>
          <a:bodyPr wrap="square" lIns="0" rIns="0" tIns="0" bIns="0">
            <a:spAutoFit/>
          </a:bodyPr>
          <a:lstStyle/>
          <a:p>
            <a:pPr algn="ctr"/>
            <a:r>
              <a:rPr sz="850" b="1">
                <a:solidFill>
                  <a:srgbClr val="8A97B0"/>
                </a:solidFill>
                <a:latin typeface="Segoe UI"/>
              </a:rPr>
              <a:t>15%</a:t>
            </a:r>
          </a:p>
        </p:txBody>
      </p:sp>
      <p:sp>
        <p:nvSpPr>
          <p:cNvPr id="124" name="TextBox 123"/>
          <p:cNvSpPr txBox="1"/>
          <p:nvPr/>
        </p:nvSpPr>
        <p:spPr>
          <a:xfrm>
            <a:off x="7955279" y="5458968"/>
            <a:ext cx="1668780" cy="201168"/>
          </a:xfrm>
          <a:prstGeom prst="rect">
            <a:avLst/>
          </a:prstGeom>
          <a:noFill/>
        </p:spPr>
        <p:txBody>
          <a:bodyPr wrap="square" lIns="0" rIns="0" tIns="0" bIns="0">
            <a:spAutoFit/>
          </a:bodyPr>
          <a:lstStyle/>
          <a:p>
            <a:pPr algn="ctr"/>
            <a:r>
              <a:rPr sz="1050" b="1">
                <a:solidFill>
                  <a:srgbClr val="5A6478"/>
                </a:solidFill>
                <a:latin typeface="Segoe UI"/>
              </a:rPr>
              <a:t>Q1 '26</a:t>
            </a:r>
          </a:p>
        </p:txBody>
      </p:sp>
      <p:sp>
        <p:nvSpPr>
          <p:cNvPr id="125" name="Rounded Rectangle 124"/>
          <p:cNvSpPr/>
          <p:nvPr/>
        </p:nvSpPr>
        <p:spPr>
          <a:xfrm>
            <a:off x="9752076" y="2973080"/>
            <a:ext cx="438912" cy="2376159"/>
          </a:xfrm>
          <a:prstGeom prst="roundRect">
            <a:avLst>
              <a:gd name="adj" fmla="val 12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extBox 125"/>
          <p:cNvSpPr txBox="1"/>
          <p:nvPr/>
        </p:nvSpPr>
        <p:spPr>
          <a:xfrm>
            <a:off x="9624060" y="2753624"/>
            <a:ext cx="694944" cy="182880"/>
          </a:xfrm>
          <a:prstGeom prst="rect">
            <a:avLst/>
          </a:prstGeom>
          <a:noFill/>
        </p:spPr>
        <p:txBody>
          <a:bodyPr wrap="square" lIns="0" rIns="0" tIns="0" bIns="0">
            <a:spAutoFit/>
          </a:bodyPr>
          <a:lstStyle/>
          <a:p>
            <a:pPr algn="ctr"/>
            <a:r>
              <a:rPr sz="850" b="1">
                <a:solidFill>
                  <a:srgbClr val="0B8BB5"/>
                </a:solidFill>
                <a:latin typeface="Segoe UI"/>
              </a:rPr>
              <a:t>18%</a:t>
            </a:r>
          </a:p>
        </p:txBody>
      </p:sp>
      <p:sp>
        <p:nvSpPr>
          <p:cNvPr id="127" name="Rounded Rectangle 126"/>
          <p:cNvSpPr/>
          <p:nvPr/>
        </p:nvSpPr>
        <p:spPr>
          <a:xfrm>
            <a:off x="10273284" y="2453700"/>
            <a:ext cx="438912" cy="2895539"/>
          </a:xfrm>
          <a:prstGeom prst="roundRect">
            <a:avLst>
              <a:gd name="adj" fmla="val 12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extBox 127"/>
          <p:cNvSpPr txBox="1"/>
          <p:nvPr/>
        </p:nvSpPr>
        <p:spPr>
          <a:xfrm>
            <a:off x="10145268" y="2234244"/>
            <a:ext cx="694944" cy="182880"/>
          </a:xfrm>
          <a:prstGeom prst="rect">
            <a:avLst/>
          </a:prstGeom>
          <a:noFill/>
        </p:spPr>
        <p:txBody>
          <a:bodyPr wrap="square" lIns="0" rIns="0" tIns="0" bIns="0">
            <a:spAutoFit/>
          </a:bodyPr>
          <a:lstStyle/>
          <a:p>
            <a:pPr algn="ctr"/>
            <a:r>
              <a:rPr sz="850" b="1">
                <a:solidFill>
                  <a:srgbClr val="1B3F8F"/>
                </a:solidFill>
                <a:latin typeface="Segoe UI"/>
              </a:rPr>
              <a:t>23%</a:t>
            </a:r>
          </a:p>
        </p:txBody>
      </p:sp>
      <p:sp>
        <p:nvSpPr>
          <p:cNvPr id="129" name="Rounded Rectangle 128"/>
          <p:cNvSpPr/>
          <p:nvPr/>
        </p:nvSpPr>
        <p:spPr>
          <a:xfrm>
            <a:off x="10794492" y="3284707"/>
            <a:ext cx="438912" cy="2064532"/>
          </a:xfrm>
          <a:prstGeom prst="roundRect">
            <a:avLst>
              <a:gd name="adj" fmla="val 12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10666476" y="3065251"/>
            <a:ext cx="694944" cy="182880"/>
          </a:xfrm>
          <a:prstGeom prst="rect">
            <a:avLst/>
          </a:prstGeom>
          <a:noFill/>
        </p:spPr>
        <p:txBody>
          <a:bodyPr wrap="square" lIns="0" rIns="0" tIns="0" bIns="0">
            <a:spAutoFit/>
          </a:bodyPr>
          <a:lstStyle/>
          <a:p>
            <a:pPr algn="ctr"/>
            <a:r>
              <a:rPr sz="850" b="1">
                <a:solidFill>
                  <a:srgbClr val="8A97B0"/>
                </a:solidFill>
                <a:latin typeface="Segoe UI"/>
              </a:rPr>
              <a:t>16%</a:t>
            </a:r>
          </a:p>
        </p:txBody>
      </p:sp>
      <p:sp>
        <p:nvSpPr>
          <p:cNvPr id="131" name="TextBox 130"/>
          <p:cNvSpPr txBox="1"/>
          <p:nvPr/>
        </p:nvSpPr>
        <p:spPr>
          <a:xfrm>
            <a:off x="9624060" y="5458968"/>
            <a:ext cx="1668780" cy="201168"/>
          </a:xfrm>
          <a:prstGeom prst="rect">
            <a:avLst/>
          </a:prstGeom>
          <a:noFill/>
        </p:spPr>
        <p:txBody>
          <a:bodyPr wrap="square" lIns="0" rIns="0" tIns="0" bIns="0">
            <a:spAutoFit/>
          </a:bodyPr>
          <a:lstStyle/>
          <a:p>
            <a:pPr algn="ctr"/>
            <a:r>
              <a:rPr sz="1050" b="1">
                <a:solidFill>
                  <a:srgbClr val="5A6478"/>
                </a:solidFill>
                <a:latin typeface="Segoe UI"/>
              </a:rPr>
              <a:t>Q2 '26</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tape has already voted — by layer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TOTAL RETURN BY STACK LAYER — EQUAL-WEIGHTED, REBALANCED ANNUALLY, JAN 2022 = 100 · THROUGH AUG 11, 2026</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68680" y="4409122"/>
            <a:ext cx="88239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84632" y="4326826"/>
            <a:ext cx="329184" cy="182880"/>
          </a:xfrm>
          <a:prstGeom prst="rect">
            <a:avLst/>
          </a:prstGeom>
          <a:noFill/>
        </p:spPr>
        <p:txBody>
          <a:bodyPr wrap="square" lIns="0" rIns="0" tIns="0" bIns="0">
            <a:spAutoFit/>
          </a:bodyPr>
          <a:lstStyle/>
          <a:p>
            <a:pPr algn="r"/>
            <a:r>
              <a:rPr sz="850" b="0" i="0">
                <a:solidFill>
                  <a:srgbClr val="8A97B0"/>
                </a:solidFill>
                <a:latin typeface="Calibri"/>
              </a:rPr>
              <a:t>50</a:t>
            </a:r>
          </a:p>
        </p:txBody>
      </p:sp>
      <p:cxnSp>
        <p:nvCxnSpPr>
          <p:cNvPr id="7" name="Connector 6"/>
          <p:cNvCxnSpPr/>
          <p:nvPr/>
        </p:nvCxnSpPr>
        <p:spPr>
          <a:xfrm>
            <a:off x="868680" y="3194685"/>
            <a:ext cx="8823960" cy="0"/>
          </a:xfrm>
          <a:prstGeom prst="line">
            <a:avLst/>
          </a:prstGeom>
          <a:ln w="1524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84632" y="3112389"/>
            <a:ext cx="329184" cy="182880"/>
          </a:xfrm>
          <a:prstGeom prst="rect">
            <a:avLst/>
          </a:prstGeom>
          <a:noFill/>
        </p:spPr>
        <p:txBody>
          <a:bodyPr wrap="square" lIns="0" rIns="0" tIns="0" bIns="0">
            <a:spAutoFit/>
          </a:bodyPr>
          <a:lstStyle/>
          <a:p>
            <a:pPr algn="r"/>
            <a:r>
              <a:rPr sz="850" b="0" i="0">
                <a:solidFill>
                  <a:srgbClr val="8A97B0"/>
                </a:solidFill>
                <a:latin typeface="Calibri"/>
              </a:rPr>
              <a:t>100</a:t>
            </a:r>
          </a:p>
        </p:txBody>
      </p:sp>
      <p:cxnSp>
        <p:nvCxnSpPr>
          <p:cNvPr id="9" name="Connector 8"/>
          <p:cNvCxnSpPr/>
          <p:nvPr/>
        </p:nvCxnSpPr>
        <p:spPr>
          <a:xfrm>
            <a:off x="868680" y="1980247"/>
            <a:ext cx="88239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484632" y="1897951"/>
            <a:ext cx="329184" cy="182880"/>
          </a:xfrm>
          <a:prstGeom prst="rect">
            <a:avLst/>
          </a:prstGeom>
          <a:noFill/>
        </p:spPr>
        <p:txBody>
          <a:bodyPr wrap="square" lIns="0" rIns="0" tIns="0" bIns="0">
            <a:spAutoFit/>
          </a:bodyPr>
          <a:lstStyle/>
          <a:p>
            <a:pPr algn="r"/>
            <a:r>
              <a:rPr sz="850" b="0" i="0">
                <a:solidFill>
                  <a:srgbClr val="8A97B0"/>
                </a:solidFill>
                <a:latin typeface="Calibri"/>
              </a:rPr>
              <a:t>150</a:t>
            </a:r>
          </a:p>
        </p:txBody>
      </p:sp>
      <p:sp>
        <p:nvSpPr>
          <p:cNvPr id="11" name="TextBox 10"/>
          <p:cNvSpPr txBox="1"/>
          <p:nvPr/>
        </p:nvSpPr>
        <p:spPr>
          <a:xfrm>
            <a:off x="594359" y="5678424"/>
            <a:ext cx="640080" cy="182880"/>
          </a:xfrm>
          <a:prstGeom prst="rect">
            <a:avLst/>
          </a:prstGeom>
          <a:noFill/>
        </p:spPr>
        <p:txBody>
          <a:bodyPr wrap="square" lIns="0" rIns="0" tIns="0" bIns="0">
            <a:spAutoFit/>
          </a:bodyPr>
          <a:lstStyle/>
          <a:p>
            <a:pPr algn="ctr"/>
            <a:r>
              <a:rPr sz="850" b="0" i="0">
                <a:solidFill>
                  <a:srgbClr val="8A97B0"/>
                </a:solidFill>
                <a:latin typeface="Calibri"/>
              </a:rPr>
              <a:t>Jan '22</a:t>
            </a:r>
          </a:p>
        </p:txBody>
      </p:sp>
      <p:sp>
        <p:nvSpPr>
          <p:cNvPr id="12" name="TextBox 11"/>
          <p:cNvSpPr txBox="1"/>
          <p:nvPr/>
        </p:nvSpPr>
        <p:spPr>
          <a:xfrm>
            <a:off x="2485208" y="5678424"/>
            <a:ext cx="640080" cy="182880"/>
          </a:xfrm>
          <a:prstGeom prst="rect">
            <a:avLst/>
          </a:prstGeom>
          <a:noFill/>
        </p:spPr>
        <p:txBody>
          <a:bodyPr wrap="square" lIns="0" rIns="0" tIns="0" bIns="0">
            <a:spAutoFit/>
          </a:bodyPr>
          <a:lstStyle/>
          <a:p>
            <a:pPr algn="ctr"/>
            <a:r>
              <a:rPr sz="850" b="0" i="0">
                <a:solidFill>
                  <a:srgbClr val="8A97B0"/>
                </a:solidFill>
                <a:latin typeface="Calibri"/>
              </a:rPr>
              <a:t>Jan '23</a:t>
            </a:r>
          </a:p>
        </p:txBody>
      </p:sp>
      <p:sp>
        <p:nvSpPr>
          <p:cNvPr id="13" name="TextBox 12"/>
          <p:cNvSpPr txBox="1"/>
          <p:nvPr/>
        </p:nvSpPr>
        <p:spPr>
          <a:xfrm>
            <a:off x="4376057" y="5678424"/>
            <a:ext cx="640080" cy="182880"/>
          </a:xfrm>
          <a:prstGeom prst="rect">
            <a:avLst/>
          </a:prstGeom>
          <a:noFill/>
        </p:spPr>
        <p:txBody>
          <a:bodyPr wrap="square" lIns="0" rIns="0" tIns="0" bIns="0">
            <a:spAutoFit/>
          </a:bodyPr>
          <a:lstStyle/>
          <a:p>
            <a:pPr algn="ctr"/>
            <a:r>
              <a:rPr sz="850" b="0" i="0">
                <a:solidFill>
                  <a:srgbClr val="8A97B0"/>
                </a:solidFill>
                <a:latin typeface="Calibri"/>
              </a:rPr>
              <a:t>Jan '24</a:t>
            </a:r>
          </a:p>
        </p:txBody>
      </p:sp>
      <p:sp>
        <p:nvSpPr>
          <p:cNvPr id="14" name="TextBox 13"/>
          <p:cNvSpPr txBox="1"/>
          <p:nvPr/>
        </p:nvSpPr>
        <p:spPr>
          <a:xfrm>
            <a:off x="6266905" y="5678424"/>
            <a:ext cx="640080" cy="182880"/>
          </a:xfrm>
          <a:prstGeom prst="rect">
            <a:avLst/>
          </a:prstGeom>
          <a:noFill/>
        </p:spPr>
        <p:txBody>
          <a:bodyPr wrap="square" lIns="0" rIns="0" tIns="0" bIns="0">
            <a:spAutoFit/>
          </a:bodyPr>
          <a:lstStyle/>
          <a:p>
            <a:pPr algn="ctr"/>
            <a:r>
              <a:rPr sz="850" b="0" i="0">
                <a:solidFill>
                  <a:srgbClr val="8A97B0"/>
                </a:solidFill>
                <a:latin typeface="Calibri"/>
              </a:rPr>
              <a:t>Jan '25</a:t>
            </a:r>
          </a:p>
        </p:txBody>
      </p:sp>
      <p:sp>
        <p:nvSpPr>
          <p:cNvPr id="15" name="TextBox 14"/>
          <p:cNvSpPr txBox="1"/>
          <p:nvPr/>
        </p:nvSpPr>
        <p:spPr>
          <a:xfrm>
            <a:off x="8157754" y="5678424"/>
            <a:ext cx="640080" cy="182880"/>
          </a:xfrm>
          <a:prstGeom prst="rect">
            <a:avLst/>
          </a:prstGeom>
          <a:noFill/>
        </p:spPr>
        <p:txBody>
          <a:bodyPr wrap="square" lIns="0" rIns="0" tIns="0" bIns="0">
            <a:spAutoFit/>
          </a:bodyPr>
          <a:lstStyle/>
          <a:p>
            <a:pPr algn="ctr"/>
            <a:r>
              <a:rPr sz="850" b="0" i="0">
                <a:solidFill>
                  <a:srgbClr val="8A97B0"/>
                </a:solidFill>
                <a:latin typeface="Calibri"/>
              </a:rPr>
              <a:t>Jan '26</a:t>
            </a:r>
          </a:p>
        </p:txBody>
      </p:sp>
      <p:sp>
        <p:nvSpPr>
          <p:cNvPr id="16" name="TextBox 15"/>
          <p:cNvSpPr txBox="1"/>
          <p:nvPr/>
        </p:nvSpPr>
        <p:spPr>
          <a:xfrm>
            <a:off x="9418319" y="5678424"/>
            <a:ext cx="640080" cy="182880"/>
          </a:xfrm>
          <a:prstGeom prst="rect">
            <a:avLst/>
          </a:prstGeom>
          <a:noFill/>
        </p:spPr>
        <p:txBody>
          <a:bodyPr wrap="square" lIns="0" rIns="0" tIns="0" bIns="0">
            <a:spAutoFit/>
          </a:bodyPr>
          <a:lstStyle/>
          <a:p>
            <a:pPr algn="ctr"/>
            <a:r>
              <a:rPr sz="850" b="0" i="0">
                <a:solidFill>
                  <a:srgbClr val="8A97B0"/>
                </a:solidFill>
                <a:latin typeface="Calibri"/>
              </a:rPr>
              <a:t>Aug '26</a:t>
            </a:r>
          </a:p>
        </p:txBody>
      </p:sp>
      <p:cxnSp>
        <p:nvCxnSpPr>
          <p:cNvPr id="17" name="Connector 16"/>
          <p:cNvCxnSpPr/>
          <p:nvPr/>
        </p:nvCxnSpPr>
        <p:spPr>
          <a:xfrm>
            <a:off x="868680" y="3194685"/>
            <a:ext cx="157570" cy="519076"/>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26250" y="3713761"/>
            <a:ext cx="157571" cy="164655"/>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183821" y="3878416"/>
            <a:ext cx="157571" cy="879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41392" y="3887213"/>
            <a:ext cx="157570" cy="311340"/>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98962" y="4198553"/>
            <a:ext cx="157571" cy="287323"/>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656533" y="4485876"/>
            <a:ext cx="157571" cy="23611"/>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814104" y="4414127"/>
            <a:ext cx="157571" cy="95360"/>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1971675" y="4345769"/>
            <a:ext cx="157570" cy="6835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29245" y="4345769"/>
            <a:ext cx="157571" cy="135364"/>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286816" y="4455605"/>
            <a:ext cx="157571" cy="2552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444387" y="4455605"/>
            <a:ext cx="157570" cy="59475"/>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601957" y="4515080"/>
            <a:ext cx="157571" cy="6417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759528" y="4438873"/>
            <a:ext cx="157571" cy="140385"/>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917099" y="4349168"/>
            <a:ext cx="157571" cy="89705"/>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074670" y="4215918"/>
            <a:ext cx="157570" cy="133250"/>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3232240" y="4215918"/>
            <a:ext cx="157571" cy="13257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389811" y="4105761"/>
            <a:ext cx="157571" cy="242735"/>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547382" y="4033219"/>
            <a:ext cx="157570" cy="7254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704952" y="3878555"/>
            <a:ext cx="157571" cy="154664"/>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862523" y="3878555"/>
            <a:ext cx="157571" cy="11031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020094" y="3988873"/>
            <a:ext cx="157570" cy="6441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77664" y="4053291"/>
            <a:ext cx="157571" cy="142616"/>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4335235" y="3913496"/>
            <a:ext cx="157571" cy="282411"/>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492806" y="3692229"/>
            <a:ext cx="157571" cy="22126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650377" y="3618432"/>
            <a:ext cx="157570" cy="7379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807947" y="3568315"/>
            <a:ext cx="157571" cy="5011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965518" y="3568315"/>
            <a:ext cx="157571" cy="23910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123089" y="3807417"/>
            <a:ext cx="157571" cy="58893"/>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80660" y="3866310"/>
            <a:ext cx="157570" cy="213764"/>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5438230" y="4061049"/>
            <a:ext cx="157571" cy="19025"/>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595801" y="4061049"/>
            <a:ext cx="157571" cy="61643"/>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5753372" y="4122692"/>
            <a:ext cx="157570" cy="5796"/>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5910942" y="4114528"/>
            <a:ext cx="157571" cy="13960"/>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068513" y="4098661"/>
            <a:ext cx="157571" cy="1586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226084" y="3846237"/>
            <a:ext cx="157571" cy="252424"/>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6383655" y="3846237"/>
            <a:ext cx="157570" cy="17872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541225" y="3775491"/>
            <a:ext cx="157571" cy="249473"/>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698796" y="3775491"/>
            <a:ext cx="157571" cy="6138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856367" y="3836878"/>
            <a:ext cx="157570" cy="350371"/>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013937" y="4187249"/>
            <a:ext cx="157571" cy="29170"/>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7171508" y="4074357"/>
            <a:ext cx="157571" cy="14206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7329079" y="4014870"/>
            <a:ext cx="157571" cy="5948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7486650" y="4003726"/>
            <a:ext cx="157570" cy="11144"/>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7644220" y="3859263"/>
            <a:ext cx="157571" cy="144463"/>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801791" y="3819561"/>
            <a:ext cx="157571" cy="3970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959362" y="3635369"/>
            <a:ext cx="157570" cy="18419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116932" y="3635369"/>
            <a:ext cx="157571" cy="9924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274503" y="3673163"/>
            <a:ext cx="157571" cy="6144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432074" y="3673163"/>
            <a:ext cx="157570" cy="17720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8589644" y="3665243"/>
            <a:ext cx="157571" cy="185122"/>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747215" y="3248628"/>
            <a:ext cx="157571" cy="416615"/>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904786" y="3248628"/>
            <a:ext cx="157571" cy="63356"/>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9062357" y="2757963"/>
            <a:ext cx="157570" cy="554021"/>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219927" y="2757963"/>
            <a:ext cx="157571" cy="15063"/>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377498" y="2773026"/>
            <a:ext cx="157571" cy="132917"/>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9535069" y="2299515"/>
            <a:ext cx="157571" cy="606428"/>
          </a:xfrm>
          <a:prstGeom prst="line">
            <a:avLst/>
          </a:prstGeom>
          <a:ln w="22225">
            <a:solidFill>
              <a:srgbClr val="29C2F1"/>
            </a:solidFill>
          </a:ln>
          <a:effectLst/>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9651492" y="2258367"/>
            <a:ext cx="82296" cy="82296"/>
          </a:xfrm>
          <a:prstGeom prst="ellipse">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868680" y="3194685"/>
            <a:ext cx="157570" cy="368006"/>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26250" y="3562691"/>
            <a:ext cx="157571" cy="4161"/>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183821" y="3554995"/>
            <a:ext cx="157571" cy="11857"/>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341392" y="3554995"/>
            <a:ext cx="157570" cy="335836"/>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498962" y="3890831"/>
            <a:ext cx="157571" cy="27624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656533" y="4154622"/>
            <a:ext cx="157571" cy="1245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814104" y="4119739"/>
            <a:ext cx="157571" cy="3488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971675" y="4040115"/>
            <a:ext cx="157570" cy="79624"/>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2129245" y="4040115"/>
            <a:ext cx="157571" cy="16832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2286816" y="4172085"/>
            <a:ext cx="157571" cy="3635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2444387" y="4172085"/>
            <a:ext cx="157570" cy="196056"/>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2601957" y="4368141"/>
            <a:ext cx="157571" cy="54354"/>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2759528" y="4288952"/>
            <a:ext cx="157571" cy="13354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917099" y="4213803"/>
            <a:ext cx="157571" cy="75149"/>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074670" y="4199148"/>
            <a:ext cx="157570" cy="1465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3232240" y="4199148"/>
            <a:ext cx="157571" cy="19162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389811" y="4061047"/>
            <a:ext cx="157571" cy="329724"/>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547382" y="4047573"/>
            <a:ext cx="157570" cy="13474"/>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952" y="3928836"/>
            <a:ext cx="157571" cy="118737"/>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3862523" y="3928836"/>
            <a:ext cx="157571" cy="3284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4020094" y="3961679"/>
            <a:ext cx="157570" cy="52758"/>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4177664" y="4014437"/>
            <a:ext cx="157571" cy="9718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4335235" y="3788749"/>
            <a:ext cx="157571" cy="322871"/>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4492806" y="3542235"/>
            <a:ext cx="157571" cy="246514"/>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4650377" y="3495001"/>
            <a:ext cx="157570" cy="47234"/>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807947" y="3375766"/>
            <a:ext cx="157571" cy="11923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4965518" y="3375766"/>
            <a:ext cx="157571" cy="14466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5123089" y="3520429"/>
            <a:ext cx="157571" cy="13544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5280660" y="3655872"/>
            <a:ext cx="157570" cy="14961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438230" y="3594952"/>
            <a:ext cx="157571" cy="21053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5595801" y="3594952"/>
            <a:ext cx="157571" cy="6204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5753372" y="3625608"/>
            <a:ext cx="157570" cy="31389"/>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5910942" y="3625608"/>
            <a:ext cx="157571" cy="1612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6068513" y="3525438"/>
            <a:ext cx="157571" cy="11629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6226084" y="3211210"/>
            <a:ext cx="157571" cy="314228"/>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383655" y="3211210"/>
            <a:ext cx="157570" cy="75988"/>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6541225" y="2949667"/>
            <a:ext cx="157571" cy="337531"/>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6698796" y="2949667"/>
            <a:ext cx="157571" cy="204707"/>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856367" y="3154374"/>
            <a:ext cx="157570" cy="259583"/>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7013937" y="3294287"/>
            <a:ext cx="157571" cy="119670"/>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7171508" y="3045215"/>
            <a:ext cx="157571" cy="24907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7329079" y="2926340"/>
            <a:ext cx="157571" cy="11887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7486650" y="2926340"/>
            <a:ext cx="157570" cy="87008"/>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7644220" y="3013348"/>
            <a:ext cx="157571" cy="1421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7801791" y="3020510"/>
            <a:ext cx="157571" cy="7050"/>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7959362" y="2851134"/>
            <a:ext cx="157570" cy="169376"/>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8116932" y="2851134"/>
            <a:ext cx="157571" cy="20303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8274503" y="3054169"/>
            <a:ext cx="157571" cy="4495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8432074" y="3099124"/>
            <a:ext cx="157570" cy="286866"/>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8589644" y="3385990"/>
            <a:ext cx="157571" cy="339674"/>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8747215" y="3702579"/>
            <a:ext cx="157571" cy="2308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8904786" y="3623532"/>
            <a:ext cx="157571" cy="79047"/>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9062357" y="2777070"/>
            <a:ext cx="157570" cy="846462"/>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9219927" y="2598403"/>
            <a:ext cx="157571" cy="178667"/>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9377498" y="2598403"/>
            <a:ext cx="157571" cy="61465"/>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9535069" y="2068428"/>
            <a:ext cx="157571" cy="591440"/>
          </a:xfrm>
          <a:prstGeom prst="line">
            <a:avLst/>
          </a:prstGeom>
          <a:ln w="22225">
            <a:solidFill>
              <a:srgbClr val="1B3F8F"/>
            </a:solidFill>
          </a:ln>
          <a:effectLst/>
        </p:spPr>
        <p:style>
          <a:lnRef idx="2">
            <a:schemeClr val="accent1"/>
          </a:lnRef>
          <a:fillRef idx="0">
            <a:schemeClr val="accent1"/>
          </a:fillRef>
          <a:effectRef idx="1">
            <a:schemeClr val="accent1"/>
          </a:effectRef>
          <a:fontRef idx="minor">
            <a:schemeClr val="tx1"/>
          </a:fontRef>
        </p:style>
      </p:cxnSp>
      <p:sp>
        <p:nvSpPr>
          <p:cNvPr id="130" name="Oval 129"/>
          <p:cNvSpPr/>
          <p:nvPr/>
        </p:nvSpPr>
        <p:spPr>
          <a:xfrm>
            <a:off x="9651492" y="2027280"/>
            <a:ext cx="82296" cy="82296"/>
          </a:xfrm>
          <a:prstGeom prst="ellipse">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1" name="Connector 130"/>
          <p:cNvCxnSpPr/>
          <p:nvPr/>
        </p:nvCxnSpPr>
        <p:spPr>
          <a:xfrm>
            <a:off x="868680" y="3194685"/>
            <a:ext cx="157570" cy="421007"/>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026250" y="3615692"/>
            <a:ext cx="157571" cy="7619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183821" y="3691884"/>
            <a:ext cx="157571" cy="84488"/>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341392" y="3776372"/>
            <a:ext cx="157570" cy="24721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498962" y="4023584"/>
            <a:ext cx="157571" cy="14243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1656533" y="4166015"/>
            <a:ext cx="157571" cy="140350"/>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814104" y="4179353"/>
            <a:ext cx="157571" cy="12701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1971675" y="4163494"/>
            <a:ext cx="157570" cy="15859"/>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2129245" y="4163494"/>
            <a:ext cx="157571" cy="94525"/>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2286816" y="4181615"/>
            <a:ext cx="157571" cy="76404"/>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2444387" y="4181615"/>
            <a:ext cx="157570" cy="2022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a:off x="2601957" y="4201837"/>
            <a:ext cx="157571" cy="3209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2759528" y="4025900"/>
            <a:ext cx="157571" cy="208029"/>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2917099" y="4009915"/>
            <a:ext cx="157571" cy="15985"/>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074670" y="3898964"/>
            <a:ext cx="157570" cy="11095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3232240" y="3898964"/>
            <a:ext cx="157571" cy="17613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389811" y="3752820"/>
            <a:ext cx="157571" cy="322277"/>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547382" y="3626399"/>
            <a:ext cx="157570" cy="12642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704952" y="3456510"/>
            <a:ext cx="157571" cy="169889"/>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a:off x="3862523" y="3456510"/>
            <a:ext cx="157571" cy="12801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4020094" y="3584523"/>
            <a:ext cx="157570" cy="159178"/>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4177664" y="3743701"/>
            <a:ext cx="157571" cy="109000"/>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335235" y="3584527"/>
            <a:ext cx="157571" cy="268174"/>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492806" y="3453130"/>
            <a:ext cx="157571" cy="131397"/>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650377" y="3449851"/>
            <a:ext cx="157570" cy="3279"/>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07947" y="3365228"/>
            <a:ext cx="157571" cy="8462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4965518" y="3365228"/>
            <a:ext cx="157571" cy="19926"/>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123089" y="3385154"/>
            <a:ext cx="157571" cy="17952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5280660" y="3560241"/>
            <a:ext cx="157570" cy="4436"/>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5438230" y="3497764"/>
            <a:ext cx="157571" cy="62477"/>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5595801" y="3403117"/>
            <a:ext cx="157571" cy="94647"/>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5753372" y="3287612"/>
            <a:ext cx="157570" cy="115505"/>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5910942" y="3214242"/>
            <a:ext cx="157571" cy="73370"/>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6068513" y="3141360"/>
            <a:ext cx="157571" cy="7288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6226084" y="2654414"/>
            <a:ext cx="157571" cy="486946"/>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6383655" y="2654414"/>
            <a:ext cx="157570" cy="9021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6541225" y="2627168"/>
            <a:ext cx="157571" cy="117459"/>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6698796" y="2627168"/>
            <a:ext cx="157571" cy="309775"/>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a:off x="6856367" y="2936943"/>
            <a:ext cx="157570" cy="297350"/>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7013937" y="3160092"/>
            <a:ext cx="157571" cy="7420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7171508" y="2975278"/>
            <a:ext cx="157571" cy="184814"/>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a:off x="7329079" y="2975278"/>
            <a:ext cx="157571" cy="2848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7486650" y="3003759"/>
            <a:ext cx="157570" cy="7323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7644220" y="3076991"/>
            <a:ext cx="157571" cy="296"/>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7801791" y="3077287"/>
            <a:ext cx="157571" cy="41076"/>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7959362" y="3116582"/>
            <a:ext cx="157570" cy="178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8116932" y="3116582"/>
            <a:ext cx="157571" cy="18307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8274503" y="3196982"/>
            <a:ext cx="157571" cy="102671"/>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8432074" y="3196982"/>
            <a:ext cx="157570" cy="447077"/>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8589644" y="3644059"/>
            <a:ext cx="157571" cy="265444"/>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8747215" y="3909503"/>
            <a:ext cx="157571" cy="2814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8904786" y="3937646"/>
            <a:ext cx="157571" cy="2989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9062357" y="3817670"/>
            <a:ext cx="157570" cy="149869"/>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9219927" y="3817670"/>
            <a:ext cx="157571" cy="137053"/>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9377498" y="3684431"/>
            <a:ext cx="157571" cy="270292"/>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9535069" y="3419462"/>
            <a:ext cx="157571" cy="264969"/>
          </a:xfrm>
          <a:prstGeom prst="line">
            <a:avLst/>
          </a:prstGeom>
          <a:ln w="19050">
            <a:solidFill>
              <a:srgbClr val="C9D2E0"/>
            </a:solidFill>
          </a:ln>
          <a:effectLst/>
        </p:spPr>
        <p:style>
          <a:lnRef idx="2">
            <a:schemeClr val="accent1"/>
          </a:lnRef>
          <a:fillRef idx="0">
            <a:schemeClr val="accent1"/>
          </a:fillRef>
          <a:effectRef idx="1">
            <a:schemeClr val="accent1"/>
          </a:effectRef>
          <a:fontRef idx="minor">
            <a:schemeClr val="tx1"/>
          </a:fontRef>
        </p:style>
      </p:cxnSp>
      <p:sp>
        <p:nvSpPr>
          <p:cNvPr id="187" name="Oval 186"/>
          <p:cNvSpPr/>
          <p:nvPr/>
        </p:nvSpPr>
        <p:spPr>
          <a:xfrm>
            <a:off x="9651492" y="3378314"/>
            <a:ext cx="82296" cy="82296"/>
          </a:xfrm>
          <a:prstGeom prst="ellipse">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TextBox 187"/>
          <p:cNvSpPr txBox="1"/>
          <p:nvPr/>
        </p:nvSpPr>
        <p:spPr>
          <a:xfrm>
            <a:off x="9802368" y="1976988"/>
            <a:ext cx="2103120" cy="219456"/>
          </a:xfrm>
          <a:prstGeom prst="rect">
            <a:avLst/>
          </a:prstGeom>
          <a:noFill/>
        </p:spPr>
        <p:txBody>
          <a:bodyPr wrap="square" lIns="0" rIns="0" tIns="0" bIns="0">
            <a:spAutoFit/>
          </a:bodyPr>
          <a:lstStyle/>
          <a:p>
            <a:pPr algn="l"/>
            <a:r>
              <a:rPr sz="950" b="1" i="0">
                <a:solidFill>
                  <a:srgbClr val="1B3F8F"/>
                </a:solidFill>
                <a:latin typeface="Calibri"/>
              </a:rPr>
              <a:t>L3 · Work  146</a:t>
            </a:r>
          </a:p>
        </p:txBody>
      </p:sp>
      <p:sp>
        <p:nvSpPr>
          <p:cNvPr id="189" name="TextBox 188"/>
          <p:cNvSpPr txBox="1"/>
          <p:nvPr/>
        </p:nvSpPr>
        <p:spPr>
          <a:xfrm>
            <a:off x="9802368" y="2445819"/>
            <a:ext cx="2103120" cy="219456"/>
          </a:xfrm>
          <a:prstGeom prst="rect">
            <a:avLst/>
          </a:prstGeom>
          <a:noFill/>
        </p:spPr>
        <p:txBody>
          <a:bodyPr wrap="square" lIns="0" rIns="0" tIns="0" bIns="0">
            <a:spAutoFit/>
          </a:bodyPr>
          <a:lstStyle/>
          <a:p>
            <a:pPr algn="l"/>
            <a:r>
              <a:rPr sz="950" b="1" i="0">
                <a:solidFill>
                  <a:srgbClr val="29C2F1"/>
                </a:solidFill>
                <a:latin typeface="Calibri"/>
              </a:rPr>
              <a:t>L2 · State  128</a:t>
            </a:r>
          </a:p>
        </p:txBody>
      </p:sp>
      <p:sp>
        <p:nvSpPr>
          <p:cNvPr id="190" name="TextBox 189"/>
          <p:cNvSpPr txBox="1"/>
          <p:nvPr/>
        </p:nvSpPr>
        <p:spPr>
          <a:xfrm>
            <a:off x="9802368" y="3328022"/>
            <a:ext cx="2103120" cy="219456"/>
          </a:xfrm>
          <a:prstGeom prst="rect">
            <a:avLst/>
          </a:prstGeom>
          <a:noFill/>
        </p:spPr>
        <p:txBody>
          <a:bodyPr wrap="square" lIns="0" rIns="0" tIns="0" bIns="0">
            <a:spAutoFit/>
          </a:bodyPr>
          <a:lstStyle/>
          <a:p>
            <a:pPr algn="l"/>
            <a:r>
              <a:rPr sz="950" b="1" i="0">
                <a:solidFill>
                  <a:srgbClr val="8A97B0"/>
                </a:solidFill>
                <a:latin typeface="Calibri"/>
              </a:rPr>
              <a:t>L4 · Apps  91</a:t>
            </a:r>
          </a:p>
        </p:txBody>
      </p:sp>
      <p:cxnSp>
        <p:nvCxnSpPr>
          <p:cNvPr id="191" name="Connector 190"/>
          <p:cNvCxnSpPr/>
          <p:nvPr/>
        </p:nvCxnSpPr>
        <p:spPr>
          <a:xfrm>
            <a:off x="2601957" y="1737360"/>
            <a:ext cx="0" cy="3886200"/>
          </a:xfrm>
          <a:prstGeom prst="line">
            <a:avLst/>
          </a:prstGeom>
          <a:ln w="12700">
            <a:solidFill>
              <a:srgbClr val="8A97B0"/>
            </a:solidFill>
            <a:prstDash val="dash"/>
          </a:ln>
          <a:effectLst/>
        </p:spPr>
        <p:style>
          <a:lnRef idx="2">
            <a:schemeClr val="accent1"/>
          </a:lnRef>
          <a:fillRef idx="0">
            <a:schemeClr val="accent1"/>
          </a:fillRef>
          <a:effectRef idx="1">
            <a:schemeClr val="accent1"/>
          </a:effectRef>
          <a:fontRef idx="minor">
            <a:schemeClr val="tx1"/>
          </a:fontRef>
        </p:style>
      </p:cxnSp>
      <p:sp>
        <p:nvSpPr>
          <p:cNvPr id="192" name="TextBox 191"/>
          <p:cNvSpPr txBox="1"/>
          <p:nvPr/>
        </p:nvSpPr>
        <p:spPr>
          <a:xfrm>
            <a:off x="2099037" y="1517904"/>
            <a:ext cx="1097280" cy="182880"/>
          </a:xfrm>
          <a:prstGeom prst="rect">
            <a:avLst/>
          </a:prstGeom>
          <a:noFill/>
        </p:spPr>
        <p:txBody>
          <a:bodyPr wrap="square" lIns="0" rIns="0" tIns="0" bIns="0">
            <a:spAutoFit/>
          </a:bodyPr>
          <a:lstStyle/>
          <a:p>
            <a:pPr algn="ctr"/>
            <a:r>
              <a:rPr sz="850" b="1" i="0">
                <a:solidFill>
                  <a:srgbClr val="8A97B0"/>
                </a:solidFill>
                <a:latin typeface="Calibri"/>
              </a:rPr>
              <a:t>ChatGPT</a:t>
            </a:r>
          </a:p>
        </p:txBody>
      </p:sp>
      <p:sp>
        <p:nvSpPr>
          <p:cNvPr id="193" name="Oval 192"/>
          <p:cNvSpPr/>
          <p:nvPr/>
        </p:nvSpPr>
        <p:spPr>
          <a:xfrm>
            <a:off x="5120640" y="1517904"/>
            <a:ext cx="137160" cy="137160"/>
          </a:xfrm>
          <a:prstGeom prst="ellipse">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5321807" y="1481328"/>
            <a:ext cx="1051560" cy="201168"/>
          </a:xfrm>
          <a:prstGeom prst="rect">
            <a:avLst/>
          </a:prstGeom>
          <a:noFill/>
        </p:spPr>
        <p:txBody>
          <a:bodyPr wrap="square" lIns="0" rIns="0" tIns="0" bIns="0">
            <a:spAutoFit/>
          </a:bodyPr>
          <a:lstStyle/>
          <a:p>
            <a:pPr algn="l"/>
            <a:r>
              <a:rPr sz="950" b="1" i="0">
                <a:solidFill>
                  <a:srgbClr val="5A6478"/>
                </a:solidFill>
                <a:latin typeface="Calibri"/>
              </a:rPr>
              <a:t>L2 · State</a:t>
            </a:r>
          </a:p>
        </p:txBody>
      </p:sp>
      <p:sp>
        <p:nvSpPr>
          <p:cNvPr id="195" name="Oval 194"/>
          <p:cNvSpPr/>
          <p:nvPr/>
        </p:nvSpPr>
        <p:spPr>
          <a:xfrm>
            <a:off x="6446520" y="1517904"/>
            <a:ext cx="137160" cy="137160"/>
          </a:xfrm>
          <a:prstGeom prst="ellipse">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TextBox 195"/>
          <p:cNvSpPr txBox="1"/>
          <p:nvPr/>
        </p:nvSpPr>
        <p:spPr>
          <a:xfrm>
            <a:off x="6647688" y="1481328"/>
            <a:ext cx="1051560" cy="201168"/>
          </a:xfrm>
          <a:prstGeom prst="rect">
            <a:avLst/>
          </a:prstGeom>
          <a:noFill/>
        </p:spPr>
        <p:txBody>
          <a:bodyPr wrap="square" lIns="0" rIns="0" tIns="0" bIns="0">
            <a:spAutoFit/>
          </a:bodyPr>
          <a:lstStyle/>
          <a:p>
            <a:pPr algn="l"/>
            <a:r>
              <a:rPr sz="950" b="1" i="0">
                <a:solidFill>
                  <a:srgbClr val="5A6478"/>
                </a:solidFill>
                <a:latin typeface="Calibri"/>
              </a:rPr>
              <a:t>L3 · Work</a:t>
            </a:r>
          </a:p>
        </p:txBody>
      </p:sp>
      <p:sp>
        <p:nvSpPr>
          <p:cNvPr id="197" name="Oval 196"/>
          <p:cNvSpPr/>
          <p:nvPr/>
        </p:nvSpPr>
        <p:spPr>
          <a:xfrm>
            <a:off x="7772400" y="1517904"/>
            <a:ext cx="137160" cy="137160"/>
          </a:xfrm>
          <a:prstGeom prst="ellipse">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7973568" y="1481328"/>
            <a:ext cx="1051560" cy="201168"/>
          </a:xfrm>
          <a:prstGeom prst="rect">
            <a:avLst/>
          </a:prstGeom>
          <a:noFill/>
        </p:spPr>
        <p:txBody>
          <a:bodyPr wrap="square" lIns="0" rIns="0" tIns="0" bIns="0">
            <a:spAutoFit/>
          </a:bodyPr>
          <a:lstStyle/>
          <a:p>
            <a:pPr algn="l"/>
            <a:r>
              <a:rPr sz="950" b="1" i="0">
                <a:solidFill>
                  <a:srgbClr val="5A6478"/>
                </a:solidFill>
                <a:latin typeface="Calibri"/>
              </a:rPr>
              <a:t>L4 · Apps</a:t>
            </a:r>
          </a:p>
        </p:txBody>
      </p:sp>
      <p:sp>
        <p:nvSpPr>
          <p:cNvPr id="199" name="Rounded Rectangle 198"/>
          <p:cNvSpPr/>
          <p:nvPr/>
        </p:nvSpPr>
        <p:spPr>
          <a:xfrm>
            <a:off x="777240" y="603504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One derate, then the meters pulled away from the apps  </a:t>
            </a:r>
            <a:r>
              <a:rPr sz="1200">
                <a:solidFill>
                  <a:srgbClr val="1A2233"/>
                </a:solidFill>
                <a:latin typeface="Calibri"/>
              </a:rPr>
              <a:t>— the layers that meter machine labor lead the layer they replace.</a:t>
            </a:r>
          </a:p>
        </p:txBody>
      </p:sp>
      <p:sp>
        <p:nvSpPr>
          <p:cNvPr id="200" name="TextBox 19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01" name="TextBox 20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59</a:t>
            </a:r>
          </a:p>
        </p:txBody>
      </p:sp>
      <p:sp>
        <p:nvSpPr>
          <p:cNvPr id="202" name="TextBox 201"/>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classification of BVP EMCLOUD constituents (L4: 39 · L3: 16 · L2: 5; the two action rails excluded from layer series); equal-weighted total return, rebalanced each December; new listings join at the next annual reset. Adjusted closes via Alpha Vantage; Aug 11, 2026 marks via FMP.</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Since ChatGPT: the meters run ahead of the apps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TOTAL RETURN NOV 30 2022 → AUG 2026, BY LAYER — RECONCILED TO THE FULL-PERIOD CHART (PREV. SLIDE)</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474720" y="1609344"/>
            <a:ext cx="2743200" cy="219456"/>
          </a:xfrm>
          <a:prstGeom prst="rect">
            <a:avLst/>
          </a:prstGeom>
          <a:noFill/>
        </p:spPr>
        <p:txBody>
          <a:bodyPr wrap="square" lIns="0" rIns="0" tIns="0" bIns="0">
            <a:spAutoFit/>
          </a:bodyPr>
          <a:lstStyle/>
          <a:p>
            <a:pPr algn="l"/>
            <a:r>
              <a:rPr sz="950" b="1" i="0">
                <a:solidFill>
                  <a:srgbClr val="2777EF"/>
                </a:solidFill>
                <a:latin typeface="Calibri"/>
              </a:rPr>
              <a:t>SINCE CHATGPT (NOV '22)</a:t>
            </a:r>
          </a:p>
        </p:txBody>
      </p:sp>
      <p:sp>
        <p:nvSpPr>
          <p:cNvPr id="6" name="TextBox 5"/>
          <p:cNvSpPr txBox="1"/>
          <p:nvPr/>
        </p:nvSpPr>
        <p:spPr>
          <a:xfrm>
            <a:off x="9098280" y="1609344"/>
            <a:ext cx="1188720" cy="219456"/>
          </a:xfrm>
          <a:prstGeom prst="rect">
            <a:avLst/>
          </a:prstGeom>
          <a:noFill/>
        </p:spPr>
        <p:txBody>
          <a:bodyPr wrap="square" lIns="0" rIns="0" tIns="0" bIns="0">
            <a:spAutoFit/>
          </a:bodyPr>
          <a:lstStyle/>
          <a:p>
            <a:pPr algn="r"/>
            <a:r>
              <a:rPr sz="950" b="1" i="0">
                <a:solidFill>
                  <a:srgbClr val="8A97B0"/>
                </a:solidFill>
                <a:latin typeface="Calibri"/>
              </a:rPr>
              <a:t>2022 DERATE</a:t>
            </a:r>
          </a:p>
        </p:txBody>
      </p:sp>
      <p:sp>
        <p:nvSpPr>
          <p:cNvPr id="7" name="TextBox 6"/>
          <p:cNvSpPr txBox="1"/>
          <p:nvPr/>
        </p:nvSpPr>
        <p:spPr>
          <a:xfrm>
            <a:off x="10424160" y="1609344"/>
            <a:ext cx="1234440" cy="219456"/>
          </a:xfrm>
          <a:prstGeom prst="rect">
            <a:avLst/>
          </a:prstGeom>
          <a:noFill/>
        </p:spPr>
        <p:txBody>
          <a:bodyPr wrap="square" lIns="0" rIns="0" tIns="0" bIns="0">
            <a:spAutoFit/>
          </a:bodyPr>
          <a:lstStyle/>
          <a:p>
            <a:pPr algn="r"/>
            <a:r>
              <a:rPr sz="950" b="1" i="0">
                <a:solidFill>
                  <a:srgbClr val="5A6478"/>
                </a:solidFill>
                <a:latin typeface="Calibri"/>
              </a:rPr>
              <a:t>SINCE JAN '22</a:t>
            </a:r>
          </a:p>
        </p:txBody>
      </p:sp>
      <p:sp>
        <p:nvSpPr>
          <p:cNvPr id="8" name="TextBox 7"/>
          <p:cNvSpPr txBox="1"/>
          <p:nvPr/>
        </p:nvSpPr>
        <p:spPr>
          <a:xfrm>
            <a:off x="777240" y="2212848"/>
            <a:ext cx="2606040" cy="256032"/>
          </a:xfrm>
          <a:prstGeom prst="rect">
            <a:avLst/>
          </a:prstGeom>
          <a:noFill/>
        </p:spPr>
        <p:txBody>
          <a:bodyPr wrap="square" lIns="0" rIns="0" tIns="0" bIns="0">
            <a:spAutoFit/>
          </a:bodyPr>
          <a:lstStyle/>
          <a:p>
            <a:pPr algn="l"/>
            <a:r>
              <a:rPr sz="1250" b="1" i="0">
                <a:solidFill>
                  <a:srgbClr val="1A2233"/>
                </a:solidFill>
                <a:latin typeface="Calibri"/>
              </a:rPr>
              <a:t>L2 · State</a:t>
            </a:r>
          </a:p>
        </p:txBody>
      </p:sp>
      <p:sp>
        <p:nvSpPr>
          <p:cNvPr id="9" name="Rounded Rectangle 8"/>
          <p:cNvSpPr/>
          <p:nvPr/>
        </p:nvSpPr>
        <p:spPr>
          <a:xfrm>
            <a:off x="3474720" y="2103120"/>
            <a:ext cx="5852159" cy="475488"/>
          </a:xfrm>
          <a:prstGeom prst="roundRect">
            <a:avLst>
              <a:gd name="adj" fmla="val 50000"/>
            </a:avLst>
          </a:prstGeom>
          <a:solidFill>
            <a:srgbClr val="29C2F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36607" y="2194560"/>
            <a:ext cx="1097280" cy="274320"/>
          </a:xfrm>
          <a:prstGeom prst="rect">
            <a:avLst/>
          </a:prstGeom>
          <a:noFill/>
        </p:spPr>
        <p:txBody>
          <a:bodyPr wrap="square" lIns="0" rIns="0" tIns="0" bIns="0">
            <a:spAutoFit/>
          </a:bodyPr>
          <a:lstStyle/>
          <a:p>
            <a:pPr algn="l"/>
            <a:r>
              <a:rPr sz="1300" b="1" i="0">
                <a:solidFill>
                  <a:srgbClr val="1A2233"/>
                </a:solidFill>
                <a:latin typeface="Calibri"/>
              </a:rPr>
              <a:t>+177%</a:t>
            </a:r>
          </a:p>
        </p:txBody>
      </p:sp>
      <p:sp>
        <p:nvSpPr>
          <p:cNvPr id="11" name="TextBox 10"/>
          <p:cNvSpPr txBox="1"/>
          <p:nvPr/>
        </p:nvSpPr>
        <p:spPr>
          <a:xfrm>
            <a:off x="9098280" y="2212848"/>
            <a:ext cx="1188720" cy="237744"/>
          </a:xfrm>
          <a:prstGeom prst="rect">
            <a:avLst/>
          </a:prstGeom>
          <a:noFill/>
        </p:spPr>
        <p:txBody>
          <a:bodyPr wrap="square" lIns="0" rIns="0" tIns="0" bIns="0">
            <a:spAutoFit/>
          </a:bodyPr>
          <a:lstStyle/>
          <a:p>
            <a:pPr algn="r"/>
            <a:r>
              <a:rPr sz="1050" b="0" i="0">
                <a:solidFill>
                  <a:srgbClr val="8A97B0"/>
                </a:solidFill>
                <a:latin typeface="Calibri"/>
              </a:rPr>
              <a:t>-55%</a:t>
            </a:r>
          </a:p>
        </p:txBody>
      </p:sp>
      <p:sp>
        <p:nvSpPr>
          <p:cNvPr id="12" name="TextBox 11"/>
          <p:cNvSpPr txBox="1"/>
          <p:nvPr/>
        </p:nvSpPr>
        <p:spPr>
          <a:xfrm>
            <a:off x="10424160" y="2212848"/>
            <a:ext cx="1234440" cy="237744"/>
          </a:xfrm>
          <a:prstGeom prst="rect">
            <a:avLst/>
          </a:prstGeom>
          <a:noFill/>
        </p:spPr>
        <p:txBody>
          <a:bodyPr wrap="square" lIns="0" rIns="0" tIns="0" bIns="0">
            <a:spAutoFit/>
          </a:bodyPr>
          <a:lstStyle/>
          <a:p>
            <a:pPr algn="r"/>
            <a:r>
              <a:rPr sz="1050" b="0" i="0">
                <a:solidFill>
                  <a:srgbClr val="1A2233"/>
                </a:solidFill>
                <a:latin typeface="Calibri"/>
              </a:rPr>
              <a:t>+28%</a:t>
            </a:r>
          </a:p>
        </p:txBody>
      </p:sp>
      <p:sp>
        <p:nvSpPr>
          <p:cNvPr id="13" name="TextBox 12"/>
          <p:cNvSpPr txBox="1"/>
          <p:nvPr/>
        </p:nvSpPr>
        <p:spPr>
          <a:xfrm>
            <a:off x="777240" y="2999232"/>
            <a:ext cx="2606040" cy="256032"/>
          </a:xfrm>
          <a:prstGeom prst="rect">
            <a:avLst/>
          </a:prstGeom>
          <a:noFill/>
        </p:spPr>
        <p:txBody>
          <a:bodyPr wrap="square" lIns="0" rIns="0" tIns="0" bIns="0">
            <a:spAutoFit/>
          </a:bodyPr>
          <a:lstStyle/>
          <a:p>
            <a:pPr algn="l"/>
            <a:r>
              <a:rPr sz="1250" b="1" i="0">
                <a:solidFill>
                  <a:srgbClr val="1A2233"/>
                </a:solidFill>
                <a:latin typeface="Calibri"/>
              </a:rPr>
              <a:t>L3 · Work</a:t>
            </a:r>
          </a:p>
        </p:txBody>
      </p:sp>
      <p:sp>
        <p:nvSpPr>
          <p:cNvPr id="14" name="Rounded Rectangle 13"/>
          <p:cNvSpPr/>
          <p:nvPr/>
        </p:nvSpPr>
        <p:spPr>
          <a:xfrm>
            <a:off x="3474720" y="2889503"/>
            <a:ext cx="5494598" cy="475488"/>
          </a:xfrm>
          <a:prstGeom prst="roundRect">
            <a:avLst>
              <a:gd name="adj" fmla="val 50000"/>
            </a:avLst>
          </a:prstGeom>
          <a:solidFill>
            <a:srgbClr val="1B3F8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9046" y="2980944"/>
            <a:ext cx="1097280" cy="274320"/>
          </a:xfrm>
          <a:prstGeom prst="rect">
            <a:avLst/>
          </a:prstGeom>
          <a:noFill/>
        </p:spPr>
        <p:txBody>
          <a:bodyPr wrap="square" lIns="0" rIns="0" tIns="0" bIns="0">
            <a:spAutoFit/>
          </a:bodyPr>
          <a:lstStyle/>
          <a:p>
            <a:pPr algn="l"/>
            <a:r>
              <a:rPr sz="1300" b="1" i="0">
                <a:solidFill>
                  <a:srgbClr val="1A2233"/>
                </a:solidFill>
                <a:latin typeface="Calibri"/>
              </a:rPr>
              <a:t>+175%</a:t>
            </a:r>
          </a:p>
        </p:txBody>
      </p:sp>
      <p:sp>
        <p:nvSpPr>
          <p:cNvPr id="16" name="TextBox 15"/>
          <p:cNvSpPr txBox="1"/>
          <p:nvPr/>
        </p:nvSpPr>
        <p:spPr>
          <a:xfrm>
            <a:off x="9098280" y="2999232"/>
            <a:ext cx="1188720" cy="237744"/>
          </a:xfrm>
          <a:prstGeom prst="rect">
            <a:avLst/>
          </a:prstGeom>
          <a:noFill/>
        </p:spPr>
        <p:txBody>
          <a:bodyPr wrap="square" lIns="0" rIns="0" tIns="0" bIns="0">
            <a:spAutoFit/>
          </a:bodyPr>
          <a:lstStyle/>
          <a:p>
            <a:pPr algn="r"/>
            <a:r>
              <a:rPr sz="1050" b="0" i="0">
                <a:solidFill>
                  <a:srgbClr val="8A97B0"/>
                </a:solidFill>
                <a:latin typeface="Calibri"/>
              </a:rPr>
              <a:t>-49%</a:t>
            </a:r>
          </a:p>
        </p:txBody>
      </p:sp>
      <p:sp>
        <p:nvSpPr>
          <p:cNvPr id="17" name="TextBox 16"/>
          <p:cNvSpPr txBox="1"/>
          <p:nvPr/>
        </p:nvSpPr>
        <p:spPr>
          <a:xfrm>
            <a:off x="10424160" y="2999232"/>
            <a:ext cx="1234440" cy="237744"/>
          </a:xfrm>
          <a:prstGeom prst="rect">
            <a:avLst/>
          </a:prstGeom>
          <a:noFill/>
        </p:spPr>
        <p:txBody>
          <a:bodyPr wrap="square" lIns="0" rIns="0" tIns="0" bIns="0">
            <a:spAutoFit/>
          </a:bodyPr>
          <a:lstStyle/>
          <a:p>
            <a:pPr algn="r"/>
            <a:r>
              <a:rPr sz="1050" b="0" i="0">
                <a:solidFill>
                  <a:srgbClr val="1A2233"/>
                </a:solidFill>
                <a:latin typeface="Calibri"/>
              </a:rPr>
              <a:t>+46%</a:t>
            </a:r>
          </a:p>
        </p:txBody>
      </p:sp>
      <p:sp>
        <p:nvSpPr>
          <p:cNvPr id="18" name="TextBox 17"/>
          <p:cNvSpPr txBox="1"/>
          <p:nvPr/>
        </p:nvSpPr>
        <p:spPr>
          <a:xfrm>
            <a:off x="777240" y="3785615"/>
            <a:ext cx="2606040" cy="256032"/>
          </a:xfrm>
          <a:prstGeom prst="rect">
            <a:avLst/>
          </a:prstGeom>
          <a:noFill/>
        </p:spPr>
        <p:txBody>
          <a:bodyPr wrap="square" lIns="0" rIns="0" tIns="0" bIns="0">
            <a:spAutoFit/>
          </a:bodyPr>
          <a:lstStyle/>
          <a:p>
            <a:pPr algn="l"/>
            <a:r>
              <a:rPr sz="1250" b="0" i="0">
                <a:solidFill>
                  <a:srgbClr val="5A6478"/>
                </a:solidFill>
                <a:latin typeface="Calibri"/>
              </a:rPr>
              <a:t>L4 · Apps</a:t>
            </a:r>
          </a:p>
        </p:txBody>
      </p:sp>
      <p:sp>
        <p:nvSpPr>
          <p:cNvPr id="19" name="Rounded Rectangle 18"/>
          <p:cNvSpPr/>
          <p:nvPr/>
        </p:nvSpPr>
        <p:spPr>
          <a:xfrm>
            <a:off x="3474720" y="3675887"/>
            <a:ext cx="1521687" cy="475488"/>
          </a:xfrm>
          <a:prstGeom prst="roundRect">
            <a:avLst>
              <a:gd name="adj" fmla="val 50000"/>
            </a:avLst>
          </a:prstGeom>
          <a:solidFill>
            <a:srgbClr val="C9D2E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06135" y="3767327"/>
            <a:ext cx="1097280" cy="274320"/>
          </a:xfrm>
          <a:prstGeom prst="rect">
            <a:avLst/>
          </a:prstGeom>
          <a:noFill/>
        </p:spPr>
        <p:txBody>
          <a:bodyPr wrap="square" lIns="0" rIns="0" tIns="0" bIns="0">
            <a:spAutoFit/>
          </a:bodyPr>
          <a:lstStyle/>
          <a:p>
            <a:pPr algn="l"/>
            <a:r>
              <a:rPr sz="1300" b="1" i="0">
                <a:solidFill>
                  <a:srgbClr val="5A6478"/>
                </a:solidFill>
                <a:latin typeface="Calibri"/>
              </a:rPr>
              <a:t>+55%</a:t>
            </a:r>
          </a:p>
        </p:txBody>
      </p:sp>
      <p:sp>
        <p:nvSpPr>
          <p:cNvPr id="21" name="TextBox 20"/>
          <p:cNvSpPr txBox="1"/>
          <p:nvPr/>
        </p:nvSpPr>
        <p:spPr>
          <a:xfrm>
            <a:off x="9098280" y="3785615"/>
            <a:ext cx="1188720" cy="237744"/>
          </a:xfrm>
          <a:prstGeom prst="rect">
            <a:avLst/>
          </a:prstGeom>
          <a:noFill/>
        </p:spPr>
        <p:txBody>
          <a:bodyPr wrap="square" lIns="0" rIns="0" tIns="0" bIns="0">
            <a:spAutoFit/>
          </a:bodyPr>
          <a:lstStyle/>
          <a:p>
            <a:pPr algn="r"/>
            <a:r>
              <a:rPr sz="1050" b="0" i="0">
                <a:solidFill>
                  <a:srgbClr val="8A97B0"/>
                </a:solidFill>
                <a:latin typeface="Calibri"/>
              </a:rPr>
              <a:t>-43%</a:t>
            </a:r>
          </a:p>
        </p:txBody>
      </p:sp>
      <p:sp>
        <p:nvSpPr>
          <p:cNvPr id="22" name="TextBox 21"/>
          <p:cNvSpPr txBox="1"/>
          <p:nvPr/>
        </p:nvSpPr>
        <p:spPr>
          <a:xfrm>
            <a:off x="10424160" y="3785615"/>
            <a:ext cx="1234440" cy="237744"/>
          </a:xfrm>
          <a:prstGeom prst="rect">
            <a:avLst/>
          </a:prstGeom>
          <a:noFill/>
        </p:spPr>
        <p:txBody>
          <a:bodyPr wrap="square" lIns="0" rIns="0" tIns="0" bIns="0">
            <a:spAutoFit/>
          </a:bodyPr>
          <a:lstStyle/>
          <a:p>
            <a:pPr algn="r"/>
            <a:r>
              <a:rPr sz="1050" b="0" i="0">
                <a:solidFill>
                  <a:srgbClr val="5A6478"/>
                </a:solidFill>
                <a:latin typeface="Calibri"/>
              </a:rPr>
              <a:t>-9%</a:t>
            </a:r>
          </a:p>
        </p:txBody>
      </p:sp>
      <p:sp>
        <p:nvSpPr>
          <p:cNvPr id="23" name="TextBox 22"/>
          <p:cNvSpPr txBox="1"/>
          <p:nvPr/>
        </p:nvSpPr>
        <p:spPr>
          <a:xfrm>
            <a:off x="777240" y="4617720"/>
            <a:ext cx="10634472" cy="274320"/>
          </a:xfrm>
          <a:prstGeom prst="rect">
            <a:avLst/>
          </a:prstGeom>
          <a:noFill/>
        </p:spPr>
        <p:txBody>
          <a:bodyPr wrap="square" lIns="0" rIns="0" tIns="0" bIns="0">
            <a:spAutoFit/>
          </a:bodyPr>
          <a:lstStyle/>
          <a:p>
            <a:pPr algn="l"/>
            <a:r>
              <a:rPr sz="950" b="0" i="1">
                <a:solidFill>
                  <a:srgbClr val="5A6478"/>
                </a:solidFill>
                <a:latin typeface="Calibri"/>
              </a:rPr>
              <a:t>Reconciliation: the deeper a layer derated in 2022, the more it rebounds from the ChatGPT base — state fell hardest and rebounds more; work leads on the full period (146 vs 128). Same series, two honest cuts.</a:t>
            </a:r>
          </a:p>
        </p:txBody>
      </p:sp>
      <p:sp>
        <p:nvSpPr>
          <p:cNvPr id="24" name="Rounded Rectangle 23"/>
          <p:cNvSpPr/>
          <p:nvPr/>
        </p:nvSpPr>
        <p:spPr>
          <a:xfrm>
            <a:off x="777240" y="5010912"/>
            <a:ext cx="3429000" cy="1133856"/>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6695" y="5138928"/>
            <a:ext cx="3017520" cy="219456"/>
          </a:xfrm>
          <a:prstGeom prst="rect">
            <a:avLst/>
          </a:prstGeom>
          <a:noFill/>
        </p:spPr>
        <p:txBody>
          <a:bodyPr wrap="square" lIns="0" rIns="0" tIns="0" bIns="0">
            <a:spAutoFit/>
          </a:bodyPr>
          <a:lstStyle/>
          <a:p>
            <a:pPr algn="l"/>
            <a:r>
              <a:rPr sz="950" b="1" i="0">
                <a:solidFill>
                  <a:srgbClr val="2777EF"/>
                </a:solidFill>
                <a:latin typeface="Calibri"/>
              </a:rPr>
              <a:t>THE LAYERS CONFIRM THE THESIS</a:t>
            </a:r>
          </a:p>
        </p:txBody>
      </p:sp>
      <p:sp>
        <p:nvSpPr>
          <p:cNvPr id="26" name="TextBox 25"/>
          <p:cNvSpPr txBox="1"/>
          <p:nvPr/>
        </p:nvSpPr>
        <p:spPr>
          <a:xfrm>
            <a:off x="996695" y="5413248"/>
            <a:ext cx="3017520" cy="694944"/>
          </a:xfrm>
          <a:prstGeom prst="rect">
            <a:avLst/>
          </a:prstGeom>
          <a:noFill/>
        </p:spPr>
        <p:txBody>
          <a:bodyPr wrap="square" lIns="0" rIns="0" tIns="0" bIns="0">
            <a:spAutoFit/>
          </a:bodyPr>
          <a:lstStyle/>
          <a:p>
            <a:pPr algn="l"/>
            <a:r>
              <a:rPr sz="980" b="0" i="0">
                <a:solidFill>
                  <a:srgbClr val="5A6478"/>
                </a:solidFill>
                <a:latin typeface="Calibri"/>
              </a:rPr>
              <a:t>Work +175% and state +177% against apps +55% — the tape pays the layers that meter machine labor, not the seats it replaces.</a:t>
            </a:r>
          </a:p>
        </p:txBody>
      </p:sp>
      <p:sp>
        <p:nvSpPr>
          <p:cNvPr id="27" name="Rounded Rectangle 26"/>
          <p:cNvSpPr/>
          <p:nvPr/>
        </p:nvSpPr>
        <p:spPr>
          <a:xfrm>
            <a:off x="4379976" y="5010912"/>
            <a:ext cx="3429000" cy="1133856"/>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2" y="5138928"/>
            <a:ext cx="3017520" cy="219456"/>
          </a:xfrm>
          <a:prstGeom prst="rect">
            <a:avLst/>
          </a:prstGeom>
          <a:noFill/>
        </p:spPr>
        <p:txBody>
          <a:bodyPr wrap="square" lIns="0" rIns="0" tIns="0" bIns="0">
            <a:spAutoFit/>
          </a:bodyPr>
          <a:lstStyle/>
          <a:p>
            <a:pPr algn="l"/>
            <a:r>
              <a:rPr sz="950" b="1" i="0">
                <a:solidFill>
                  <a:srgbClr val="2777EF"/>
                </a:solidFill>
                <a:latin typeface="Calibri"/>
              </a:rPr>
              <a:t>THE GAP IS THE POINT</a:t>
            </a:r>
          </a:p>
        </p:txBody>
      </p:sp>
      <p:sp>
        <p:nvSpPr>
          <p:cNvPr id="29" name="TextBox 28"/>
          <p:cNvSpPr txBox="1"/>
          <p:nvPr/>
        </p:nvSpPr>
        <p:spPr>
          <a:xfrm>
            <a:off x="4599432" y="5413248"/>
            <a:ext cx="3017520" cy="694944"/>
          </a:xfrm>
          <a:prstGeom prst="rect">
            <a:avLst/>
          </a:prstGeom>
          <a:noFill/>
        </p:spPr>
        <p:txBody>
          <a:bodyPr wrap="square" lIns="0" rIns="0" tIns="0" bIns="0">
            <a:spAutoFit/>
          </a:bodyPr>
          <a:lstStyle/>
          <a:p>
            <a:pPr algn="l"/>
            <a:r>
              <a:rPr sz="980" b="0" i="0">
                <a:solidFill>
                  <a:srgbClr val="5A6478"/>
                </a:solidFill>
                <a:latin typeface="Calibri"/>
              </a:rPr>
              <a:t>A ~3-to-1 spread between the meters and the apps in under four years — the market is repricing where the wave lands, quarter by quarter.</a:t>
            </a:r>
          </a:p>
        </p:txBody>
      </p:sp>
      <p:sp>
        <p:nvSpPr>
          <p:cNvPr id="30" name="Rounded Rectangle 29"/>
          <p:cNvSpPr/>
          <p:nvPr/>
        </p:nvSpPr>
        <p:spPr>
          <a:xfrm>
            <a:off x="7982712" y="5010912"/>
            <a:ext cx="3429000" cy="1133856"/>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02168" y="5138928"/>
            <a:ext cx="3017520" cy="219456"/>
          </a:xfrm>
          <a:prstGeom prst="rect">
            <a:avLst/>
          </a:prstGeom>
          <a:noFill/>
        </p:spPr>
        <p:txBody>
          <a:bodyPr wrap="square" lIns="0" rIns="0" tIns="0" bIns="0">
            <a:spAutoFit/>
          </a:bodyPr>
          <a:lstStyle/>
          <a:p>
            <a:pPr algn="l"/>
            <a:r>
              <a:rPr sz="950" b="1" i="0">
                <a:solidFill>
                  <a:srgbClr val="2777EF"/>
                </a:solidFill>
                <a:latin typeface="Calibri"/>
              </a:rPr>
              <a:t>THE APPS ARE THE OTHER SIDE</a:t>
            </a:r>
          </a:p>
        </p:txBody>
      </p:sp>
      <p:sp>
        <p:nvSpPr>
          <p:cNvPr id="32" name="TextBox 31"/>
          <p:cNvSpPr txBox="1"/>
          <p:nvPr/>
        </p:nvSpPr>
        <p:spPr>
          <a:xfrm>
            <a:off x="8202168" y="5413248"/>
            <a:ext cx="3017520" cy="694944"/>
          </a:xfrm>
          <a:prstGeom prst="rect">
            <a:avLst/>
          </a:prstGeom>
          <a:noFill/>
        </p:spPr>
        <p:txBody>
          <a:bodyPr wrap="square" lIns="0" rIns="0" tIns="0" bIns="0">
            <a:spAutoFit/>
          </a:bodyPr>
          <a:lstStyle/>
          <a:p>
            <a:pPr algn="l"/>
            <a:r>
              <a:rPr sz="980" b="0" i="0">
                <a:solidFill>
                  <a:srgbClr val="5A6478"/>
                </a:solidFill>
                <a:latin typeface="Calibri"/>
              </a:rPr>
              <a:t>Forty names, +55% in the biggest software demand shock ever — and still down 9% from January 2022. The seat model is repricing.</a:t>
            </a:r>
          </a:p>
        </p:txBody>
      </p:sp>
      <p:sp>
        <p:nvSpPr>
          <p:cNvPr id="33" name="Rounded Rectangle 32"/>
          <p:cNvSpPr/>
          <p:nvPr/>
        </p:nvSpPr>
        <p:spPr>
          <a:xfrm>
            <a:off x="777240" y="62179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meters run ~3-to-1 ahead of the apps  </a:t>
            </a:r>
            <a:r>
              <a:rPr sz="1200">
                <a:solidFill>
                  <a:srgbClr val="1A2233"/>
                </a:solidFill>
                <a:latin typeface="Calibri"/>
              </a:rPr>
              <a:t>— layer-level, no selection. Part 04 prices what this evidence implies.</a:t>
            </a:r>
          </a:p>
        </p:txBody>
      </p:sp>
      <p:sp>
        <p:nvSpPr>
          <p:cNvPr id="34" name="TextBox 33"/>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5" name="TextBox 34"/>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60</a:t>
            </a:r>
          </a:p>
        </p:txBody>
      </p:sp>
      <p:sp>
        <p:nvSpPr>
          <p:cNvPr id="36" name="TextBox 35"/>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Same methodology as previous slide: equal-weighted total return, rebalanced each December; derate = calendar-2022 return; 'since Jan 22' matches the chart's end levels (128 · 146 · 91).</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Nobody has re-rated for agents — at any layer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MEDIAN EV / FORWARD REVENUE BY LAYER, QUARTERLY — REALIZED-FORWARD BASIS; JUL '26 = CONSENSUS NTM</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88720" y="4401780"/>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77240" y="4319484"/>
            <a:ext cx="347472" cy="182880"/>
          </a:xfrm>
          <a:prstGeom prst="rect">
            <a:avLst/>
          </a:prstGeom>
          <a:noFill/>
        </p:spPr>
        <p:txBody>
          <a:bodyPr wrap="square" lIns="0" rIns="0" tIns="0" bIns="0">
            <a:spAutoFit/>
          </a:bodyPr>
          <a:lstStyle/>
          <a:p>
            <a:pPr algn="r"/>
            <a:r>
              <a:rPr sz="850" b="0" i="0">
                <a:solidFill>
                  <a:srgbClr val="8A97B0"/>
                </a:solidFill>
                <a:latin typeface="Calibri"/>
              </a:rPr>
              <a:t>4x</a:t>
            </a:r>
          </a:p>
        </p:txBody>
      </p:sp>
      <p:cxnSp>
        <p:nvCxnSpPr>
          <p:cNvPr id="7" name="Connector 6"/>
          <p:cNvCxnSpPr/>
          <p:nvPr/>
        </p:nvCxnSpPr>
        <p:spPr>
          <a:xfrm>
            <a:off x="1188720" y="3225721"/>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77240" y="3143425"/>
            <a:ext cx="347472" cy="182880"/>
          </a:xfrm>
          <a:prstGeom prst="rect">
            <a:avLst/>
          </a:prstGeom>
          <a:noFill/>
        </p:spPr>
        <p:txBody>
          <a:bodyPr wrap="square" lIns="0" rIns="0" tIns="0" bIns="0">
            <a:spAutoFit/>
          </a:bodyPr>
          <a:lstStyle/>
          <a:p>
            <a:pPr algn="r"/>
            <a:r>
              <a:rPr sz="850" b="0" i="0">
                <a:solidFill>
                  <a:srgbClr val="8A97B0"/>
                </a:solidFill>
                <a:latin typeface="Calibri"/>
              </a:rPr>
              <a:t>8x</a:t>
            </a:r>
          </a:p>
        </p:txBody>
      </p:sp>
      <p:cxnSp>
        <p:nvCxnSpPr>
          <p:cNvPr id="9" name="Connector 8"/>
          <p:cNvCxnSpPr/>
          <p:nvPr/>
        </p:nvCxnSpPr>
        <p:spPr>
          <a:xfrm>
            <a:off x="1188720" y="2049662"/>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77240" y="1967366"/>
            <a:ext cx="347472" cy="182880"/>
          </a:xfrm>
          <a:prstGeom prst="rect">
            <a:avLst/>
          </a:prstGeom>
          <a:noFill/>
        </p:spPr>
        <p:txBody>
          <a:bodyPr wrap="square" lIns="0" rIns="0" tIns="0" bIns="0">
            <a:spAutoFit/>
          </a:bodyPr>
          <a:lstStyle/>
          <a:p>
            <a:pPr algn="r"/>
            <a:r>
              <a:rPr sz="850" b="0" i="0">
                <a:solidFill>
                  <a:srgbClr val="8A97B0"/>
                </a:solidFill>
                <a:latin typeface="Calibri"/>
              </a:rPr>
              <a:t>12x</a:t>
            </a:r>
          </a:p>
        </p:txBody>
      </p:sp>
      <p:sp>
        <p:nvSpPr>
          <p:cNvPr id="11" name="TextBox 10"/>
          <p:cNvSpPr txBox="1"/>
          <p:nvPr/>
        </p:nvSpPr>
        <p:spPr>
          <a:xfrm>
            <a:off x="868680" y="5650992"/>
            <a:ext cx="640080" cy="182880"/>
          </a:xfrm>
          <a:prstGeom prst="rect">
            <a:avLst/>
          </a:prstGeom>
          <a:noFill/>
        </p:spPr>
        <p:txBody>
          <a:bodyPr wrap="square" lIns="0" rIns="0" tIns="0" bIns="0">
            <a:spAutoFit/>
          </a:bodyPr>
          <a:lstStyle/>
          <a:p>
            <a:pPr algn="ctr"/>
            <a:r>
              <a:rPr sz="850" b="0" i="0">
                <a:solidFill>
                  <a:srgbClr val="8A97B0"/>
                </a:solidFill>
                <a:latin typeface="Calibri"/>
              </a:rPr>
              <a:t>Jul'23</a:t>
            </a:r>
          </a:p>
        </p:txBody>
      </p:sp>
      <p:sp>
        <p:nvSpPr>
          <p:cNvPr id="12" name="TextBox 11"/>
          <p:cNvSpPr txBox="1"/>
          <p:nvPr/>
        </p:nvSpPr>
        <p:spPr>
          <a:xfrm>
            <a:off x="2045969" y="5650992"/>
            <a:ext cx="640080" cy="182880"/>
          </a:xfrm>
          <a:prstGeom prst="rect">
            <a:avLst/>
          </a:prstGeom>
          <a:noFill/>
        </p:spPr>
        <p:txBody>
          <a:bodyPr wrap="square" lIns="0" rIns="0" tIns="0" bIns="0">
            <a:spAutoFit/>
          </a:bodyPr>
          <a:lstStyle/>
          <a:p>
            <a:pPr algn="ctr"/>
            <a:r>
              <a:rPr sz="850" b="0" i="0">
                <a:solidFill>
                  <a:srgbClr val="8A97B0"/>
                </a:solidFill>
                <a:latin typeface="Calibri"/>
              </a:rPr>
              <a:t>Oct'23</a:t>
            </a:r>
          </a:p>
        </p:txBody>
      </p:sp>
      <p:sp>
        <p:nvSpPr>
          <p:cNvPr id="13" name="TextBox 12"/>
          <p:cNvSpPr txBox="1"/>
          <p:nvPr/>
        </p:nvSpPr>
        <p:spPr>
          <a:xfrm>
            <a:off x="3223260" y="5650992"/>
            <a:ext cx="640080" cy="182880"/>
          </a:xfrm>
          <a:prstGeom prst="rect">
            <a:avLst/>
          </a:prstGeom>
          <a:noFill/>
        </p:spPr>
        <p:txBody>
          <a:bodyPr wrap="square" lIns="0" rIns="0" tIns="0" bIns="0">
            <a:spAutoFit/>
          </a:bodyPr>
          <a:lstStyle/>
          <a:p>
            <a:pPr algn="ctr"/>
            <a:r>
              <a:rPr sz="850" b="0" i="0">
                <a:solidFill>
                  <a:srgbClr val="8A97B0"/>
                </a:solidFill>
                <a:latin typeface="Calibri"/>
              </a:rPr>
              <a:t>Jan'24</a:t>
            </a:r>
          </a:p>
        </p:txBody>
      </p:sp>
      <p:sp>
        <p:nvSpPr>
          <p:cNvPr id="14" name="TextBox 13"/>
          <p:cNvSpPr txBox="1"/>
          <p:nvPr/>
        </p:nvSpPr>
        <p:spPr>
          <a:xfrm>
            <a:off x="4400550" y="5650992"/>
            <a:ext cx="640080" cy="182880"/>
          </a:xfrm>
          <a:prstGeom prst="rect">
            <a:avLst/>
          </a:prstGeom>
          <a:noFill/>
        </p:spPr>
        <p:txBody>
          <a:bodyPr wrap="square" lIns="0" rIns="0" tIns="0" bIns="0">
            <a:spAutoFit/>
          </a:bodyPr>
          <a:lstStyle/>
          <a:p>
            <a:pPr algn="ctr"/>
            <a:r>
              <a:rPr sz="850" b="0" i="0">
                <a:solidFill>
                  <a:srgbClr val="8A97B0"/>
                </a:solidFill>
                <a:latin typeface="Calibri"/>
              </a:rPr>
              <a:t>Apr'24</a:t>
            </a:r>
          </a:p>
        </p:txBody>
      </p:sp>
      <p:sp>
        <p:nvSpPr>
          <p:cNvPr id="15" name="TextBox 14"/>
          <p:cNvSpPr txBox="1"/>
          <p:nvPr/>
        </p:nvSpPr>
        <p:spPr>
          <a:xfrm>
            <a:off x="5577840" y="5650992"/>
            <a:ext cx="640080" cy="182880"/>
          </a:xfrm>
          <a:prstGeom prst="rect">
            <a:avLst/>
          </a:prstGeom>
          <a:noFill/>
        </p:spPr>
        <p:txBody>
          <a:bodyPr wrap="square" lIns="0" rIns="0" tIns="0" bIns="0">
            <a:spAutoFit/>
          </a:bodyPr>
          <a:lstStyle/>
          <a:p>
            <a:pPr algn="ctr"/>
            <a:r>
              <a:rPr sz="850" b="0" i="0">
                <a:solidFill>
                  <a:srgbClr val="8A97B0"/>
                </a:solidFill>
                <a:latin typeface="Calibri"/>
              </a:rPr>
              <a:t>Jul'24</a:t>
            </a:r>
          </a:p>
        </p:txBody>
      </p:sp>
      <p:sp>
        <p:nvSpPr>
          <p:cNvPr id="16" name="TextBox 15"/>
          <p:cNvSpPr txBox="1"/>
          <p:nvPr/>
        </p:nvSpPr>
        <p:spPr>
          <a:xfrm>
            <a:off x="6755129" y="5650992"/>
            <a:ext cx="640080" cy="182880"/>
          </a:xfrm>
          <a:prstGeom prst="rect">
            <a:avLst/>
          </a:prstGeom>
          <a:noFill/>
        </p:spPr>
        <p:txBody>
          <a:bodyPr wrap="square" lIns="0" rIns="0" tIns="0" bIns="0">
            <a:spAutoFit/>
          </a:bodyPr>
          <a:lstStyle/>
          <a:p>
            <a:pPr algn="ctr"/>
            <a:r>
              <a:rPr sz="850" b="0" i="0">
                <a:solidFill>
                  <a:srgbClr val="8A97B0"/>
                </a:solidFill>
                <a:latin typeface="Calibri"/>
              </a:rPr>
              <a:t>Oct'24</a:t>
            </a:r>
          </a:p>
        </p:txBody>
      </p:sp>
      <p:sp>
        <p:nvSpPr>
          <p:cNvPr id="17" name="TextBox 16"/>
          <p:cNvSpPr txBox="1"/>
          <p:nvPr/>
        </p:nvSpPr>
        <p:spPr>
          <a:xfrm>
            <a:off x="7932420" y="5650992"/>
            <a:ext cx="640080" cy="182880"/>
          </a:xfrm>
          <a:prstGeom prst="rect">
            <a:avLst/>
          </a:prstGeom>
          <a:noFill/>
        </p:spPr>
        <p:txBody>
          <a:bodyPr wrap="square" lIns="0" rIns="0" tIns="0" bIns="0">
            <a:spAutoFit/>
          </a:bodyPr>
          <a:lstStyle/>
          <a:p>
            <a:pPr algn="ctr"/>
            <a:r>
              <a:rPr sz="850" b="0" i="0">
                <a:solidFill>
                  <a:srgbClr val="8A97B0"/>
                </a:solidFill>
                <a:latin typeface="Calibri"/>
              </a:rPr>
              <a:t>Jan'25</a:t>
            </a:r>
          </a:p>
        </p:txBody>
      </p:sp>
      <p:sp>
        <p:nvSpPr>
          <p:cNvPr id="18" name="TextBox 17"/>
          <p:cNvSpPr txBox="1"/>
          <p:nvPr/>
        </p:nvSpPr>
        <p:spPr>
          <a:xfrm>
            <a:off x="9109710" y="5650992"/>
            <a:ext cx="640080" cy="182880"/>
          </a:xfrm>
          <a:prstGeom prst="rect">
            <a:avLst/>
          </a:prstGeom>
          <a:noFill/>
        </p:spPr>
        <p:txBody>
          <a:bodyPr wrap="square" lIns="0" rIns="0" tIns="0" bIns="0">
            <a:spAutoFit/>
          </a:bodyPr>
          <a:lstStyle/>
          <a:p>
            <a:pPr algn="ctr"/>
            <a:r>
              <a:rPr sz="850" b="0" i="0">
                <a:solidFill>
                  <a:srgbClr val="8A97B0"/>
                </a:solidFill>
                <a:latin typeface="Calibri"/>
              </a:rPr>
              <a:t>Apr'25</a:t>
            </a:r>
          </a:p>
        </p:txBody>
      </p:sp>
      <p:sp>
        <p:nvSpPr>
          <p:cNvPr id="19" name="TextBox 18"/>
          <p:cNvSpPr txBox="1"/>
          <p:nvPr/>
        </p:nvSpPr>
        <p:spPr>
          <a:xfrm>
            <a:off x="10287000" y="5650992"/>
            <a:ext cx="640080" cy="182880"/>
          </a:xfrm>
          <a:prstGeom prst="rect">
            <a:avLst/>
          </a:prstGeom>
          <a:noFill/>
        </p:spPr>
        <p:txBody>
          <a:bodyPr wrap="square" lIns="0" rIns="0" tIns="0" bIns="0">
            <a:spAutoFit/>
          </a:bodyPr>
          <a:lstStyle/>
          <a:p>
            <a:pPr algn="ctr"/>
            <a:r>
              <a:rPr sz="850" b="0" i="0">
                <a:solidFill>
                  <a:srgbClr val="8A97B0"/>
                </a:solidFill>
                <a:latin typeface="Calibri"/>
              </a:rPr>
              <a:t>Jul'26</a:t>
            </a:r>
          </a:p>
        </p:txBody>
      </p:sp>
      <p:cxnSp>
        <p:nvCxnSpPr>
          <p:cNvPr id="20" name="Connector 19"/>
          <p:cNvCxnSpPr/>
          <p:nvPr/>
        </p:nvCxnSpPr>
        <p:spPr>
          <a:xfrm>
            <a:off x="1188720" y="3460933"/>
            <a:ext cx="1177290" cy="529227"/>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366010" y="3225721"/>
            <a:ext cx="1177290" cy="764439"/>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543300" y="3225721"/>
            <a:ext cx="1177290" cy="176409"/>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720590" y="3402130"/>
            <a:ext cx="1177289" cy="176409"/>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897879" y="3578539"/>
            <a:ext cx="1177290" cy="147007"/>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075169" y="3402130"/>
            <a:ext cx="1177291" cy="323416"/>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252460" y="3402130"/>
            <a:ext cx="1177290" cy="617431"/>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9429750" y="3666744"/>
            <a:ext cx="1177290" cy="352817"/>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10556748" y="3616451"/>
            <a:ext cx="100584" cy="100584"/>
          </a:xfrm>
          <a:prstGeom prst="ellipse">
            <a:avLst/>
          </a:prstGeom>
          <a:solidFill>
            <a:srgbClr val="FFFFFF"/>
          </a:solidFill>
          <a:ln w="19050">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1188720" y="2608290"/>
            <a:ext cx="1177290" cy="294015"/>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2366010" y="2314276"/>
            <a:ext cx="1177290" cy="588029"/>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543300" y="2314276"/>
            <a:ext cx="1177290" cy="499825"/>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720590" y="2814101"/>
            <a:ext cx="1177289" cy="176409"/>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5897879" y="2872904"/>
            <a:ext cx="1177290" cy="117606"/>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075169" y="2137867"/>
            <a:ext cx="1177291" cy="735037"/>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252460" y="2137867"/>
            <a:ext cx="1177290" cy="911445"/>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429750" y="3049312"/>
            <a:ext cx="1177290" cy="646833"/>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10556748" y="3645853"/>
            <a:ext cx="100584" cy="100584"/>
          </a:xfrm>
          <a:prstGeom prst="ellipse">
            <a:avLst/>
          </a:prstGeom>
          <a:solidFill>
            <a:srgbClr val="FFFFFF"/>
          </a:solidFill>
          <a:ln w="19050">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1188720" y="3137517"/>
            <a:ext cx="1177290" cy="382219"/>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366010" y="3460933"/>
            <a:ext cx="1177290" cy="58803"/>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543300" y="3460933"/>
            <a:ext cx="1177290" cy="323416"/>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20590" y="3784349"/>
            <a:ext cx="1177289" cy="117606"/>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897879" y="3607941"/>
            <a:ext cx="1177290" cy="294014"/>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7075169" y="3402130"/>
            <a:ext cx="1177291" cy="205811"/>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252460" y="3402130"/>
            <a:ext cx="1177290" cy="382219"/>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9429750" y="3784349"/>
            <a:ext cx="1177290" cy="823242"/>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556748" y="4557299"/>
            <a:ext cx="100584" cy="100584"/>
          </a:xfrm>
          <a:prstGeom prst="ellipse">
            <a:avLst/>
          </a:prstGeom>
          <a:solidFill>
            <a:srgbClr val="FFFFFF"/>
          </a:solidFill>
          <a:ln w="19050">
            <a:solidFill>
              <a:srgbClr val="C9D2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744200" y="3456432"/>
            <a:ext cx="1005840" cy="365760"/>
          </a:xfrm>
          <a:prstGeom prst="rect">
            <a:avLst/>
          </a:prstGeom>
          <a:noFill/>
        </p:spPr>
        <p:txBody>
          <a:bodyPr wrap="square" lIns="0" rIns="0" tIns="0" bIns="0">
            <a:spAutoFit/>
          </a:bodyPr>
          <a:lstStyle/>
          <a:p>
            <a:pPr algn="l"/>
            <a:r>
              <a:rPr sz="1000" b="1" i="0">
                <a:solidFill>
                  <a:srgbClr val="29C2F1"/>
                </a:solidFill>
                <a:latin typeface="Calibri"/>
              </a:rPr>
              <a:t>L2 6.5x</a:t>
            </a:r>
          </a:p>
        </p:txBody>
      </p:sp>
      <p:sp>
        <p:nvSpPr>
          <p:cNvPr id="48" name="TextBox 47"/>
          <p:cNvSpPr txBox="1"/>
          <p:nvPr/>
        </p:nvSpPr>
        <p:spPr>
          <a:xfrm>
            <a:off x="10744200" y="3767328"/>
            <a:ext cx="1005840" cy="365760"/>
          </a:xfrm>
          <a:prstGeom prst="rect">
            <a:avLst/>
          </a:prstGeom>
          <a:noFill/>
        </p:spPr>
        <p:txBody>
          <a:bodyPr wrap="square" lIns="0" rIns="0" tIns="0" bIns="0">
            <a:spAutoFit/>
          </a:bodyPr>
          <a:lstStyle/>
          <a:p>
            <a:pPr algn="l"/>
            <a:r>
              <a:rPr sz="1000" b="1" i="0">
                <a:solidFill>
                  <a:srgbClr val="1B3F8F"/>
                </a:solidFill>
                <a:latin typeface="Calibri"/>
              </a:rPr>
              <a:t>L3 6.7x</a:t>
            </a:r>
          </a:p>
        </p:txBody>
      </p:sp>
      <p:sp>
        <p:nvSpPr>
          <p:cNvPr id="49" name="TextBox 48"/>
          <p:cNvSpPr txBox="1"/>
          <p:nvPr/>
        </p:nvSpPr>
        <p:spPr>
          <a:xfrm>
            <a:off x="10744200" y="4526280"/>
            <a:ext cx="1005840" cy="365760"/>
          </a:xfrm>
          <a:prstGeom prst="rect">
            <a:avLst/>
          </a:prstGeom>
          <a:noFill/>
        </p:spPr>
        <p:txBody>
          <a:bodyPr wrap="square" lIns="0" rIns="0" tIns="0" bIns="0">
            <a:spAutoFit/>
          </a:bodyPr>
          <a:lstStyle/>
          <a:p>
            <a:pPr algn="l"/>
            <a:r>
              <a:rPr sz="1000" b="1" i="0">
                <a:solidFill>
                  <a:srgbClr val="5A6478"/>
                </a:solidFill>
                <a:latin typeface="Calibri"/>
              </a:rPr>
              <a:t>L4 3.3x</a:t>
            </a:r>
          </a:p>
        </p:txBody>
      </p:sp>
      <p:sp>
        <p:nvSpPr>
          <p:cNvPr id="50" name="TextBox 49"/>
          <p:cNvSpPr txBox="1"/>
          <p:nvPr/>
        </p:nvSpPr>
        <p:spPr>
          <a:xfrm>
            <a:off x="2011680" y="1965960"/>
            <a:ext cx="5943600" cy="274320"/>
          </a:xfrm>
          <a:prstGeom prst="rect">
            <a:avLst/>
          </a:prstGeom>
          <a:noFill/>
        </p:spPr>
        <p:txBody>
          <a:bodyPr wrap="square" lIns="0" rIns="0" tIns="0" bIns="0">
            <a:spAutoFit/>
          </a:bodyPr>
          <a:lstStyle/>
          <a:p>
            <a:pPr algn="l"/>
            <a:r>
              <a:rPr sz="950" b="0" i="1">
                <a:solidFill>
                  <a:srgbClr val="5A6478"/>
                </a:solidFill>
                <a:latin typeface="Calibri"/>
              </a:rPr>
              <a:t>three years of grinding sideways-to-down — through the biggest software demand shock ever</a:t>
            </a:r>
          </a:p>
        </p:txBody>
      </p:sp>
      <p:sp>
        <p:nvSpPr>
          <p:cNvPr id="51" name="Rounded Rectangle 50"/>
          <p:cNvSpPr/>
          <p:nvPr/>
        </p:nvSpPr>
        <p:spPr>
          <a:xfrm>
            <a:off x="777240" y="5989320"/>
            <a:ext cx="10634472" cy="457200"/>
          </a:xfrm>
          <a:prstGeom prst="roundRect">
            <a:avLst>
              <a:gd name="adj" fmla="val 50000"/>
            </a:avLst>
          </a:prstGeom>
          <a:solidFill>
            <a:srgbClr val="FFFFFF"/>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Nothing is priced for agents  </a:t>
            </a:r>
            <a:r>
              <a:rPr sz="1200">
                <a:solidFill>
                  <a:srgbClr val="1A2233"/>
                </a:solidFill>
                <a:latin typeface="Calibri"/>
              </a:rPr>
              <a:t>— multiples ground down everywhere; consensus forward numbers carry zero agents.</a:t>
            </a:r>
          </a:p>
        </p:txBody>
      </p:sp>
      <p:sp>
        <p:nvSpPr>
          <p:cNvPr id="52" name="TextBox 5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53" name="TextBox 5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61</a:t>
            </a:r>
          </a:p>
        </p:txBody>
      </p:sp>
      <p:sp>
        <p:nvSpPr>
          <p:cNvPr id="54" name="TextBox 5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Medians by layer, EMCLOUD-classified names. History = EV (market-cap scaled by price, current net debt) ÷ realized next-4-quarter revenue; Jul '26 = consensus NTM (hollow) — bases differ, direction robust. Layer-detail charts (pp. 62–63) use the full rosters incl. extensions; levels differ modestly. Approximate.</a:t>
            </a:r>
          </a:p>
        </p:txBody>
      </p:sp>
      <p:sp>
        <p:nvSpPr>
          <p:cNvPr id="55" name="Oval 54"/>
          <p:cNvSpPr/>
          <p:nvPr/>
        </p:nvSpPr>
        <p:spPr>
          <a:xfrm>
            <a:off x="7498079" y="1847088"/>
            <a:ext cx="137160" cy="137160"/>
          </a:xfrm>
          <a:prstGeom prst="ellipse">
            <a:avLst/>
          </a:prstGeom>
          <a:solidFill>
            <a:srgbClr val="29C2F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99248" y="1810512"/>
            <a:ext cx="1051560" cy="201168"/>
          </a:xfrm>
          <a:prstGeom prst="rect">
            <a:avLst/>
          </a:prstGeom>
          <a:noFill/>
        </p:spPr>
        <p:txBody>
          <a:bodyPr wrap="square" lIns="0" rIns="0" tIns="0" bIns="0">
            <a:spAutoFit/>
          </a:bodyPr>
          <a:lstStyle/>
          <a:p>
            <a:r>
              <a:rPr sz="950" b="1">
                <a:solidFill>
                  <a:srgbClr val="5A6478"/>
                </a:solidFill>
                <a:latin typeface="Calibri"/>
              </a:rPr>
              <a:t>L2 · State</a:t>
            </a:r>
          </a:p>
        </p:txBody>
      </p:sp>
      <p:sp>
        <p:nvSpPr>
          <p:cNvPr id="57" name="Oval 56"/>
          <p:cNvSpPr/>
          <p:nvPr/>
        </p:nvSpPr>
        <p:spPr>
          <a:xfrm>
            <a:off x="8823959" y="1847088"/>
            <a:ext cx="137160" cy="137160"/>
          </a:xfrm>
          <a:prstGeom prst="ellipse">
            <a:avLst/>
          </a:prstGeom>
          <a:solidFill>
            <a:srgbClr val="1B3F8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25128" y="1810512"/>
            <a:ext cx="1051560" cy="201168"/>
          </a:xfrm>
          <a:prstGeom prst="rect">
            <a:avLst/>
          </a:prstGeom>
          <a:noFill/>
        </p:spPr>
        <p:txBody>
          <a:bodyPr wrap="square" lIns="0" rIns="0" tIns="0" bIns="0">
            <a:spAutoFit/>
          </a:bodyPr>
          <a:lstStyle/>
          <a:p>
            <a:r>
              <a:rPr sz="950" b="1">
                <a:solidFill>
                  <a:srgbClr val="5A6478"/>
                </a:solidFill>
                <a:latin typeface="Calibri"/>
              </a:rPr>
              <a:t>L3 · Work</a:t>
            </a:r>
          </a:p>
        </p:txBody>
      </p:sp>
      <p:sp>
        <p:nvSpPr>
          <p:cNvPr id="59" name="Oval 58"/>
          <p:cNvSpPr/>
          <p:nvPr/>
        </p:nvSpPr>
        <p:spPr>
          <a:xfrm>
            <a:off x="10149839" y="1847088"/>
            <a:ext cx="137160" cy="137160"/>
          </a:xfrm>
          <a:prstGeom prst="ellipse">
            <a:avLst/>
          </a:prstGeom>
          <a:solidFill>
            <a:srgbClr val="C9D2E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351007" y="1810512"/>
            <a:ext cx="1051560" cy="201168"/>
          </a:xfrm>
          <a:prstGeom prst="rect">
            <a:avLst/>
          </a:prstGeom>
          <a:noFill/>
        </p:spPr>
        <p:txBody>
          <a:bodyPr wrap="square" lIns="0" rIns="0" tIns="0" bIns="0">
            <a:spAutoFit/>
          </a:bodyPr>
          <a:lstStyle/>
          <a:p>
            <a:r>
              <a:rPr sz="950" b="1">
                <a:solidFill>
                  <a:srgbClr val="5A6478"/>
                </a:solidFill>
                <a:latin typeface="Calibri"/>
              </a:rPr>
              <a:t>L4 · Apps</a:t>
            </a:r>
          </a:p>
        </p:txBody>
      </p:sp>
    </p:spTree>
    <p:extLst>
      <p:ext uri="{BB962C8B-B14F-4D97-AF65-F5344CB8AC3E}">
        <p14:creationId xmlns:p14="http://schemas.microsoft.com/office/powerpoint/2010/main" val="342350401"/>
      </p:ext>
    </p:extLst>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The state layer: growth turned up, the multiple didn’t</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L2 — EV / REALIZED NEXT-4Q REVENUE, MEDIAN (LEFT) AND REVENUE GROWTH Y/Y, MEDIAN (RIGHT), Q2 2023 → TODAY</a:t>
            </a:r>
            <a:endParaRPr lang="en-US" sz="1150" dirty="0"/>
          </a:p>
        </p:txBody>
      </p:sp>
      <p:sp>
        <p:nvSpPr>
          <p:cNvPr id="22" name="Text 20"/>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3" name="Text 21"/>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Median across layer names: EV (market cap scaled by price; net debt held current) ÷ realized next-4-quarter revenue; growth = median y/y. Aug ’26 = consensus NTM median. Window limited by uniform quarterly coverage. Approximate.</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62</a:t>
            </a:fld>
            <a:endParaRPr lang="en-US"/>
          </a:p>
        </p:txBody>
      </p:sp>
      <p:cxnSp>
        <p:nvCxnSpPr>
          <p:cNvPr id="26" name="Connector 25"/>
          <p:cNvCxnSpPr/>
          <p:nvPr/>
        </p:nvCxnSpPr>
        <p:spPr>
          <a:xfrm>
            <a:off x="1188720" y="4535424"/>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4443984"/>
            <a:ext cx="640080" cy="182880"/>
          </a:xfrm>
          <a:prstGeom prst="rect">
            <a:avLst/>
          </a:prstGeom>
          <a:noFill/>
        </p:spPr>
        <p:txBody>
          <a:bodyPr wrap="square" lIns="0" rIns="0" tIns="0" bIns="0">
            <a:spAutoFit/>
          </a:bodyPr>
          <a:lstStyle/>
          <a:p>
            <a:pPr algn="r"/>
            <a:r>
              <a:rPr sz="900" b="0">
                <a:solidFill>
                  <a:srgbClr val="8A97B0"/>
                </a:solidFill>
                <a:latin typeface="Segoe UI"/>
              </a:rPr>
              <a:t>2x</a:t>
            </a:r>
          </a:p>
        </p:txBody>
      </p:sp>
      <p:cxnSp>
        <p:nvCxnSpPr>
          <p:cNvPr id="28" name="Connector 27"/>
          <p:cNvCxnSpPr/>
          <p:nvPr/>
        </p:nvCxnSpPr>
        <p:spPr>
          <a:xfrm>
            <a:off x="1188720" y="3931920"/>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3840480"/>
            <a:ext cx="640080" cy="182880"/>
          </a:xfrm>
          <a:prstGeom prst="rect">
            <a:avLst/>
          </a:prstGeom>
          <a:noFill/>
        </p:spPr>
        <p:txBody>
          <a:bodyPr wrap="square" lIns="0" rIns="0" tIns="0" bIns="0">
            <a:spAutoFit/>
          </a:bodyPr>
          <a:lstStyle/>
          <a:p>
            <a:pPr algn="r"/>
            <a:r>
              <a:rPr sz="900" b="0">
                <a:solidFill>
                  <a:srgbClr val="8A97B0"/>
                </a:solidFill>
                <a:latin typeface="Segoe UI"/>
              </a:rPr>
              <a:t>4x</a:t>
            </a:r>
          </a:p>
        </p:txBody>
      </p:sp>
      <p:cxnSp>
        <p:nvCxnSpPr>
          <p:cNvPr id="30" name="Connector 29"/>
          <p:cNvCxnSpPr/>
          <p:nvPr/>
        </p:nvCxnSpPr>
        <p:spPr>
          <a:xfrm>
            <a:off x="1188720" y="3328416"/>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3236976"/>
            <a:ext cx="640080" cy="182880"/>
          </a:xfrm>
          <a:prstGeom prst="rect">
            <a:avLst/>
          </a:prstGeom>
          <a:noFill/>
        </p:spPr>
        <p:txBody>
          <a:bodyPr wrap="square" lIns="0" rIns="0" tIns="0" bIns="0">
            <a:spAutoFit/>
          </a:bodyPr>
          <a:lstStyle/>
          <a:p>
            <a:pPr algn="r"/>
            <a:r>
              <a:rPr sz="900" b="0">
                <a:solidFill>
                  <a:srgbClr val="8A97B0"/>
                </a:solidFill>
                <a:latin typeface="Segoe UI"/>
              </a:rPr>
              <a:t>6x</a:t>
            </a:r>
          </a:p>
        </p:txBody>
      </p:sp>
      <p:cxnSp>
        <p:nvCxnSpPr>
          <p:cNvPr id="32" name="Connector 31"/>
          <p:cNvCxnSpPr/>
          <p:nvPr/>
        </p:nvCxnSpPr>
        <p:spPr>
          <a:xfrm>
            <a:off x="1188720" y="2724912"/>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633472"/>
            <a:ext cx="640080" cy="182880"/>
          </a:xfrm>
          <a:prstGeom prst="rect">
            <a:avLst/>
          </a:prstGeom>
          <a:noFill/>
        </p:spPr>
        <p:txBody>
          <a:bodyPr wrap="square" lIns="0" rIns="0" tIns="0" bIns="0">
            <a:spAutoFit/>
          </a:bodyPr>
          <a:lstStyle/>
          <a:p>
            <a:pPr algn="r"/>
            <a:r>
              <a:rPr sz="900" b="0">
                <a:solidFill>
                  <a:srgbClr val="8A97B0"/>
                </a:solidFill>
                <a:latin typeface="Segoe UI"/>
              </a:rPr>
              <a:t>8x</a:t>
            </a:r>
          </a:p>
        </p:txBody>
      </p:sp>
      <p:sp>
        <p:nvSpPr>
          <p:cNvPr id="34" name="TextBox 33"/>
          <p:cNvSpPr txBox="1"/>
          <p:nvPr/>
        </p:nvSpPr>
        <p:spPr>
          <a:xfrm>
            <a:off x="11320272" y="4041648"/>
            <a:ext cx="566928" cy="182880"/>
          </a:xfrm>
          <a:prstGeom prst="rect">
            <a:avLst/>
          </a:prstGeom>
          <a:noFill/>
        </p:spPr>
        <p:txBody>
          <a:bodyPr wrap="square" lIns="0" rIns="0" tIns="0" bIns="0">
            <a:spAutoFit/>
          </a:bodyPr>
          <a:lstStyle/>
          <a:p>
            <a:pPr algn="l"/>
            <a:r>
              <a:rPr sz="850" b="0">
                <a:solidFill>
                  <a:srgbClr val="9AA6BC"/>
                </a:solidFill>
                <a:latin typeface="Segoe UI"/>
              </a:rPr>
              <a:t>10%</a:t>
            </a:r>
          </a:p>
        </p:txBody>
      </p:sp>
      <p:sp>
        <p:nvSpPr>
          <p:cNvPr id="35" name="TextBox 34"/>
          <p:cNvSpPr txBox="1"/>
          <p:nvPr/>
        </p:nvSpPr>
        <p:spPr>
          <a:xfrm>
            <a:off x="11320272" y="3035808"/>
            <a:ext cx="566928" cy="182880"/>
          </a:xfrm>
          <a:prstGeom prst="rect">
            <a:avLst/>
          </a:prstGeom>
          <a:noFill/>
        </p:spPr>
        <p:txBody>
          <a:bodyPr wrap="square" lIns="0" rIns="0" tIns="0" bIns="0">
            <a:spAutoFit/>
          </a:bodyPr>
          <a:lstStyle/>
          <a:p>
            <a:pPr algn="l"/>
            <a:r>
              <a:rPr sz="850" b="0">
                <a:solidFill>
                  <a:srgbClr val="9AA6BC"/>
                </a:solidFill>
                <a:latin typeface="Segoe UI"/>
              </a:rPr>
              <a:t>20%</a:t>
            </a:r>
          </a:p>
        </p:txBody>
      </p:sp>
      <p:sp>
        <p:nvSpPr>
          <p:cNvPr id="36" name="TextBox 35"/>
          <p:cNvSpPr txBox="1"/>
          <p:nvPr/>
        </p:nvSpPr>
        <p:spPr>
          <a:xfrm>
            <a:off x="11320272" y="2029968"/>
            <a:ext cx="566928" cy="182880"/>
          </a:xfrm>
          <a:prstGeom prst="rect">
            <a:avLst/>
          </a:prstGeom>
          <a:noFill/>
        </p:spPr>
        <p:txBody>
          <a:bodyPr wrap="square" lIns="0" rIns="0" tIns="0" bIns="0">
            <a:spAutoFit/>
          </a:bodyPr>
          <a:lstStyle/>
          <a:p>
            <a:pPr algn="l"/>
            <a:r>
              <a:rPr sz="850" b="0">
                <a:solidFill>
                  <a:srgbClr val="9AA6BC"/>
                </a:solidFill>
                <a:latin typeface="Segoe UI"/>
              </a:rPr>
              <a:t>30%</a:t>
            </a:r>
          </a:p>
        </p:txBody>
      </p:sp>
      <p:cxnSp>
        <p:nvCxnSpPr>
          <p:cNvPr id="37" name="Connector 36"/>
          <p:cNvCxnSpPr/>
          <p:nvPr/>
        </p:nvCxnSpPr>
        <p:spPr>
          <a:xfrm>
            <a:off x="4617720" y="3439058"/>
            <a:ext cx="800100" cy="412394"/>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5417820" y="3569817"/>
            <a:ext cx="800100" cy="281635"/>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6217920" y="3549700"/>
            <a:ext cx="800100" cy="20117"/>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7018020" y="3529584"/>
            <a:ext cx="800100" cy="20116"/>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818120" y="3207715"/>
            <a:ext cx="800100" cy="321869"/>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18220" y="3207715"/>
            <a:ext cx="800100" cy="331927"/>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9418320" y="3298240"/>
            <a:ext cx="800100" cy="241402"/>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218420" y="3147364"/>
            <a:ext cx="800100" cy="150876"/>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4588459" y="3409797"/>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388559" y="3822191"/>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188659" y="3540556"/>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6988759" y="352044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7788859" y="3500323"/>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588959" y="3178454"/>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9389059" y="3510381"/>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0189159" y="326898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989259" y="3118104"/>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flipV="1">
            <a:off x="1417320" y="3207715"/>
            <a:ext cx="800100" cy="90525"/>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2217420" y="2875788"/>
            <a:ext cx="800100" cy="331927"/>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017520" y="2845612"/>
            <a:ext cx="800100" cy="30176"/>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3817620" y="2845612"/>
            <a:ext cx="800100" cy="30176"/>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4617720" y="2875788"/>
            <a:ext cx="800100" cy="422452"/>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17820" y="3117189"/>
            <a:ext cx="800100" cy="181051"/>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217920" y="3117189"/>
            <a:ext cx="800100" cy="241402"/>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7018020" y="3298240"/>
            <a:ext cx="800100" cy="60351"/>
          </a:xfrm>
          <a:prstGeom prst="line">
            <a:avLst/>
          </a:prstGeom>
          <a:ln w="24130">
            <a:solidFill>
              <a:srgbClr val="29C2F1"/>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1376172" y="3257092"/>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2176272" y="3166567"/>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2976372" y="2834640"/>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3776472" y="2804464"/>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576572" y="2834640"/>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376672" y="3257092"/>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6176772" y="3076041"/>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976872" y="3317443"/>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7776972" y="3257092"/>
            <a:ext cx="82296" cy="82296"/>
          </a:xfrm>
          <a:prstGeom prst="ellipse">
            <a:avLst/>
          </a:prstGeom>
          <a:solidFill>
            <a:srgbClr val="29C2F1"/>
          </a:solidFill>
          <a:ln w="9525">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1" name="Connector 70"/>
          <p:cNvCxnSpPr/>
          <p:nvPr/>
        </p:nvCxnSpPr>
        <p:spPr>
          <a:xfrm>
            <a:off x="7818120" y="3298240"/>
            <a:ext cx="3200400" cy="271577"/>
          </a:xfrm>
          <a:prstGeom prst="line">
            <a:avLst/>
          </a:prstGeom>
          <a:ln w="17780">
            <a:solidFill>
              <a:srgbClr val="29C2F1"/>
            </a:solidFill>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0954512" y="3505809"/>
            <a:ext cx="128016" cy="128016"/>
          </a:xfrm>
          <a:prstGeom prst="ellipse">
            <a:avLst/>
          </a:prstGeom>
          <a:solidFill>
            <a:srgbClr val="FFFFFF"/>
          </a:solidFill>
          <a:ln w="17780">
            <a:solidFill>
              <a:srgbClr val="29C2F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1417320" y="1517904"/>
            <a:ext cx="118872" cy="118872"/>
          </a:xfrm>
          <a:prstGeom prst="ellipse">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600200" y="1481328"/>
            <a:ext cx="3291840" cy="201168"/>
          </a:xfrm>
          <a:prstGeom prst="rect">
            <a:avLst/>
          </a:prstGeom>
          <a:noFill/>
        </p:spPr>
        <p:txBody>
          <a:bodyPr wrap="square" lIns="0" rIns="0" tIns="0" bIns="0">
            <a:spAutoFit/>
          </a:bodyPr>
          <a:lstStyle/>
          <a:p>
            <a:pPr algn="l"/>
            <a:r>
              <a:rPr sz="950" b="1">
                <a:solidFill>
                  <a:srgbClr val="5A6478"/>
                </a:solidFill>
                <a:latin typeface="Segoe UI"/>
              </a:rPr>
              <a:t>EV / next-4Q revenue, median (left)</a:t>
            </a:r>
          </a:p>
        </p:txBody>
      </p:sp>
      <p:sp>
        <p:nvSpPr>
          <p:cNvPr id="75" name="Oval 74"/>
          <p:cNvSpPr/>
          <p:nvPr/>
        </p:nvSpPr>
        <p:spPr>
          <a:xfrm>
            <a:off x="4892040" y="1517904"/>
            <a:ext cx="118872" cy="118872"/>
          </a:xfrm>
          <a:prstGeom prst="ellipse">
            <a:avLst/>
          </a:prstGeom>
          <a:solidFill>
            <a:srgbClr val="9AA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74920" y="1481328"/>
            <a:ext cx="3291840" cy="201168"/>
          </a:xfrm>
          <a:prstGeom prst="rect">
            <a:avLst/>
          </a:prstGeom>
          <a:noFill/>
        </p:spPr>
        <p:txBody>
          <a:bodyPr wrap="square" lIns="0" rIns="0" tIns="0" bIns="0">
            <a:spAutoFit/>
          </a:bodyPr>
          <a:lstStyle/>
          <a:p>
            <a:pPr algn="l"/>
            <a:r>
              <a:rPr sz="950" b="1">
                <a:solidFill>
                  <a:srgbClr val="5A6478"/>
                </a:solidFill>
                <a:latin typeface="Segoe UI"/>
              </a:rPr>
              <a:t>revenue growth y/y, median (right)</a:t>
            </a:r>
          </a:p>
        </p:txBody>
      </p:sp>
      <p:sp>
        <p:nvSpPr>
          <p:cNvPr id="77" name="TextBox 76"/>
          <p:cNvSpPr txBox="1"/>
          <p:nvPr/>
        </p:nvSpPr>
        <p:spPr>
          <a:xfrm>
            <a:off x="9829800" y="2984600"/>
            <a:ext cx="1828800" cy="201168"/>
          </a:xfrm>
          <a:prstGeom prst="rect">
            <a:avLst/>
          </a:prstGeom>
          <a:noFill/>
        </p:spPr>
        <p:txBody>
          <a:bodyPr wrap="square" lIns="0" rIns="0" tIns="0" bIns="0">
            <a:spAutoFit/>
          </a:bodyPr>
          <a:lstStyle/>
          <a:p>
            <a:pPr algn="ctr"/>
            <a:r>
              <a:rPr sz="1000" b="1">
                <a:solidFill>
                  <a:srgbClr val="29C2F1"/>
                </a:solidFill>
                <a:latin typeface="Segoe UI"/>
              </a:rPr>
              <a:t>5.2x today</a:t>
            </a:r>
          </a:p>
        </p:txBody>
      </p:sp>
      <p:sp>
        <p:nvSpPr>
          <p:cNvPr id="78" name="TextBox 77"/>
          <p:cNvSpPr txBox="1"/>
          <p:nvPr/>
        </p:nvSpPr>
        <p:spPr>
          <a:xfrm>
            <a:off x="7726679" y="3147364"/>
            <a:ext cx="2194560" cy="182880"/>
          </a:xfrm>
          <a:prstGeom prst="rect">
            <a:avLst/>
          </a:prstGeom>
          <a:noFill/>
        </p:spPr>
        <p:txBody>
          <a:bodyPr wrap="square" lIns="0" rIns="0" tIns="0" bIns="0">
            <a:spAutoFit/>
          </a:bodyPr>
          <a:lstStyle/>
          <a:p>
            <a:pPr algn="ctr"/>
            <a:r>
              <a:rPr sz="850" b="1">
                <a:solidFill>
                  <a:srgbClr val="9AA6BC"/>
                </a:solidFill>
                <a:latin typeface="Segoe UI"/>
              </a:rPr>
              <a:t>~20% and rising</a:t>
            </a:r>
          </a:p>
        </p:txBody>
      </p:sp>
      <p:sp>
        <p:nvSpPr>
          <p:cNvPr id="79" name="TextBox 78"/>
          <p:cNvSpPr txBox="1"/>
          <p:nvPr/>
        </p:nvSpPr>
        <p:spPr>
          <a:xfrm>
            <a:off x="2560320" y="5248656"/>
            <a:ext cx="914400" cy="201168"/>
          </a:xfrm>
          <a:prstGeom prst="rect">
            <a:avLst/>
          </a:prstGeom>
          <a:noFill/>
        </p:spPr>
        <p:txBody>
          <a:bodyPr wrap="square" lIns="0" rIns="0" tIns="0" bIns="0">
            <a:spAutoFit/>
          </a:bodyPr>
          <a:lstStyle/>
          <a:p>
            <a:pPr algn="ctr"/>
            <a:r>
              <a:rPr sz="900" b="1">
                <a:solidFill>
                  <a:srgbClr val="5A6478"/>
                </a:solidFill>
                <a:latin typeface="Segoe UI"/>
              </a:rPr>
              <a:t>2024</a:t>
            </a:r>
          </a:p>
        </p:txBody>
      </p:sp>
      <p:sp>
        <p:nvSpPr>
          <p:cNvPr id="80" name="TextBox 79"/>
          <p:cNvSpPr txBox="1"/>
          <p:nvPr/>
        </p:nvSpPr>
        <p:spPr>
          <a:xfrm>
            <a:off x="5760720" y="5248656"/>
            <a:ext cx="914400" cy="201168"/>
          </a:xfrm>
          <a:prstGeom prst="rect">
            <a:avLst/>
          </a:prstGeom>
          <a:noFill/>
        </p:spPr>
        <p:txBody>
          <a:bodyPr wrap="square" lIns="0" rIns="0" tIns="0" bIns="0">
            <a:spAutoFit/>
          </a:bodyPr>
          <a:lstStyle/>
          <a:p>
            <a:pPr algn="ctr"/>
            <a:r>
              <a:rPr sz="900" b="1">
                <a:solidFill>
                  <a:srgbClr val="5A6478"/>
                </a:solidFill>
                <a:latin typeface="Segoe UI"/>
              </a:rPr>
              <a:t>2025</a:t>
            </a:r>
          </a:p>
        </p:txBody>
      </p:sp>
      <p:sp>
        <p:nvSpPr>
          <p:cNvPr id="81" name="TextBox 80"/>
          <p:cNvSpPr txBox="1"/>
          <p:nvPr/>
        </p:nvSpPr>
        <p:spPr>
          <a:xfrm>
            <a:off x="8961120" y="5248656"/>
            <a:ext cx="914400" cy="201168"/>
          </a:xfrm>
          <a:prstGeom prst="rect">
            <a:avLst/>
          </a:prstGeom>
          <a:noFill/>
        </p:spPr>
        <p:txBody>
          <a:bodyPr wrap="square" lIns="0" rIns="0" tIns="0" bIns="0">
            <a:spAutoFit/>
          </a:bodyPr>
          <a:lstStyle/>
          <a:p>
            <a:pPr algn="ctr"/>
            <a:r>
              <a:rPr sz="900" b="1">
                <a:solidFill>
                  <a:srgbClr val="5A6478"/>
                </a:solidFill>
                <a:latin typeface="Segoe UI"/>
              </a:rPr>
              <a:t>2026</a:t>
            </a:r>
          </a:p>
        </p:txBody>
      </p:sp>
      <p:sp>
        <p:nvSpPr>
          <p:cNvPr id="82" name="TextBox 81"/>
          <p:cNvSpPr txBox="1"/>
          <p:nvPr/>
        </p:nvSpPr>
        <p:spPr>
          <a:xfrm>
            <a:off x="777240" y="5596128"/>
            <a:ext cx="10881360" cy="310896"/>
          </a:xfrm>
          <a:prstGeom prst="rect">
            <a:avLst/>
          </a:prstGeom>
          <a:noFill/>
        </p:spPr>
        <p:txBody>
          <a:bodyPr wrap="square" lIns="0" rIns="0" tIns="0" bIns="0">
            <a:spAutoFit/>
          </a:bodyPr>
          <a:lstStyle/>
          <a:p>
            <a:pPr algn="ctr"/>
            <a:r>
              <a:rPr sz="900" b="0">
                <a:solidFill>
                  <a:srgbClr val="8A97B0"/>
                </a:solidFill>
                <a:latin typeface="Segoe UI"/>
              </a:rPr>
              <a:t>GROWTH-ADJUSTED — the state layer trades at ~0.26x its growth rate (5.2x ÷ ~20%) — half the cohort’s ~0.5x (p. 76). The re-acceleration is on the tape; the multiple has not moved.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The work layer: steady growth, a de-rating multiple</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L3 — EV / REALIZED NEXT-4Q REVENUE, MEDIAN (LEFT) AND REVENUE GROWTH Y/Y, MEDIAN (RIGHT), Q2 2023 → TODAY</a:t>
            </a:r>
            <a:endParaRPr lang="en-US" sz="1150" dirty="0"/>
          </a:p>
        </p:txBody>
      </p:sp>
      <p:sp>
        <p:nvSpPr>
          <p:cNvPr id="22" name="Text 20"/>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3" name="Text 21"/>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Median across layer names: EV (market cap scaled by price; net debt held current) ÷ realized next-4-quarter revenue; growth = median y/y. Aug ’26 = consensus NTM median. Window limited by uniform quarterly coverage. Approximate.</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63</a:t>
            </a:fld>
            <a:endParaRPr lang="en-US"/>
          </a:p>
        </p:txBody>
      </p:sp>
      <p:cxnSp>
        <p:nvCxnSpPr>
          <p:cNvPr id="26" name="Connector 25"/>
          <p:cNvCxnSpPr/>
          <p:nvPr/>
        </p:nvCxnSpPr>
        <p:spPr>
          <a:xfrm>
            <a:off x="1188720" y="4276779"/>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4185339"/>
            <a:ext cx="640080" cy="182880"/>
          </a:xfrm>
          <a:prstGeom prst="rect">
            <a:avLst/>
          </a:prstGeom>
          <a:noFill/>
        </p:spPr>
        <p:txBody>
          <a:bodyPr wrap="square" lIns="0" rIns="0" tIns="0" bIns="0">
            <a:spAutoFit/>
          </a:bodyPr>
          <a:lstStyle/>
          <a:p>
            <a:pPr algn="r"/>
            <a:r>
              <a:rPr sz="900" b="0">
                <a:solidFill>
                  <a:srgbClr val="8A97B0"/>
                </a:solidFill>
                <a:latin typeface="Segoe UI"/>
              </a:rPr>
              <a:t>4x</a:t>
            </a:r>
          </a:p>
        </p:txBody>
      </p:sp>
      <p:cxnSp>
        <p:nvCxnSpPr>
          <p:cNvPr id="28" name="Connector 27"/>
          <p:cNvCxnSpPr/>
          <p:nvPr/>
        </p:nvCxnSpPr>
        <p:spPr>
          <a:xfrm>
            <a:off x="1188720" y="3414630"/>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3323190"/>
            <a:ext cx="640080" cy="182880"/>
          </a:xfrm>
          <a:prstGeom prst="rect">
            <a:avLst/>
          </a:prstGeom>
          <a:noFill/>
        </p:spPr>
        <p:txBody>
          <a:bodyPr wrap="square" lIns="0" rIns="0" tIns="0" bIns="0">
            <a:spAutoFit/>
          </a:bodyPr>
          <a:lstStyle/>
          <a:p>
            <a:pPr algn="r"/>
            <a:r>
              <a:rPr sz="900" b="0">
                <a:solidFill>
                  <a:srgbClr val="8A97B0"/>
                </a:solidFill>
                <a:latin typeface="Segoe UI"/>
              </a:rPr>
              <a:t>8x</a:t>
            </a:r>
          </a:p>
        </p:txBody>
      </p:sp>
      <p:cxnSp>
        <p:nvCxnSpPr>
          <p:cNvPr id="30" name="Connector 29"/>
          <p:cNvCxnSpPr/>
          <p:nvPr/>
        </p:nvCxnSpPr>
        <p:spPr>
          <a:xfrm>
            <a:off x="1188720" y="2552482"/>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2461042"/>
            <a:ext cx="640080" cy="182880"/>
          </a:xfrm>
          <a:prstGeom prst="rect">
            <a:avLst/>
          </a:prstGeom>
          <a:noFill/>
        </p:spPr>
        <p:txBody>
          <a:bodyPr wrap="square" lIns="0" rIns="0" tIns="0" bIns="0">
            <a:spAutoFit/>
          </a:bodyPr>
          <a:lstStyle/>
          <a:p>
            <a:pPr algn="r"/>
            <a:r>
              <a:rPr sz="900" b="0">
                <a:solidFill>
                  <a:srgbClr val="8A97B0"/>
                </a:solidFill>
                <a:latin typeface="Segoe UI"/>
              </a:rPr>
              <a:t>12x</a:t>
            </a:r>
          </a:p>
        </p:txBody>
      </p:sp>
      <p:sp>
        <p:nvSpPr>
          <p:cNvPr id="32" name="TextBox 31"/>
          <p:cNvSpPr txBox="1"/>
          <p:nvPr/>
        </p:nvSpPr>
        <p:spPr>
          <a:xfrm>
            <a:off x="11320272" y="4041648"/>
            <a:ext cx="566928" cy="182880"/>
          </a:xfrm>
          <a:prstGeom prst="rect">
            <a:avLst/>
          </a:prstGeom>
          <a:noFill/>
        </p:spPr>
        <p:txBody>
          <a:bodyPr wrap="square" lIns="0" rIns="0" tIns="0" bIns="0">
            <a:spAutoFit/>
          </a:bodyPr>
          <a:lstStyle/>
          <a:p>
            <a:pPr algn="l"/>
            <a:r>
              <a:rPr sz="850" b="0">
                <a:solidFill>
                  <a:srgbClr val="9AA6BC"/>
                </a:solidFill>
                <a:latin typeface="Segoe UI"/>
              </a:rPr>
              <a:t>10%</a:t>
            </a:r>
          </a:p>
        </p:txBody>
      </p:sp>
      <p:sp>
        <p:nvSpPr>
          <p:cNvPr id="33" name="TextBox 32"/>
          <p:cNvSpPr txBox="1"/>
          <p:nvPr/>
        </p:nvSpPr>
        <p:spPr>
          <a:xfrm>
            <a:off x="11320272" y="3035808"/>
            <a:ext cx="566928" cy="182880"/>
          </a:xfrm>
          <a:prstGeom prst="rect">
            <a:avLst/>
          </a:prstGeom>
          <a:noFill/>
        </p:spPr>
        <p:txBody>
          <a:bodyPr wrap="square" lIns="0" rIns="0" tIns="0" bIns="0">
            <a:spAutoFit/>
          </a:bodyPr>
          <a:lstStyle/>
          <a:p>
            <a:pPr algn="l"/>
            <a:r>
              <a:rPr sz="850" b="0">
                <a:solidFill>
                  <a:srgbClr val="9AA6BC"/>
                </a:solidFill>
                <a:latin typeface="Segoe UI"/>
              </a:rPr>
              <a:t>20%</a:t>
            </a:r>
          </a:p>
        </p:txBody>
      </p:sp>
      <p:sp>
        <p:nvSpPr>
          <p:cNvPr id="34" name="TextBox 33"/>
          <p:cNvSpPr txBox="1"/>
          <p:nvPr/>
        </p:nvSpPr>
        <p:spPr>
          <a:xfrm>
            <a:off x="11320272" y="2029968"/>
            <a:ext cx="566928" cy="182880"/>
          </a:xfrm>
          <a:prstGeom prst="rect">
            <a:avLst/>
          </a:prstGeom>
          <a:noFill/>
        </p:spPr>
        <p:txBody>
          <a:bodyPr wrap="square" lIns="0" rIns="0" tIns="0" bIns="0">
            <a:spAutoFit/>
          </a:bodyPr>
          <a:lstStyle/>
          <a:p>
            <a:pPr algn="l"/>
            <a:r>
              <a:rPr sz="850" b="0">
                <a:solidFill>
                  <a:srgbClr val="9AA6BC"/>
                </a:solidFill>
                <a:latin typeface="Segoe UI"/>
              </a:rPr>
              <a:t>30%</a:t>
            </a:r>
          </a:p>
        </p:txBody>
      </p:sp>
      <p:cxnSp>
        <p:nvCxnSpPr>
          <p:cNvPr id="35" name="Connector 34"/>
          <p:cNvCxnSpPr/>
          <p:nvPr/>
        </p:nvCxnSpPr>
        <p:spPr>
          <a:xfrm>
            <a:off x="4617720" y="2543860"/>
            <a:ext cx="800100" cy="341986"/>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5417820" y="2825496"/>
            <a:ext cx="800100" cy="60350"/>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217920" y="2825496"/>
            <a:ext cx="800100" cy="362102"/>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7018020" y="3137306"/>
            <a:ext cx="800100" cy="50292"/>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818120" y="2996488"/>
            <a:ext cx="800100" cy="140818"/>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18220" y="2996488"/>
            <a:ext cx="800100" cy="110643"/>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9418320" y="2976372"/>
            <a:ext cx="800100" cy="130759"/>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0218420" y="2895904"/>
            <a:ext cx="800100" cy="80468"/>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4588459" y="251460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5388559" y="2856585"/>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6188659" y="2796235"/>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988759" y="3158337"/>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7788859" y="3108045"/>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588959" y="2967228"/>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389059" y="307787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189159" y="2947111"/>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989259" y="2866644"/>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417320" y="2854234"/>
            <a:ext cx="800100" cy="193983"/>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2217420" y="2509374"/>
            <a:ext cx="800100" cy="538843"/>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3017520" y="2509374"/>
            <a:ext cx="800100" cy="280199"/>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3817620" y="2789573"/>
            <a:ext cx="800100" cy="409520"/>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4617720" y="3199093"/>
            <a:ext cx="800100" cy="21554"/>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417820" y="2854234"/>
            <a:ext cx="800100" cy="366413"/>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217920" y="2854234"/>
            <a:ext cx="800100" cy="215537"/>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018020" y="3069771"/>
            <a:ext cx="800100" cy="172430"/>
          </a:xfrm>
          <a:prstGeom prst="line">
            <a:avLst/>
          </a:prstGeom>
          <a:ln w="24130">
            <a:solidFill>
              <a:srgbClr val="1B3F8F"/>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376172" y="2813086"/>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176272" y="3007069"/>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2976372" y="2468226"/>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776472" y="2748425"/>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576572" y="3157945"/>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5376672" y="3179499"/>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6176772" y="2813086"/>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6976872" y="3028623"/>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7776972" y="3201053"/>
            <a:ext cx="82296" cy="82296"/>
          </a:xfrm>
          <a:prstGeom prst="ellipse">
            <a:avLst/>
          </a:prstGeom>
          <a:solidFill>
            <a:srgbClr val="1B3F8F"/>
          </a:solidFill>
          <a:ln w="9525">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7818120" y="3242201"/>
            <a:ext cx="3200400" cy="344859"/>
          </a:xfrm>
          <a:prstGeom prst="line">
            <a:avLst/>
          </a:prstGeom>
          <a:ln w="17780">
            <a:solidFill>
              <a:srgbClr val="1B3F8F"/>
            </a:solidFill>
          </a:ln>
        </p:spPr>
        <p:style>
          <a:lnRef idx="2">
            <a:schemeClr val="accent1"/>
          </a:lnRef>
          <a:fillRef idx="0">
            <a:schemeClr val="accent1"/>
          </a:fillRef>
          <a:effectRef idx="1">
            <a:schemeClr val="accent1"/>
          </a:effectRef>
          <a:fontRef idx="minor">
            <a:schemeClr val="tx1"/>
          </a:fontRef>
        </p:style>
      </p:cxnSp>
      <p:sp>
        <p:nvSpPr>
          <p:cNvPr id="70" name="Oval 69"/>
          <p:cNvSpPr/>
          <p:nvPr/>
        </p:nvSpPr>
        <p:spPr>
          <a:xfrm>
            <a:off x="10954512" y="3523052"/>
            <a:ext cx="128016" cy="128016"/>
          </a:xfrm>
          <a:prstGeom prst="ellipse">
            <a:avLst/>
          </a:prstGeom>
          <a:solidFill>
            <a:srgbClr val="FFFFFF"/>
          </a:solidFill>
          <a:ln w="17780">
            <a:solidFill>
              <a:srgbClr val="1B3F8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1417320" y="1517904"/>
            <a:ext cx="118872" cy="118872"/>
          </a:xfrm>
          <a:prstGeom prst="ellipse">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600200" y="1481328"/>
            <a:ext cx="3291840" cy="201168"/>
          </a:xfrm>
          <a:prstGeom prst="rect">
            <a:avLst/>
          </a:prstGeom>
          <a:noFill/>
        </p:spPr>
        <p:txBody>
          <a:bodyPr wrap="square" lIns="0" rIns="0" tIns="0" bIns="0">
            <a:spAutoFit/>
          </a:bodyPr>
          <a:lstStyle/>
          <a:p>
            <a:pPr algn="l"/>
            <a:r>
              <a:rPr sz="950" b="1">
                <a:solidFill>
                  <a:srgbClr val="5A6478"/>
                </a:solidFill>
                <a:latin typeface="Segoe UI"/>
              </a:rPr>
              <a:t>EV / next-4Q revenue, median (left)</a:t>
            </a:r>
          </a:p>
        </p:txBody>
      </p:sp>
      <p:sp>
        <p:nvSpPr>
          <p:cNvPr id="73" name="Oval 72"/>
          <p:cNvSpPr/>
          <p:nvPr/>
        </p:nvSpPr>
        <p:spPr>
          <a:xfrm>
            <a:off x="4892040" y="1517904"/>
            <a:ext cx="118872" cy="118872"/>
          </a:xfrm>
          <a:prstGeom prst="ellipse">
            <a:avLst/>
          </a:prstGeom>
          <a:solidFill>
            <a:srgbClr val="9AA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5074920" y="1481328"/>
            <a:ext cx="3291840" cy="201168"/>
          </a:xfrm>
          <a:prstGeom prst="rect">
            <a:avLst/>
          </a:prstGeom>
          <a:noFill/>
        </p:spPr>
        <p:txBody>
          <a:bodyPr wrap="square" lIns="0" rIns="0" tIns="0" bIns="0">
            <a:spAutoFit/>
          </a:bodyPr>
          <a:lstStyle/>
          <a:p>
            <a:pPr algn="l"/>
            <a:r>
              <a:rPr sz="950" b="1">
                <a:solidFill>
                  <a:srgbClr val="5A6478"/>
                </a:solidFill>
                <a:latin typeface="Segoe UI"/>
              </a:rPr>
              <a:t>revenue growth y/y, median (right)</a:t>
            </a:r>
          </a:p>
        </p:txBody>
      </p:sp>
      <p:sp>
        <p:nvSpPr>
          <p:cNvPr id="75" name="TextBox 74"/>
          <p:cNvSpPr txBox="1"/>
          <p:nvPr/>
        </p:nvSpPr>
        <p:spPr>
          <a:xfrm>
            <a:off x="9829800" y="3001844"/>
            <a:ext cx="1828800" cy="201168"/>
          </a:xfrm>
          <a:prstGeom prst="rect">
            <a:avLst/>
          </a:prstGeom>
          <a:noFill/>
        </p:spPr>
        <p:txBody>
          <a:bodyPr wrap="square" lIns="0" rIns="0" tIns="0" bIns="0">
            <a:spAutoFit/>
          </a:bodyPr>
          <a:lstStyle/>
          <a:p>
            <a:pPr algn="ctr"/>
            <a:r>
              <a:rPr sz="1000" b="1">
                <a:solidFill>
                  <a:srgbClr val="1B3F8F"/>
                </a:solidFill>
                <a:latin typeface="Segoe UI"/>
              </a:rPr>
              <a:t>7.2x today</a:t>
            </a:r>
          </a:p>
        </p:txBody>
      </p:sp>
      <p:sp>
        <p:nvSpPr>
          <p:cNvPr id="76" name="TextBox 75"/>
          <p:cNvSpPr txBox="1"/>
          <p:nvPr/>
        </p:nvSpPr>
        <p:spPr>
          <a:xfrm>
            <a:off x="7726679" y="3115360"/>
            <a:ext cx="2194560" cy="182880"/>
          </a:xfrm>
          <a:prstGeom prst="rect">
            <a:avLst/>
          </a:prstGeom>
          <a:noFill/>
        </p:spPr>
        <p:txBody>
          <a:bodyPr wrap="square" lIns="0" rIns="0" tIns="0" bIns="0">
            <a:spAutoFit/>
          </a:bodyPr>
          <a:lstStyle/>
          <a:p>
            <a:pPr algn="ctr"/>
            <a:r>
              <a:rPr sz="850" b="1">
                <a:solidFill>
                  <a:srgbClr val="9AA6BC"/>
                </a:solidFill>
                <a:latin typeface="Segoe UI"/>
              </a:rPr>
              <a:t>~22% steady</a:t>
            </a:r>
          </a:p>
        </p:txBody>
      </p:sp>
      <p:sp>
        <p:nvSpPr>
          <p:cNvPr id="77" name="TextBox 76"/>
          <p:cNvSpPr txBox="1"/>
          <p:nvPr/>
        </p:nvSpPr>
        <p:spPr>
          <a:xfrm>
            <a:off x="2560320" y="5248656"/>
            <a:ext cx="914400" cy="201168"/>
          </a:xfrm>
          <a:prstGeom prst="rect">
            <a:avLst/>
          </a:prstGeom>
          <a:noFill/>
        </p:spPr>
        <p:txBody>
          <a:bodyPr wrap="square" lIns="0" rIns="0" tIns="0" bIns="0">
            <a:spAutoFit/>
          </a:bodyPr>
          <a:lstStyle/>
          <a:p>
            <a:pPr algn="ctr"/>
            <a:r>
              <a:rPr sz="900" b="1">
                <a:solidFill>
                  <a:srgbClr val="5A6478"/>
                </a:solidFill>
                <a:latin typeface="Segoe UI"/>
              </a:rPr>
              <a:t>2024</a:t>
            </a:r>
          </a:p>
        </p:txBody>
      </p:sp>
      <p:sp>
        <p:nvSpPr>
          <p:cNvPr id="78" name="TextBox 77"/>
          <p:cNvSpPr txBox="1"/>
          <p:nvPr/>
        </p:nvSpPr>
        <p:spPr>
          <a:xfrm>
            <a:off x="5760720" y="5248656"/>
            <a:ext cx="914400" cy="201168"/>
          </a:xfrm>
          <a:prstGeom prst="rect">
            <a:avLst/>
          </a:prstGeom>
          <a:noFill/>
        </p:spPr>
        <p:txBody>
          <a:bodyPr wrap="square" lIns="0" rIns="0" tIns="0" bIns="0">
            <a:spAutoFit/>
          </a:bodyPr>
          <a:lstStyle/>
          <a:p>
            <a:pPr algn="ctr"/>
            <a:r>
              <a:rPr sz="900" b="1">
                <a:solidFill>
                  <a:srgbClr val="5A6478"/>
                </a:solidFill>
                <a:latin typeface="Segoe UI"/>
              </a:rPr>
              <a:t>2025</a:t>
            </a:r>
          </a:p>
        </p:txBody>
      </p:sp>
      <p:sp>
        <p:nvSpPr>
          <p:cNvPr id="79" name="TextBox 78"/>
          <p:cNvSpPr txBox="1"/>
          <p:nvPr/>
        </p:nvSpPr>
        <p:spPr>
          <a:xfrm>
            <a:off x="8961120" y="5248656"/>
            <a:ext cx="914400" cy="201168"/>
          </a:xfrm>
          <a:prstGeom prst="rect">
            <a:avLst/>
          </a:prstGeom>
          <a:noFill/>
        </p:spPr>
        <p:txBody>
          <a:bodyPr wrap="square" lIns="0" rIns="0" tIns="0" bIns="0">
            <a:spAutoFit/>
          </a:bodyPr>
          <a:lstStyle/>
          <a:p>
            <a:pPr algn="ctr"/>
            <a:r>
              <a:rPr sz="900" b="1">
                <a:solidFill>
                  <a:srgbClr val="5A6478"/>
                </a:solidFill>
                <a:latin typeface="Segoe UI"/>
              </a:rPr>
              <a:t>2026</a:t>
            </a:r>
          </a:p>
        </p:txBody>
      </p:sp>
      <p:sp>
        <p:nvSpPr>
          <p:cNvPr id="80" name="TextBox 79"/>
          <p:cNvSpPr txBox="1"/>
          <p:nvPr/>
        </p:nvSpPr>
        <p:spPr>
          <a:xfrm>
            <a:off x="777240" y="5596128"/>
            <a:ext cx="10881360" cy="310896"/>
          </a:xfrm>
          <a:prstGeom prst="rect">
            <a:avLst/>
          </a:prstGeom>
          <a:noFill/>
        </p:spPr>
        <p:txBody>
          <a:bodyPr wrap="square" lIns="0" rIns="0" tIns="0" bIns="0">
            <a:spAutoFit/>
          </a:bodyPr>
          <a:lstStyle/>
          <a:p>
            <a:pPr algn="ctr"/>
            <a:r>
              <a:rPr sz="900" b="0">
                <a:solidFill>
                  <a:srgbClr val="8A97B0"/>
                </a:solidFill>
                <a:latin typeface="Segoe UI"/>
              </a:rPr>
              <a:t>GROWTH-ADJUSTED — the work layer trades at ~0.31x its growth rate (7.2x ÷ ~23%) — steady ~20%+ growth, a de-rating multiple. The audit mandate is not yet priced as a meter.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cash machines turned on — at every layer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MEDIAN LTM FCF MARGIN BY LAYER, QUARTERLY, Q1 2024 → JUL 2026 — MEASURED FROM FILINGS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188720" y="5577840"/>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731520" y="5495544"/>
            <a:ext cx="393192" cy="182880"/>
          </a:xfrm>
          <a:prstGeom prst="rect">
            <a:avLst/>
          </a:prstGeom>
          <a:noFill/>
        </p:spPr>
        <p:txBody>
          <a:bodyPr wrap="square" lIns="0" rIns="0" tIns="0" bIns="0">
            <a:spAutoFit/>
          </a:bodyPr>
          <a:lstStyle/>
          <a:p>
            <a:pPr algn="r"/>
            <a:r>
              <a:rPr sz="850" b="0" i="0">
                <a:solidFill>
                  <a:srgbClr val="8A97B0"/>
                </a:solidFill>
                <a:latin typeface="Calibri"/>
              </a:rPr>
              <a:t>10%</a:t>
            </a:r>
          </a:p>
        </p:txBody>
      </p:sp>
      <p:cxnSp>
        <p:nvCxnSpPr>
          <p:cNvPr id="7" name="Connector 6"/>
          <p:cNvCxnSpPr/>
          <p:nvPr/>
        </p:nvCxnSpPr>
        <p:spPr>
          <a:xfrm>
            <a:off x="1188720" y="4622292"/>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31520" y="4539996"/>
            <a:ext cx="393192" cy="182880"/>
          </a:xfrm>
          <a:prstGeom prst="rect">
            <a:avLst/>
          </a:prstGeom>
          <a:noFill/>
        </p:spPr>
        <p:txBody>
          <a:bodyPr wrap="square" lIns="0" rIns="0" tIns="0" bIns="0">
            <a:spAutoFit/>
          </a:bodyPr>
          <a:lstStyle/>
          <a:p>
            <a:pPr algn="r"/>
            <a:r>
              <a:rPr sz="850" b="0" i="0">
                <a:solidFill>
                  <a:srgbClr val="8A97B0"/>
                </a:solidFill>
                <a:latin typeface="Calibri"/>
              </a:rPr>
              <a:t>15%</a:t>
            </a:r>
          </a:p>
        </p:txBody>
      </p:sp>
      <p:cxnSp>
        <p:nvCxnSpPr>
          <p:cNvPr id="9" name="Connector 8"/>
          <p:cNvCxnSpPr/>
          <p:nvPr/>
        </p:nvCxnSpPr>
        <p:spPr>
          <a:xfrm>
            <a:off x="1188720" y="3666744"/>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31520" y="3584448"/>
            <a:ext cx="393192" cy="182880"/>
          </a:xfrm>
          <a:prstGeom prst="rect">
            <a:avLst/>
          </a:prstGeom>
          <a:noFill/>
        </p:spPr>
        <p:txBody>
          <a:bodyPr wrap="square" lIns="0" rIns="0" tIns="0" bIns="0">
            <a:spAutoFit/>
          </a:bodyPr>
          <a:lstStyle/>
          <a:p>
            <a:pPr algn="r"/>
            <a:r>
              <a:rPr sz="850" b="0" i="0">
                <a:solidFill>
                  <a:srgbClr val="8A97B0"/>
                </a:solidFill>
                <a:latin typeface="Calibri"/>
              </a:rPr>
              <a:t>20%</a:t>
            </a:r>
          </a:p>
        </p:txBody>
      </p:sp>
      <p:cxnSp>
        <p:nvCxnSpPr>
          <p:cNvPr id="11" name="Connector 10"/>
          <p:cNvCxnSpPr/>
          <p:nvPr/>
        </p:nvCxnSpPr>
        <p:spPr>
          <a:xfrm>
            <a:off x="1188720" y="2711196"/>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628900"/>
            <a:ext cx="393192" cy="182880"/>
          </a:xfrm>
          <a:prstGeom prst="rect">
            <a:avLst/>
          </a:prstGeom>
          <a:noFill/>
        </p:spPr>
        <p:txBody>
          <a:bodyPr wrap="square" lIns="0" rIns="0" tIns="0" bIns="0">
            <a:spAutoFit/>
          </a:bodyPr>
          <a:lstStyle/>
          <a:p>
            <a:pPr algn="r"/>
            <a:r>
              <a:rPr sz="850" b="0" i="0">
                <a:solidFill>
                  <a:srgbClr val="8A97B0"/>
                </a:solidFill>
                <a:latin typeface="Calibri"/>
              </a:rPr>
              <a:t>25%</a:t>
            </a:r>
          </a:p>
        </p:txBody>
      </p:sp>
      <p:cxnSp>
        <p:nvCxnSpPr>
          <p:cNvPr id="13" name="Connector 12"/>
          <p:cNvCxnSpPr/>
          <p:nvPr/>
        </p:nvCxnSpPr>
        <p:spPr>
          <a:xfrm>
            <a:off x="1188720" y="1755648"/>
            <a:ext cx="941832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31520" y="1673351"/>
            <a:ext cx="393192" cy="182880"/>
          </a:xfrm>
          <a:prstGeom prst="rect">
            <a:avLst/>
          </a:prstGeom>
          <a:noFill/>
        </p:spPr>
        <p:txBody>
          <a:bodyPr wrap="square" lIns="0" rIns="0" tIns="0" bIns="0">
            <a:spAutoFit/>
          </a:bodyPr>
          <a:lstStyle/>
          <a:p>
            <a:pPr algn="r"/>
            <a:r>
              <a:rPr sz="850" b="0" i="0">
                <a:solidFill>
                  <a:srgbClr val="8A97B0"/>
                </a:solidFill>
                <a:latin typeface="Calibri"/>
              </a:rPr>
              <a:t>30%</a:t>
            </a:r>
          </a:p>
        </p:txBody>
      </p:sp>
      <p:sp>
        <p:nvSpPr>
          <p:cNvPr id="15" name="TextBox 14"/>
          <p:cNvSpPr txBox="1"/>
          <p:nvPr/>
        </p:nvSpPr>
        <p:spPr>
          <a:xfrm>
            <a:off x="868680" y="5650992"/>
            <a:ext cx="640080" cy="182880"/>
          </a:xfrm>
          <a:prstGeom prst="rect">
            <a:avLst/>
          </a:prstGeom>
          <a:noFill/>
        </p:spPr>
        <p:txBody>
          <a:bodyPr wrap="square" lIns="0" rIns="0" tIns="0" bIns="0">
            <a:spAutoFit/>
          </a:bodyPr>
          <a:lstStyle/>
          <a:p>
            <a:pPr algn="ctr"/>
            <a:r>
              <a:rPr sz="850" b="0" i="0">
                <a:solidFill>
                  <a:srgbClr val="8A97B0"/>
                </a:solidFill>
                <a:latin typeface="Calibri"/>
              </a:rPr>
              <a:t>Jan'24</a:t>
            </a:r>
          </a:p>
        </p:txBody>
      </p:sp>
      <p:sp>
        <p:nvSpPr>
          <p:cNvPr id="16" name="TextBox 15"/>
          <p:cNvSpPr txBox="1"/>
          <p:nvPr/>
        </p:nvSpPr>
        <p:spPr>
          <a:xfrm>
            <a:off x="2214154" y="5650992"/>
            <a:ext cx="640080" cy="182880"/>
          </a:xfrm>
          <a:prstGeom prst="rect">
            <a:avLst/>
          </a:prstGeom>
          <a:noFill/>
        </p:spPr>
        <p:txBody>
          <a:bodyPr wrap="square" lIns="0" rIns="0" tIns="0" bIns="0">
            <a:spAutoFit/>
          </a:bodyPr>
          <a:lstStyle/>
          <a:p>
            <a:pPr algn="ctr"/>
            <a:r>
              <a:rPr sz="850" b="0" i="0">
                <a:solidFill>
                  <a:srgbClr val="8A97B0"/>
                </a:solidFill>
                <a:latin typeface="Calibri"/>
              </a:rPr>
              <a:t>Apr'24</a:t>
            </a:r>
          </a:p>
        </p:txBody>
      </p:sp>
      <p:sp>
        <p:nvSpPr>
          <p:cNvPr id="17" name="TextBox 16"/>
          <p:cNvSpPr txBox="1"/>
          <p:nvPr/>
        </p:nvSpPr>
        <p:spPr>
          <a:xfrm>
            <a:off x="3559628" y="5650992"/>
            <a:ext cx="640080" cy="182880"/>
          </a:xfrm>
          <a:prstGeom prst="rect">
            <a:avLst/>
          </a:prstGeom>
          <a:noFill/>
        </p:spPr>
        <p:txBody>
          <a:bodyPr wrap="square" lIns="0" rIns="0" tIns="0" bIns="0">
            <a:spAutoFit/>
          </a:bodyPr>
          <a:lstStyle/>
          <a:p>
            <a:pPr algn="ctr"/>
            <a:r>
              <a:rPr sz="850" b="0" i="0">
                <a:solidFill>
                  <a:srgbClr val="8A97B0"/>
                </a:solidFill>
                <a:latin typeface="Calibri"/>
              </a:rPr>
              <a:t>Jul'24</a:t>
            </a:r>
          </a:p>
        </p:txBody>
      </p:sp>
      <p:sp>
        <p:nvSpPr>
          <p:cNvPr id="18" name="TextBox 17"/>
          <p:cNvSpPr txBox="1"/>
          <p:nvPr/>
        </p:nvSpPr>
        <p:spPr>
          <a:xfrm>
            <a:off x="4905102" y="5650992"/>
            <a:ext cx="640080" cy="182880"/>
          </a:xfrm>
          <a:prstGeom prst="rect">
            <a:avLst/>
          </a:prstGeom>
          <a:noFill/>
        </p:spPr>
        <p:txBody>
          <a:bodyPr wrap="square" lIns="0" rIns="0" tIns="0" bIns="0">
            <a:spAutoFit/>
          </a:bodyPr>
          <a:lstStyle/>
          <a:p>
            <a:pPr algn="ctr"/>
            <a:r>
              <a:rPr sz="850" b="0" i="0">
                <a:solidFill>
                  <a:srgbClr val="8A97B0"/>
                </a:solidFill>
                <a:latin typeface="Calibri"/>
              </a:rPr>
              <a:t>Oct'24</a:t>
            </a:r>
          </a:p>
        </p:txBody>
      </p:sp>
      <p:sp>
        <p:nvSpPr>
          <p:cNvPr id="19" name="TextBox 18"/>
          <p:cNvSpPr txBox="1"/>
          <p:nvPr/>
        </p:nvSpPr>
        <p:spPr>
          <a:xfrm>
            <a:off x="6250577" y="5650992"/>
            <a:ext cx="640080" cy="182880"/>
          </a:xfrm>
          <a:prstGeom prst="rect">
            <a:avLst/>
          </a:prstGeom>
          <a:noFill/>
        </p:spPr>
        <p:txBody>
          <a:bodyPr wrap="square" lIns="0" rIns="0" tIns="0" bIns="0">
            <a:spAutoFit/>
          </a:bodyPr>
          <a:lstStyle/>
          <a:p>
            <a:pPr algn="ctr"/>
            <a:r>
              <a:rPr sz="850" b="0" i="0">
                <a:solidFill>
                  <a:srgbClr val="8A97B0"/>
                </a:solidFill>
                <a:latin typeface="Calibri"/>
              </a:rPr>
              <a:t>Jan'25</a:t>
            </a:r>
          </a:p>
        </p:txBody>
      </p:sp>
      <p:sp>
        <p:nvSpPr>
          <p:cNvPr id="20" name="TextBox 19"/>
          <p:cNvSpPr txBox="1"/>
          <p:nvPr/>
        </p:nvSpPr>
        <p:spPr>
          <a:xfrm>
            <a:off x="7596051" y="5650992"/>
            <a:ext cx="640080" cy="182880"/>
          </a:xfrm>
          <a:prstGeom prst="rect">
            <a:avLst/>
          </a:prstGeom>
          <a:noFill/>
        </p:spPr>
        <p:txBody>
          <a:bodyPr wrap="square" lIns="0" rIns="0" tIns="0" bIns="0">
            <a:spAutoFit/>
          </a:bodyPr>
          <a:lstStyle/>
          <a:p>
            <a:pPr algn="ctr"/>
            <a:r>
              <a:rPr sz="850" b="0" i="0">
                <a:solidFill>
                  <a:srgbClr val="8A97B0"/>
                </a:solidFill>
                <a:latin typeface="Calibri"/>
              </a:rPr>
              <a:t>Apr'25</a:t>
            </a:r>
          </a:p>
        </p:txBody>
      </p:sp>
      <p:sp>
        <p:nvSpPr>
          <p:cNvPr id="21" name="TextBox 20"/>
          <p:cNvSpPr txBox="1"/>
          <p:nvPr/>
        </p:nvSpPr>
        <p:spPr>
          <a:xfrm>
            <a:off x="8941525" y="5650992"/>
            <a:ext cx="640080" cy="182880"/>
          </a:xfrm>
          <a:prstGeom prst="rect">
            <a:avLst/>
          </a:prstGeom>
          <a:noFill/>
        </p:spPr>
        <p:txBody>
          <a:bodyPr wrap="square" lIns="0" rIns="0" tIns="0" bIns="0">
            <a:spAutoFit/>
          </a:bodyPr>
          <a:lstStyle/>
          <a:p>
            <a:pPr algn="ctr"/>
            <a:r>
              <a:rPr sz="850" b="0" i="0">
                <a:solidFill>
                  <a:srgbClr val="8A97B0"/>
                </a:solidFill>
                <a:latin typeface="Calibri"/>
              </a:rPr>
              <a:t>Jul'25</a:t>
            </a:r>
          </a:p>
        </p:txBody>
      </p:sp>
      <p:sp>
        <p:nvSpPr>
          <p:cNvPr id="22" name="TextBox 21"/>
          <p:cNvSpPr txBox="1"/>
          <p:nvPr/>
        </p:nvSpPr>
        <p:spPr>
          <a:xfrm>
            <a:off x="10287000" y="5650992"/>
            <a:ext cx="640080" cy="182880"/>
          </a:xfrm>
          <a:prstGeom prst="rect">
            <a:avLst/>
          </a:prstGeom>
          <a:noFill/>
        </p:spPr>
        <p:txBody>
          <a:bodyPr wrap="square" lIns="0" rIns="0" tIns="0" bIns="0">
            <a:spAutoFit/>
          </a:bodyPr>
          <a:lstStyle/>
          <a:p>
            <a:pPr algn="ctr"/>
            <a:r>
              <a:rPr sz="850" b="0" i="0">
                <a:solidFill>
                  <a:srgbClr val="8A97B0"/>
                </a:solidFill>
                <a:latin typeface="Calibri"/>
              </a:rPr>
              <a:t>Jul'26</a:t>
            </a:r>
          </a:p>
        </p:txBody>
      </p:sp>
      <p:cxnSp>
        <p:nvCxnSpPr>
          <p:cNvPr id="23" name="Connector 22"/>
          <p:cNvCxnSpPr/>
          <p:nvPr/>
        </p:nvCxnSpPr>
        <p:spPr>
          <a:xfrm>
            <a:off x="1188720" y="4756068"/>
            <a:ext cx="1345474" cy="19111"/>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34194" y="4756068"/>
            <a:ext cx="1345474" cy="19111"/>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879668" y="4756068"/>
            <a:ext cx="1345474" cy="57333"/>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5225142" y="4698735"/>
            <a:ext cx="1345475" cy="114666"/>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570617" y="4698735"/>
            <a:ext cx="1345474" cy="191110"/>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916091" y="4641402"/>
            <a:ext cx="1345474" cy="248443"/>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9261565" y="3513856"/>
            <a:ext cx="1345475" cy="1127546"/>
          </a:xfrm>
          <a:prstGeom prst="line">
            <a:avLst/>
          </a:prstGeom>
          <a:ln w="24130">
            <a:solidFill>
              <a:srgbClr val="29C2F1"/>
            </a:solidFill>
          </a:ln>
          <a:effectLst/>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10556748" y="3463564"/>
            <a:ext cx="100584" cy="100584"/>
          </a:xfrm>
          <a:prstGeom prst="ellipse">
            <a:avLst/>
          </a:prstGeom>
          <a:solidFill>
            <a:srgbClr val="29C2F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1188720" y="2443642"/>
            <a:ext cx="1345474" cy="363108"/>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534194" y="2806750"/>
            <a:ext cx="1345474" cy="19111"/>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879668" y="2730306"/>
            <a:ext cx="1345474" cy="95555"/>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5225142" y="2500975"/>
            <a:ext cx="1345475" cy="229331"/>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6570617" y="2500975"/>
            <a:ext cx="1345474" cy="0"/>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916091" y="2443642"/>
            <a:ext cx="1345474" cy="57333"/>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261565" y="2443642"/>
            <a:ext cx="1345475" cy="38222"/>
          </a:xfrm>
          <a:prstGeom prst="line">
            <a:avLst/>
          </a:prstGeom>
          <a:ln w="24130">
            <a:solidFill>
              <a:srgbClr val="1B3F8F"/>
            </a:solidFill>
          </a:ln>
          <a:effectLst/>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10556748" y="2431572"/>
            <a:ext cx="100584" cy="100584"/>
          </a:xfrm>
          <a:prstGeom prst="ellipse">
            <a:avLst/>
          </a:prstGeom>
          <a:solidFill>
            <a:srgbClr val="1B3F8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1188720" y="3991630"/>
            <a:ext cx="1345474" cy="783549"/>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534194" y="4584070"/>
            <a:ext cx="1345474" cy="191109"/>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879668" y="4163628"/>
            <a:ext cx="1345474" cy="420442"/>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5225142" y="3953408"/>
            <a:ext cx="1345475" cy="210220"/>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6570617" y="3724076"/>
            <a:ext cx="1345474" cy="229332"/>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7916091" y="3590300"/>
            <a:ext cx="1345474" cy="133776"/>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9261565" y="3322746"/>
            <a:ext cx="1345475" cy="267554"/>
          </a:xfrm>
          <a:prstGeom prst="line">
            <a:avLst/>
          </a:prstGeom>
          <a:ln w="17780">
            <a:solidFill>
              <a:srgbClr val="C9D2E0"/>
            </a:solidFill>
          </a:ln>
          <a:effectLst/>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10556748" y="3272454"/>
            <a:ext cx="100584" cy="100584"/>
          </a:xfrm>
          <a:prstGeom prst="ellipse">
            <a:avLst/>
          </a:prstGeom>
          <a:solidFill>
            <a:srgbClr val="C9D2E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744200" y="2331720"/>
            <a:ext cx="1005840" cy="365760"/>
          </a:xfrm>
          <a:prstGeom prst="rect">
            <a:avLst/>
          </a:prstGeom>
          <a:noFill/>
        </p:spPr>
        <p:txBody>
          <a:bodyPr wrap="square" lIns="0" rIns="0" tIns="0" bIns="0">
            <a:spAutoFit/>
          </a:bodyPr>
          <a:lstStyle/>
          <a:p>
            <a:pPr algn="l"/>
            <a:r>
              <a:rPr sz="1000" b="1" i="0">
                <a:solidFill>
                  <a:srgbClr val="1B3F8F"/>
                </a:solidFill>
                <a:latin typeface="Calibri"/>
              </a:rPr>
              <a:t>L3 26%</a:t>
            </a:r>
          </a:p>
        </p:txBody>
      </p:sp>
      <p:sp>
        <p:nvSpPr>
          <p:cNvPr id="48" name="TextBox 47"/>
          <p:cNvSpPr txBox="1"/>
          <p:nvPr/>
        </p:nvSpPr>
        <p:spPr>
          <a:xfrm>
            <a:off x="10744200" y="3246120"/>
            <a:ext cx="1005840" cy="365760"/>
          </a:xfrm>
          <a:prstGeom prst="rect">
            <a:avLst/>
          </a:prstGeom>
          <a:noFill/>
        </p:spPr>
        <p:txBody>
          <a:bodyPr wrap="square" lIns="0" rIns="0" tIns="0" bIns="0">
            <a:spAutoFit/>
          </a:bodyPr>
          <a:lstStyle/>
          <a:p>
            <a:pPr algn="l"/>
            <a:r>
              <a:rPr sz="1000" b="1" i="0">
                <a:solidFill>
                  <a:srgbClr val="5A6478"/>
                </a:solidFill>
                <a:latin typeface="Calibri"/>
              </a:rPr>
              <a:t>L4 22%</a:t>
            </a:r>
          </a:p>
        </p:txBody>
      </p:sp>
      <p:sp>
        <p:nvSpPr>
          <p:cNvPr id="49" name="TextBox 48"/>
          <p:cNvSpPr txBox="1"/>
          <p:nvPr/>
        </p:nvSpPr>
        <p:spPr>
          <a:xfrm>
            <a:off x="10744200" y="3566160"/>
            <a:ext cx="1005840" cy="365760"/>
          </a:xfrm>
          <a:prstGeom prst="rect">
            <a:avLst/>
          </a:prstGeom>
          <a:noFill/>
        </p:spPr>
        <p:txBody>
          <a:bodyPr wrap="square" lIns="0" rIns="0" tIns="0" bIns="0">
            <a:spAutoFit/>
          </a:bodyPr>
          <a:lstStyle/>
          <a:p>
            <a:pPr algn="l"/>
            <a:r>
              <a:rPr sz="1000" b="1" i="0">
                <a:solidFill>
                  <a:srgbClr val="29C2F1"/>
                </a:solidFill>
                <a:latin typeface="Calibri"/>
              </a:rPr>
              <a:t>L2 21%</a:t>
            </a:r>
          </a:p>
        </p:txBody>
      </p:sp>
      <p:sp>
        <p:nvSpPr>
          <p:cNvPr id="50" name="TextBox 49"/>
          <p:cNvSpPr txBox="1"/>
          <p:nvPr/>
        </p:nvSpPr>
        <p:spPr>
          <a:xfrm>
            <a:off x="2011680" y="4480560"/>
            <a:ext cx="6035040" cy="457200"/>
          </a:xfrm>
          <a:prstGeom prst="rect">
            <a:avLst/>
          </a:prstGeom>
          <a:noFill/>
        </p:spPr>
        <p:txBody>
          <a:bodyPr wrap="square" lIns="0" rIns="0" tIns="0" bIns="0">
            <a:spAutoFit/>
          </a:bodyPr>
          <a:lstStyle/>
          <a:p>
            <a:pPr algn="l"/>
            <a:r>
              <a:rPr sz="950" b="0" i="1">
                <a:solidFill>
                  <a:srgbClr val="5A6478"/>
                </a:solidFill>
                <a:latin typeface="Calibri"/>
              </a:rPr>
              <a:t>state inflected hardest: +6 points in a year — the land grab is starting to pay</a:t>
            </a:r>
          </a:p>
        </p:txBody>
      </p:sp>
      <p:sp>
        <p:nvSpPr>
          <p:cNvPr id="51" name="Rounded Rectangle 50"/>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Work converts at 26%; state just inflected from 14% to 21%  </a:t>
            </a:r>
            <a:r>
              <a:rPr sz="1200">
                <a:solidFill>
                  <a:srgbClr val="1A2233"/>
                </a:solidFill>
                <a:latin typeface="Calibri"/>
              </a:rPr>
              <a:t>— falling multiples, rising cash. That divergence is the anomaly Part 04 examines.</a:t>
            </a:r>
          </a:p>
        </p:txBody>
      </p:sp>
      <p:sp>
        <p:nvSpPr>
          <p:cNvPr id="52" name="TextBox 5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53" name="TextBox 5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64</a:t>
            </a:r>
          </a:p>
        </p:txBody>
      </p:sp>
      <p:sp>
        <p:nvSpPr>
          <p:cNvPr id="54" name="TextBox 5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Medians by layer, EMCLOUD-classified names: trailing-4-quarter FCF ÷ trailing-4-quarter revenue, from filings (FMP), quarterly marks; Jul '26 = latest LTM. Approximate.</a:t>
            </a:r>
            <a:r>
              <a:rPr sz="650" b="0">
                <a:solidFill>
                  <a:srgbClr val="8A97B0"/>
                </a:solidFill>
                <a:latin typeface="Calibri"/>
              </a:rPr>
              <a:t> Median-of-names basis (p. 50) reads ~2 points lower for state.</a:t>
            </a:r>
          </a:p>
        </p:txBody>
      </p:sp>
      <p:sp>
        <p:nvSpPr>
          <p:cNvPr id="55" name="Oval 54"/>
          <p:cNvSpPr/>
          <p:nvPr/>
        </p:nvSpPr>
        <p:spPr>
          <a:xfrm>
            <a:off x="7498079" y="1847088"/>
            <a:ext cx="137160" cy="137160"/>
          </a:xfrm>
          <a:prstGeom prst="ellipse">
            <a:avLst/>
          </a:prstGeom>
          <a:solidFill>
            <a:srgbClr val="29C2F1"/>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699248" y="1810512"/>
            <a:ext cx="1051560" cy="201168"/>
          </a:xfrm>
          <a:prstGeom prst="rect">
            <a:avLst/>
          </a:prstGeom>
          <a:noFill/>
        </p:spPr>
        <p:txBody>
          <a:bodyPr wrap="square" lIns="0" rIns="0" tIns="0" bIns="0">
            <a:spAutoFit/>
          </a:bodyPr>
          <a:lstStyle/>
          <a:p>
            <a:r>
              <a:rPr sz="950" b="1">
                <a:solidFill>
                  <a:srgbClr val="5A6478"/>
                </a:solidFill>
                <a:latin typeface="Calibri"/>
              </a:rPr>
              <a:t>L2 · State</a:t>
            </a:r>
          </a:p>
        </p:txBody>
      </p:sp>
      <p:sp>
        <p:nvSpPr>
          <p:cNvPr id="57" name="Oval 56"/>
          <p:cNvSpPr/>
          <p:nvPr/>
        </p:nvSpPr>
        <p:spPr>
          <a:xfrm>
            <a:off x="8823959" y="1847088"/>
            <a:ext cx="137160" cy="137160"/>
          </a:xfrm>
          <a:prstGeom prst="ellipse">
            <a:avLst/>
          </a:prstGeom>
          <a:solidFill>
            <a:srgbClr val="1B3F8F"/>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025128" y="1810512"/>
            <a:ext cx="1051560" cy="201168"/>
          </a:xfrm>
          <a:prstGeom prst="rect">
            <a:avLst/>
          </a:prstGeom>
          <a:noFill/>
        </p:spPr>
        <p:txBody>
          <a:bodyPr wrap="square" lIns="0" rIns="0" tIns="0" bIns="0">
            <a:spAutoFit/>
          </a:bodyPr>
          <a:lstStyle/>
          <a:p>
            <a:r>
              <a:rPr sz="950" b="1">
                <a:solidFill>
                  <a:srgbClr val="5A6478"/>
                </a:solidFill>
                <a:latin typeface="Calibri"/>
              </a:rPr>
              <a:t>L3 · Work</a:t>
            </a:r>
          </a:p>
        </p:txBody>
      </p:sp>
      <p:sp>
        <p:nvSpPr>
          <p:cNvPr id="59" name="Oval 58"/>
          <p:cNvSpPr/>
          <p:nvPr/>
        </p:nvSpPr>
        <p:spPr>
          <a:xfrm>
            <a:off x="10149839" y="1847088"/>
            <a:ext cx="137160" cy="137160"/>
          </a:xfrm>
          <a:prstGeom prst="ellipse">
            <a:avLst/>
          </a:prstGeom>
          <a:solidFill>
            <a:srgbClr val="C9D2E0"/>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351007" y="1810512"/>
            <a:ext cx="1051560" cy="201168"/>
          </a:xfrm>
          <a:prstGeom prst="rect">
            <a:avLst/>
          </a:prstGeom>
          <a:noFill/>
        </p:spPr>
        <p:txBody>
          <a:bodyPr wrap="square" lIns="0" rIns="0" tIns="0" bIns="0">
            <a:spAutoFit/>
          </a:bodyPr>
          <a:lstStyle/>
          <a:p>
            <a:r>
              <a:rPr sz="950" b="1">
                <a:solidFill>
                  <a:srgbClr val="5A6478"/>
                </a:solidFill>
                <a:latin typeface="Calibri"/>
              </a:rPr>
              <a:t>L4 · Apps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meters keep getting bought — the pure plays are nearly gone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METER M&amp;A, 2018 → 2026 — TAKEOUT MULTIPLES SET THE FLOOR (EV / REVENUE · EV / FCF, APPROXIMATE)</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1572768"/>
            <a:ext cx="960120" cy="237744"/>
          </a:xfrm>
          <a:prstGeom prst="rect">
            <a:avLst/>
          </a:prstGeom>
          <a:noFill/>
        </p:spPr>
        <p:txBody>
          <a:bodyPr wrap="square" lIns="0" rIns="0" tIns="0" bIns="0">
            <a:spAutoFit/>
          </a:bodyPr>
          <a:lstStyle/>
          <a:p>
            <a:pPr algn="l"/>
            <a:r>
              <a:rPr sz="1050" b="1" i="0">
                <a:solidFill>
                  <a:srgbClr val="5A6478"/>
                </a:solidFill>
                <a:latin typeface="Calibri"/>
              </a:rPr>
              <a:t>YEAR</a:t>
            </a:r>
          </a:p>
        </p:txBody>
      </p:sp>
      <p:sp>
        <p:nvSpPr>
          <p:cNvPr id="6" name="TextBox 5"/>
          <p:cNvSpPr txBox="1"/>
          <p:nvPr/>
        </p:nvSpPr>
        <p:spPr>
          <a:xfrm>
            <a:off x="1920240" y="1572768"/>
            <a:ext cx="3703320" cy="237744"/>
          </a:xfrm>
          <a:prstGeom prst="rect">
            <a:avLst/>
          </a:prstGeom>
          <a:noFill/>
        </p:spPr>
        <p:txBody>
          <a:bodyPr wrap="square" lIns="0" rIns="0" tIns="0" bIns="0">
            <a:spAutoFit/>
          </a:bodyPr>
          <a:lstStyle/>
          <a:p>
            <a:pPr algn="l"/>
            <a:r>
              <a:rPr sz="1050" b="1" i="0">
                <a:solidFill>
                  <a:srgbClr val="5A6478"/>
                </a:solidFill>
                <a:latin typeface="Calibri"/>
              </a:rPr>
              <a:t>DEAL</a:t>
            </a:r>
          </a:p>
        </p:txBody>
      </p:sp>
      <p:sp>
        <p:nvSpPr>
          <p:cNvPr id="7" name="TextBox 6"/>
          <p:cNvSpPr txBox="1"/>
          <p:nvPr/>
        </p:nvSpPr>
        <p:spPr>
          <a:xfrm>
            <a:off x="5760720" y="1572768"/>
            <a:ext cx="1783080" cy="237744"/>
          </a:xfrm>
          <a:prstGeom prst="rect">
            <a:avLst/>
          </a:prstGeom>
          <a:noFill/>
        </p:spPr>
        <p:txBody>
          <a:bodyPr wrap="square" lIns="0" rIns="0" tIns="0" bIns="0">
            <a:spAutoFit/>
          </a:bodyPr>
          <a:lstStyle/>
          <a:p>
            <a:pPr algn="l"/>
            <a:r>
              <a:rPr sz="1050" b="1" i="0">
                <a:solidFill>
                  <a:srgbClr val="5A6478"/>
                </a:solidFill>
                <a:latin typeface="Calibri"/>
              </a:rPr>
              <a:t>METER</a:t>
            </a:r>
          </a:p>
        </p:txBody>
      </p:sp>
      <p:sp>
        <p:nvSpPr>
          <p:cNvPr id="8" name="TextBox 7"/>
          <p:cNvSpPr txBox="1"/>
          <p:nvPr/>
        </p:nvSpPr>
        <p:spPr>
          <a:xfrm>
            <a:off x="7680960" y="1572768"/>
            <a:ext cx="1234440" cy="237744"/>
          </a:xfrm>
          <a:prstGeom prst="rect">
            <a:avLst/>
          </a:prstGeom>
          <a:noFill/>
        </p:spPr>
        <p:txBody>
          <a:bodyPr wrap="square" lIns="0" rIns="0" tIns="0" bIns="0">
            <a:spAutoFit/>
          </a:bodyPr>
          <a:lstStyle/>
          <a:p>
            <a:pPr algn="r"/>
            <a:r>
              <a:rPr sz="1050" b="1" i="0">
                <a:solidFill>
                  <a:srgbClr val="5A6478"/>
                </a:solidFill>
                <a:latin typeface="Calibri"/>
              </a:rPr>
              <a:t>PRICE</a:t>
            </a:r>
          </a:p>
        </p:txBody>
      </p:sp>
      <p:sp>
        <p:nvSpPr>
          <p:cNvPr id="9" name="TextBox 8"/>
          <p:cNvSpPr txBox="1"/>
          <p:nvPr/>
        </p:nvSpPr>
        <p:spPr>
          <a:xfrm>
            <a:off x="9098280" y="1572768"/>
            <a:ext cx="1188720" cy="237744"/>
          </a:xfrm>
          <a:prstGeom prst="rect">
            <a:avLst/>
          </a:prstGeom>
          <a:noFill/>
        </p:spPr>
        <p:txBody>
          <a:bodyPr wrap="square" lIns="0" rIns="0" tIns="0" bIns="0">
            <a:spAutoFit/>
          </a:bodyPr>
          <a:lstStyle/>
          <a:p>
            <a:pPr algn="r"/>
            <a:r>
              <a:rPr sz="1050" b="1" i="0">
                <a:solidFill>
                  <a:srgbClr val="5A6478"/>
                </a:solidFill>
                <a:latin typeface="Calibri"/>
              </a:rPr>
              <a:t>EV / REV</a:t>
            </a:r>
          </a:p>
        </p:txBody>
      </p:sp>
      <p:sp>
        <p:nvSpPr>
          <p:cNvPr id="10" name="TextBox 9"/>
          <p:cNvSpPr txBox="1"/>
          <p:nvPr/>
        </p:nvSpPr>
        <p:spPr>
          <a:xfrm>
            <a:off x="10469880" y="1572768"/>
            <a:ext cx="1188720" cy="237744"/>
          </a:xfrm>
          <a:prstGeom prst="rect">
            <a:avLst/>
          </a:prstGeom>
          <a:noFill/>
        </p:spPr>
        <p:txBody>
          <a:bodyPr wrap="square" lIns="0" rIns="0" tIns="0" bIns="0">
            <a:spAutoFit/>
          </a:bodyPr>
          <a:lstStyle/>
          <a:p>
            <a:pPr algn="r"/>
            <a:r>
              <a:rPr sz="1050" b="1" i="0">
                <a:solidFill>
                  <a:srgbClr val="5A6478"/>
                </a:solidFill>
                <a:latin typeface="Calibri"/>
              </a:rPr>
              <a:t>EV / FCF</a:t>
            </a:r>
          </a:p>
        </p:txBody>
      </p:sp>
      <p:sp>
        <p:nvSpPr>
          <p:cNvPr id="11" name="Rounded Rectangle 10"/>
          <p:cNvSpPr/>
          <p:nvPr/>
        </p:nvSpPr>
        <p:spPr>
          <a:xfrm>
            <a:off x="777240" y="1938528"/>
            <a:ext cx="914400" cy="310896"/>
          </a:xfrm>
          <a:prstGeom prst="roundRect">
            <a:avLst>
              <a:gd name="adj" fmla="val 50000"/>
            </a:avLst>
          </a:prstGeom>
          <a:solidFill>
            <a:srgbClr val="F5F8FC"/>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5A6478"/>
                </a:solidFill>
                <a:latin typeface="Calibri"/>
              </a:rPr>
              <a:t>2018</a:t>
            </a:r>
          </a:p>
        </p:txBody>
      </p:sp>
      <p:sp>
        <p:nvSpPr>
          <p:cNvPr id="12" name="TextBox 11"/>
          <p:cNvSpPr txBox="1"/>
          <p:nvPr/>
        </p:nvSpPr>
        <p:spPr>
          <a:xfrm>
            <a:off x="1920240" y="1956816"/>
            <a:ext cx="3703320" cy="292608"/>
          </a:xfrm>
          <a:prstGeom prst="rect">
            <a:avLst/>
          </a:prstGeom>
          <a:noFill/>
        </p:spPr>
        <p:txBody>
          <a:bodyPr wrap="square" lIns="0" rIns="0" tIns="0" bIns="0">
            <a:spAutoFit/>
          </a:bodyPr>
          <a:lstStyle/>
          <a:p>
            <a:pPr algn="l"/>
            <a:r>
              <a:rPr sz="1400" b="1" i="0">
                <a:solidFill>
                  <a:srgbClr val="1A2233"/>
                </a:solidFill>
                <a:latin typeface="Calibri"/>
              </a:rPr>
              <a:t>Microsoft → GitHub</a:t>
            </a:r>
          </a:p>
        </p:txBody>
      </p:sp>
      <p:sp>
        <p:nvSpPr>
          <p:cNvPr id="13" name="TextBox 12"/>
          <p:cNvSpPr txBox="1"/>
          <p:nvPr/>
        </p:nvSpPr>
        <p:spPr>
          <a:xfrm>
            <a:off x="5760720" y="1984248"/>
            <a:ext cx="1783080" cy="274320"/>
          </a:xfrm>
          <a:prstGeom prst="rect">
            <a:avLst/>
          </a:prstGeom>
          <a:noFill/>
        </p:spPr>
        <p:txBody>
          <a:bodyPr wrap="square" lIns="0" rIns="0" tIns="0" bIns="0">
            <a:spAutoFit/>
          </a:bodyPr>
          <a:lstStyle/>
          <a:p>
            <a:pPr algn="l"/>
            <a:r>
              <a:rPr sz="1200" b="0" i="1">
                <a:solidFill>
                  <a:srgbClr val="5A6478"/>
                </a:solidFill>
                <a:latin typeface="Calibri"/>
              </a:rPr>
              <a:t>build</a:t>
            </a:r>
          </a:p>
        </p:txBody>
      </p:sp>
      <p:sp>
        <p:nvSpPr>
          <p:cNvPr id="14" name="TextBox 13"/>
          <p:cNvSpPr txBox="1"/>
          <p:nvPr/>
        </p:nvSpPr>
        <p:spPr>
          <a:xfrm>
            <a:off x="7680960" y="1956816"/>
            <a:ext cx="1234440" cy="292608"/>
          </a:xfrm>
          <a:prstGeom prst="rect">
            <a:avLst/>
          </a:prstGeom>
          <a:noFill/>
        </p:spPr>
        <p:txBody>
          <a:bodyPr wrap="square" lIns="0" rIns="0" tIns="0" bIns="0">
            <a:spAutoFit/>
          </a:bodyPr>
          <a:lstStyle/>
          <a:p>
            <a:pPr algn="r"/>
            <a:r>
              <a:rPr sz="1400" b="1" i="0">
                <a:solidFill>
                  <a:srgbClr val="1A2233"/>
                </a:solidFill>
                <a:latin typeface="Calibri"/>
              </a:rPr>
              <a:t>$7.5B</a:t>
            </a:r>
          </a:p>
        </p:txBody>
      </p:sp>
      <p:sp>
        <p:nvSpPr>
          <p:cNvPr id="15" name="TextBox 14"/>
          <p:cNvSpPr txBox="1"/>
          <p:nvPr/>
        </p:nvSpPr>
        <p:spPr>
          <a:xfrm>
            <a:off x="9098280" y="1956816"/>
            <a:ext cx="1188720" cy="292608"/>
          </a:xfrm>
          <a:prstGeom prst="rect">
            <a:avLst/>
          </a:prstGeom>
          <a:noFill/>
        </p:spPr>
        <p:txBody>
          <a:bodyPr wrap="square" lIns="0" rIns="0" tIns="0" bIns="0">
            <a:spAutoFit/>
          </a:bodyPr>
          <a:lstStyle/>
          <a:p>
            <a:pPr algn="r"/>
            <a:r>
              <a:rPr sz="1400" b="1" i="0">
                <a:solidFill>
                  <a:srgbClr val="2777EF"/>
                </a:solidFill>
                <a:latin typeface="Calibri"/>
              </a:rPr>
              <a:t>~28x</a:t>
            </a:r>
          </a:p>
        </p:txBody>
      </p:sp>
      <p:sp>
        <p:nvSpPr>
          <p:cNvPr id="16" name="TextBox 15"/>
          <p:cNvSpPr txBox="1"/>
          <p:nvPr/>
        </p:nvSpPr>
        <p:spPr>
          <a:xfrm>
            <a:off x="10469880" y="1956816"/>
            <a:ext cx="1188720" cy="292608"/>
          </a:xfrm>
          <a:prstGeom prst="rect">
            <a:avLst/>
          </a:prstGeom>
          <a:noFill/>
        </p:spPr>
        <p:txBody>
          <a:bodyPr wrap="square" lIns="0" rIns="0" tIns="0" bIns="0">
            <a:spAutoFit/>
          </a:bodyPr>
          <a:lstStyle/>
          <a:p>
            <a:pPr algn="r"/>
            <a:r>
              <a:rPr sz="1400" b="0" i="0">
                <a:solidFill>
                  <a:srgbClr val="5A6478"/>
                </a:solidFill>
                <a:latin typeface="Calibri"/>
              </a:rPr>
              <a:t>n/m</a:t>
            </a:r>
          </a:p>
        </p:txBody>
      </p:sp>
      <p:cxnSp>
        <p:nvCxnSpPr>
          <p:cNvPr id="17" name="Connector 16"/>
          <p:cNvCxnSpPr/>
          <p:nvPr/>
        </p:nvCxnSpPr>
        <p:spPr>
          <a:xfrm>
            <a:off x="777240" y="2414016"/>
            <a:ext cx="108813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7240" y="2578608"/>
            <a:ext cx="914400" cy="310896"/>
          </a:xfrm>
          <a:prstGeom prst="roundRect">
            <a:avLst>
              <a:gd name="adj" fmla="val 50000"/>
            </a:avLst>
          </a:prstGeom>
          <a:solidFill>
            <a:srgbClr val="F5F8FC"/>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5A6478"/>
                </a:solidFill>
                <a:latin typeface="Calibri"/>
              </a:rPr>
              <a:t>2023</a:t>
            </a:r>
          </a:p>
        </p:txBody>
      </p:sp>
      <p:sp>
        <p:nvSpPr>
          <p:cNvPr id="19" name="TextBox 18"/>
          <p:cNvSpPr txBox="1"/>
          <p:nvPr/>
        </p:nvSpPr>
        <p:spPr>
          <a:xfrm>
            <a:off x="1920240" y="2596896"/>
            <a:ext cx="3703320" cy="292608"/>
          </a:xfrm>
          <a:prstGeom prst="rect">
            <a:avLst/>
          </a:prstGeom>
          <a:noFill/>
        </p:spPr>
        <p:txBody>
          <a:bodyPr wrap="square" lIns="0" rIns="0" tIns="0" bIns="0">
            <a:spAutoFit/>
          </a:bodyPr>
          <a:lstStyle/>
          <a:p>
            <a:pPr algn="l"/>
            <a:r>
              <a:rPr sz="1400" b="1" i="0">
                <a:solidFill>
                  <a:srgbClr val="1A2233"/>
                </a:solidFill>
                <a:latin typeface="Calibri"/>
              </a:rPr>
              <a:t>Francisco + TPG → New Relic</a:t>
            </a:r>
          </a:p>
        </p:txBody>
      </p:sp>
      <p:sp>
        <p:nvSpPr>
          <p:cNvPr id="20" name="TextBox 19"/>
          <p:cNvSpPr txBox="1"/>
          <p:nvPr/>
        </p:nvSpPr>
        <p:spPr>
          <a:xfrm>
            <a:off x="5760720" y="2624328"/>
            <a:ext cx="1783080" cy="274320"/>
          </a:xfrm>
          <a:prstGeom prst="rect">
            <a:avLst/>
          </a:prstGeom>
          <a:noFill/>
        </p:spPr>
        <p:txBody>
          <a:bodyPr wrap="square" lIns="0" rIns="0" tIns="0" bIns="0">
            <a:spAutoFit/>
          </a:bodyPr>
          <a:lstStyle/>
          <a:p>
            <a:pPr algn="l"/>
            <a:r>
              <a:rPr sz="1200" b="0" i="1">
                <a:solidFill>
                  <a:srgbClr val="5A6478"/>
                </a:solidFill>
                <a:latin typeface="Calibri"/>
              </a:rPr>
              <a:t>audit</a:t>
            </a:r>
          </a:p>
        </p:txBody>
      </p:sp>
      <p:sp>
        <p:nvSpPr>
          <p:cNvPr id="21" name="TextBox 20"/>
          <p:cNvSpPr txBox="1"/>
          <p:nvPr/>
        </p:nvSpPr>
        <p:spPr>
          <a:xfrm>
            <a:off x="7680960" y="2596896"/>
            <a:ext cx="1234440" cy="292608"/>
          </a:xfrm>
          <a:prstGeom prst="rect">
            <a:avLst/>
          </a:prstGeom>
          <a:noFill/>
        </p:spPr>
        <p:txBody>
          <a:bodyPr wrap="square" lIns="0" rIns="0" tIns="0" bIns="0">
            <a:spAutoFit/>
          </a:bodyPr>
          <a:lstStyle/>
          <a:p>
            <a:pPr algn="r"/>
            <a:r>
              <a:rPr sz="1400" b="1" i="0">
                <a:solidFill>
                  <a:srgbClr val="1A2233"/>
                </a:solidFill>
                <a:latin typeface="Calibri"/>
              </a:rPr>
              <a:t>$6.5B</a:t>
            </a:r>
          </a:p>
        </p:txBody>
      </p:sp>
      <p:sp>
        <p:nvSpPr>
          <p:cNvPr id="22" name="TextBox 21"/>
          <p:cNvSpPr txBox="1"/>
          <p:nvPr/>
        </p:nvSpPr>
        <p:spPr>
          <a:xfrm>
            <a:off x="9098280" y="2596896"/>
            <a:ext cx="1188720" cy="292608"/>
          </a:xfrm>
          <a:prstGeom prst="rect">
            <a:avLst/>
          </a:prstGeom>
          <a:noFill/>
        </p:spPr>
        <p:txBody>
          <a:bodyPr wrap="square" lIns="0" rIns="0" tIns="0" bIns="0">
            <a:spAutoFit/>
          </a:bodyPr>
          <a:lstStyle/>
          <a:p>
            <a:pPr algn="r"/>
            <a:r>
              <a:rPr sz="1400" b="1" i="0">
                <a:solidFill>
                  <a:srgbClr val="2777EF"/>
                </a:solidFill>
                <a:latin typeface="Calibri"/>
              </a:rPr>
              <a:t>~6.5x</a:t>
            </a:r>
          </a:p>
        </p:txBody>
      </p:sp>
      <p:sp>
        <p:nvSpPr>
          <p:cNvPr id="23" name="TextBox 22"/>
          <p:cNvSpPr txBox="1"/>
          <p:nvPr/>
        </p:nvSpPr>
        <p:spPr>
          <a:xfrm>
            <a:off x="10469880" y="2596896"/>
            <a:ext cx="1188720" cy="292608"/>
          </a:xfrm>
          <a:prstGeom prst="rect">
            <a:avLst/>
          </a:prstGeom>
          <a:noFill/>
        </p:spPr>
        <p:txBody>
          <a:bodyPr wrap="square" lIns="0" rIns="0" tIns="0" bIns="0">
            <a:spAutoFit/>
          </a:bodyPr>
          <a:lstStyle/>
          <a:p>
            <a:pPr algn="r"/>
            <a:r>
              <a:rPr sz="1400" b="0" i="0">
                <a:solidFill>
                  <a:srgbClr val="5A6478"/>
                </a:solidFill>
                <a:latin typeface="Calibri"/>
              </a:rPr>
              <a:t>~35x</a:t>
            </a:r>
          </a:p>
        </p:txBody>
      </p:sp>
      <p:cxnSp>
        <p:nvCxnSpPr>
          <p:cNvPr id="24" name="Connector 23"/>
          <p:cNvCxnSpPr/>
          <p:nvPr/>
        </p:nvCxnSpPr>
        <p:spPr>
          <a:xfrm>
            <a:off x="777240" y="3054096"/>
            <a:ext cx="108813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 y="3218688"/>
            <a:ext cx="914400" cy="310896"/>
          </a:xfrm>
          <a:prstGeom prst="roundRect">
            <a:avLst>
              <a:gd name="adj" fmla="val 50000"/>
            </a:avLst>
          </a:prstGeom>
          <a:solidFill>
            <a:srgbClr val="F5F8FC"/>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5A6478"/>
                </a:solidFill>
                <a:latin typeface="Calibri"/>
              </a:rPr>
              <a:t>2024</a:t>
            </a:r>
          </a:p>
        </p:txBody>
      </p:sp>
      <p:sp>
        <p:nvSpPr>
          <p:cNvPr id="26" name="TextBox 25"/>
          <p:cNvSpPr txBox="1"/>
          <p:nvPr/>
        </p:nvSpPr>
        <p:spPr>
          <a:xfrm>
            <a:off x="1920240" y="3236976"/>
            <a:ext cx="3703320" cy="292608"/>
          </a:xfrm>
          <a:prstGeom prst="rect">
            <a:avLst/>
          </a:prstGeom>
          <a:noFill/>
        </p:spPr>
        <p:txBody>
          <a:bodyPr wrap="square" lIns="0" rIns="0" tIns="0" bIns="0">
            <a:spAutoFit/>
          </a:bodyPr>
          <a:lstStyle/>
          <a:p>
            <a:pPr algn="l"/>
            <a:r>
              <a:rPr sz="1400" b="1" i="0">
                <a:solidFill>
                  <a:srgbClr val="1A2233"/>
                </a:solidFill>
                <a:latin typeface="Calibri"/>
              </a:rPr>
              <a:t>Cisco → Splunk</a:t>
            </a:r>
          </a:p>
        </p:txBody>
      </p:sp>
      <p:sp>
        <p:nvSpPr>
          <p:cNvPr id="27" name="TextBox 26"/>
          <p:cNvSpPr txBox="1"/>
          <p:nvPr/>
        </p:nvSpPr>
        <p:spPr>
          <a:xfrm>
            <a:off x="5760720" y="3264408"/>
            <a:ext cx="1783080" cy="274320"/>
          </a:xfrm>
          <a:prstGeom prst="rect">
            <a:avLst/>
          </a:prstGeom>
          <a:noFill/>
        </p:spPr>
        <p:txBody>
          <a:bodyPr wrap="square" lIns="0" rIns="0" tIns="0" bIns="0">
            <a:spAutoFit/>
          </a:bodyPr>
          <a:lstStyle/>
          <a:p>
            <a:pPr algn="l"/>
            <a:r>
              <a:rPr sz="1200" b="0" i="1">
                <a:solidFill>
                  <a:srgbClr val="5A6478"/>
                </a:solidFill>
                <a:latin typeface="Calibri"/>
              </a:rPr>
              <a:t>audit</a:t>
            </a:r>
          </a:p>
        </p:txBody>
      </p:sp>
      <p:sp>
        <p:nvSpPr>
          <p:cNvPr id="28" name="TextBox 27"/>
          <p:cNvSpPr txBox="1"/>
          <p:nvPr/>
        </p:nvSpPr>
        <p:spPr>
          <a:xfrm>
            <a:off x="7680960" y="3236976"/>
            <a:ext cx="1234440" cy="292608"/>
          </a:xfrm>
          <a:prstGeom prst="rect">
            <a:avLst/>
          </a:prstGeom>
          <a:noFill/>
        </p:spPr>
        <p:txBody>
          <a:bodyPr wrap="square" lIns="0" rIns="0" tIns="0" bIns="0">
            <a:spAutoFit/>
          </a:bodyPr>
          <a:lstStyle/>
          <a:p>
            <a:pPr algn="r"/>
            <a:r>
              <a:rPr sz="1400" b="1" i="0">
                <a:solidFill>
                  <a:srgbClr val="1A2233"/>
                </a:solidFill>
                <a:latin typeface="Calibri"/>
              </a:rPr>
              <a:t>$28B</a:t>
            </a:r>
          </a:p>
        </p:txBody>
      </p:sp>
      <p:sp>
        <p:nvSpPr>
          <p:cNvPr id="29" name="TextBox 28"/>
          <p:cNvSpPr txBox="1"/>
          <p:nvPr/>
        </p:nvSpPr>
        <p:spPr>
          <a:xfrm>
            <a:off x="9098280" y="3236976"/>
            <a:ext cx="1188720" cy="292608"/>
          </a:xfrm>
          <a:prstGeom prst="rect">
            <a:avLst/>
          </a:prstGeom>
          <a:noFill/>
        </p:spPr>
        <p:txBody>
          <a:bodyPr wrap="square" lIns="0" rIns="0" tIns="0" bIns="0">
            <a:spAutoFit/>
          </a:bodyPr>
          <a:lstStyle/>
          <a:p>
            <a:pPr algn="r"/>
            <a:r>
              <a:rPr sz="1400" b="1" i="0">
                <a:solidFill>
                  <a:srgbClr val="2777EF"/>
                </a:solidFill>
                <a:latin typeface="Calibri"/>
              </a:rPr>
              <a:t>~7x</a:t>
            </a:r>
          </a:p>
        </p:txBody>
      </p:sp>
      <p:sp>
        <p:nvSpPr>
          <p:cNvPr id="30" name="TextBox 29"/>
          <p:cNvSpPr txBox="1"/>
          <p:nvPr/>
        </p:nvSpPr>
        <p:spPr>
          <a:xfrm>
            <a:off x="10469880" y="3236976"/>
            <a:ext cx="1188720" cy="292608"/>
          </a:xfrm>
          <a:prstGeom prst="rect">
            <a:avLst/>
          </a:prstGeom>
          <a:noFill/>
        </p:spPr>
        <p:txBody>
          <a:bodyPr wrap="square" lIns="0" rIns="0" tIns="0" bIns="0">
            <a:spAutoFit/>
          </a:bodyPr>
          <a:lstStyle/>
          <a:p>
            <a:pPr algn="r"/>
            <a:r>
              <a:rPr sz="1400" b="0" i="0">
                <a:solidFill>
                  <a:srgbClr val="5A6478"/>
                </a:solidFill>
                <a:latin typeface="Calibri"/>
              </a:rPr>
              <a:t>~28x</a:t>
            </a:r>
          </a:p>
        </p:txBody>
      </p:sp>
      <p:cxnSp>
        <p:nvCxnSpPr>
          <p:cNvPr id="31" name="Connector 30"/>
          <p:cNvCxnSpPr/>
          <p:nvPr/>
        </p:nvCxnSpPr>
        <p:spPr>
          <a:xfrm>
            <a:off x="777240" y="3694176"/>
            <a:ext cx="108813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77240" y="3858768"/>
            <a:ext cx="914400" cy="310896"/>
          </a:xfrm>
          <a:prstGeom prst="roundRect">
            <a:avLst>
              <a:gd name="adj" fmla="val 50000"/>
            </a:avLst>
          </a:prstGeom>
          <a:solidFill>
            <a:srgbClr val="F5F8FC"/>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5A6478"/>
                </a:solidFill>
                <a:latin typeface="Calibri"/>
              </a:rPr>
              <a:t>2025</a:t>
            </a:r>
          </a:p>
        </p:txBody>
      </p:sp>
      <p:sp>
        <p:nvSpPr>
          <p:cNvPr id="33" name="TextBox 32"/>
          <p:cNvSpPr txBox="1"/>
          <p:nvPr/>
        </p:nvSpPr>
        <p:spPr>
          <a:xfrm>
            <a:off x="1920240" y="3877056"/>
            <a:ext cx="3703320" cy="292608"/>
          </a:xfrm>
          <a:prstGeom prst="rect">
            <a:avLst/>
          </a:prstGeom>
          <a:noFill/>
        </p:spPr>
        <p:txBody>
          <a:bodyPr wrap="square" lIns="0" rIns="0" tIns="0" bIns="0">
            <a:spAutoFit/>
          </a:bodyPr>
          <a:lstStyle/>
          <a:p>
            <a:pPr algn="l"/>
            <a:r>
              <a:rPr sz="1400" b="1" i="0">
                <a:solidFill>
                  <a:srgbClr val="1A2233"/>
                </a:solidFill>
                <a:latin typeface="Calibri"/>
              </a:rPr>
              <a:t>IBM → HashiCorp</a:t>
            </a:r>
          </a:p>
        </p:txBody>
      </p:sp>
      <p:sp>
        <p:nvSpPr>
          <p:cNvPr id="34" name="TextBox 33"/>
          <p:cNvSpPr txBox="1"/>
          <p:nvPr/>
        </p:nvSpPr>
        <p:spPr>
          <a:xfrm>
            <a:off x="5760720" y="3904488"/>
            <a:ext cx="1783080" cy="274320"/>
          </a:xfrm>
          <a:prstGeom prst="rect">
            <a:avLst/>
          </a:prstGeom>
          <a:noFill/>
        </p:spPr>
        <p:txBody>
          <a:bodyPr wrap="square" lIns="0" rIns="0" tIns="0" bIns="0">
            <a:spAutoFit/>
          </a:bodyPr>
          <a:lstStyle/>
          <a:p>
            <a:pPr algn="l"/>
            <a:r>
              <a:rPr sz="1200" b="0" i="1">
                <a:solidFill>
                  <a:srgbClr val="5A6478"/>
                </a:solidFill>
                <a:latin typeface="Calibri"/>
              </a:rPr>
              <a:t>build &amp; deploy</a:t>
            </a:r>
          </a:p>
        </p:txBody>
      </p:sp>
      <p:sp>
        <p:nvSpPr>
          <p:cNvPr id="35" name="TextBox 34"/>
          <p:cNvSpPr txBox="1"/>
          <p:nvPr/>
        </p:nvSpPr>
        <p:spPr>
          <a:xfrm>
            <a:off x="7680960" y="3877056"/>
            <a:ext cx="1234440" cy="292608"/>
          </a:xfrm>
          <a:prstGeom prst="rect">
            <a:avLst/>
          </a:prstGeom>
          <a:noFill/>
        </p:spPr>
        <p:txBody>
          <a:bodyPr wrap="square" lIns="0" rIns="0" tIns="0" bIns="0">
            <a:spAutoFit/>
          </a:bodyPr>
          <a:lstStyle/>
          <a:p>
            <a:pPr algn="r"/>
            <a:r>
              <a:rPr sz="1400" b="1" i="0">
                <a:solidFill>
                  <a:srgbClr val="1A2233"/>
                </a:solidFill>
                <a:latin typeface="Calibri"/>
              </a:rPr>
              <a:t>$6.4B</a:t>
            </a:r>
          </a:p>
        </p:txBody>
      </p:sp>
      <p:sp>
        <p:nvSpPr>
          <p:cNvPr id="36" name="TextBox 35"/>
          <p:cNvSpPr txBox="1"/>
          <p:nvPr/>
        </p:nvSpPr>
        <p:spPr>
          <a:xfrm>
            <a:off x="9098280" y="3877056"/>
            <a:ext cx="1188720" cy="292608"/>
          </a:xfrm>
          <a:prstGeom prst="rect">
            <a:avLst/>
          </a:prstGeom>
          <a:noFill/>
        </p:spPr>
        <p:txBody>
          <a:bodyPr wrap="square" lIns="0" rIns="0" tIns="0" bIns="0">
            <a:spAutoFit/>
          </a:bodyPr>
          <a:lstStyle/>
          <a:p>
            <a:pPr algn="r"/>
            <a:r>
              <a:rPr sz="1400" b="1" i="0">
                <a:solidFill>
                  <a:srgbClr val="2777EF"/>
                </a:solidFill>
                <a:latin typeface="Calibri"/>
              </a:rPr>
              <a:t>~10x</a:t>
            </a:r>
          </a:p>
        </p:txBody>
      </p:sp>
      <p:sp>
        <p:nvSpPr>
          <p:cNvPr id="37" name="TextBox 36"/>
          <p:cNvSpPr txBox="1"/>
          <p:nvPr/>
        </p:nvSpPr>
        <p:spPr>
          <a:xfrm>
            <a:off x="10469880" y="3877056"/>
            <a:ext cx="1188720" cy="292608"/>
          </a:xfrm>
          <a:prstGeom prst="rect">
            <a:avLst/>
          </a:prstGeom>
          <a:noFill/>
        </p:spPr>
        <p:txBody>
          <a:bodyPr wrap="square" lIns="0" rIns="0" tIns="0" bIns="0">
            <a:spAutoFit/>
          </a:bodyPr>
          <a:lstStyle/>
          <a:p>
            <a:pPr algn="r"/>
            <a:r>
              <a:rPr sz="1400" b="0" i="0">
                <a:solidFill>
                  <a:srgbClr val="5A6478"/>
                </a:solidFill>
                <a:latin typeface="Calibri"/>
              </a:rPr>
              <a:t>n/m</a:t>
            </a:r>
          </a:p>
        </p:txBody>
      </p:sp>
      <p:cxnSp>
        <p:nvCxnSpPr>
          <p:cNvPr id="38" name="Connector 37"/>
          <p:cNvCxnSpPr/>
          <p:nvPr/>
        </p:nvCxnSpPr>
        <p:spPr>
          <a:xfrm>
            <a:off x="777240" y="4334256"/>
            <a:ext cx="108813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77240" y="4498848"/>
            <a:ext cx="914400" cy="310896"/>
          </a:xfrm>
          <a:prstGeom prst="roundRect">
            <a:avLst>
              <a:gd name="adj" fmla="val 50000"/>
            </a:avLst>
          </a:prstGeom>
          <a:solidFill>
            <a:srgbClr val="F5F8FC"/>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5A6478"/>
                </a:solidFill>
                <a:latin typeface="Calibri"/>
              </a:rPr>
              <a:t>2025</a:t>
            </a:r>
          </a:p>
        </p:txBody>
      </p:sp>
      <p:sp>
        <p:nvSpPr>
          <p:cNvPr id="40" name="TextBox 39"/>
          <p:cNvSpPr txBox="1"/>
          <p:nvPr/>
        </p:nvSpPr>
        <p:spPr>
          <a:xfrm>
            <a:off x="1920240" y="4517136"/>
            <a:ext cx="3703320" cy="292608"/>
          </a:xfrm>
          <a:prstGeom prst="rect">
            <a:avLst/>
          </a:prstGeom>
          <a:noFill/>
        </p:spPr>
        <p:txBody>
          <a:bodyPr wrap="square" lIns="0" rIns="0" tIns="0" bIns="0">
            <a:spAutoFit/>
          </a:bodyPr>
          <a:lstStyle/>
          <a:p>
            <a:pPr algn="l"/>
            <a:r>
              <a:rPr sz="1400" b="1" i="0">
                <a:solidFill>
                  <a:srgbClr val="1A2233"/>
                </a:solidFill>
                <a:latin typeface="Calibri"/>
              </a:rPr>
              <a:t>Salesforce → Informatica</a:t>
            </a:r>
          </a:p>
        </p:txBody>
      </p:sp>
      <p:sp>
        <p:nvSpPr>
          <p:cNvPr id="41" name="TextBox 40"/>
          <p:cNvSpPr txBox="1"/>
          <p:nvPr/>
        </p:nvSpPr>
        <p:spPr>
          <a:xfrm>
            <a:off x="5760720" y="4544568"/>
            <a:ext cx="1783080" cy="274320"/>
          </a:xfrm>
          <a:prstGeom prst="rect">
            <a:avLst/>
          </a:prstGeom>
          <a:noFill/>
        </p:spPr>
        <p:txBody>
          <a:bodyPr wrap="square" lIns="0" rIns="0" tIns="0" bIns="0">
            <a:spAutoFit/>
          </a:bodyPr>
          <a:lstStyle/>
          <a:p>
            <a:pPr algn="l"/>
            <a:r>
              <a:rPr sz="1200" b="0" i="1">
                <a:solidFill>
                  <a:srgbClr val="5A6478"/>
                </a:solidFill>
                <a:latin typeface="Calibri"/>
              </a:rPr>
              <a:t>context &amp; data</a:t>
            </a:r>
          </a:p>
        </p:txBody>
      </p:sp>
      <p:sp>
        <p:nvSpPr>
          <p:cNvPr id="42" name="TextBox 41"/>
          <p:cNvSpPr txBox="1"/>
          <p:nvPr/>
        </p:nvSpPr>
        <p:spPr>
          <a:xfrm>
            <a:off x="7680960" y="4517136"/>
            <a:ext cx="1234440" cy="292608"/>
          </a:xfrm>
          <a:prstGeom prst="rect">
            <a:avLst/>
          </a:prstGeom>
          <a:noFill/>
        </p:spPr>
        <p:txBody>
          <a:bodyPr wrap="square" lIns="0" rIns="0" tIns="0" bIns="0">
            <a:spAutoFit/>
          </a:bodyPr>
          <a:lstStyle/>
          <a:p>
            <a:pPr algn="r"/>
            <a:r>
              <a:rPr sz="1400" b="1" i="0">
                <a:solidFill>
                  <a:srgbClr val="1A2233"/>
                </a:solidFill>
                <a:latin typeface="Calibri"/>
              </a:rPr>
              <a:t>$8B</a:t>
            </a:r>
          </a:p>
        </p:txBody>
      </p:sp>
      <p:sp>
        <p:nvSpPr>
          <p:cNvPr id="43" name="TextBox 42"/>
          <p:cNvSpPr txBox="1"/>
          <p:nvPr/>
        </p:nvSpPr>
        <p:spPr>
          <a:xfrm>
            <a:off x="9098280" y="4517136"/>
            <a:ext cx="1188720" cy="292608"/>
          </a:xfrm>
          <a:prstGeom prst="rect">
            <a:avLst/>
          </a:prstGeom>
          <a:noFill/>
        </p:spPr>
        <p:txBody>
          <a:bodyPr wrap="square" lIns="0" rIns="0" tIns="0" bIns="0">
            <a:spAutoFit/>
          </a:bodyPr>
          <a:lstStyle/>
          <a:p>
            <a:pPr algn="r"/>
            <a:r>
              <a:rPr sz="1400" b="1" i="0">
                <a:solidFill>
                  <a:srgbClr val="2777EF"/>
                </a:solidFill>
                <a:latin typeface="Calibri"/>
              </a:rPr>
              <a:t>~4.8x</a:t>
            </a:r>
          </a:p>
        </p:txBody>
      </p:sp>
      <p:sp>
        <p:nvSpPr>
          <p:cNvPr id="44" name="TextBox 43"/>
          <p:cNvSpPr txBox="1"/>
          <p:nvPr/>
        </p:nvSpPr>
        <p:spPr>
          <a:xfrm>
            <a:off x="10469880" y="4517136"/>
            <a:ext cx="1188720" cy="292608"/>
          </a:xfrm>
          <a:prstGeom prst="rect">
            <a:avLst/>
          </a:prstGeom>
          <a:noFill/>
        </p:spPr>
        <p:txBody>
          <a:bodyPr wrap="square" lIns="0" rIns="0" tIns="0" bIns="0">
            <a:spAutoFit/>
          </a:bodyPr>
          <a:lstStyle/>
          <a:p>
            <a:pPr algn="r"/>
            <a:r>
              <a:rPr sz="1400" b="0" i="0">
                <a:solidFill>
                  <a:srgbClr val="5A6478"/>
                </a:solidFill>
                <a:latin typeface="Calibri"/>
              </a:rPr>
              <a:t>~30x*</a:t>
            </a:r>
          </a:p>
        </p:txBody>
      </p:sp>
      <p:cxnSp>
        <p:nvCxnSpPr>
          <p:cNvPr id="45" name="Connector 44"/>
          <p:cNvCxnSpPr/>
          <p:nvPr/>
        </p:nvCxnSpPr>
        <p:spPr>
          <a:xfrm>
            <a:off x="777240" y="4974336"/>
            <a:ext cx="10881360" cy="0"/>
          </a:xfrm>
          <a:prstGeom prst="line">
            <a:avLst/>
          </a:prstGeom>
          <a:ln w="9525">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640080" y="5056632"/>
            <a:ext cx="11155680" cy="512064"/>
          </a:xfrm>
          <a:prstGeom prst="roundRect">
            <a:avLst>
              <a:gd name="adj" fmla="val 25000"/>
            </a:avLst>
          </a:prstGeom>
          <a:solidFill>
            <a:srgbClr val="EAF1FE"/>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777240" y="5138928"/>
            <a:ext cx="914400" cy="310896"/>
          </a:xfrm>
          <a:prstGeom prst="roundRect">
            <a:avLst>
              <a:gd name="adj" fmla="val 50000"/>
            </a:avLst>
          </a:prstGeom>
          <a:solidFill>
            <a:srgbClr val="2777EF"/>
          </a:solidFill>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2026</a:t>
            </a:r>
          </a:p>
        </p:txBody>
      </p:sp>
      <p:sp>
        <p:nvSpPr>
          <p:cNvPr id="48" name="TextBox 47"/>
          <p:cNvSpPr txBox="1"/>
          <p:nvPr/>
        </p:nvSpPr>
        <p:spPr>
          <a:xfrm>
            <a:off x="1920240" y="5157216"/>
            <a:ext cx="3703320" cy="292608"/>
          </a:xfrm>
          <a:prstGeom prst="rect">
            <a:avLst/>
          </a:prstGeom>
          <a:noFill/>
        </p:spPr>
        <p:txBody>
          <a:bodyPr wrap="square" lIns="0" rIns="0" tIns="0" bIns="0">
            <a:spAutoFit/>
          </a:bodyPr>
          <a:lstStyle/>
          <a:p>
            <a:pPr algn="l"/>
            <a:r>
              <a:rPr sz="1400" b="1" i="0">
                <a:solidFill>
                  <a:srgbClr val="2777EF"/>
                </a:solidFill>
                <a:latin typeface="Calibri"/>
              </a:rPr>
              <a:t>IBM → Confluent</a:t>
            </a:r>
          </a:p>
        </p:txBody>
      </p:sp>
      <p:sp>
        <p:nvSpPr>
          <p:cNvPr id="49" name="TextBox 48"/>
          <p:cNvSpPr txBox="1"/>
          <p:nvPr/>
        </p:nvSpPr>
        <p:spPr>
          <a:xfrm>
            <a:off x="5760720" y="5184648"/>
            <a:ext cx="1783080" cy="274320"/>
          </a:xfrm>
          <a:prstGeom prst="rect">
            <a:avLst/>
          </a:prstGeom>
          <a:noFill/>
        </p:spPr>
        <p:txBody>
          <a:bodyPr wrap="square" lIns="0" rIns="0" tIns="0" bIns="0">
            <a:spAutoFit/>
          </a:bodyPr>
          <a:lstStyle/>
          <a:p>
            <a:pPr algn="l"/>
            <a:r>
              <a:rPr sz="1200" b="0" i="1">
                <a:solidFill>
                  <a:srgbClr val="5A6478"/>
                </a:solidFill>
                <a:latin typeface="Calibri"/>
              </a:rPr>
              <a:t>state in motion</a:t>
            </a:r>
          </a:p>
        </p:txBody>
      </p:sp>
      <p:sp>
        <p:nvSpPr>
          <p:cNvPr id="50" name="TextBox 49"/>
          <p:cNvSpPr txBox="1"/>
          <p:nvPr/>
        </p:nvSpPr>
        <p:spPr>
          <a:xfrm>
            <a:off x="7680960" y="5157216"/>
            <a:ext cx="1234440" cy="292608"/>
          </a:xfrm>
          <a:prstGeom prst="rect">
            <a:avLst/>
          </a:prstGeom>
          <a:noFill/>
        </p:spPr>
        <p:txBody>
          <a:bodyPr wrap="square" lIns="0" rIns="0" tIns="0" bIns="0">
            <a:spAutoFit/>
          </a:bodyPr>
          <a:lstStyle/>
          <a:p>
            <a:pPr algn="r"/>
            <a:r>
              <a:rPr sz="1400" b="1" i="0">
                <a:solidFill>
                  <a:srgbClr val="1A2233"/>
                </a:solidFill>
                <a:latin typeface="Calibri"/>
              </a:rPr>
              <a:t>$11.3B</a:t>
            </a:r>
          </a:p>
        </p:txBody>
      </p:sp>
      <p:sp>
        <p:nvSpPr>
          <p:cNvPr id="51" name="TextBox 50"/>
          <p:cNvSpPr txBox="1"/>
          <p:nvPr/>
        </p:nvSpPr>
        <p:spPr>
          <a:xfrm>
            <a:off x="9098280" y="5157216"/>
            <a:ext cx="1188720" cy="292608"/>
          </a:xfrm>
          <a:prstGeom prst="rect">
            <a:avLst/>
          </a:prstGeom>
          <a:noFill/>
        </p:spPr>
        <p:txBody>
          <a:bodyPr wrap="square" lIns="0" rIns="0" tIns="0" bIns="0">
            <a:spAutoFit/>
          </a:bodyPr>
          <a:lstStyle/>
          <a:p>
            <a:pPr algn="r"/>
            <a:r>
              <a:rPr sz="1400" b="1" i="0">
                <a:solidFill>
                  <a:srgbClr val="2777EF"/>
                </a:solidFill>
                <a:latin typeface="Calibri"/>
              </a:rPr>
              <a:t>~8x</a:t>
            </a:r>
          </a:p>
        </p:txBody>
      </p:sp>
      <p:sp>
        <p:nvSpPr>
          <p:cNvPr id="52" name="TextBox 51"/>
          <p:cNvSpPr txBox="1"/>
          <p:nvPr/>
        </p:nvSpPr>
        <p:spPr>
          <a:xfrm>
            <a:off x="10469880" y="5157216"/>
            <a:ext cx="1188720" cy="292608"/>
          </a:xfrm>
          <a:prstGeom prst="rect">
            <a:avLst/>
          </a:prstGeom>
          <a:noFill/>
        </p:spPr>
        <p:txBody>
          <a:bodyPr wrap="square" lIns="0" rIns="0" tIns="0" bIns="0">
            <a:spAutoFit/>
          </a:bodyPr>
          <a:lstStyle/>
          <a:p>
            <a:pPr algn="r"/>
            <a:r>
              <a:rPr sz="1400" b="0" i="0">
                <a:solidFill>
                  <a:srgbClr val="5A6478"/>
                </a:solidFill>
                <a:latin typeface="Calibri"/>
              </a:rPr>
              <a:t>n/m</a:t>
            </a:r>
          </a:p>
        </p:txBody>
      </p:sp>
      <p:sp>
        <p:nvSpPr>
          <p:cNvPr id="53" name="Rounded Rectangle 52"/>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Scaled meters clear ~7–10x revenue in a sale  </a:t>
            </a:r>
            <a:r>
              <a:rPr sz="1200">
                <a:solidFill>
                  <a:srgbClr val="1A2233"/>
                </a:solidFill>
                <a:latin typeface="Calibri"/>
              </a:rPr>
              <a:t>— above where the layers trade after the derate — context Part 04 returns to.</a:t>
            </a:r>
          </a:p>
        </p:txBody>
      </p:sp>
      <p:sp>
        <p:nvSpPr>
          <p:cNvPr id="54" name="TextBox 53"/>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55" name="TextBox 54"/>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65</a:t>
            </a:r>
          </a:p>
        </p:txBody>
      </p:sp>
      <p:sp>
        <p:nvSpPr>
          <p:cNvPr id="56" name="TextBox 55"/>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Deal terms per announcements and press; multiples approximate, LTM/forward bases mixed. *Informatica ≈30x EBITDA. GitHub, HashiCorp and Confluent were pre-scale FCF at close (n/m).</a:t>
            </a:r>
          </a:p>
        </p:txBody>
      </p:sp>
      <p:sp>
        <p:nvSpPr>
          <p:cNvPr id="57" name="TextBox 56"/>
          <p:cNvSpPr txBox="1"/>
          <p:nvPr/>
        </p:nvSpPr>
        <p:spPr>
          <a:xfrm>
            <a:off x="777240" y="5577840"/>
            <a:ext cx="10634472" cy="274320"/>
          </a:xfrm>
          <a:prstGeom prst="rect">
            <a:avLst/>
          </a:prstGeom>
          <a:noFill/>
        </p:spPr>
        <p:txBody>
          <a:bodyPr wrap="square" lIns="0" rIns="0" tIns="0" bIns="0">
            <a:spAutoFit/>
          </a:bodyPr>
          <a:lstStyle/>
          <a:p>
            <a:pPr algn="l"/>
            <a:r>
              <a:rPr sz="1000" b="0" i="1">
                <a:solidFill>
                  <a:srgbClr val="5A6478"/>
                </a:solidFill>
                <a:latin typeface="Calibri"/>
              </a:rPr>
              <a:t>2025–26 pending: Palo Alto Networks → CyberArk, ~$25B announced — the largest identity/work-meter takeout yet; closes the window further.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State vs. work: eight rounds, scored on the tape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HEAD-TO-HEAD ON MEASURED EVIDENCE — EVERY ROW FROM THE EXHIBITS IN THIS SECTION</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160520" y="1554480"/>
            <a:ext cx="3291840" cy="237744"/>
          </a:xfrm>
          <a:prstGeom prst="rect">
            <a:avLst/>
          </a:prstGeom>
          <a:noFill/>
        </p:spPr>
        <p:txBody>
          <a:bodyPr wrap="square" lIns="0" rIns="0" tIns="0" bIns="0">
            <a:spAutoFit/>
          </a:bodyPr>
          <a:lstStyle/>
          <a:p>
            <a:pPr algn="ctr"/>
            <a:r>
              <a:rPr sz="1050" b="1" i="0">
                <a:solidFill>
                  <a:srgbClr val="29C2F1"/>
                </a:solidFill>
                <a:latin typeface="Calibri"/>
              </a:rPr>
              <a:t>L2 · STATE</a:t>
            </a:r>
          </a:p>
        </p:txBody>
      </p:sp>
      <p:sp>
        <p:nvSpPr>
          <p:cNvPr id="6" name="TextBox 5"/>
          <p:cNvSpPr txBox="1"/>
          <p:nvPr/>
        </p:nvSpPr>
        <p:spPr>
          <a:xfrm>
            <a:off x="7452360" y="1554480"/>
            <a:ext cx="2926080" cy="237744"/>
          </a:xfrm>
          <a:prstGeom prst="rect">
            <a:avLst/>
          </a:prstGeom>
          <a:noFill/>
        </p:spPr>
        <p:txBody>
          <a:bodyPr wrap="square" lIns="0" rIns="0" tIns="0" bIns="0">
            <a:spAutoFit/>
          </a:bodyPr>
          <a:lstStyle/>
          <a:p>
            <a:pPr algn="ctr"/>
            <a:r>
              <a:rPr sz="1050" b="1" i="0">
                <a:solidFill>
                  <a:srgbClr val="1B3F8F"/>
                </a:solidFill>
                <a:latin typeface="Calibri"/>
              </a:rPr>
              <a:t>L3 · WORK</a:t>
            </a:r>
          </a:p>
        </p:txBody>
      </p:sp>
      <p:sp>
        <p:nvSpPr>
          <p:cNvPr id="7" name="Rounded Rectangle 6"/>
          <p:cNvSpPr/>
          <p:nvPr/>
        </p:nvSpPr>
        <p:spPr>
          <a:xfrm>
            <a:off x="777240" y="1773936"/>
            <a:ext cx="10634472" cy="457200"/>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68233"/>
            <a:ext cx="3017520" cy="274320"/>
          </a:xfrm>
          <a:prstGeom prst="rect">
            <a:avLst/>
          </a:prstGeom>
          <a:noFill/>
        </p:spPr>
        <p:txBody>
          <a:bodyPr wrap="square" lIns="0" rIns="0" tIns="0" bIns="0">
            <a:spAutoFit/>
          </a:bodyPr>
          <a:lstStyle/>
          <a:p>
            <a:pPr algn="l"/>
            <a:r>
              <a:rPr sz="950" b="1" i="0">
                <a:solidFill>
                  <a:srgbClr val="5A6478"/>
                </a:solidFill>
                <a:latin typeface="Calibri"/>
              </a:rPr>
              <a:t>MOAT DURABILITY</a:t>
            </a:r>
          </a:p>
        </p:txBody>
      </p:sp>
      <p:sp>
        <p:nvSpPr>
          <p:cNvPr id="9" name="TextBox 8"/>
          <p:cNvSpPr txBox="1"/>
          <p:nvPr/>
        </p:nvSpPr>
        <p:spPr>
          <a:xfrm>
            <a:off x="4160520" y="1868233"/>
            <a:ext cx="3200400" cy="274320"/>
          </a:xfrm>
          <a:prstGeom prst="rect">
            <a:avLst/>
          </a:prstGeom>
          <a:noFill/>
        </p:spPr>
        <p:txBody>
          <a:bodyPr wrap="square" lIns="0" rIns="0" tIns="0" bIns="0">
            <a:spAutoFit/>
          </a:bodyPr>
          <a:lstStyle/>
          <a:p>
            <a:pPr algn="ctr"/>
            <a:r>
              <a:rPr sz="930" b="0" i="0">
                <a:solidFill>
                  <a:srgbClr val="1A2233"/>
                </a:solidFill>
                <a:latin typeface="Calibri"/>
              </a:rPr>
              <a:t>gravity compounds with every write</a:t>
            </a:r>
          </a:p>
        </p:txBody>
      </p:sp>
      <p:sp>
        <p:nvSpPr>
          <p:cNvPr id="10" name="TextBox 9"/>
          <p:cNvSpPr txBox="1"/>
          <p:nvPr/>
        </p:nvSpPr>
        <p:spPr>
          <a:xfrm>
            <a:off x="7452360" y="1868233"/>
            <a:ext cx="2926080" cy="274320"/>
          </a:xfrm>
          <a:prstGeom prst="rect">
            <a:avLst/>
          </a:prstGeom>
          <a:noFill/>
        </p:spPr>
        <p:txBody>
          <a:bodyPr wrap="square" lIns="0" rIns="0" tIns="0" bIns="0">
            <a:spAutoFit/>
          </a:bodyPr>
          <a:lstStyle/>
          <a:p>
            <a:pPr algn="ctr"/>
            <a:r>
              <a:rPr sz="930" b="0" i="0">
                <a:solidFill>
                  <a:srgbClr val="1A2233"/>
                </a:solidFill>
                <a:latin typeface="Calibri"/>
              </a:rPr>
              <a:t>mandate is strong — but runtimes can be rebuilt</a:t>
            </a:r>
          </a:p>
        </p:txBody>
      </p:sp>
      <p:sp>
        <p:nvSpPr>
          <p:cNvPr id="11" name="Rounded Rectangle 10"/>
          <p:cNvSpPr/>
          <p:nvPr/>
        </p:nvSpPr>
        <p:spPr>
          <a:xfrm>
            <a:off x="10497312" y="1851088"/>
            <a:ext cx="841248" cy="292608"/>
          </a:xfrm>
          <a:prstGeom prst="roundRect">
            <a:avLst>
              <a:gd name="adj" fmla="val 50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STATE</a:t>
            </a:r>
          </a:p>
        </p:txBody>
      </p:sp>
      <p:sp>
        <p:nvSpPr>
          <p:cNvPr id="12" name="Rounded Rectangle 11"/>
          <p:cNvSpPr/>
          <p:nvPr/>
        </p:nvSpPr>
        <p:spPr>
          <a:xfrm>
            <a:off x="777240" y="2253996"/>
            <a:ext cx="10634472" cy="457200"/>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2348293"/>
            <a:ext cx="3017520" cy="274320"/>
          </a:xfrm>
          <a:prstGeom prst="rect">
            <a:avLst/>
          </a:prstGeom>
          <a:noFill/>
        </p:spPr>
        <p:txBody>
          <a:bodyPr wrap="square" lIns="0" rIns="0" tIns="0" bIns="0">
            <a:spAutoFit/>
          </a:bodyPr>
          <a:lstStyle/>
          <a:p>
            <a:pPr algn="l"/>
            <a:r>
              <a:rPr sz="950" b="1" i="0">
                <a:solidFill>
                  <a:srgbClr val="5A6478"/>
                </a:solidFill>
                <a:latin typeface="Calibri"/>
              </a:rPr>
              <a:t>WAVE BETA</a:t>
            </a:r>
          </a:p>
        </p:txBody>
      </p:sp>
      <p:sp>
        <p:nvSpPr>
          <p:cNvPr id="14" name="TextBox 13"/>
          <p:cNvSpPr txBox="1"/>
          <p:nvPr/>
        </p:nvSpPr>
        <p:spPr>
          <a:xfrm>
            <a:off x="4160520" y="2348293"/>
            <a:ext cx="3200400" cy="274320"/>
          </a:xfrm>
          <a:prstGeom prst="rect">
            <a:avLst/>
          </a:prstGeom>
          <a:noFill/>
        </p:spPr>
        <p:txBody>
          <a:bodyPr wrap="square" lIns="0" rIns="0" tIns="0" bIns="0">
            <a:spAutoFit/>
          </a:bodyPr>
          <a:lstStyle/>
          <a:p>
            <a:pPr algn="ctr"/>
            <a:r>
              <a:rPr sz="930" b="0" i="0">
                <a:solidFill>
                  <a:srgbClr val="1A2233"/>
                </a:solidFill>
                <a:latin typeface="Calibri"/>
              </a:rPr>
              <a:t>bills after state accumulates</a:t>
            </a:r>
          </a:p>
        </p:txBody>
      </p:sp>
      <p:sp>
        <p:nvSpPr>
          <p:cNvPr id="15" name="TextBox 14"/>
          <p:cNvSpPr txBox="1"/>
          <p:nvPr/>
        </p:nvSpPr>
        <p:spPr>
          <a:xfrm>
            <a:off x="7452360" y="2348293"/>
            <a:ext cx="2926080" cy="274320"/>
          </a:xfrm>
          <a:prstGeom prst="rect">
            <a:avLst/>
          </a:prstGeom>
          <a:noFill/>
        </p:spPr>
        <p:txBody>
          <a:bodyPr wrap="square" lIns="0" rIns="0" tIns="0" bIns="0">
            <a:spAutoFit/>
          </a:bodyPr>
          <a:lstStyle/>
          <a:p>
            <a:pPr algn="ctr"/>
            <a:r>
              <a:rPr sz="930" b="0" i="0">
                <a:solidFill>
                  <a:srgbClr val="1A2233"/>
                </a:solidFill>
                <a:latin typeface="Calibri"/>
              </a:rPr>
              <a:t>bills the work as it happens — first paid</a:t>
            </a:r>
          </a:p>
        </p:txBody>
      </p:sp>
      <p:sp>
        <p:nvSpPr>
          <p:cNvPr id="16" name="Rounded Rectangle 15"/>
          <p:cNvSpPr/>
          <p:nvPr/>
        </p:nvSpPr>
        <p:spPr>
          <a:xfrm>
            <a:off x="10497312" y="2331148"/>
            <a:ext cx="841248" cy="292608"/>
          </a:xfrm>
          <a:prstGeom prst="roundRect">
            <a:avLst>
              <a:gd name="adj" fmla="val 50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WORK</a:t>
            </a:r>
          </a:p>
        </p:txBody>
      </p:sp>
      <p:sp>
        <p:nvSpPr>
          <p:cNvPr id="17" name="Rounded Rectangle 16"/>
          <p:cNvSpPr/>
          <p:nvPr/>
        </p:nvSpPr>
        <p:spPr>
          <a:xfrm>
            <a:off x="777240" y="2734056"/>
            <a:ext cx="10634472" cy="457200"/>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2828353"/>
            <a:ext cx="3017520" cy="274320"/>
          </a:xfrm>
          <a:prstGeom prst="rect">
            <a:avLst/>
          </a:prstGeom>
          <a:noFill/>
        </p:spPr>
        <p:txBody>
          <a:bodyPr wrap="square" lIns="0" rIns="0" tIns="0" bIns="0">
            <a:spAutoFit/>
          </a:bodyPr>
          <a:lstStyle/>
          <a:p>
            <a:pPr algn="l"/>
            <a:r>
              <a:rPr sz="950" b="1" i="0">
                <a:solidFill>
                  <a:srgbClr val="5A6478"/>
                </a:solidFill>
                <a:latin typeface="Calibri"/>
              </a:rPr>
              <a:t>CASH TODAY</a:t>
            </a:r>
          </a:p>
        </p:txBody>
      </p:sp>
      <p:sp>
        <p:nvSpPr>
          <p:cNvPr id="19" name="TextBox 18"/>
          <p:cNvSpPr txBox="1"/>
          <p:nvPr/>
        </p:nvSpPr>
        <p:spPr>
          <a:xfrm>
            <a:off x="4160520" y="2828353"/>
            <a:ext cx="3200400" cy="274320"/>
          </a:xfrm>
          <a:prstGeom prst="rect">
            <a:avLst/>
          </a:prstGeom>
          <a:noFill/>
        </p:spPr>
        <p:txBody>
          <a:bodyPr wrap="square" lIns="0" rIns="0" tIns="0" bIns="0">
            <a:spAutoFit/>
          </a:bodyPr>
          <a:lstStyle/>
          <a:p>
            <a:pPr algn="ctr"/>
            <a:r>
              <a:rPr sz="930" b="0" i="0">
                <a:solidFill>
                  <a:srgbClr val="1A2233"/>
                </a:solidFill>
                <a:latin typeface="Calibri"/>
              </a:rPr>
              <a:t>19–21% FCF, still investing</a:t>
            </a:r>
          </a:p>
        </p:txBody>
      </p:sp>
      <p:sp>
        <p:nvSpPr>
          <p:cNvPr id="20" name="TextBox 19"/>
          <p:cNvSpPr txBox="1"/>
          <p:nvPr/>
        </p:nvSpPr>
        <p:spPr>
          <a:xfrm>
            <a:off x="7452360" y="2828353"/>
            <a:ext cx="2926080" cy="274320"/>
          </a:xfrm>
          <a:prstGeom prst="rect">
            <a:avLst/>
          </a:prstGeom>
          <a:noFill/>
        </p:spPr>
        <p:txBody>
          <a:bodyPr wrap="square" lIns="0" rIns="0" tIns="0" bIns="0">
            <a:spAutoFit/>
          </a:bodyPr>
          <a:lstStyle/>
          <a:p>
            <a:pPr algn="ctr"/>
            <a:r>
              <a:rPr sz="930" b="0" i="0">
                <a:solidFill>
                  <a:srgbClr val="1A2233"/>
                </a:solidFill>
                <a:latin typeface="Calibri"/>
              </a:rPr>
              <a:t>26% FCF, converting now</a:t>
            </a:r>
          </a:p>
        </p:txBody>
      </p:sp>
      <p:sp>
        <p:nvSpPr>
          <p:cNvPr id="21" name="Rounded Rectangle 20"/>
          <p:cNvSpPr/>
          <p:nvPr/>
        </p:nvSpPr>
        <p:spPr>
          <a:xfrm>
            <a:off x="10497312" y="2811208"/>
            <a:ext cx="841248" cy="292608"/>
          </a:xfrm>
          <a:prstGeom prst="roundRect">
            <a:avLst>
              <a:gd name="adj" fmla="val 50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WORK</a:t>
            </a:r>
          </a:p>
        </p:txBody>
      </p:sp>
      <p:sp>
        <p:nvSpPr>
          <p:cNvPr id="22" name="Rounded Rectangle 21"/>
          <p:cNvSpPr/>
          <p:nvPr/>
        </p:nvSpPr>
        <p:spPr>
          <a:xfrm>
            <a:off x="777240" y="3214115"/>
            <a:ext cx="10634472" cy="457200"/>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05840" y="3308413"/>
            <a:ext cx="3017520" cy="274320"/>
          </a:xfrm>
          <a:prstGeom prst="rect">
            <a:avLst/>
          </a:prstGeom>
          <a:noFill/>
        </p:spPr>
        <p:txBody>
          <a:bodyPr wrap="square" lIns="0" rIns="0" tIns="0" bIns="0">
            <a:spAutoFit/>
          </a:bodyPr>
          <a:lstStyle/>
          <a:p>
            <a:pPr algn="l"/>
            <a:r>
              <a:rPr sz="950" b="1" i="0">
                <a:solidFill>
                  <a:srgbClr val="5A6478"/>
                </a:solidFill>
                <a:latin typeface="Calibri"/>
              </a:rPr>
              <a:t>MARGIN TRAJECTORY</a:t>
            </a:r>
          </a:p>
        </p:txBody>
      </p:sp>
      <p:sp>
        <p:nvSpPr>
          <p:cNvPr id="24" name="TextBox 23"/>
          <p:cNvSpPr txBox="1"/>
          <p:nvPr/>
        </p:nvSpPr>
        <p:spPr>
          <a:xfrm>
            <a:off x="4160520" y="3308413"/>
            <a:ext cx="3200400" cy="274320"/>
          </a:xfrm>
          <a:prstGeom prst="rect">
            <a:avLst/>
          </a:prstGeom>
          <a:noFill/>
        </p:spPr>
        <p:txBody>
          <a:bodyPr wrap="square" lIns="0" rIns="0" tIns="0" bIns="0">
            <a:spAutoFit/>
          </a:bodyPr>
          <a:lstStyle/>
          <a:p>
            <a:pPr algn="ctr"/>
            <a:r>
              <a:rPr sz="930" b="0" i="0">
                <a:solidFill>
                  <a:srgbClr val="1A2233"/>
                </a:solidFill>
                <a:latin typeface="Calibri"/>
              </a:rPr>
              <a:t>+6 pts in a year — inflecting</a:t>
            </a:r>
          </a:p>
        </p:txBody>
      </p:sp>
      <p:sp>
        <p:nvSpPr>
          <p:cNvPr id="25" name="TextBox 24"/>
          <p:cNvSpPr txBox="1"/>
          <p:nvPr/>
        </p:nvSpPr>
        <p:spPr>
          <a:xfrm>
            <a:off x="7452360" y="3308413"/>
            <a:ext cx="2926080" cy="274320"/>
          </a:xfrm>
          <a:prstGeom prst="rect">
            <a:avLst/>
          </a:prstGeom>
          <a:noFill/>
        </p:spPr>
        <p:txBody>
          <a:bodyPr wrap="square" lIns="0" rIns="0" tIns="0" bIns="0">
            <a:spAutoFit/>
          </a:bodyPr>
          <a:lstStyle/>
          <a:p>
            <a:pPr algn="ctr"/>
            <a:r>
              <a:rPr sz="930" b="0" i="0">
                <a:solidFill>
                  <a:srgbClr val="1A2233"/>
                </a:solidFill>
                <a:latin typeface="Calibri"/>
              </a:rPr>
              <a:t>flat at a high plateau</a:t>
            </a:r>
          </a:p>
        </p:txBody>
      </p:sp>
      <p:sp>
        <p:nvSpPr>
          <p:cNvPr id="26" name="Rounded Rectangle 25"/>
          <p:cNvSpPr/>
          <p:nvPr/>
        </p:nvSpPr>
        <p:spPr>
          <a:xfrm>
            <a:off x="10497312" y="3291268"/>
            <a:ext cx="841248" cy="292608"/>
          </a:xfrm>
          <a:prstGeom prst="roundRect">
            <a:avLst>
              <a:gd name="adj" fmla="val 50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STATE</a:t>
            </a:r>
          </a:p>
        </p:txBody>
      </p:sp>
      <p:sp>
        <p:nvSpPr>
          <p:cNvPr id="27" name="Rounded Rectangle 26"/>
          <p:cNvSpPr/>
          <p:nvPr/>
        </p:nvSpPr>
        <p:spPr>
          <a:xfrm>
            <a:off x="777240" y="3694175"/>
            <a:ext cx="10634472" cy="457200"/>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3788473"/>
            <a:ext cx="3017520" cy="274320"/>
          </a:xfrm>
          <a:prstGeom prst="rect">
            <a:avLst/>
          </a:prstGeom>
          <a:noFill/>
        </p:spPr>
        <p:txBody>
          <a:bodyPr wrap="square" lIns="0" rIns="0" tIns="0" bIns="0">
            <a:spAutoFit/>
          </a:bodyPr>
          <a:lstStyle/>
          <a:p>
            <a:pPr algn="l"/>
            <a:r>
              <a:rPr sz="950" b="1" i="0">
                <a:solidFill>
                  <a:srgbClr val="5A6478"/>
                </a:solidFill>
                <a:latin typeface="Calibri"/>
              </a:rPr>
              <a:t>COMMITMENT (BACKLOG Y/Y)</a:t>
            </a:r>
          </a:p>
        </p:txBody>
      </p:sp>
      <p:sp>
        <p:nvSpPr>
          <p:cNvPr id="29" name="TextBox 28"/>
          <p:cNvSpPr txBox="1"/>
          <p:nvPr/>
        </p:nvSpPr>
        <p:spPr>
          <a:xfrm>
            <a:off x="4160520" y="3788473"/>
            <a:ext cx="3200400" cy="274320"/>
          </a:xfrm>
          <a:prstGeom prst="rect">
            <a:avLst/>
          </a:prstGeom>
          <a:noFill/>
        </p:spPr>
        <p:txBody>
          <a:bodyPr wrap="square" lIns="0" rIns="0" tIns="0" bIns="0">
            <a:spAutoFit/>
          </a:bodyPr>
          <a:lstStyle/>
          <a:p>
            <a:pPr algn="ctr"/>
            <a:r>
              <a:rPr sz="930" b="0" i="0">
                <a:solidFill>
                  <a:srgbClr val="1A2233"/>
                </a:solidFill>
                <a:latin typeface="Calibri"/>
              </a:rPr>
              <a:t>+20% — fastest in the universe</a:t>
            </a:r>
          </a:p>
        </p:txBody>
      </p:sp>
      <p:sp>
        <p:nvSpPr>
          <p:cNvPr id="30" name="TextBox 29"/>
          <p:cNvSpPr txBox="1"/>
          <p:nvPr/>
        </p:nvSpPr>
        <p:spPr>
          <a:xfrm>
            <a:off x="7452360" y="3788473"/>
            <a:ext cx="2926080" cy="274320"/>
          </a:xfrm>
          <a:prstGeom prst="rect">
            <a:avLst/>
          </a:prstGeom>
          <a:noFill/>
        </p:spPr>
        <p:txBody>
          <a:bodyPr wrap="square" lIns="0" rIns="0" tIns="0" bIns="0">
            <a:spAutoFit/>
          </a:bodyPr>
          <a:lstStyle/>
          <a:p>
            <a:pPr algn="ctr"/>
            <a:r>
              <a:rPr sz="930" b="0" i="0">
                <a:solidFill>
                  <a:srgbClr val="1A2233"/>
                </a:solidFill>
                <a:latin typeface="Calibri"/>
              </a:rPr>
              <a:t>+17%</a:t>
            </a:r>
          </a:p>
        </p:txBody>
      </p:sp>
      <p:sp>
        <p:nvSpPr>
          <p:cNvPr id="31" name="Rounded Rectangle 30"/>
          <p:cNvSpPr/>
          <p:nvPr/>
        </p:nvSpPr>
        <p:spPr>
          <a:xfrm>
            <a:off x="10497312" y="3771327"/>
            <a:ext cx="841248" cy="292608"/>
          </a:xfrm>
          <a:prstGeom prst="roundRect">
            <a:avLst>
              <a:gd name="adj" fmla="val 50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STATE</a:t>
            </a:r>
          </a:p>
        </p:txBody>
      </p:sp>
      <p:sp>
        <p:nvSpPr>
          <p:cNvPr id="32" name="Rounded Rectangle 31"/>
          <p:cNvSpPr/>
          <p:nvPr/>
        </p:nvSpPr>
        <p:spPr>
          <a:xfrm>
            <a:off x="777240" y="4174235"/>
            <a:ext cx="10634472" cy="457200"/>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5840" y="4268533"/>
            <a:ext cx="3017520" cy="274320"/>
          </a:xfrm>
          <a:prstGeom prst="rect">
            <a:avLst/>
          </a:prstGeom>
          <a:noFill/>
        </p:spPr>
        <p:txBody>
          <a:bodyPr wrap="square" lIns="0" rIns="0" tIns="0" bIns="0">
            <a:spAutoFit/>
          </a:bodyPr>
          <a:lstStyle/>
          <a:p>
            <a:pPr algn="l"/>
            <a:r>
              <a:rPr sz="950" b="1" i="0">
                <a:solidFill>
                  <a:srgbClr val="5A6478"/>
                </a:solidFill>
                <a:latin typeface="Calibri"/>
              </a:rPr>
              <a:t>OVERAGE PURITY</a:t>
            </a:r>
          </a:p>
        </p:txBody>
      </p:sp>
      <p:sp>
        <p:nvSpPr>
          <p:cNvPr id="34" name="TextBox 33"/>
          <p:cNvSpPr txBox="1"/>
          <p:nvPr/>
        </p:nvSpPr>
        <p:spPr>
          <a:xfrm>
            <a:off x="4160520" y="4268533"/>
            <a:ext cx="3200400" cy="274320"/>
          </a:xfrm>
          <a:prstGeom prst="rect">
            <a:avLst/>
          </a:prstGeom>
          <a:noFill/>
        </p:spPr>
        <p:txBody>
          <a:bodyPr wrap="square" lIns="0" rIns="0" tIns="0" bIns="0">
            <a:spAutoFit/>
          </a:bodyPr>
          <a:lstStyle/>
          <a:p>
            <a:pPr algn="ctr"/>
            <a:r>
              <a:rPr sz="930" b="0" i="0">
                <a:solidFill>
                  <a:srgbClr val="1A2233"/>
                </a:solidFill>
                <a:latin typeface="Calibri"/>
              </a:rPr>
              <a:t>14→24% of revenue — purest meters</a:t>
            </a:r>
          </a:p>
        </p:txBody>
      </p:sp>
      <p:sp>
        <p:nvSpPr>
          <p:cNvPr id="35" name="TextBox 34"/>
          <p:cNvSpPr txBox="1"/>
          <p:nvPr/>
        </p:nvSpPr>
        <p:spPr>
          <a:xfrm>
            <a:off x="7452360" y="4268533"/>
            <a:ext cx="2926080" cy="274320"/>
          </a:xfrm>
          <a:prstGeom prst="rect">
            <a:avLst/>
          </a:prstGeom>
          <a:noFill/>
        </p:spPr>
        <p:txBody>
          <a:bodyPr wrap="square" lIns="0" rIns="0" tIns="0" bIns="0">
            <a:spAutoFit/>
          </a:bodyPr>
          <a:lstStyle/>
          <a:p>
            <a:pPr algn="ctr"/>
            <a:r>
              <a:rPr sz="930" b="0" i="0">
                <a:solidFill>
                  <a:srgbClr val="1A2233"/>
                </a:solidFill>
                <a:latin typeface="Calibri"/>
              </a:rPr>
              <a:t>9→16%, diluted by subscriptions</a:t>
            </a:r>
          </a:p>
        </p:txBody>
      </p:sp>
      <p:sp>
        <p:nvSpPr>
          <p:cNvPr id="36" name="Rounded Rectangle 35"/>
          <p:cNvSpPr/>
          <p:nvPr/>
        </p:nvSpPr>
        <p:spPr>
          <a:xfrm>
            <a:off x="10497312" y="4251388"/>
            <a:ext cx="841248" cy="292608"/>
          </a:xfrm>
          <a:prstGeom prst="roundRect">
            <a:avLst>
              <a:gd name="adj" fmla="val 50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STATE</a:t>
            </a:r>
          </a:p>
        </p:txBody>
      </p:sp>
      <p:sp>
        <p:nvSpPr>
          <p:cNvPr id="37" name="Rounded Rectangle 36"/>
          <p:cNvSpPr/>
          <p:nvPr/>
        </p:nvSpPr>
        <p:spPr>
          <a:xfrm>
            <a:off x="777240" y="4654296"/>
            <a:ext cx="10634472" cy="457200"/>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05840" y="4748593"/>
            <a:ext cx="3017520" cy="274320"/>
          </a:xfrm>
          <a:prstGeom prst="rect">
            <a:avLst/>
          </a:prstGeom>
          <a:noFill/>
        </p:spPr>
        <p:txBody>
          <a:bodyPr wrap="square" lIns="0" rIns="0" tIns="0" bIns="0">
            <a:spAutoFit/>
          </a:bodyPr>
          <a:lstStyle/>
          <a:p>
            <a:pPr algn="l"/>
            <a:r>
              <a:rPr sz="950" b="1" i="0">
                <a:solidFill>
                  <a:srgbClr val="5A6478"/>
                </a:solidFill>
                <a:latin typeface="Calibri"/>
              </a:rPr>
              <a:t>ALREADY REPRICED?</a:t>
            </a:r>
          </a:p>
        </p:txBody>
      </p:sp>
      <p:sp>
        <p:nvSpPr>
          <p:cNvPr id="39" name="TextBox 38"/>
          <p:cNvSpPr txBox="1"/>
          <p:nvPr/>
        </p:nvSpPr>
        <p:spPr>
          <a:xfrm>
            <a:off x="4160520" y="4748593"/>
            <a:ext cx="3200400" cy="274320"/>
          </a:xfrm>
          <a:prstGeom prst="rect">
            <a:avLst/>
          </a:prstGeom>
          <a:noFill/>
        </p:spPr>
        <p:txBody>
          <a:bodyPr wrap="square" lIns="0" rIns="0" tIns="0" bIns="0">
            <a:spAutoFit/>
          </a:bodyPr>
          <a:lstStyle/>
          <a:p>
            <a:pPr algn="ctr"/>
            <a:r>
              <a:rPr sz="930" b="0" i="0">
                <a:solidFill>
                  <a:srgbClr val="1A2233"/>
                </a:solidFill>
                <a:latin typeface="Calibri"/>
              </a:rPr>
              <a:t>+28% since Jan '22 — least paid</a:t>
            </a:r>
          </a:p>
        </p:txBody>
      </p:sp>
      <p:sp>
        <p:nvSpPr>
          <p:cNvPr id="40" name="TextBox 39"/>
          <p:cNvSpPr txBox="1"/>
          <p:nvPr/>
        </p:nvSpPr>
        <p:spPr>
          <a:xfrm>
            <a:off x="7452360" y="4748593"/>
            <a:ext cx="2926080" cy="274320"/>
          </a:xfrm>
          <a:prstGeom prst="rect">
            <a:avLst/>
          </a:prstGeom>
          <a:noFill/>
        </p:spPr>
        <p:txBody>
          <a:bodyPr wrap="square" lIns="0" rIns="0" tIns="0" bIns="0">
            <a:spAutoFit/>
          </a:bodyPr>
          <a:lstStyle/>
          <a:p>
            <a:pPr algn="ctr"/>
            <a:r>
              <a:rPr sz="930" b="0" i="0">
                <a:solidFill>
                  <a:srgbClr val="1A2233"/>
                </a:solidFill>
                <a:latin typeface="Calibri"/>
              </a:rPr>
              <a:t>+46% — partly paid</a:t>
            </a:r>
          </a:p>
        </p:txBody>
      </p:sp>
      <p:sp>
        <p:nvSpPr>
          <p:cNvPr id="41" name="Rounded Rectangle 40"/>
          <p:cNvSpPr/>
          <p:nvPr/>
        </p:nvSpPr>
        <p:spPr>
          <a:xfrm>
            <a:off x="10497312" y="4731448"/>
            <a:ext cx="841248" cy="292608"/>
          </a:xfrm>
          <a:prstGeom prst="roundRect">
            <a:avLst>
              <a:gd name="adj" fmla="val 50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STATE</a:t>
            </a:r>
          </a:p>
        </p:txBody>
      </p:sp>
      <p:sp>
        <p:nvSpPr>
          <p:cNvPr id="42" name="Rounded Rectangle 41"/>
          <p:cNvSpPr/>
          <p:nvPr/>
        </p:nvSpPr>
        <p:spPr>
          <a:xfrm>
            <a:off x="777240" y="5134356"/>
            <a:ext cx="10634472" cy="457200"/>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5840" y="5228653"/>
            <a:ext cx="3017520" cy="274320"/>
          </a:xfrm>
          <a:prstGeom prst="rect">
            <a:avLst/>
          </a:prstGeom>
          <a:noFill/>
        </p:spPr>
        <p:txBody>
          <a:bodyPr wrap="square" lIns="0" rIns="0" tIns="0" bIns="0">
            <a:spAutoFit/>
          </a:bodyPr>
          <a:lstStyle/>
          <a:p>
            <a:pPr algn="l"/>
            <a:r>
              <a:rPr sz="950" b="1" i="0">
                <a:solidFill>
                  <a:srgbClr val="5A6478"/>
                </a:solidFill>
                <a:latin typeface="Calibri"/>
              </a:rPr>
              <a:t>SCARCITY / M&amp;A BID</a:t>
            </a:r>
          </a:p>
        </p:txBody>
      </p:sp>
      <p:sp>
        <p:nvSpPr>
          <p:cNvPr id="44" name="TextBox 43"/>
          <p:cNvSpPr txBox="1"/>
          <p:nvPr/>
        </p:nvSpPr>
        <p:spPr>
          <a:xfrm>
            <a:off x="4160520" y="5228653"/>
            <a:ext cx="3200400" cy="274320"/>
          </a:xfrm>
          <a:prstGeom prst="rect">
            <a:avLst/>
          </a:prstGeom>
          <a:noFill/>
        </p:spPr>
        <p:txBody>
          <a:bodyPr wrap="square" lIns="0" rIns="0" tIns="0" bIns="0">
            <a:spAutoFit/>
          </a:bodyPr>
          <a:lstStyle/>
          <a:p>
            <a:pPr algn="ctr"/>
            <a:r>
              <a:rPr sz="930" b="0" i="0">
                <a:solidFill>
                  <a:srgbClr val="1A2233"/>
                </a:solidFill>
                <a:latin typeface="Calibri"/>
              </a:rPr>
              <a:t>state assets trade at 5–8x takeouts</a:t>
            </a:r>
          </a:p>
        </p:txBody>
      </p:sp>
      <p:sp>
        <p:nvSpPr>
          <p:cNvPr id="45" name="TextBox 44"/>
          <p:cNvSpPr txBox="1"/>
          <p:nvPr/>
        </p:nvSpPr>
        <p:spPr>
          <a:xfrm>
            <a:off x="7452360" y="5228653"/>
            <a:ext cx="2926080" cy="274320"/>
          </a:xfrm>
          <a:prstGeom prst="rect">
            <a:avLst/>
          </a:prstGeom>
          <a:noFill/>
        </p:spPr>
        <p:txBody>
          <a:bodyPr wrap="square" lIns="0" rIns="0" tIns="0" bIns="0">
            <a:spAutoFit/>
          </a:bodyPr>
          <a:lstStyle/>
          <a:p>
            <a:pPr algn="ctr"/>
            <a:r>
              <a:rPr sz="930" b="0" i="0">
                <a:solidFill>
                  <a:srgbClr val="1A2233"/>
                </a:solidFill>
                <a:latin typeface="Calibri"/>
              </a:rPr>
              <a:t>strategics pay 7–28x for work meters</a:t>
            </a:r>
          </a:p>
        </p:txBody>
      </p:sp>
      <p:sp>
        <p:nvSpPr>
          <p:cNvPr id="46" name="Rounded Rectangle 45"/>
          <p:cNvSpPr/>
          <p:nvPr/>
        </p:nvSpPr>
        <p:spPr>
          <a:xfrm>
            <a:off x="10497312" y="5211508"/>
            <a:ext cx="841248" cy="292608"/>
          </a:xfrm>
          <a:prstGeom prst="roundRect">
            <a:avLst>
              <a:gd name="adj" fmla="val 50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WORK</a:t>
            </a:r>
          </a:p>
        </p:txBody>
      </p:sp>
      <p:sp>
        <p:nvSpPr>
          <p:cNvPr id="47" name="TextBox 46"/>
          <p:cNvSpPr txBox="1"/>
          <p:nvPr/>
        </p:nvSpPr>
        <p:spPr>
          <a:xfrm>
            <a:off x="777240" y="5687568"/>
            <a:ext cx="10634472" cy="274320"/>
          </a:xfrm>
          <a:prstGeom prst="rect">
            <a:avLst/>
          </a:prstGeom>
          <a:noFill/>
        </p:spPr>
        <p:txBody>
          <a:bodyPr wrap="square" lIns="0" rIns="0" tIns="0" bIns="0">
            <a:spAutoFit/>
          </a:bodyPr>
          <a:lstStyle/>
          <a:p>
            <a:pPr algn="l"/>
            <a:r>
              <a:rPr sz="1000" b="0" i="1">
                <a:solidFill>
                  <a:srgbClr val="5A6478"/>
                </a:solidFill>
                <a:latin typeface="Calibri"/>
              </a:rPr>
              <a:t>Score: state 5, work 3 — but the rounds aren't equally weighted, and three of state's five are about what hasn't been paid yet.</a:t>
            </a:r>
          </a:p>
        </p:txBody>
      </p:sp>
      <p:sp>
        <p:nvSpPr>
          <p:cNvPr id="48" name="Rounded Rectangle 47"/>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State wins on moat and price; work wins on conversion and bid  </a:t>
            </a:r>
            <a:r>
              <a:rPr sz="1200">
                <a:solidFill>
                  <a:srgbClr val="1A2233"/>
                </a:solidFill>
                <a:latin typeface="Calibri"/>
              </a:rPr>
              <a:t>— the verdict, next slide.</a:t>
            </a:r>
          </a:p>
        </p:txBody>
      </p:sp>
      <p:sp>
        <p:nvSpPr>
          <p:cNvPr id="49" name="TextBox 48"/>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50" name="TextBox 49"/>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66</a:t>
            </a:r>
          </a:p>
        </p:txBody>
      </p:sp>
      <p:sp>
        <p:nvSpPr>
          <p:cNvPr id="51" name="TextBox 50"/>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Rows per this section's exhibits: margins pp. 50, 64; backlog p. 56; overage p. 57; returns p. 59; M&amp;A p. 65. Judgments are Skycatcher's.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Two horizons: work earns now, state compounds later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TWO KEY LAYERS ON DIFFERENT CLOCKS — CHARACTERIZATION, NOT A RECOMMENDATION</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Different layers, different clocks — the toll road bills the next three years; the ledger compounds the decade.</a:t>
            </a:r>
            <a:r>
              <a:rPr sz="1200">
                <a:solidFill>
                  <a:srgbClr val="1A2233"/>
                </a:solidFill>
                <a:latin typeface="Calibri"/>
              </a:rPr>
              <a:t/>
            </a:r>
          </a:p>
        </p:txBody>
      </p:sp>
      <p:sp>
        <p:nvSpPr>
          <p:cNvPr id="19" name="TextBox 18"/>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0" name="TextBox 19"/>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67</a:t>
            </a:r>
          </a:p>
        </p:txBody>
      </p:sp>
      <p:sp>
        <p:nvSpPr>
          <p:cNvPr id="21" name="TextBox 20"/>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Characterizations per this section’s exhibits: margins pp. 50, 64; commitment p. 56; overage p. 57; M&amp;A p. 65. Not a recommendation.</a:t>
            </a:r>
          </a:p>
        </p:txBody>
      </p:sp>
      <p:sp>
        <p:nvSpPr>
          <p:cNvPr id="22" name="Rounded Rectangle 21"/>
          <p:cNvSpPr/>
          <p:nvPr/>
        </p:nvSpPr>
        <p:spPr>
          <a:xfrm>
            <a:off x="777240" y="1700784"/>
            <a:ext cx="5303520" cy="3520440"/>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1901952"/>
            <a:ext cx="4754880" cy="237744"/>
          </a:xfrm>
          <a:prstGeom prst="rect">
            <a:avLst/>
          </a:prstGeom>
          <a:noFill/>
        </p:spPr>
        <p:txBody>
          <a:bodyPr wrap="square" lIns="0" rIns="0" tIns="0" bIns="0">
            <a:spAutoFit/>
          </a:bodyPr>
          <a:lstStyle/>
          <a:p>
            <a:pPr algn="l"/>
            <a:r>
              <a:rPr sz="1100" b="1">
                <a:solidFill>
                  <a:srgbClr val="2777EF"/>
                </a:solidFill>
                <a:latin typeface="Segoe UI"/>
              </a:rPr>
              <a:t>THE NEXT THREE YEARS</a:t>
            </a:r>
          </a:p>
        </p:txBody>
      </p:sp>
      <p:sp>
        <p:nvSpPr>
          <p:cNvPr id="24" name="TextBox 23"/>
          <p:cNvSpPr txBox="1"/>
          <p:nvPr/>
        </p:nvSpPr>
        <p:spPr>
          <a:xfrm>
            <a:off x="1051560" y="2231136"/>
            <a:ext cx="4754880" cy="502920"/>
          </a:xfrm>
          <a:prstGeom prst="rect">
            <a:avLst/>
          </a:prstGeom>
          <a:noFill/>
        </p:spPr>
        <p:txBody>
          <a:bodyPr wrap="square" lIns="0" rIns="0" tIns="0" bIns="0">
            <a:spAutoFit/>
          </a:bodyPr>
          <a:lstStyle/>
          <a:p>
            <a:pPr algn="l"/>
            <a:r>
              <a:rPr sz="2200" b="1">
                <a:solidFill>
                  <a:srgbClr val="1B3F8F"/>
                </a:solidFill>
                <a:latin typeface="Segoe UI"/>
              </a:rPr>
              <a:t>L3 · WORK</a:t>
            </a:r>
          </a:p>
        </p:txBody>
      </p:sp>
      <p:sp>
        <p:nvSpPr>
          <p:cNvPr id="25" name="TextBox 24"/>
          <p:cNvSpPr txBox="1"/>
          <p:nvPr/>
        </p:nvSpPr>
        <p:spPr>
          <a:xfrm>
            <a:off x="1051560" y="2871216"/>
            <a:ext cx="4800600" cy="2103120"/>
          </a:xfrm>
          <a:prstGeom prst="rect">
            <a:avLst/>
          </a:prstGeom>
          <a:noFill/>
        </p:spPr>
        <p:txBody>
          <a:bodyPr wrap="square" lIns="0" rIns="0" tIns="0" bIns="0">
            <a:spAutoFit/>
          </a:bodyPr>
          <a:lstStyle/>
          <a:p>
            <a:pPr algn="l"/>
            <a:r>
              <a:rPr sz="1150" b="0">
                <a:solidFill>
                  <a:srgbClr val="5A6478"/>
                </a:solidFill>
                <a:latin typeface="Segoe UI"/>
              </a:rPr>
              <a:t>Bills the wave first — usage revenue recognizes as agents act. Converts at 26% FCF today, carries the audit mandate, and holds the strategic M&amp;A bid (7–28x takeouts). The toll road earns while the buildout runs.</a:t>
            </a:r>
          </a:p>
        </p:txBody>
      </p:sp>
      <p:sp>
        <p:nvSpPr>
          <p:cNvPr id="26" name="Rounded Rectangle 25"/>
          <p:cNvSpPr/>
          <p:nvPr/>
        </p:nvSpPr>
        <p:spPr>
          <a:xfrm>
            <a:off x="6336792" y="1700784"/>
            <a:ext cx="5303520" cy="3520440"/>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11112" y="1901952"/>
            <a:ext cx="4754880" cy="237744"/>
          </a:xfrm>
          <a:prstGeom prst="rect">
            <a:avLst/>
          </a:prstGeom>
          <a:noFill/>
        </p:spPr>
        <p:txBody>
          <a:bodyPr wrap="square" lIns="0" rIns="0" tIns="0" bIns="0">
            <a:spAutoFit/>
          </a:bodyPr>
          <a:lstStyle/>
          <a:p>
            <a:pPr algn="l"/>
            <a:r>
              <a:rPr sz="1100" b="1">
                <a:solidFill>
                  <a:srgbClr val="2777EF"/>
                </a:solidFill>
                <a:latin typeface="Segoe UI"/>
              </a:rPr>
              <a:t>THE DECADE</a:t>
            </a:r>
          </a:p>
        </p:txBody>
      </p:sp>
      <p:sp>
        <p:nvSpPr>
          <p:cNvPr id="28" name="TextBox 27"/>
          <p:cNvSpPr txBox="1"/>
          <p:nvPr/>
        </p:nvSpPr>
        <p:spPr>
          <a:xfrm>
            <a:off x="6611112" y="2231136"/>
            <a:ext cx="4754880" cy="502920"/>
          </a:xfrm>
          <a:prstGeom prst="rect">
            <a:avLst/>
          </a:prstGeom>
          <a:noFill/>
        </p:spPr>
        <p:txBody>
          <a:bodyPr wrap="square" lIns="0" rIns="0" tIns="0" bIns="0">
            <a:spAutoFit/>
          </a:bodyPr>
          <a:lstStyle/>
          <a:p>
            <a:pPr algn="l"/>
            <a:r>
              <a:rPr sz="2200" b="1">
                <a:solidFill>
                  <a:srgbClr val="0B8BB5"/>
                </a:solidFill>
                <a:latin typeface="Segoe UI"/>
              </a:rPr>
              <a:t>L2 · STATE</a:t>
            </a:r>
          </a:p>
        </p:txBody>
      </p:sp>
      <p:sp>
        <p:nvSpPr>
          <p:cNvPr id="29" name="TextBox 28"/>
          <p:cNvSpPr txBox="1"/>
          <p:nvPr/>
        </p:nvSpPr>
        <p:spPr>
          <a:xfrm>
            <a:off x="6611112" y="2871216"/>
            <a:ext cx="4800600" cy="2103120"/>
          </a:xfrm>
          <a:prstGeom prst="rect">
            <a:avLst/>
          </a:prstGeom>
          <a:noFill/>
        </p:spPr>
        <p:txBody>
          <a:bodyPr wrap="square" lIns="0" rIns="0" tIns="0" bIns="0">
            <a:spAutoFit/>
          </a:bodyPr>
          <a:lstStyle/>
          <a:p>
            <a:pPr algn="l"/>
            <a:r>
              <a:rPr sz="1150" b="0">
                <a:solidFill>
                  <a:srgbClr val="5A6478"/>
                </a:solidFill>
                <a:latin typeface="Segoe UI"/>
              </a:rPr>
              <a:t>Deepest moat in the stack — gravity compounds with every write and never rewinds. Margins just inflected (+6 points in a year), commitment compounding fastest, still the least repriced core layer since 2022. The ledger compounds long after the toll road earns.</a:t>
            </a:r>
          </a:p>
        </p:txBody>
      </p:sp>
      <p:sp>
        <p:nvSpPr>
          <p:cNvPr id="30" name="TextBox 29"/>
          <p:cNvSpPr txBox="1"/>
          <p:nvPr/>
        </p:nvSpPr>
        <p:spPr>
          <a:xfrm>
            <a:off x="777240" y="5431536"/>
            <a:ext cx="10863072" cy="365760"/>
          </a:xfrm>
          <a:prstGeom prst="rect">
            <a:avLst/>
          </a:prstGeom>
          <a:noFill/>
        </p:spPr>
        <p:txBody>
          <a:bodyPr wrap="square" lIns="0" rIns="0" tIns="0" bIns="0">
            <a:spAutoFit/>
          </a:bodyPr>
          <a:lstStyle/>
          <a:p>
            <a:pPr algn="ctr"/>
            <a:r>
              <a:rPr sz="1000" b="0">
                <a:solidFill>
                  <a:srgbClr val="8A97B0"/>
                </a:solidFill>
                <a:latin typeface="Segoe UI"/>
              </a:rPr>
              <a:t>Each clock has a pre-registered falsifier: open, portable state formats break the decade case; runtime absorption by the model labs breaks the three-year case (Part 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royalty, in three numbers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PART 03 RECAP — AND WHAT PART 04 MUST PRICE</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874519"/>
            <a:ext cx="3429000"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2880360" cy="640080"/>
          </a:xfrm>
          <a:prstGeom prst="rect">
            <a:avLst/>
          </a:prstGeom>
          <a:noFill/>
        </p:spPr>
        <p:txBody>
          <a:bodyPr wrap="square" lIns="0" rIns="0" tIns="0" bIns="0">
            <a:spAutoFit/>
          </a:bodyPr>
          <a:lstStyle/>
          <a:p>
            <a:pPr algn="l"/>
            <a:r>
              <a:rPr sz="3400" b="1" i="0">
                <a:solidFill>
                  <a:srgbClr val="2777EF"/>
                </a:solidFill>
                <a:latin typeface="Cambria"/>
              </a:rPr>
              <a:t>~117 vs 101</a:t>
            </a:r>
          </a:p>
        </p:txBody>
      </p:sp>
      <p:sp>
        <p:nvSpPr>
          <p:cNvPr id="7" name="TextBox 6"/>
          <p:cNvSpPr txBox="1"/>
          <p:nvPr/>
        </p:nvSpPr>
        <p:spPr>
          <a:xfrm>
            <a:off x="1051560" y="3017520"/>
            <a:ext cx="2880360" cy="320040"/>
          </a:xfrm>
          <a:prstGeom prst="rect">
            <a:avLst/>
          </a:prstGeom>
          <a:noFill/>
        </p:spPr>
        <p:txBody>
          <a:bodyPr wrap="square" lIns="0" rIns="0" tIns="0" bIns="0">
            <a:spAutoFit/>
          </a:bodyPr>
          <a:lstStyle/>
          <a:p>
            <a:pPr algn="l"/>
            <a:r>
              <a:rPr sz="1350" b="1" i="0">
                <a:solidFill>
                  <a:srgbClr val="1A2233"/>
                </a:solidFill>
                <a:latin typeface="Calibri"/>
              </a:rPr>
              <a:t>meter vs app retention</a:t>
            </a:r>
          </a:p>
        </p:txBody>
      </p:sp>
      <p:sp>
        <p:nvSpPr>
          <p:cNvPr id="8" name="TextBox 7"/>
          <p:cNvSpPr txBox="1"/>
          <p:nvPr/>
        </p:nvSpPr>
        <p:spPr>
          <a:xfrm>
            <a:off x="1051560" y="3429000"/>
            <a:ext cx="2880360" cy="1463040"/>
          </a:xfrm>
          <a:prstGeom prst="rect">
            <a:avLst/>
          </a:prstGeom>
          <a:noFill/>
        </p:spPr>
        <p:txBody>
          <a:bodyPr wrap="square" lIns="0" rIns="0" tIns="0" bIns="0">
            <a:spAutoFit/>
          </a:bodyPr>
          <a:lstStyle/>
          <a:p>
            <a:pPr algn="l"/>
            <a:r>
              <a:rPr sz="1200" b="0" i="0">
                <a:solidFill>
                  <a:srgbClr val="5A6478"/>
                </a:solidFill>
                <a:latin typeface="Calibri"/>
              </a:rPr>
              <a:t>agents pay the meters, not the seats — and the split widens every quarter</a:t>
            </a:r>
          </a:p>
        </p:txBody>
      </p:sp>
      <p:sp>
        <p:nvSpPr>
          <p:cNvPr id="9" name="Rounded Rectangle 8"/>
          <p:cNvSpPr/>
          <p:nvPr/>
        </p:nvSpPr>
        <p:spPr>
          <a:xfrm>
            <a:off x="4379976" y="1874519"/>
            <a:ext cx="3429000"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2286000"/>
            <a:ext cx="2880360" cy="640080"/>
          </a:xfrm>
          <a:prstGeom prst="rect">
            <a:avLst/>
          </a:prstGeom>
          <a:noFill/>
        </p:spPr>
        <p:txBody>
          <a:bodyPr wrap="square" lIns="0" rIns="0" tIns="0" bIns="0">
            <a:spAutoFit/>
          </a:bodyPr>
          <a:lstStyle/>
          <a:p>
            <a:pPr algn="l"/>
            <a:r>
              <a:rPr sz="3400" b="1" i="0">
                <a:solidFill>
                  <a:srgbClr val="2777EF"/>
                </a:solidFill>
                <a:latin typeface="Cambria"/>
              </a:rPr>
              <a:t>14→24%</a:t>
            </a:r>
          </a:p>
        </p:txBody>
      </p:sp>
      <p:sp>
        <p:nvSpPr>
          <p:cNvPr id="11" name="TextBox 10"/>
          <p:cNvSpPr txBox="1"/>
          <p:nvPr/>
        </p:nvSpPr>
        <p:spPr>
          <a:xfrm>
            <a:off x="4654296" y="3017520"/>
            <a:ext cx="2880360" cy="320040"/>
          </a:xfrm>
          <a:prstGeom prst="rect">
            <a:avLst/>
          </a:prstGeom>
          <a:noFill/>
        </p:spPr>
        <p:txBody>
          <a:bodyPr wrap="square" lIns="0" rIns="0" tIns="0" bIns="0">
            <a:spAutoFit/>
          </a:bodyPr>
          <a:lstStyle/>
          <a:p>
            <a:pPr algn="l"/>
            <a:r>
              <a:rPr sz="1350" b="1" i="0">
                <a:solidFill>
                  <a:srgbClr val="1A2233"/>
                </a:solidFill>
                <a:latin typeface="Calibri"/>
              </a:rPr>
              <a:t>state-meter overage share</a:t>
            </a:r>
          </a:p>
        </p:txBody>
      </p:sp>
      <p:sp>
        <p:nvSpPr>
          <p:cNvPr id="12" name="TextBox 11"/>
          <p:cNvSpPr txBox="1"/>
          <p:nvPr/>
        </p:nvSpPr>
        <p:spPr>
          <a:xfrm>
            <a:off x="4654296" y="3429000"/>
            <a:ext cx="2880360" cy="1463040"/>
          </a:xfrm>
          <a:prstGeom prst="rect">
            <a:avLst/>
          </a:prstGeom>
          <a:noFill/>
        </p:spPr>
        <p:txBody>
          <a:bodyPr wrap="square" lIns="0" rIns="0" tIns="0" bIns="0">
            <a:spAutoFit/>
          </a:bodyPr>
          <a:lstStyle/>
          <a:p>
            <a:pPr algn="l"/>
            <a:r>
              <a:rPr sz="1200" b="0" i="0">
                <a:solidFill>
                  <a:srgbClr val="5A6478"/>
                </a:solidFill>
                <a:latin typeface="Calibri"/>
              </a:rPr>
              <a:t>billed above floors, at list — work meters 9→16%; commitment +20% y/y where usage is metered</a:t>
            </a:r>
          </a:p>
        </p:txBody>
      </p:sp>
      <p:sp>
        <p:nvSpPr>
          <p:cNvPr id="13" name="Rounded Rectangle 12"/>
          <p:cNvSpPr/>
          <p:nvPr/>
        </p:nvSpPr>
        <p:spPr>
          <a:xfrm>
            <a:off x="7982712" y="1874519"/>
            <a:ext cx="3429000" cy="329184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2286000"/>
            <a:ext cx="2880360" cy="640080"/>
          </a:xfrm>
          <a:prstGeom prst="rect">
            <a:avLst/>
          </a:prstGeom>
          <a:noFill/>
        </p:spPr>
        <p:txBody>
          <a:bodyPr wrap="square" lIns="0" rIns="0" tIns="0" bIns="0">
            <a:spAutoFit/>
          </a:bodyPr>
          <a:lstStyle/>
          <a:p>
            <a:pPr algn="l"/>
            <a:r>
              <a:rPr sz="3400" b="1" i="0">
                <a:solidFill>
                  <a:srgbClr val="2777EF"/>
                </a:solidFill>
                <a:latin typeface="Cambria"/>
              </a:rPr>
              <a:t>5–7x</a:t>
            </a:r>
          </a:p>
        </p:txBody>
      </p:sp>
      <p:sp>
        <p:nvSpPr>
          <p:cNvPr id="15" name="TextBox 14"/>
          <p:cNvSpPr txBox="1"/>
          <p:nvPr/>
        </p:nvSpPr>
        <p:spPr>
          <a:xfrm>
            <a:off x="8257032" y="3017520"/>
            <a:ext cx="2880360" cy="320040"/>
          </a:xfrm>
          <a:prstGeom prst="rect">
            <a:avLst/>
          </a:prstGeom>
          <a:noFill/>
        </p:spPr>
        <p:txBody>
          <a:bodyPr wrap="square" lIns="0" rIns="0" tIns="0" bIns="0">
            <a:spAutoFit/>
          </a:bodyPr>
          <a:lstStyle/>
          <a:p>
            <a:pPr algn="l"/>
            <a:r>
              <a:rPr sz="1350" b="1" i="0">
                <a:solidFill>
                  <a:srgbClr val="1A2233"/>
                </a:solidFill>
                <a:latin typeface="Calibri"/>
              </a:rPr>
              <a:t>EV / NTM revenue, meter layers</a:t>
            </a:r>
          </a:p>
        </p:txBody>
      </p:sp>
      <p:sp>
        <p:nvSpPr>
          <p:cNvPr id="16" name="TextBox 15"/>
          <p:cNvSpPr txBox="1"/>
          <p:nvPr/>
        </p:nvSpPr>
        <p:spPr>
          <a:xfrm>
            <a:off x="8257032" y="3429000"/>
            <a:ext cx="2880360" cy="1463040"/>
          </a:xfrm>
          <a:prstGeom prst="rect">
            <a:avLst/>
          </a:prstGeom>
          <a:noFill/>
        </p:spPr>
        <p:txBody>
          <a:bodyPr wrap="square" lIns="0" rIns="0" tIns="0" bIns="0">
            <a:spAutoFit/>
          </a:bodyPr>
          <a:lstStyle/>
          <a:p>
            <a:pPr algn="l"/>
            <a:r>
              <a:rPr sz="1200" b="0" i="0">
                <a:solidFill>
                  <a:srgbClr val="5A6478"/>
                </a:solidFill>
                <a:latin typeface="Calibri"/>
              </a:rPr>
              <a:t>for 20–23% growth and real cash margins — multiples that assume the fade</a:t>
            </a:r>
          </a:p>
        </p:txBody>
      </p:sp>
      <p:sp>
        <p:nvSpPr>
          <p:cNvPr id="17" name="Rounded Rectangle 16"/>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royalty is measured and growing </a:t>
            </a:r>
            <a:r>
              <a:rPr sz="1200">
                <a:solidFill>
                  <a:srgbClr val="1A2233"/>
                </a:solidFill>
                <a:latin typeface="Calibri"/>
              </a:rPr>
              <a:t> — part 04 defines the machine labor cohort that bills it, and lays out the valuation framework.</a:t>
            </a:r>
          </a:p>
        </p:txBody>
      </p:sp>
      <p:sp>
        <p:nvSpPr>
          <p:cNvPr id="18" name="TextBox 1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9" name="TextBox 1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68</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1874520"/>
            <a:ext cx="2377440" cy="1600200"/>
          </a:xfrm>
          <a:prstGeom prst="rect">
            <a:avLst/>
          </a:prstGeom>
          <a:noFill/>
        </p:spPr>
        <p:txBody>
          <a:bodyPr wrap="square" lIns="0" tIns="0" rIns="0" bIns="0" rtlCol="0" anchor="ctr"/>
          <a:lstStyle/>
          <a:p>
            <a:pPr marL="0" indent="0">
              <a:buNone/>
            </a:pPr>
            <a:r>
              <a:rPr lang="en-US" sz="9600" b="1" dirty="0">
                <a:solidFill>
                  <a:srgbClr val="2777EF"/>
                </a:solidFill>
                <a:latin typeface="Cambria" pitchFamily="34" charset="0"/>
                <a:ea typeface="Cambria" pitchFamily="34" charset="-122"/>
                <a:cs typeface="Cambria" pitchFamily="34" charset="-120"/>
              </a:rPr>
              <a:t>04</a:t>
            </a:r>
            <a:endParaRPr lang="en-US" sz="9600" dirty="0"/>
          </a:p>
        </p:txBody>
      </p:sp>
      <p:sp>
        <p:nvSpPr>
          <p:cNvPr id="3" name="Text 1"/>
          <p:cNvSpPr/>
          <p:nvPr/>
        </p:nvSpPr>
        <p:spPr>
          <a:xfrm>
            <a:off x="548640" y="3520440"/>
            <a:ext cx="7589520" cy="685800"/>
          </a:xfrm>
          <a:prstGeom prst="rect">
            <a:avLst/>
          </a:prstGeom>
          <a:noFill/>
        </p:spPr>
        <p:txBody>
          <a:bodyPr wrap="square" lIns="0" tIns="0" rIns="0" bIns="0" rtlCol="0" anchor="ctr"/>
          <a:lstStyle/>
          <a:p>
            <a:pPr marL="0" indent="0">
              <a:buNone/>
            </a:pPr>
            <a:r>
              <a:rPr lang="en-US" sz="3400" b="1" dirty="0">
                <a:solidFill>
                  <a:srgbClr val="1A2233"/>
                </a:solidFill>
                <a:latin typeface="Cambria" pitchFamily="34" charset="0"/>
                <a:ea typeface="Cambria" pitchFamily="34" charset="-122"/>
                <a:cs typeface="Cambria" pitchFamily="34" charset="-120"/>
              </a:rPr>
              <a:t>Machine Oracle</a:t>
            </a:r>
            <a:endParaRPr lang="en-US" sz="3400" dirty="0"/>
          </a:p>
        </p:txBody>
      </p:sp>
      <p:sp>
        <p:nvSpPr>
          <p:cNvPr id="4" name="Text 2"/>
          <p:cNvSpPr/>
          <p:nvPr/>
        </p:nvSpPr>
        <p:spPr>
          <a:xfrm>
            <a:off x="548640" y="4224528"/>
            <a:ext cx="7315200" cy="502920"/>
          </a:xfrm>
          <a:prstGeom prst="rect">
            <a:avLst/>
          </a:prstGeom>
          <a:noFill/>
        </p:spPr>
        <p:txBody>
          <a:bodyPr wrap="square" lIns="0" tIns="0" rIns="0" bIns="0" rtlCol="0" anchor="ctr"/>
          <a:lstStyle/>
          <a:p>
            <a:pPr marL="0" indent="0">
              <a:buNone/>
            </a:pPr>
            <a:r>
              <a:rPr lang="en-US" sz="1500" dirty="0">
                <a:solidFill>
                  <a:srgbClr val="5A6478"/>
                </a:solidFill>
                <a:latin typeface="Calibri" pitchFamily="34" charset="0"/>
                <a:ea typeface="Calibri" pitchFamily="34" charset="-122"/>
                <a:cs typeface="Calibri" pitchFamily="34" charset="-120"/>
              </a:rPr>
              <a:t>the research program — pre-registered calls, graded in public</a:t>
            </a:r>
            <a:endParaRPr lang="en-US" sz="1500" dirty="0"/>
          </a:p>
        </p:txBody>
      </p:sp>
      <p:sp>
        <p:nvSpPr>
          <p:cNvPr id="5" name="Shape 3"/>
          <p:cNvSpPr/>
          <p:nvPr/>
        </p:nvSpPr>
        <p:spPr>
          <a:xfrm>
            <a:off x="8366760" y="1737360"/>
            <a:ext cx="0" cy="3383280"/>
          </a:xfrm>
          <a:prstGeom prst="line">
            <a:avLst/>
          </a:prstGeom>
          <a:noFill/>
          <a:ln w="12700">
            <a:solidFill>
              <a:srgbClr val="D5DCE8"/>
            </a:solidFill>
            <a:prstDash val="solid"/>
          </a:ln>
        </p:spPr>
        <p:txBody>
          <a:bodyPr/>
          <a:lstStyle/>
          <a:p>
            <a:endParaRPr lang="en-US"/>
          </a:p>
        </p:txBody>
      </p:sp>
      <p:sp>
        <p:nvSpPr>
          <p:cNvPr id="6" name="Shape 4"/>
          <p:cNvSpPr/>
          <p:nvPr/>
        </p:nvSpPr>
        <p:spPr>
          <a:xfrm>
            <a:off x="8686800" y="1897380"/>
            <a:ext cx="118872" cy="118872"/>
          </a:xfrm>
          <a:prstGeom prst="ellipse">
            <a:avLst/>
          </a:prstGeom>
          <a:solidFill>
            <a:srgbClr val="FFFFFF"/>
          </a:solidFill>
          <a:ln w="12700">
            <a:solidFill>
              <a:srgbClr val="8A97B0"/>
            </a:solidFill>
            <a:prstDash val="solid"/>
          </a:ln>
        </p:spPr>
        <p:txBody>
          <a:bodyPr/>
          <a:lstStyle/>
          <a:p>
            <a:endParaRPr lang="en-US"/>
          </a:p>
        </p:txBody>
      </p:sp>
      <p:sp>
        <p:nvSpPr>
          <p:cNvPr id="7" name="Text 5"/>
          <p:cNvSpPr/>
          <p:nvPr/>
        </p:nvSpPr>
        <p:spPr>
          <a:xfrm>
            <a:off x="8942832" y="1828800"/>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01  Infinite Software</a:t>
            </a:r>
            <a:endParaRPr lang="en-US" sz="1100" dirty="0"/>
          </a:p>
        </p:txBody>
      </p:sp>
      <p:sp>
        <p:nvSpPr>
          <p:cNvPr id="8" name="Shape 6"/>
          <p:cNvSpPr/>
          <p:nvPr/>
        </p:nvSpPr>
        <p:spPr>
          <a:xfrm>
            <a:off x="8686800" y="2555748"/>
            <a:ext cx="118872" cy="118872"/>
          </a:xfrm>
          <a:prstGeom prst="ellipse">
            <a:avLst/>
          </a:prstGeom>
          <a:solidFill>
            <a:srgbClr val="FFFFFF"/>
          </a:solidFill>
          <a:ln w="12700">
            <a:solidFill>
              <a:srgbClr val="8A97B0"/>
            </a:solidFill>
            <a:prstDash val="solid"/>
          </a:ln>
        </p:spPr>
        <p:txBody>
          <a:bodyPr/>
          <a:lstStyle/>
          <a:p>
            <a:endParaRPr lang="en-US"/>
          </a:p>
        </p:txBody>
      </p:sp>
      <p:sp>
        <p:nvSpPr>
          <p:cNvPr id="9" name="Text 7"/>
          <p:cNvSpPr/>
          <p:nvPr/>
        </p:nvSpPr>
        <p:spPr>
          <a:xfrm>
            <a:off x="8942832" y="2487168"/>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02  The Token Tidal Wave</a:t>
            </a:r>
            <a:endParaRPr lang="en-US" sz="1100" dirty="0"/>
          </a:p>
        </p:txBody>
      </p:sp>
      <p:sp>
        <p:nvSpPr>
          <p:cNvPr id="10" name="Shape 8"/>
          <p:cNvSpPr/>
          <p:nvPr/>
        </p:nvSpPr>
        <p:spPr>
          <a:xfrm>
            <a:off x="8686800" y="3214116"/>
            <a:ext cx="118872" cy="118872"/>
          </a:xfrm>
          <a:prstGeom prst="ellipse">
            <a:avLst/>
          </a:prstGeom>
          <a:solidFill>
            <a:srgbClr val="FFFFFF"/>
          </a:solidFill>
          <a:ln w="12700">
            <a:solidFill>
              <a:srgbClr val="8A97B0"/>
            </a:solidFill>
            <a:prstDash val="solid"/>
          </a:ln>
        </p:spPr>
        <p:txBody>
          <a:bodyPr/>
          <a:lstStyle/>
          <a:p>
            <a:endParaRPr lang="en-US"/>
          </a:p>
        </p:txBody>
      </p:sp>
      <p:sp>
        <p:nvSpPr>
          <p:cNvPr id="11" name="Text 9"/>
          <p:cNvSpPr/>
          <p:nvPr/>
        </p:nvSpPr>
        <p:spPr>
          <a:xfrm>
            <a:off x="8942832" y="3145536"/>
            <a:ext cx="3108960" cy="292608"/>
          </a:xfrm>
          <a:prstGeom prst="rect">
            <a:avLst/>
          </a:prstGeom>
          <a:noFill/>
        </p:spPr>
        <p:txBody>
          <a:bodyPr wrap="square" lIns="0" tIns="0" rIns="0" bIns="0" rtlCol="0" anchor="ctr"/>
          <a:lstStyle/>
          <a:p>
            <a:pPr marL="0" indent="0">
              <a:buNone/>
            </a:pPr>
            <a:r>
              <a:rPr lang="en-US" sz="1100" dirty="0">
                <a:solidFill>
                  <a:srgbClr val="8A97B0"/>
                </a:solidFill>
                <a:latin typeface="Calibri" pitchFamily="34" charset="0"/>
                <a:ea typeface="Calibri" pitchFamily="34" charset="-122"/>
                <a:cs typeface="Calibri" pitchFamily="34" charset="-120"/>
              </a:rPr>
              <a:t>03  A Royalty on Machine Labor</a:t>
            </a:r>
            <a:endParaRPr lang="en-US" sz="1100" dirty="0"/>
          </a:p>
        </p:txBody>
      </p:sp>
      <p:sp>
        <p:nvSpPr>
          <p:cNvPr id="12" name="Shape 10"/>
          <p:cNvSpPr/>
          <p:nvPr/>
        </p:nvSpPr>
        <p:spPr>
          <a:xfrm>
            <a:off x="8686800" y="3872484"/>
            <a:ext cx="118872" cy="118872"/>
          </a:xfrm>
          <a:prstGeom prst="ellipse">
            <a:avLst/>
          </a:prstGeom>
          <a:solidFill>
            <a:srgbClr val="2777EF"/>
          </a:solidFill>
          <a:ln w="12700">
            <a:solidFill/>
            <a:prstDash val="solid"/>
          </a:ln>
        </p:spPr>
        <p:txBody>
          <a:bodyPr/>
          <a:lstStyle/>
          <a:p>
            <a:endParaRPr lang="en-US"/>
          </a:p>
        </p:txBody>
      </p:sp>
      <p:sp>
        <p:nvSpPr>
          <p:cNvPr id="13" name="Text 11"/>
          <p:cNvSpPr/>
          <p:nvPr/>
        </p:nvSpPr>
        <p:spPr>
          <a:xfrm>
            <a:off x="8942832" y="3803904"/>
            <a:ext cx="3108960" cy="292608"/>
          </a:xfrm>
          <a:prstGeom prst="rect">
            <a:avLst/>
          </a:prstGeom>
          <a:noFill/>
        </p:spPr>
        <p:txBody>
          <a:bodyPr wrap="square" lIns="0" tIns="0" rIns="0" bIns="0" rtlCol="0" anchor="ctr"/>
          <a:lstStyle/>
          <a:p>
            <a:pPr marL="0" indent="0">
              <a:buNone/>
            </a:pPr>
            <a:r>
              <a:rPr lang="en-US" sz="1100" dirty="0" b="1">
                <a:solidFill>
                  <a:srgbClr val="1A2233"/>
                </a:solidFill>
                <a:latin typeface="Calibri" pitchFamily="34" charset="0"/>
                <a:ea typeface="Calibri" pitchFamily="34" charset="-122"/>
                <a:cs typeface="Calibri" pitchFamily="34" charset="-120"/>
              </a:rPr>
              <a:t>04  Machine Oracle</a:t>
            </a:r>
            <a:endParaRPr lang="en-US" sz="1100" dirty="0"/>
          </a:p>
        </p:txBody>
      </p:sp>
      <p:sp>
        <p:nvSpPr>
          <p:cNvPr id="16" name="Text 14"/>
          <p:cNvSpPr/>
          <p:nvPr/>
        </p:nvSpPr>
        <p:spPr>
          <a:xfrm>
            <a:off x="502920" y="6309360"/>
            <a:ext cx="2743200" cy="274320"/>
          </a:xfrm>
          <a:prstGeom prst="rect">
            <a:avLst/>
          </a:prstGeom>
          <a:noFill/>
        </p:spPr>
        <p:txBody>
          <a:bodyPr wrap="square" lIns="0" tIns="0" rIns="0" bIns="0" rtlCol="0" anchor="ctr"/>
          <a:lstStyle/>
          <a:p>
            <a:pPr marL="0" indent="0">
              <a:buNone/>
            </a:pPr>
            <a:r>
              <a:rPr lang="en-US" sz="1000" b="1" kern="0" spc="30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69</a:t>
            </a:fld>
            <a:endParaRPr lang="en-US"/>
          </a:p>
        </p:txBody>
      </p:sp>
    </p:spTree>
    <p:extLst>
      <p:ext uri="{BB962C8B-B14F-4D97-AF65-F5344CB8AC3E}">
        <p14:creationId xmlns:p14="http://schemas.microsoft.com/office/powerpoint/2010/main" val="1452455684"/>
      </p:ext>
    </p:extLst>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machine labor cohort: one rule, three companies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MACHINE LABOR COHORT — BACKEND NAMES WITH MAJORITY OF REVENUE FROM MEASURED CONSUMPTION · MECHANICAL, PRE-REGISTERED, VERIFIED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591056"/>
            <a:ext cx="10634472" cy="1005840"/>
          </a:xfrm>
          <a:prstGeom prst="roundRect">
            <a:avLst>
              <a:gd name="adj" fmla="val 9000"/>
            </a:avLst>
          </a:prstGeom>
          <a:solidFill>
            <a:srgbClr val="EAF1FE"/>
          </a:solidFill>
          <a:ln w="1397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755648"/>
            <a:ext cx="10058400" cy="310896"/>
          </a:xfrm>
          <a:prstGeom prst="rect">
            <a:avLst/>
          </a:prstGeom>
          <a:noFill/>
        </p:spPr>
        <p:txBody>
          <a:bodyPr wrap="square" lIns="0" rIns="0" tIns="0" bIns="0">
            <a:spAutoFit/>
          </a:bodyPr>
          <a:lstStyle/>
          <a:p>
            <a:pPr algn="l"/>
            <a:r>
              <a:rPr sz="1250" b="1" i="0">
                <a:solidFill>
                  <a:srgbClr val="1A2233"/>
                </a:solidFill>
                <a:latin typeface="Calibri"/>
              </a:rPr>
              <a:t>THE RULE — a company enters the cohort when the majority of its revenue is recognized from measured consumption — billed per unit used, or drawn down against commitments.</a:t>
            </a:r>
          </a:p>
        </p:txBody>
      </p:sp>
      <p:sp>
        <p:nvSpPr>
          <p:cNvPr id="7" name="TextBox 6"/>
          <p:cNvSpPr txBox="1"/>
          <p:nvPr/>
        </p:nvSpPr>
        <p:spPr>
          <a:xfrm>
            <a:off x="1051560" y="2139696"/>
            <a:ext cx="10058400" cy="365760"/>
          </a:xfrm>
          <a:prstGeom prst="rect">
            <a:avLst/>
          </a:prstGeom>
          <a:noFill/>
        </p:spPr>
        <p:txBody>
          <a:bodyPr wrap="square" lIns="0" rIns="0" tIns="0" bIns="0">
            <a:spAutoFit/>
          </a:bodyPr>
          <a:lstStyle/>
          <a:p>
            <a:pPr algn="l"/>
            <a:r>
              <a:rPr sz="1050" b="0" i="0">
                <a:solidFill>
                  <a:srgbClr val="5A6478"/>
                </a:solidFill>
                <a:latin typeface="Calibri"/>
              </a:rPr>
              <a:t>Applied to the backend — the state and work layers (Part 03) — the rule admits three companies, each verified against filings (worksheet, next pages). Anyone applying the rule gets the same three. The worksite rails (Twilio, Bandwidth) pass the billing test and are tracked separately as worksite meters.</a:t>
            </a:r>
          </a:p>
        </p:txBody>
      </p:sp>
      <p:sp>
        <p:nvSpPr>
          <p:cNvPr id="8" name="Rounded Rectangle 7"/>
          <p:cNvSpPr/>
          <p:nvPr/>
        </p:nvSpPr>
        <p:spPr>
          <a:xfrm>
            <a:off x="777240" y="2834640"/>
            <a:ext cx="2606040" cy="1335024"/>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953512"/>
            <a:ext cx="2240280" cy="201168"/>
          </a:xfrm>
          <a:prstGeom prst="rect">
            <a:avLst/>
          </a:prstGeom>
          <a:noFill/>
        </p:spPr>
        <p:txBody>
          <a:bodyPr wrap="square" lIns="0" rIns="0" tIns="0" bIns="0">
            <a:spAutoFit/>
          </a:bodyPr>
          <a:lstStyle/>
          <a:p>
            <a:pPr algn="l"/>
            <a:r>
              <a:rPr sz="850" b="1" i="0">
                <a:solidFill>
                  <a:srgbClr val="2777EF"/>
                </a:solidFill>
                <a:latin typeface="Calibri"/>
              </a:rPr>
              <a:t>ENTERPRISE VALUE</a:t>
            </a:r>
          </a:p>
        </p:txBody>
      </p:sp>
      <p:sp>
        <p:nvSpPr>
          <p:cNvPr id="10" name="TextBox 9"/>
          <p:cNvSpPr txBox="1"/>
          <p:nvPr/>
        </p:nvSpPr>
        <p:spPr>
          <a:xfrm>
            <a:off x="960120" y="3182112"/>
            <a:ext cx="2240280" cy="420624"/>
          </a:xfrm>
          <a:prstGeom prst="rect">
            <a:avLst/>
          </a:prstGeom>
          <a:noFill/>
        </p:spPr>
        <p:txBody>
          <a:bodyPr wrap="square" lIns="0" rIns="0" tIns="0" bIns="0">
            <a:spAutoFit/>
          </a:bodyPr>
          <a:lstStyle/>
          <a:p>
            <a:pPr algn="l"/>
            <a:r>
              <a:rPr sz="2000" b="1" i="0">
                <a:solidFill>
                  <a:srgbClr val="1A2233"/>
                </a:solidFill>
                <a:latin typeface="Cambria"/>
              </a:rPr>
              <a:t>~$250B</a:t>
            </a:r>
          </a:p>
        </p:txBody>
      </p:sp>
      <p:sp>
        <p:nvSpPr>
          <p:cNvPr id="11" name="TextBox 10"/>
          <p:cNvSpPr txBox="1"/>
          <p:nvPr/>
        </p:nvSpPr>
        <p:spPr>
          <a:xfrm>
            <a:off x="960120" y="3657600"/>
            <a:ext cx="2240280" cy="457200"/>
          </a:xfrm>
          <a:prstGeom prst="rect">
            <a:avLst/>
          </a:prstGeom>
          <a:noFill/>
        </p:spPr>
        <p:txBody>
          <a:bodyPr wrap="square" lIns="0" rIns="0" tIns="0" bIns="0">
            <a:spAutoFit/>
          </a:bodyPr>
          <a:lstStyle/>
          <a:p>
            <a:pPr algn="l"/>
            <a:r>
              <a:rPr sz="850" b="0" i="0">
                <a:solidFill>
                  <a:srgbClr val="5A6478"/>
                </a:solidFill>
                <a:latin typeface="Calibri"/>
              </a:rPr>
              <a:t>combined, Aug 11, 2026</a:t>
            </a:r>
          </a:p>
        </p:txBody>
      </p:sp>
      <p:sp>
        <p:nvSpPr>
          <p:cNvPr id="12" name="Rounded Rectangle 11"/>
          <p:cNvSpPr/>
          <p:nvPr/>
        </p:nvSpPr>
        <p:spPr>
          <a:xfrm>
            <a:off x="3566160" y="2834640"/>
            <a:ext cx="2606040" cy="1335024"/>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9039" y="2953512"/>
            <a:ext cx="2240280" cy="201168"/>
          </a:xfrm>
          <a:prstGeom prst="rect">
            <a:avLst/>
          </a:prstGeom>
          <a:noFill/>
        </p:spPr>
        <p:txBody>
          <a:bodyPr wrap="square" lIns="0" rIns="0" tIns="0" bIns="0">
            <a:spAutoFit/>
          </a:bodyPr>
          <a:lstStyle/>
          <a:p>
            <a:pPr algn="l"/>
            <a:r>
              <a:rPr sz="850" b="1" i="0">
                <a:solidFill>
                  <a:srgbClr val="2777EF"/>
                </a:solidFill>
                <a:latin typeface="Calibri"/>
              </a:rPr>
              <a:t>FWD REVENUE</a:t>
            </a:r>
          </a:p>
        </p:txBody>
      </p:sp>
      <p:sp>
        <p:nvSpPr>
          <p:cNvPr id="14" name="TextBox 13"/>
          <p:cNvSpPr txBox="1"/>
          <p:nvPr/>
        </p:nvSpPr>
        <p:spPr>
          <a:xfrm>
            <a:off x="3749039" y="3182112"/>
            <a:ext cx="2240280" cy="420624"/>
          </a:xfrm>
          <a:prstGeom prst="rect">
            <a:avLst/>
          </a:prstGeom>
          <a:noFill/>
        </p:spPr>
        <p:txBody>
          <a:bodyPr wrap="square" lIns="0" rIns="0" tIns="0" bIns="0">
            <a:spAutoFit/>
          </a:bodyPr>
          <a:lstStyle/>
          <a:p>
            <a:pPr algn="l"/>
            <a:r>
              <a:rPr sz="2000" b="1" i="0">
                <a:solidFill>
                  <a:srgbClr val="1A2233"/>
                </a:solidFill>
                <a:latin typeface="Cambria"/>
              </a:rPr>
              <a:t>~$15B</a:t>
            </a:r>
          </a:p>
        </p:txBody>
      </p:sp>
      <p:sp>
        <p:nvSpPr>
          <p:cNvPr id="15" name="TextBox 14"/>
          <p:cNvSpPr txBox="1"/>
          <p:nvPr/>
        </p:nvSpPr>
        <p:spPr>
          <a:xfrm>
            <a:off x="3749039" y="3657600"/>
            <a:ext cx="2240280" cy="457200"/>
          </a:xfrm>
          <a:prstGeom prst="rect">
            <a:avLst/>
          </a:prstGeom>
          <a:noFill/>
        </p:spPr>
        <p:txBody>
          <a:bodyPr wrap="square" lIns="0" rIns="0" tIns="0" bIns="0">
            <a:spAutoFit/>
          </a:bodyPr>
          <a:lstStyle/>
          <a:p>
            <a:pPr algn="l"/>
            <a:r>
              <a:rPr sz="850" b="0" i="0">
                <a:solidFill>
                  <a:srgbClr val="5A6478"/>
                </a:solidFill>
                <a:latin typeface="Calibri"/>
              </a:rPr>
              <a:t>consensus NTM</a:t>
            </a:r>
          </a:p>
        </p:txBody>
      </p:sp>
      <p:sp>
        <p:nvSpPr>
          <p:cNvPr id="16" name="Rounded Rectangle 15"/>
          <p:cNvSpPr/>
          <p:nvPr/>
        </p:nvSpPr>
        <p:spPr>
          <a:xfrm>
            <a:off x="6355080" y="2834640"/>
            <a:ext cx="2606040" cy="1335024"/>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2953512"/>
            <a:ext cx="2240280" cy="201168"/>
          </a:xfrm>
          <a:prstGeom prst="rect">
            <a:avLst/>
          </a:prstGeom>
          <a:noFill/>
        </p:spPr>
        <p:txBody>
          <a:bodyPr wrap="square" lIns="0" rIns="0" tIns="0" bIns="0">
            <a:spAutoFit/>
          </a:bodyPr>
          <a:lstStyle/>
          <a:p>
            <a:pPr algn="l"/>
            <a:r>
              <a:rPr sz="850" b="1" i="0">
                <a:solidFill>
                  <a:srgbClr val="2777EF"/>
                </a:solidFill>
                <a:latin typeface="Calibri"/>
              </a:rPr>
              <a:t>GROWTH</a:t>
            </a:r>
          </a:p>
        </p:txBody>
      </p:sp>
      <p:sp>
        <p:nvSpPr>
          <p:cNvPr id="18" name="TextBox 17"/>
          <p:cNvSpPr txBox="1"/>
          <p:nvPr/>
        </p:nvSpPr>
        <p:spPr>
          <a:xfrm>
            <a:off x="6537960" y="3182112"/>
            <a:ext cx="2240280" cy="420624"/>
          </a:xfrm>
          <a:prstGeom prst="rect">
            <a:avLst/>
          </a:prstGeom>
          <a:noFill/>
        </p:spPr>
        <p:txBody>
          <a:bodyPr wrap="square" lIns="0" rIns="0" tIns="0" bIns="0">
            <a:spAutoFit/>
          </a:bodyPr>
          <a:lstStyle/>
          <a:p>
            <a:pPr algn="l"/>
            <a:r>
              <a:rPr sz="2000" b="1" i="0">
                <a:solidFill>
                  <a:srgbClr val="1A2233"/>
                </a:solidFill>
                <a:latin typeface="Cambria"/>
              </a:rPr>
              <a:t>~33%</a:t>
            </a:r>
          </a:p>
        </p:txBody>
      </p:sp>
      <p:sp>
        <p:nvSpPr>
          <p:cNvPr id="19" name="TextBox 18"/>
          <p:cNvSpPr txBox="1"/>
          <p:nvPr/>
        </p:nvSpPr>
        <p:spPr>
          <a:xfrm>
            <a:off x="6537960" y="3657600"/>
            <a:ext cx="2240280" cy="457200"/>
          </a:xfrm>
          <a:prstGeom prst="rect">
            <a:avLst/>
          </a:prstGeom>
          <a:noFill/>
        </p:spPr>
        <p:txBody>
          <a:bodyPr wrap="square" lIns="0" rIns="0" tIns="0" bIns="0">
            <a:spAutoFit/>
          </a:bodyPr>
          <a:lstStyle/>
          <a:p>
            <a:pPr algn="l"/>
            <a:r>
              <a:rPr sz="850" b="0" i="0">
                <a:solidFill>
                  <a:srgbClr val="5A6478"/>
                </a:solidFill>
                <a:latin typeface="Calibri"/>
              </a:rPr>
              <a:t>blended NTM vs LTM</a:t>
            </a:r>
          </a:p>
        </p:txBody>
      </p:sp>
      <p:sp>
        <p:nvSpPr>
          <p:cNvPr id="20" name="Rounded Rectangle 19"/>
          <p:cNvSpPr/>
          <p:nvPr/>
        </p:nvSpPr>
        <p:spPr>
          <a:xfrm>
            <a:off x="9144000" y="2834640"/>
            <a:ext cx="2606040" cy="1335024"/>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0" y="2953512"/>
            <a:ext cx="2240280" cy="201168"/>
          </a:xfrm>
          <a:prstGeom prst="rect">
            <a:avLst/>
          </a:prstGeom>
          <a:noFill/>
        </p:spPr>
        <p:txBody>
          <a:bodyPr wrap="square" lIns="0" rIns="0" tIns="0" bIns="0">
            <a:spAutoFit/>
          </a:bodyPr>
          <a:lstStyle/>
          <a:p>
            <a:pPr algn="l"/>
            <a:r>
              <a:rPr sz="850" b="1" i="0">
                <a:solidFill>
                  <a:srgbClr val="2777EF"/>
                </a:solidFill>
                <a:latin typeface="Calibri"/>
              </a:rPr>
              <a:t>EV / NTM REVENUE</a:t>
            </a:r>
          </a:p>
        </p:txBody>
      </p:sp>
      <p:sp>
        <p:nvSpPr>
          <p:cNvPr id="22" name="TextBox 21"/>
          <p:cNvSpPr txBox="1"/>
          <p:nvPr/>
        </p:nvSpPr>
        <p:spPr>
          <a:xfrm>
            <a:off x="9326880" y="3182112"/>
            <a:ext cx="2240280" cy="420624"/>
          </a:xfrm>
          <a:prstGeom prst="rect">
            <a:avLst/>
          </a:prstGeom>
          <a:noFill/>
        </p:spPr>
        <p:txBody>
          <a:bodyPr wrap="square" lIns="0" rIns="0" tIns="0" bIns="0">
            <a:spAutoFit/>
          </a:bodyPr>
          <a:lstStyle/>
          <a:p>
            <a:pPr algn="l"/>
            <a:r>
              <a:rPr sz="2000" b="1" i="0">
                <a:solidFill>
                  <a:srgbClr val="1A2233"/>
                </a:solidFill>
                <a:latin typeface="Cambria"/>
              </a:rPr>
              <a:t>~16x</a:t>
            </a:r>
          </a:p>
        </p:txBody>
      </p:sp>
      <p:sp>
        <p:nvSpPr>
          <p:cNvPr id="23" name="TextBox 22"/>
          <p:cNvSpPr txBox="1"/>
          <p:nvPr/>
        </p:nvSpPr>
        <p:spPr>
          <a:xfrm>
            <a:off x="9326880" y="3657600"/>
            <a:ext cx="2240280" cy="457200"/>
          </a:xfrm>
          <a:prstGeom prst="rect">
            <a:avLst/>
          </a:prstGeom>
          <a:noFill/>
        </p:spPr>
        <p:txBody>
          <a:bodyPr wrap="square" lIns="0" rIns="0" tIns="0" bIns="0">
            <a:spAutoFit/>
          </a:bodyPr>
          <a:lstStyle/>
          <a:p>
            <a:pPr algn="l"/>
            <a:r>
              <a:rPr sz="850" b="0" i="0">
                <a:solidFill>
                  <a:srgbClr val="5A6478"/>
                </a:solidFill>
                <a:latin typeface="Calibri"/>
              </a:rPr>
              <a:t>blended — median lower</a:t>
            </a:r>
          </a:p>
        </p:txBody>
      </p:sp>
      <p:sp>
        <p:nvSpPr>
          <p:cNvPr id="24" name="Rounded Rectangle 23"/>
          <p:cNvSpPr/>
          <p:nvPr/>
        </p:nvSpPr>
        <p:spPr>
          <a:xfrm>
            <a:off x="777240" y="4315968"/>
            <a:ext cx="2606040" cy="1335024"/>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4434840"/>
            <a:ext cx="2240280" cy="201168"/>
          </a:xfrm>
          <a:prstGeom prst="rect">
            <a:avLst/>
          </a:prstGeom>
          <a:noFill/>
        </p:spPr>
        <p:txBody>
          <a:bodyPr wrap="square" lIns="0" rIns="0" tIns="0" bIns="0">
            <a:spAutoFit/>
          </a:bodyPr>
          <a:lstStyle/>
          <a:p>
            <a:pPr algn="l"/>
            <a:r>
              <a:rPr sz="850" b="1" i="0">
                <a:solidFill>
                  <a:srgbClr val="2777EF"/>
                </a:solidFill>
                <a:latin typeface="Calibri"/>
              </a:rPr>
              <a:t>FCF MARGIN</a:t>
            </a:r>
          </a:p>
        </p:txBody>
      </p:sp>
      <p:sp>
        <p:nvSpPr>
          <p:cNvPr id="26" name="TextBox 25"/>
          <p:cNvSpPr txBox="1"/>
          <p:nvPr/>
        </p:nvSpPr>
        <p:spPr>
          <a:xfrm>
            <a:off x="960120" y="4663440"/>
            <a:ext cx="2240280" cy="420624"/>
          </a:xfrm>
          <a:prstGeom prst="rect">
            <a:avLst/>
          </a:prstGeom>
          <a:noFill/>
        </p:spPr>
        <p:txBody>
          <a:bodyPr wrap="square" lIns="0" rIns="0" tIns="0" bIns="0">
            <a:spAutoFit/>
          </a:bodyPr>
          <a:lstStyle/>
          <a:p>
            <a:pPr algn="l"/>
            <a:r>
              <a:rPr sz="2000" b="1" i="0">
                <a:solidFill>
                  <a:srgbClr val="1A2233"/>
                </a:solidFill>
                <a:latin typeface="Cambria"/>
              </a:rPr>
              <a:t>~25%</a:t>
            </a:r>
          </a:p>
        </p:txBody>
      </p:sp>
      <p:sp>
        <p:nvSpPr>
          <p:cNvPr id="27" name="TextBox 26"/>
          <p:cNvSpPr txBox="1"/>
          <p:nvPr/>
        </p:nvSpPr>
        <p:spPr>
          <a:xfrm>
            <a:off x="960120" y="5138928"/>
            <a:ext cx="2240280" cy="457200"/>
          </a:xfrm>
          <a:prstGeom prst="rect">
            <a:avLst/>
          </a:prstGeom>
          <a:noFill/>
        </p:spPr>
        <p:txBody>
          <a:bodyPr wrap="square" lIns="0" rIns="0" tIns="0" bIns="0">
            <a:spAutoFit/>
          </a:bodyPr>
          <a:lstStyle/>
          <a:p>
            <a:pPr algn="l"/>
            <a:r>
              <a:rPr sz="850" b="0" i="0">
                <a:solidFill>
                  <a:srgbClr val="5A6478"/>
                </a:solidFill>
                <a:latin typeface="Calibri"/>
              </a:rPr>
              <a:t>LTM, blended</a:t>
            </a:r>
          </a:p>
        </p:txBody>
      </p:sp>
      <p:sp>
        <p:nvSpPr>
          <p:cNvPr id="28" name="Rounded Rectangle 27"/>
          <p:cNvSpPr/>
          <p:nvPr/>
        </p:nvSpPr>
        <p:spPr>
          <a:xfrm>
            <a:off x="3566160" y="4315968"/>
            <a:ext cx="2606040" cy="1335024"/>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39" y="4434840"/>
            <a:ext cx="2240280" cy="201168"/>
          </a:xfrm>
          <a:prstGeom prst="rect">
            <a:avLst/>
          </a:prstGeom>
          <a:noFill/>
        </p:spPr>
        <p:txBody>
          <a:bodyPr wrap="square" lIns="0" rIns="0" tIns="0" bIns="0">
            <a:spAutoFit/>
          </a:bodyPr>
          <a:lstStyle/>
          <a:p>
            <a:pPr algn="l"/>
            <a:r>
              <a:rPr sz="850" b="1" i="0">
                <a:solidFill>
                  <a:srgbClr val="2777EF"/>
                </a:solidFill>
                <a:latin typeface="Calibri"/>
              </a:rPr>
              <a:t>RULE OF X</a:t>
            </a:r>
          </a:p>
        </p:txBody>
      </p:sp>
      <p:sp>
        <p:nvSpPr>
          <p:cNvPr id="30" name="TextBox 29"/>
          <p:cNvSpPr txBox="1"/>
          <p:nvPr/>
        </p:nvSpPr>
        <p:spPr>
          <a:xfrm>
            <a:off x="3749039" y="4663440"/>
            <a:ext cx="2240280" cy="420624"/>
          </a:xfrm>
          <a:prstGeom prst="rect">
            <a:avLst/>
          </a:prstGeom>
          <a:noFill/>
        </p:spPr>
        <p:txBody>
          <a:bodyPr wrap="square" lIns="0" rIns="0" tIns="0" bIns="0">
            <a:spAutoFit/>
          </a:bodyPr>
          <a:lstStyle/>
          <a:p>
            <a:pPr algn="l"/>
            <a:r>
              <a:rPr sz="2000" b="1" i="0">
                <a:solidFill>
                  <a:srgbClr val="1A2233"/>
                </a:solidFill>
                <a:latin typeface="Cambria"/>
              </a:rPr>
              <a:t>~100</a:t>
            </a:r>
          </a:p>
        </p:txBody>
      </p:sp>
      <p:sp>
        <p:nvSpPr>
          <p:cNvPr id="31" name="TextBox 30"/>
          <p:cNvSpPr txBox="1"/>
          <p:nvPr/>
        </p:nvSpPr>
        <p:spPr>
          <a:xfrm>
            <a:off x="3749039" y="5138928"/>
            <a:ext cx="2240280" cy="457200"/>
          </a:xfrm>
          <a:prstGeom prst="rect">
            <a:avLst/>
          </a:prstGeom>
          <a:noFill/>
        </p:spPr>
        <p:txBody>
          <a:bodyPr wrap="square" lIns="0" rIns="0" tIns="0" bIns="0">
            <a:spAutoFit/>
          </a:bodyPr>
          <a:lstStyle/>
          <a:p>
            <a:pPr algn="l"/>
            <a:r>
              <a:rPr sz="850" b="0" i="0">
                <a:solidFill>
                  <a:srgbClr val="5A6478"/>
                </a:solidFill>
                <a:latin typeface="Calibri"/>
              </a:rPr>
              <a:t>2.3× growth + FCF — beyond the top decile</a:t>
            </a:r>
          </a:p>
        </p:txBody>
      </p:sp>
      <p:sp>
        <p:nvSpPr>
          <p:cNvPr id="32" name="Rounded Rectangle 31"/>
          <p:cNvSpPr/>
          <p:nvPr/>
        </p:nvSpPr>
        <p:spPr>
          <a:xfrm>
            <a:off x="6355080" y="4315968"/>
            <a:ext cx="2606040" cy="1335024"/>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37960" y="4434840"/>
            <a:ext cx="2240280" cy="201168"/>
          </a:xfrm>
          <a:prstGeom prst="rect">
            <a:avLst/>
          </a:prstGeom>
          <a:noFill/>
        </p:spPr>
        <p:txBody>
          <a:bodyPr wrap="square" lIns="0" rIns="0" tIns="0" bIns="0">
            <a:spAutoFit/>
          </a:bodyPr>
          <a:lstStyle/>
          <a:p>
            <a:pPr algn="l"/>
            <a:r>
              <a:rPr sz="850" b="1" i="0">
                <a:solidFill>
                  <a:srgbClr val="2777EF"/>
                </a:solidFill>
                <a:latin typeface="Calibri"/>
              </a:rPr>
              <a:t>OVERAGE SHARE</a:t>
            </a:r>
          </a:p>
        </p:txBody>
      </p:sp>
      <p:sp>
        <p:nvSpPr>
          <p:cNvPr id="34" name="TextBox 33"/>
          <p:cNvSpPr txBox="1"/>
          <p:nvPr/>
        </p:nvSpPr>
        <p:spPr>
          <a:xfrm>
            <a:off x="6537960" y="4663440"/>
            <a:ext cx="2240280" cy="420624"/>
          </a:xfrm>
          <a:prstGeom prst="rect">
            <a:avLst/>
          </a:prstGeom>
          <a:noFill/>
        </p:spPr>
        <p:txBody>
          <a:bodyPr wrap="square" lIns="0" rIns="0" tIns="0" bIns="0">
            <a:spAutoFit/>
          </a:bodyPr>
          <a:lstStyle/>
          <a:p>
            <a:pPr algn="l"/>
            <a:r>
              <a:rPr sz="2000" b="1" i="0">
                <a:solidFill>
                  <a:srgbClr val="1A2233"/>
                </a:solidFill>
                <a:latin typeface="Cambria"/>
              </a:rPr>
              <a:t>11→19%</a:t>
            </a:r>
          </a:p>
        </p:txBody>
      </p:sp>
      <p:sp>
        <p:nvSpPr>
          <p:cNvPr id="35" name="TextBox 34"/>
          <p:cNvSpPr txBox="1"/>
          <p:nvPr/>
        </p:nvSpPr>
        <p:spPr>
          <a:xfrm>
            <a:off x="6537960" y="5138928"/>
            <a:ext cx="2240280" cy="457200"/>
          </a:xfrm>
          <a:prstGeom prst="rect">
            <a:avLst/>
          </a:prstGeom>
          <a:noFill/>
        </p:spPr>
        <p:txBody>
          <a:bodyPr wrap="square" lIns="0" rIns="0" tIns="0" bIns="0">
            <a:spAutoFit/>
          </a:bodyPr>
          <a:lstStyle/>
          <a:p>
            <a:pPr algn="l"/>
            <a:r>
              <a:rPr sz="850" b="0" i="0">
                <a:solidFill>
                  <a:srgbClr val="5A6478"/>
                </a:solidFill>
                <a:latin typeface="Calibri"/>
              </a:rPr>
              <a:t>six quarters, estimated (p. 74)</a:t>
            </a:r>
          </a:p>
        </p:txBody>
      </p:sp>
      <p:sp>
        <p:nvSpPr>
          <p:cNvPr id="36" name="Rounded Rectangle 35"/>
          <p:cNvSpPr/>
          <p:nvPr/>
        </p:nvSpPr>
        <p:spPr>
          <a:xfrm>
            <a:off x="9144000" y="4315968"/>
            <a:ext cx="2606040" cy="1335024"/>
          </a:xfrm>
          <a:prstGeom prst="roundRect">
            <a:avLst>
              <a:gd name="adj" fmla="val 8000"/>
            </a:avLst>
          </a:prstGeom>
          <a:solidFill>
            <a:srgbClr val="EAF1FE"/>
          </a:solidFill>
          <a:ln w="1270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26880" y="4434840"/>
            <a:ext cx="2240280" cy="201168"/>
          </a:xfrm>
          <a:prstGeom prst="rect">
            <a:avLst/>
          </a:prstGeom>
          <a:noFill/>
        </p:spPr>
        <p:txBody>
          <a:bodyPr wrap="square" lIns="0" rIns="0" tIns="0" bIns="0">
            <a:spAutoFit/>
          </a:bodyPr>
          <a:lstStyle/>
          <a:p>
            <a:pPr algn="l"/>
            <a:r>
              <a:rPr sz="850" b="1" i="0">
                <a:solidFill>
                  <a:srgbClr val="2777EF"/>
                </a:solidFill>
                <a:latin typeface="Calibri"/>
              </a:rPr>
              <a:t>SINCE CHATGPT</a:t>
            </a:r>
          </a:p>
        </p:txBody>
      </p:sp>
      <p:sp>
        <p:nvSpPr>
          <p:cNvPr id="38" name="TextBox 37"/>
          <p:cNvSpPr txBox="1"/>
          <p:nvPr/>
        </p:nvSpPr>
        <p:spPr>
          <a:xfrm>
            <a:off x="9326880" y="4663440"/>
            <a:ext cx="2240280" cy="420624"/>
          </a:xfrm>
          <a:prstGeom prst="rect">
            <a:avLst/>
          </a:prstGeom>
          <a:noFill/>
        </p:spPr>
        <p:txBody>
          <a:bodyPr wrap="square" lIns="0" rIns="0" tIns="0" bIns="0">
            <a:spAutoFit/>
          </a:bodyPr>
          <a:lstStyle/>
          <a:p>
            <a:pPr algn="l"/>
            <a:r>
              <a:rPr sz="2000" b="1" i="0">
                <a:solidFill>
                  <a:srgbClr val="1A2233"/>
                </a:solidFill>
                <a:latin typeface="Cambria"/>
              </a:rPr>
              <a:t>+218%</a:t>
            </a:r>
          </a:p>
        </p:txBody>
      </p:sp>
      <p:sp>
        <p:nvSpPr>
          <p:cNvPr id="39" name="TextBox 38"/>
          <p:cNvSpPr txBox="1"/>
          <p:nvPr/>
        </p:nvSpPr>
        <p:spPr>
          <a:xfrm>
            <a:off x="9326880" y="5138928"/>
            <a:ext cx="2240280" cy="457200"/>
          </a:xfrm>
          <a:prstGeom prst="rect">
            <a:avLst/>
          </a:prstGeom>
          <a:noFill/>
        </p:spPr>
        <p:txBody>
          <a:bodyPr wrap="square" lIns="0" rIns="0" tIns="0" bIns="0">
            <a:spAutoFit/>
          </a:bodyPr>
          <a:lstStyle/>
          <a:p>
            <a:pPr algn="l"/>
            <a:r>
              <a:rPr sz="850" b="0" i="0">
                <a:solidFill>
                  <a:srgbClr val="5A6478"/>
                </a:solidFill>
                <a:latin typeface="Calibri"/>
              </a:rPr>
              <a:t>equal-weighted — ahead of both layers since ChatGPT — no selection</a:t>
            </a:r>
          </a:p>
        </p:txBody>
      </p:sp>
      <p:sp>
        <p:nvSpPr>
          <p:cNvPr id="40" name="Rounded Rectangle 39"/>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No picks, no weights, no hindsight  </a:t>
            </a:r>
            <a:r>
              <a:rPr sz="1200">
                <a:solidFill>
                  <a:srgbClr val="1A2233"/>
                </a:solidFill>
                <a:latin typeface="Calibri"/>
              </a:rPr>
              <a:t> — one rule, three backend names: the thesis, stated as a measurable instrument.</a:t>
            </a:r>
          </a:p>
        </p:txBody>
      </p:sp>
      <p:sp>
        <p:nvSpPr>
          <p:cNvPr id="41" name="TextBox 4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42" name="TextBox 41"/>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70</a:t>
            </a:r>
          </a:p>
        </p:txBody>
      </p:sp>
      <p:sp>
        <p:nvSpPr>
          <p:cNvPr id="43" name="TextBox 4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classification per public pricing disclosures; blended aggregates from consensus (FMP) and fundamentals Jul 30; prices Aug 11, 2026. Return series: the 3 constituents, equal weight, rebalanced each December.</a:t>
            </a:r>
          </a:p>
        </p:txBody>
      </p:sp>
      <p:sp>
        <p:nvSpPr>
          <p:cNvPr id="44" name="TextBox 43"/>
          <p:cNvSpPr txBox="1"/>
          <p:nvPr/>
        </p:nvSpPr>
        <p:spPr>
          <a:xfrm>
            <a:off x="1051560" y="2706624"/>
            <a:ext cx="10058400" cy="256032"/>
          </a:xfrm>
          <a:prstGeom prst="rect">
            <a:avLst/>
          </a:prstGeom>
          <a:noFill/>
        </p:spPr>
        <p:txBody>
          <a:bodyPr wrap="square" lIns="0" rIns="0" tIns="0" bIns="0">
            <a:spAutoFit/>
          </a:bodyPr>
          <a:lstStyle/>
          <a:p>
            <a:pPr algn="l"/>
            <a:r>
              <a:rPr sz="850" b="0" i="1">
                <a:solidFill>
                  <a:srgbClr val="5A6478"/>
                </a:solidFill>
                <a:latin typeface="Calibri"/>
              </a:rPr>
              <a:t>Constituents (mechanical): Snowflake · MongoDB · Datadog. A research screen, not a portfolio or recommendation; inclusion is mechanical.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admission worksheet — every constituent, shown its work</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CONSUMPTION-REVENUE TEST, APPLIED TO THE BACKEND — DOCUMENTED WHERE DISCLOSED, STRUCTURAL WHERE NOT</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77240" y="6108192"/>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rule survives contact with the filings  — backend names that fail it stay out, however much we like the story. Re-graded quarterly.</a:t>
            </a:r>
            <a:r>
              <a:rPr sz="1200">
                <a:solidFill>
                  <a:srgbClr val="1A2233"/>
                </a:solidFill>
                <a:latin typeface="Calibri"/>
              </a:rPr>
              <a:t/>
            </a:r>
          </a:p>
        </p:txBody>
      </p:sp>
      <p:sp>
        <p:nvSpPr>
          <p:cNvPr id="48" name="TextBox 4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49" name="TextBox 4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71</a:t>
            </a:r>
          </a:p>
        </p:txBody>
      </p:sp>
      <p:sp>
        <p:nvSpPr>
          <p:cNvPr id="50" name="TextBox 49"/>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Shares per company filings and disclosures as noted; 'n/d — structural' = classification per billing structure described in filings. Skycatcher judgments; re-verified quarterly. Not a recommendation.</a:t>
            </a:r>
          </a:p>
        </p:txBody>
      </p:sp>
      <p:sp>
        <p:nvSpPr>
          <p:cNvPr id="51" name="TextBox 50"/>
          <p:cNvSpPr txBox="1"/>
          <p:nvPr/>
        </p:nvSpPr>
        <p:spPr>
          <a:xfrm>
            <a:off x="777240" y="1600200"/>
            <a:ext cx="1828800" cy="219456"/>
          </a:xfrm>
          <a:prstGeom prst="rect">
            <a:avLst/>
          </a:prstGeom>
          <a:noFill/>
        </p:spPr>
        <p:txBody>
          <a:bodyPr wrap="square" lIns="0" rIns="0" tIns="0" bIns="0">
            <a:spAutoFit/>
          </a:bodyPr>
          <a:lstStyle/>
          <a:p>
            <a:pPr algn="l"/>
            <a:r>
              <a:rPr sz="850" b="1">
                <a:solidFill>
                  <a:srgbClr val="8A97B0"/>
                </a:solidFill>
                <a:latin typeface="Segoe UI"/>
              </a:rPr>
              <a:t>CONSTITUENT</a:t>
            </a:r>
          </a:p>
        </p:txBody>
      </p:sp>
      <p:sp>
        <p:nvSpPr>
          <p:cNvPr id="52" name="TextBox 51"/>
          <p:cNvSpPr txBox="1"/>
          <p:nvPr/>
        </p:nvSpPr>
        <p:spPr>
          <a:xfrm>
            <a:off x="2697480" y="1600200"/>
            <a:ext cx="1645920" cy="219456"/>
          </a:xfrm>
          <a:prstGeom prst="rect">
            <a:avLst/>
          </a:prstGeom>
          <a:noFill/>
        </p:spPr>
        <p:txBody>
          <a:bodyPr wrap="square" lIns="0" rIns="0" tIns="0" bIns="0">
            <a:spAutoFit/>
          </a:bodyPr>
          <a:lstStyle/>
          <a:p>
            <a:pPr algn="l"/>
            <a:r>
              <a:rPr sz="850" b="1">
                <a:solidFill>
                  <a:srgbClr val="8A97B0"/>
                </a:solidFill>
                <a:latin typeface="Segoe UI"/>
              </a:rPr>
              <a:t>USAGE-LINKED SHARE</a:t>
            </a:r>
          </a:p>
        </p:txBody>
      </p:sp>
      <p:sp>
        <p:nvSpPr>
          <p:cNvPr id="53" name="TextBox 52"/>
          <p:cNvSpPr txBox="1"/>
          <p:nvPr/>
        </p:nvSpPr>
        <p:spPr>
          <a:xfrm>
            <a:off x="4526280" y="1600200"/>
            <a:ext cx="5120640" cy="219456"/>
          </a:xfrm>
          <a:prstGeom prst="rect">
            <a:avLst/>
          </a:prstGeom>
          <a:noFill/>
        </p:spPr>
        <p:txBody>
          <a:bodyPr wrap="square" lIns="0" rIns="0" tIns="0" bIns="0">
            <a:spAutoFit/>
          </a:bodyPr>
          <a:lstStyle/>
          <a:p>
            <a:pPr algn="l"/>
            <a:r>
              <a:rPr sz="850" b="1">
                <a:solidFill>
                  <a:srgbClr val="8A97B0"/>
                </a:solidFill>
                <a:latin typeface="Segoe UI"/>
              </a:rPr>
              <a:t>BASIS</a:t>
            </a:r>
          </a:p>
        </p:txBody>
      </p:sp>
      <p:sp>
        <p:nvSpPr>
          <p:cNvPr id="54" name="TextBox 53"/>
          <p:cNvSpPr txBox="1"/>
          <p:nvPr/>
        </p:nvSpPr>
        <p:spPr>
          <a:xfrm>
            <a:off x="9829800" y="1600200"/>
            <a:ext cx="1737360" cy="219456"/>
          </a:xfrm>
          <a:prstGeom prst="rect">
            <a:avLst/>
          </a:prstGeom>
          <a:noFill/>
        </p:spPr>
        <p:txBody>
          <a:bodyPr wrap="square" lIns="0" rIns="0" tIns="0" bIns="0">
            <a:spAutoFit/>
          </a:bodyPr>
          <a:lstStyle/>
          <a:p>
            <a:pPr algn="l"/>
            <a:r>
              <a:rPr sz="850" b="1">
                <a:solidFill>
                  <a:srgbClr val="8A97B0"/>
                </a:solidFill>
                <a:latin typeface="Segoe UI"/>
              </a:rPr>
              <a:t>CONFIDENCE</a:t>
            </a:r>
          </a:p>
        </p:txBody>
      </p:sp>
      <p:sp>
        <p:nvSpPr>
          <p:cNvPr id="55" name="Rounded Rectangle 54"/>
          <p:cNvSpPr/>
          <p:nvPr/>
        </p:nvSpPr>
        <p:spPr>
          <a:xfrm>
            <a:off x="777240" y="1883664"/>
            <a:ext cx="10954512" cy="603504"/>
          </a:xfrm>
          <a:prstGeom prst="roundRect">
            <a:avLst>
              <a:gd name="adj" fmla="val 15000"/>
            </a:avLst>
          </a:prstGeom>
          <a:solidFill>
            <a:srgbClr val="EAF1FE"/>
          </a:solidFill>
          <a:ln w="952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 y="2011680"/>
            <a:ext cx="1737360" cy="274320"/>
          </a:xfrm>
          <a:prstGeom prst="rect">
            <a:avLst/>
          </a:prstGeom>
          <a:noFill/>
        </p:spPr>
        <p:txBody>
          <a:bodyPr wrap="square" lIns="0" rIns="0" tIns="0" bIns="0">
            <a:spAutoFit/>
          </a:bodyPr>
          <a:lstStyle/>
          <a:p>
            <a:pPr algn="l"/>
            <a:r>
              <a:rPr sz="1100" b="1">
                <a:solidFill>
                  <a:srgbClr val="1A2233"/>
                </a:solidFill>
                <a:latin typeface="Segoe UI"/>
              </a:rPr>
              <a:t>Snowflake</a:t>
            </a:r>
          </a:p>
        </p:txBody>
      </p:sp>
      <p:sp>
        <p:nvSpPr>
          <p:cNvPr id="57" name="TextBox 56"/>
          <p:cNvSpPr txBox="1"/>
          <p:nvPr/>
        </p:nvSpPr>
        <p:spPr>
          <a:xfrm>
            <a:off x="2697480" y="2020824"/>
            <a:ext cx="1737360" cy="274320"/>
          </a:xfrm>
          <a:prstGeom prst="rect">
            <a:avLst/>
          </a:prstGeom>
          <a:noFill/>
        </p:spPr>
        <p:txBody>
          <a:bodyPr wrap="square" lIns="0" rIns="0" tIns="0" bIns="0">
            <a:spAutoFit/>
          </a:bodyPr>
          <a:lstStyle/>
          <a:p>
            <a:pPr algn="l"/>
            <a:r>
              <a:rPr sz="1050" b="1">
                <a:solidFill>
                  <a:srgbClr val="2777EF"/>
                </a:solidFill>
                <a:latin typeface="Segoe UI"/>
              </a:rPr>
              <a:t>~95%</a:t>
            </a:r>
          </a:p>
        </p:txBody>
      </p:sp>
      <p:sp>
        <p:nvSpPr>
          <p:cNvPr id="58" name="TextBox 57"/>
          <p:cNvSpPr txBox="1"/>
          <p:nvPr/>
        </p:nvSpPr>
        <p:spPr>
          <a:xfrm>
            <a:off x="4526280" y="1975104"/>
            <a:ext cx="5120640" cy="530352"/>
          </a:xfrm>
          <a:prstGeom prst="rect">
            <a:avLst/>
          </a:prstGeom>
          <a:noFill/>
        </p:spPr>
        <p:txBody>
          <a:bodyPr wrap="square" lIns="0" rIns="0" tIns="0" bIns="0">
            <a:spAutoFit/>
          </a:bodyPr>
          <a:lstStyle/>
          <a:p>
            <a:pPr algn="l"/>
            <a:r>
              <a:rPr sz="900" b="0">
                <a:solidFill>
                  <a:srgbClr val="5A6478"/>
                </a:solidFill>
                <a:latin typeface="Segoe UI"/>
              </a:rPr>
              <a:t>product revenue recognized as credits are consumed (10-K rev-rec note)</a:t>
            </a:r>
          </a:p>
        </p:txBody>
      </p:sp>
      <p:sp>
        <p:nvSpPr>
          <p:cNvPr id="59" name="TextBox 58"/>
          <p:cNvSpPr txBox="1"/>
          <p:nvPr/>
        </p:nvSpPr>
        <p:spPr>
          <a:xfrm>
            <a:off x="9829800" y="2020824"/>
            <a:ext cx="1737360" cy="274320"/>
          </a:xfrm>
          <a:prstGeom prst="rect">
            <a:avLst/>
          </a:prstGeom>
          <a:noFill/>
        </p:spPr>
        <p:txBody>
          <a:bodyPr wrap="square" lIns="0" rIns="0" tIns="0" bIns="0">
            <a:spAutoFit/>
          </a:bodyPr>
          <a:lstStyle/>
          <a:p>
            <a:pPr algn="l"/>
            <a:r>
              <a:rPr sz="950" b="1">
                <a:solidFill>
                  <a:srgbClr val="5A6478"/>
                </a:solidFill>
                <a:latin typeface="Segoe UI"/>
              </a:rPr>
              <a:t>HIGH</a:t>
            </a:r>
          </a:p>
        </p:txBody>
      </p:sp>
      <p:sp>
        <p:nvSpPr>
          <p:cNvPr id="60" name="Rounded Rectangle 59"/>
          <p:cNvSpPr/>
          <p:nvPr/>
        </p:nvSpPr>
        <p:spPr>
          <a:xfrm>
            <a:off x="777240" y="2615184"/>
            <a:ext cx="10954512" cy="603504"/>
          </a:xfrm>
          <a:prstGeom prst="roundRect">
            <a:avLst>
              <a:gd name="adj" fmla="val 15000"/>
            </a:avLst>
          </a:prstGeom>
          <a:solidFill>
            <a:srgbClr val="EAF1FE"/>
          </a:solidFill>
          <a:ln w="952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14400" y="2743200"/>
            <a:ext cx="1737360" cy="274320"/>
          </a:xfrm>
          <a:prstGeom prst="rect">
            <a:avLst/>
          </a:prstGeom>
          <a:noFill/>
        </p:spPr>
        <p:txBody>
          <a:bodyPr wrap="square" lIns="0" rIns="0" tIns="0" bIns="0">
            <a:spAutoFit/>
          </a:bodyPr>
          <a:lstStyle/>
          <a:p>
            <a:pPr algn="l"/>
            <a:r>
              <a:rPr sz="1100" b="1">
                <a:solidFill>
                  <a:srgbClr val="1A2233"/>
                </a:solidFill>
                <a:latin typeface="Segoe UI"/>
              </a:rPr>
              <a:t>MongoDB</a:t>
            </a:r>
          </a:p>
        </p:txBody>
      </p:sp>
      <p:sp>
        <p:nvSpPr>
          <p:cNvPr id="62" name="TextBox 61"/>
          <p:cNvSpPr txBox="1"/>
          <p:nvPr/>
        </p:nvSpPr>
        <p:spPr>
          <a:xfrm>
            <a:off x="2697480" y="2752344"/>
            <a:ext cx="1737360" cy="274320"/>
          </a:xfrm>
          <a:prstGeom prst="rect">
            <a:avLst/>
          </a:prstGeom>
          <a:noFill/>
        </p:spPr>
        <p:txBody>
          <a:bodyPr wrap="square" lIns="0" rIns="0" tIns="0" bIns="0">
            <a:spAutoFit/>
          </a:bodyPr>
          <a:lstStyle/>
          <a:p>
            <a:pPr algn="l"/>
            <a:r>
              <a:rPr sz="1050" b="1">
                <a:solidFill>
                  <a:srgbClr val="2777EF"/>
                </a:solidFill>
                <a:latin typeface="Segoe UI"/>
              </a:rPr>
              <a:t>73%</a:t>
            </a:r>
          </a:p>
        </p:txBody>
      </p:sp>
      <p:sp>
        <p:nvSpPr>
          <p:cNvPr id="63" name="TextBox 62"/>
          <p:cNvSpPr txBox="1"/>
          <p:nvPr/>
        </p:nvSpPr>
        <p:spPr>
          <a:xfrm>
            <a:off x="4526280" y="2706624"/>
            <a:ext cx="5120640" cy="530352"/>
          </a:xfrm>
          <a:prstGeom prst="rect">
            <a:avLst/>
          </a:prstGeom>
          <a:noFill/>
        </p:spPr>
        <p:txBody>
          <a:bodyPr wrap="square" lIns="0" rIns="0" tIns="0" bIns="0">
            <a:spAutoFit/>
          </a:bodyPr>
          <a:lstStyle/>
          <a:p>
            <a:pPr algn="l"/>
            <a:r>
              <a:rPr sz="900" b="0">
                <a:solidFill>
                  <a:srgbClr val="5A6478"/>
                </a:solidFill>
                <a:latin typeface="Segoe UI"/>
              </a:rPr>
              <a:t>Atlas share of FY26 revenue, per 10-K segmentation; Atlas recognized on usage</a:t>
            </a:r>
          </a:p>
        </p:txBody>
      </p:sp>
      <p:sp>
        <p:nvSpPr>
          <p:cNvPr id="64" name="TextBox 63"/>
          <p:cNvSpPr txBox="1"/>
          <p:nvPr/>
        </p:nvSpPr>
        <p:spPr>
          <a:xfrm>
            <a:off x="9829800" y="2752344"/>
            <a:ext cx="1737360" cy="274320"/>
          </a:xfrm>
          <a:prstGeom prst="rect">
            <a:avLst/>
          </a:prstGeom>
          <a:noFill/>
        </p:spPr>
        <p:txBody>
          <a:bodyPr wrap="square" lIns="0" rIns="0" tIns="0" bIns="0">
            <a:spAutoFit/>
          </a:bodyPr>
          <a:lstStyle/>
          <a:p>
            <a:pPr algn="l"/>
            <a:r>
              <a:rPr sz="950" b="1">
                <a:solidFill>
                  <a:srgbClr val="5A6478"/>
                </a:solidFill>
                <a:latin typeface="Segoe UI"/>
              </a:rPr>
              <a:t>HIGH</a:t>
            </a:r>
          </a:p>
        </p:txBody>
      </p:sp>
      <p:sp>
        <p:nvSpPr>
          <p:cNvPr id="65" name="Rounded Rectangle 64"/>
          <p:cNvSpPr/>
          <p:nvPr/>
        </p:nvSpPr>
        <p:spPr>
          <a:xfrm>
            <a:off x="777240" y="3346704"/>
            <a:ext cx="10954512" cy="603504"/>
          </a:xfrm>
          <a:prstGeom prst="roundRect">
            <a:avLst>
              <a:gd name="adj" fmla="val 15000"/>
            </a:avLst>
          </a:prstGeom>
          <a:solidFill>
            <a:srgbClr val="EAF1FE"/>
          </a:solidFill>
          <a:ln w="952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4400" y="3474720"/>
            <a:ext cx="1737360" cy="274320"/>
          </a:xfrm>
          <a:prstGeom prst="rect">
            <a:avLst/>
          </a:prstGeom>
          <a:noFill/>
        </p:spPr>
        <p:txBody>
          <a:bodyPr wrap="square" lIns="0" rIns="0" tIns="0" bIns="0">
            <a:spAutoFit/>
          </a:bodyPr>
          <a:lstStyle/>
          <a:p>
            <a:pPr algn="l"/>
            <a:r>
              <a:rPr sz="1100" b="1">
                <a:solidFill>
                  <a:srgbClr val="1A2233"/>
                </a:solidFill>
                <a:latin typeface="Segoe UI"/>
              </a:rPr>
              <a:t>Datadog</a:t>
            </a:r>
          </a:p>
        </p:txBody>
      </p:sp>
      <p:sp>
        <p:nvSpPr>
          <p:cNvPr id="67" name="TextBox 66"/>
          <p:cNvSpPr txBox="1"/>
          <p:nvPr/>
        </p:nvSpPr>
        <p:spPr>
          <a:xfrm>
            <a:off x="2697480" y="3483864"/>
            <a:ext cx="1737360" cy="274320"/>
          </a:xfrm>
          <a:prstGeom prst="rect">
            <a:avLst/>
          </a:prstGeom>
          <a:noFill/>
        </p:spPr>
        <p:txBody>
          <a:bodyPr wrap="square" lIns="0" rIns="0" tIns="0" bIns="0">
            <a:spAutoFit/>
          </a:bodyPr>
          <a:lstStyle/>
          <a:p>
            <a:pPr algn="l"/>
            <a:r>
              <a:rPr sz="1050" b="1">
                <a:solidFill>
                  <a:srgbClr val="2777EF"/>
                </a:solidFill>
                <a:latin typeface="Segoe UI"/>
              </a:rPr>
              <a:t>n/d — structural</a:t>
            </a:r>
          </a:p>
        </p:txBody>
      </p:sp>
      <p:sp>
        <p:nvSpPr>
          <p:cNvPr id="68" name="TextBox 67"/>
          <p:cNvSpPr txBox="1"/>
          <p:nvPr/>
        </p:nvSpPr>
        <p:spPr>
          <a:xfrm>
            <a:off x="4526280" y="3438144"/>
            <a:ext cx="5120640" cy="530352"/>
          </a:xfrm>
          <a:prstGeom prst="rect">
            <a:avLst/>
          </a:prstGeom>
          <a:noFill/>
        </p:spPr>
        <p:txBody>
          <a:bodyPr wrap="square" lIns="0" rIns="0" tIns="0" bIns="0">
            <a:spAutoFit/>
          </a:bodyPr>
          <a:lstStyle/>
          <a:p>
            <a:pPr algn="l"/>
            <a:r>
              <a:rPr sz="900" b="0">
                <a:solidFill>
                  <a:srgbClr val="5A6478"/>
                </a:solidFill>
                <a:latin typeface="Segoe UI"/>
              </a:rPr>
              <a:t>committed amounts drawn down by measured units + on-demand; revenue moves with usage in-quarter</a:t>
            </a:r>
          </a:p>
        </p:txBody>
      </p:sp>
      <p:sp>
        <p:nvSpPr>
          <p:cNvPr id="69" name="TextBox 68"/>
          <p:cNvSpPr txBox="1"/>
          <p:nvPr/>
        </p:nvSpPr>
        <p:spPr>
          <a:xfrm>
            <a:off x="9829800" y="3483864"/>
            <a:ext cx="1737360" cy="274320"/>
          </a:xfrm>
          <a:prstGeom prst="rect">
            <a:avLst/>
          </a:prstGeom>
          <a:noFill/>
        </p:spPr>
        <p:txBody>
          <a:bodyPr wrap="square" lIns="0" rIns="0" tIns="0" bIns="0">
            <a:spAutoFit/>
          </a:bodyPr>
          <a:lstStyle/>
          <a:p>
            <a:pPr algn="l"/>
            <a:r>
              <a:rPr sz="950" b="1">
                <a:solidFill>
                  <a:srgbClr val="5A6478"/>
                </a:solidFill>
                <a:latin typeface="Segoe UI"/>
              </a:rPr>
              <a:t>MODERATE-HIGH</a:t>
            </a:r>
          </a:p>
        </p:txBody>
      </p:sp>
      <p:sp>
        <p:nvSpPr>
          <p:cNvPr id="70" name="TextBox 69"/>
          <p:cNvSpPr txBox="1"/>
          <p:nvPr/>
        </p:nvSpPr>
        <p:spPr>
          <a:xfrm>
            <a:off x="777240" y="4315968"/>
            <a:ext cx="10954512" cy="502920"/>
          </a:xfrm>
          <a:prstGeom prst="rect">
            <a:avLst/>
          </a:prstGeom>
          <a:noFill/>
        </p:spPr>
        <p:txBody>
          <a:bodyPr wrap="square" lIns="0" rIns="0" tIns="0" bIns="0">
            <a:spAutoFit/>
          </a:bodyPr>
          <a:lstStyle/>
          <a:p>
            <a:pPr algn="l"/>
            <a:r>
              <a:rPr sz="900" b="0">
                <a:solidFill>
                  <a:srgbClr val="5A6478"/>
                </a:solidFill>
                <a:latin typeface="Segoe UI"/>
              </a:rPr>
              <a:t>CONFIDENCE BAR — Fastly: structurally usage-billed (arrears traffic billing), but packaged bundles dilute the mix and no percentage is disclosed — below the bar; converter watch.  DigitalOcean: reclassified to L0 (metered compute/systems) — outside the software universe.</a:t>
            </a:r>
          </a:p>
        </p:txBody>
      </p:sp>
      <p:sp>
        <p:nvSpPr>
          <p:cNvPr id="71" name="TextBox 70"/>
          <p:cNvSpPr txBox="1"/>
          <p:nvPr/>
        </p:nvSpPr>
        <p:spPr>
          <a:xfrm>
            <a:off x="777240" y="4956048"/>
            <a:ext cx="10954512" cy="274320"/>
          </a:xfrm>
          <a:prstGeom prst="rect">
            <a:avLst/>
          </a:prstGeom>
          <a:noFill/>
        </p:spPr>
        <p:txBody>
          <a:bodyPr wrap="square" lIns="0" rIns="0" tIns="0" bIns="0">
            <a:spAutoFit/>
          </a:bodyPr>
          <a:lstStyle/>
          <a:p>
            <a:pPr algn="l"/>
            <a:r>
              <a:rPr sz="900" b="0">
                <a:solidFill>
                  <a:srgbClr val="5A6478"/>
                </a:solidFill>
                <a:latin typeface="Segoe UI"/>
              </a:rPr>
              <a:t>WORKSITE RAILS — pass the billing test, sit outside the backend:  Twilio (~70–75% usage, 10-K) · Bandwidth (~65–75%, structural) — tracked as worksite meters, not constituents.</a:t>
            </a:r>
          </a:p>
        </p:txBody>
      </p:sp>
      <p:sp>
        <p:nvSpPr>
          <p:cNvPr id="72" name="TextBox 71"/>
          <p:cNvSpPr txBox="1"/>
          <p:nvPr/>
        </p:nvSpPr>
        <p:spPr>
          <a:xfrm>
            <a:off x="777240" y="5358384"/>
            <a:ext cx="10954512" cy="502920"/>
          </a:xfrm>
          <a:prstGeom prst="rect">
            <a:avLst/>
          </a:prstGeom>
          <a:noFill/>
        </p:spPr>
        <p:txBody>
          <a:bodyPr wrap="square" lIns="0" rIns="0" tIns="0" bIns="0">
            <a:spAutoFit/>
          </a:bodyPr>
          <a:lstStyle/>
          <a:p>
            <a:pPr algn="l"/>
            <a:r>
              <a:rPr sz="900" b="0">
                <a:solidFill>
                  <a:srgbClr val="8A97B0"/>
                </a:solidFill>
                <a:latin typeface="Segoe UI"/>
              </a:rPr>
              <a:t>EXCLUDED — Cloudflare (10-K: revenue primarily subscription) · Amplitude (volume-tiered subscriptions, ratable) · Akamai (usage ≈ 40–45%) · Elastic (cloud ~46–48%, below majority) · Nutanix (systems platform, subscription-billed). All remain in the layer analysis; none meets the rule today.</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three, briefly: what each meters when an agent works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CONSTITUENTS — METER, TAPE, AND AGENT LINKAGE · FACTS FROM FILINGS; NOT RECOMMENDATIONS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49" name="TextBox 4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72</a:t>
            </a:r>
          </a:p>
        </p:txBody>
      </p:sp>
      <p:sp>
        <p:nvSpPr>
          <p:cNvPr id="50" name="TextBox 49"/>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Growth = latest quarter y/y; FCF margin = LTM (filings via FMP, quarters to Jun 2026). Usage shares per the admission worksheet (prev. slide). Descriptive only.</a:t>
            </a:r>
          </a:p>
        </p:txBody>
      </p:sp>
      <p:sp>
        <p:nvSpPr>
          <p:cNvPr id="51" name="Rounded Rectangle 50"/>
          <p:cNvSpPr/>
          <p:nvPr/>
        </p:nvSpPr>
        <p:spPr>
          <a:xfrm>
            <a:off x="777240" y="1627632"/>
            <a:ext cx="10954512" cy="1316736"/>
          </a:xfrm>
          <a:prstGeom prst="roundRect">
            <a:avLst>
              <a:gd name="adj" fmla="val 8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5840" y="1755648"/>
            <a:ext cx="2194560" cy="292608"/>
          </a:xfrm>
          <a:prstGeom prst="rect">
            <a:avLst/>
          </a:prstGeom>
          <a:noFill/>
        </p:spPr>
        <p:txBody>
          <a:bodyPr wrap="square" lIns="0" rIns="0" tIns="0" bIns="0">
            <a:spAutoFit/>
          </a:bodyPr>
          <a:lstStyle/>
          <a:p>
            <a:pPr algn="l"/>
            <a:r>
              <a:rPr sz="1400" b="1">
                <a:solidFill>
                  <a:srgbClr val="1A2233"/>
                </a:solidFill>
                <a:latin typeface="Segoe UI"/>
              </a:rPr>
              <a:t>Snowflake</a:t>
            </a:r>
          </a:p>
        </p:txBody>
      </p:sp>
      <p:sp>
        <p:nvSpPr>
          <p:cNvPr id="53" name="TextBox 52"/>
          <p:cNvSpPr txBox="1"/>
          <p:nvPr/>
        </p:nvSpPr>
        <p:spPr>
          <a:xfrm>
            <a:off x="1005840" y="2103120"/>
            <a:ext cx="2194560" cy="237744"/>
          </a:xfrm>
          <a:prstGeom prst="rect">
            <a:avLst/>
          </a:prstGeom>
          <a:noFill/>
        </p:spPr>
        <p:txBody>
          <a:bodyPr wrap="square" lIns="0" rIns="0" tIns="0" bIns="0">
            <a:spAutoFit/>
          </a:bodyPr>
          <a:lstStyle/>
          <a:p>
            <a:pPr algn="l"/>
            <a:r>
              <a:rPr sz="850" b="1">
                <a:solidFill>
                  <a:srgbClr val="0B8BB5"/>
                </a:solidFill>
                <a:latin typeface="Segoe UI"/>
              </a:rPr>
              <a:t>L2 · ANALYTICAL STATE</a:t>
            </a:r>
          </a:p>
        </p:txBody>
      </p:sp>
      <p:sp>
        <p:nvSpPr>
          <p:cNvPr id="54" name="TextBox 53"/>
          <p:cNvSpPr txBox="1"/>
          <p:nvPr/>
        </p:nvSpPr>
        <p:spPr>
          <a:xfrm>
            <a:off x="1005840" y="2414016"/>
            <a:ext cx="2194560" cy="274320"/>
          </a:xfrm>
          <a:prstGeom prst="rect">
            <a:avLst/>
          </a:prstGeom>
          <a:noFill/>
        </p:spPr>
        <p:txBody>
          <a:bodyPr wrap="square" lIns="0" rIns="0" tIns="0" bIns="0">
            <a:spAutoFit/>
          </a:bodyPr>
          <a:lstStyle/>
          <a:p>
            <a:pPr algn="l"/>
            <a:r>
              <a:rPr sz="950" b="1">
                <a:solidFill>
                  <a:srgbClr val="2777EF"/>
                </a:solidFill>
                <a:latin typeface="Segoe UI"/>
              </a:rPr>
              <a:t>+33% y/y · ~23% FCF</a:t>
            </a:r>
          </a:p>
        </p:txBody>
      </p:sp>
      <p:sp>
        <p:nvSpPr>
          <p:cNvPr id="55" name="TextBox 54"/>
          <p:cNvSpPr txBox="1"/>
          <p:nvPr/>
        </p:nvSpPr>
        <p:spPr>
          <a:xfrm>
            <a:off x="3383280" y="1755648"/>
            <a:ext cx="3977639" cy="201168"/>
          </a:xfrm>
          <a:prstGeom prst="rect">
            <a:avLst/>
          </a:prstGeom>
          <a:noFill/>
        </p:spPr>
        <p:txBody>
          <a:bodyPr wrap="square" lIns="0" rIns="0" tIns="0" bIns="0">
            <a:spAutoFit/>
          </a:bodyPr>
          <a:lstStyle/>
          <a:p>
            <a:pPr algn="l"/>
            <a:r>
              <a:rPr sz="800" b="1">
                <a:solidFill>
                  <a:srgbClr val="8A97B0"/>
                </a:solidFill>
                <a:latin typeface="Segoe UI"/>
              </a:rPr>
              <a:t>THE METER</a:t>
            </a:r>
          </a:p>
        </p:txBody>
      </p:sp>
      <p:sp>
        <p:nvSpPr>
          <p:cNvPr id="56" name="TextBox 55"/>
          <p:cNvSpPr txBox="1"/>
          <p:nvPr/>
        </p:nvSpPr>
        <p:spPr>
          <a:xfrm>
            <a:off x="3383280" y="1975104"/>
            <a:ext cx="3977639" cy="914400"/>
          </a:xfrm>
          <a:prstGeom prst="rect">
            <a:avLst/>
          </a:prstGeom>
          <a:noFill/>
        </p:spPr>
        <p:txBody>
          <a:bodyPr wrap="square" lIns="0" rIns="0" tIns="0" bIns="0">
            <a:spAutoFit/>
          </a:bodyPr>
          <a:lstStyle/>
          <a:p>
            <a:pPr algn="l"/>
            <a:r>
              <a:rPr sz="950" b="0">
                <a:solidFill>
                  <a:srgbClr val="5A6478"/>
                </a:solidFill>
                <a:latin typeface="Segoe UI"/>
              </a:rPr>
              <a:t>compute credits consumed per query, job and pipeline — ~95% of product revenue recognized on consumption</a:t>
            </a:r>
          </a:p>
        </p:txBody>
      </p:sp>
      <p:sp>
        <p:nvSpPr>
          <p:cNvPr id="57" name="TextBox 56"/>
          <p:cNvSpPr txBox="1"/>
          <p:nvPr/>
        </p:nvSpPr>
        <p:spPr>
          <a:xfrm>
            <a:off x="7589520" y="1755648"/>
            <a:ext cx="3931920" cy="201168"/>
          </a:xfrm>
          <a:prstGeom prst="rect">
            <a:avLst/>
          </a:prstGeom>
          <a:noFill/>
        </p:spPr>
        <p:txBody>
          <a:bodyPr wrap="square" lIns="0" rIns="0" tIns="0" bIns="0">
            <a:spAutoFit/>
          </a:bodyPr>
          <a:lstStyle/>
          <a:p>
            <a:pPr algn="l"/>
            <a:r>
              <a:rPr sz="800" b="1">
                <a:solidFill>
                  <a:srgbClr val="8A97B0"/>
                </a:solidFill>
                <a:latin typeface="Segoe UI"/>
              </a:rPr>
              <a:t>WHEN AN AGENT WORKS</a:t>
            </a:r>
          </a:p>
        </p:txBody>
      </p:sp>
      <p:sp>
        <p:nvSpPr>
          <p:cNvPr id="58" name="TextBox 57"/>
          <p:cNvSpPr txBox="1"/>
          <p:nvPr/>
        </p:nvSpPr>
        <p:spPr>
          <a:xfrm>
            <a:off x="7589520" y="1975104"/>
            <a:ext cx="3931920" cy="914400"/>
          </a:xfrm>
          <a:prstGeom prst="rect">
            <a:avLst/>
          </a:prstGeom>
          <a:noFill/>
        </p:spPr>
        <p:txBody>
          <a:bodyPr wrap="square" lIns="0" rIns="0" tIns="0" bIns="0">
            <a:spAutoFit/>
          </a:bodyPr>
          <a:lstStyle/>
          <a:p>
            <a:pPr algn="l"/>
            <a:r>
              <a:rPr sz="950" b="0">
                <a:solidFill>
                  <a:srgbClr val="5A6478"/>
                </a:solidFill>
                <a:latin typeface="Segoe UI"/>
              </a:rPr>
              <a:t>Agents query governed data to reason. Every retrieval, transformation and model call against the warehouse is billed compute — thinking, metered.</a:t>
            </a:r>
          </a:p>
        </p:txBody>
      </p:sp>
      <p:sp>
        <p:nvSpPr>
          <p:cNvPr id="59" name="Rounded Rectangle 58"/>
          <p:cNvSpPr/>
          <p:nvPr/>
        </p:nvSpPr>
        <p:spPr>
          <a:xfrm>
            <a:off x="777240" y="3072384"/>
            <a:ext cx="10954512" cy="1316736"/>
          </a:xfrm>
          <a:prstGeom prst="roundRect">
            <a:avLst>
              <a:gd name="adj" fmla="val 8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5840" y="3200400"/>
            <a:ext cx="2194560" cy="292608"/>
          </a:xfrm>
          <a:prstGeom prst="rect">
            <a:avLst/>
          </a:prstGeom>
          <a:noFill/>
        </p:spPr>
        <p:txBody>
          <a:bodyPr wrap="square" lIns="0" rIns="0" tIns="0" bIns="0">
            <a:spAutoFit/>
          </a:bodyPr>
          <a:lstStyle/>
          <a:p>
            <a:pPr algn="l"/>
            <a:r>
              <a:rPr sz="1400" b="1">
                <a:solidFill>
                  <a:srgbClr val="1A2233"/>
                </a:solidFill>
                <a:latin typeface="Segoe UI"/>
              </a:rPr>
              <a:t>MongoDB</a:t>
            </a:r>
          </a:p>
        </p:txBody>
      </p:sp>
      <p:sp>
        <p:nvSpPr>
          <p:cNvPr id="61" name="TextBox 60"/>
          <p:cNvSpPr txBox="1"/>
          <p:nvPr/>
        </p:nvSpPr>
        <p:spPr>
          <a:xfrm>
            <a:off x="1005840" y="3547872"/>
            <a:ext cx="2194560" cy="237744"/>
          </a:xfrm>
          <a:prstGeom prst="rect">
            <a:avLst/>
          </a:prstGeom>
          <a:noFill/>
        </p:spPr>
        <p:txBody>
          <a:bodyPr wrap="square" lIns="0" rIns="0" tIns="0" bIns="0">
            <a:spAutoFit/>
          </a:bodyPr>
          <a:lstStyle/>
          <a:p>
            <a:pPr algn="l"/>
            <a:r>
              <a:rPr sz="850" b="1">
                <a:solidFill>
                  <a:srgbClr val="0B8BB5"/>
                </a:solidFill>
                <a:latin typeface="Segoe UI"/>
              </a:rPr>
              <a:t>L2 · OPERATIONAL STATE</a:t>
            </a:r>
          </a:p>
        </p:txBody>
      </p:sp>
      <p:sp>
        <p:nvSpPr>
          <p:cNvPr id="62" name="TextBox 61"/>
          <p:cNvSpPr txBox="1"/>
          <p:nvPr/>
        </p:nvSpPr>
        <p:spPr>
          <a:xfrm>
            <a:off x="1005840" y="3858768"/>
            <a:ext cx="2194560" cy="274320"/>
          </a:xfrm>
          <a:prstGeom prst="rect">
            <a:avLst/>
          </a:prstGeom>
          <a:noFill/>
        </p:spPr>
        <p:txBody>
          <a:bodyPr wrap="square" lIns="0" rIns="0" tIns="0" bIns="0">
            <a:spAutoFit/>
          </a:bodyPr>
          <a:lstStyle/>
          <a:p>
            <a:pPr algn="l"/>
            <a:r>
              <a:rPr sz="950" b="1">
                <a:solidFill>
                  <a:srgbClr val="2777EF"/>
                </a:solidFill>
                <a:latin typeface="Segoe UI"/>
              </a:rPr>
              <a:t>+25% y/y · ~23% FCF</a:t>
            </a:r>
          </a:p>
        </p:txBody>
      </p:sp>
      <p:sp>
        <p:nvSpPr>
          <p:cNvPr id="63" name="TextBox 62"/>
          <p:cNvSpPr txBox="1"/>
          <p:nvPr/>
        </p:nvSpPr>
        <p:spPr>
          <a:xfrm>
            <a:off x="3383280" y="3200400"/>
            <a:ext cx="3977639" cy="201168"/>
          </a:xfrm>
          <a:prstGeom prst="rect">
            <a:avLst/>
          </a:prstGeom>
          <a:noFill/>
        </p:spPr>
        <p:txBody>
          <a:bodyPr wrap="square" lIns="0" rIns="0" tIns="0" bIns="0">
            <a:spAutoFit/>
          </a:bodyPr>
          <a:lstStyle/>
          <a:p>
            <a:pPr algn="l"/>
            <a:r>
              <a:rPr sz="800" b="1">
                <a:solidFill>
                  <a:srgbClr val="8A97B0"/>
                </a:solidFill>
                <a:latin typeface="Segoe UI"/>
              </a:rPr>
              <a:t>THE METER</a:t>
            </a:r>
          </a:p>
        </p:txBody>
      </p:sp>
      <p:sp>
        <p:nvSpPr>
          <p:cNvPr id="64" name="TextBox 63"/>
          <p:cNvSpPr txBox="1"/>
          <p:nvPr/>
        </p:nvSpPr>
        <p:spPr>
          <a:xfrm>
            <a:off x="3383280" y="3419856"/>
            <a:ext cx="3977639" cy="914400"/>
          </a:xfrm>
          <a:prstGeom prst="rect">
            <a:avLst/>
          </a:prstGeom>
          <a:noFill/>
        </p:spPr>
        <p:txBody>
          <a:bodyPr wrap="square" lIns="0" rIns="0" tIns="0" bIns="0">
            <a:spAutoFit/>
          </a:bodyPr>
          <a:lstStyle/>
          <a:p>
            <a:pPr algn="l"/>
            <a:r>
              <a:rPr sz="950" b="0">
                <a:solidFill>
                  <a:srgbClr val="5A6478"/>
                </a:solidFill>
                <a:latin typeface="Segoe UI"/>
              </a:rPr>
              <a:t>Atlas consumption — 73% of revenue, recognized as usage</a:t>
            </a:r>
          </a:p>
        </p:txBody>
      </p:sp>
      <p:sp>
        <p:nvSpPr>
          <p:cNvPr id="65" name="TextBox 64"/>
          <p:cNvSpPr txBox="1"/>
          <p:nvPr/>
        </p:nvSpPr>
        <p:spPr>
          <a:xfrm>
            <a:off x="7589520" y="3200400"/>
            <a:ext cx="3931920" cy="201168"/>
          </a:xfrm>
          <a:prstGeom prst="rect">
            <a:avLst/>
          </a:prstGeom>
          <a:noFill/>
        </p:spPr>
        <p:txBody>
          <a:bodyPr wrap="square" lIns="0" rIns="0" tIns="0" bIns="0">
            <a:spAutoFit/>
          </a:bodyPr>
          <a:lstStyle/>
          <a:p>
            <a:pPr algn="l"/>
            <a:r>
              <a:rPr sz="800" b="1">
                <a:solidFill>
                  <a:srgbClr val="8A97B0"/>
                </a:solidFill>
                <a:latin typeface="Segoe UI"/>
              </a:rPr>
              <a:t>WHEN AN AGENT WORKS</a:t>
            </a:r>
          </a:p>
        </p:txBody>
      </p:sp>
      <p:sp>
        <p:nvSpPr>
          <p:cNvPr id="66" name="TextBox 65"/>
          <p:cNvSpPr txBox="1"/>
          <p:nvPr/>
        </p:nvSpPr>
        <p:spPr>
          <a:xfrm>
            <a:off x="7589520" y="3419856"/>
            <a:ext cx="3931920" cy="914400"/>
          </a:xfrm>
          <a:prstGeom prst="rect">
            <a:avLst/>
          </a:prstGeom>
          <a:noFill/>
        </p:spPr>
        <p:txBody>
          <a:bodyPr wrap="square" lIns="0" rIns="0" tIns="0" bIns="0">
            <a:spAutoFit/>
          </a:bodyPr>
          <a:lstStyle/>
          <a:p>
            <a:pPr algn="l"/>
            <a:r>
              <a:rPr sz="950" b="0">
                <a:solidFill>
                  <a:srgbClr val="5A6478"/>
                </a:solidFill>
                <a:latin typeface="Segoe UI"/>
              </a:rPr>
              <a:t>Agents write state. The read → reason → act → write loop terminates in the operational database — completed work becomes billable writes and storage.</a:t>
            </a:r>
          </a:p>
        </p:txBody>
      </p:sp>
      <p:sp>
        <p:nvSpPr>
          <p:cNvPr id="67" name="Rounded Rectangle 66"/>
          <p:cNvSpPr/>
          <p:nvPr/>
        </p:nvSpPr>
        <p:spPr>
          <a:xfrm>
            <a:off x="777240" y="4517136"/>
            <a:ext cx="10954512" cy="1316736"/>
          </a:xfrm>
          <a:prstGeom prst="roundRect">
            <a:avLst>
              <a:gd name="adj" fmla="val 8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5840" y="4645152"/>
            <a:ext cx="2194560" cy="292608"/>
          </a:xfrm>
          <a:prstGeom prst="rect">
            <a:avLst/>
          </a:prstGeom>
          <a:noFill/>
        </p:spPr>
        <p:txBody>
          <a:bodyPr wrap="square" lIns="0" rIns="0" tIns="0" bIns="0">
            <a:spAutoFit/>
          </a:bodyPr>
          <a:lstStyle/>
          <a:p>
            <a:pPr algn="l"/>
            <a:r>
              <a:rPr sz="1400" b="1">
                <a:solidFill>
                  <a:srgbClr val="1A2233"/>
                </a:solidFill>
                <a:latin typeface="Segoe UI"/>
              </a:rPr>
              <a:t>Datadog</a:t>
            </a:r>
          </a:p>
        </p:txBody>
      </p:sp>
      <p:sp>
        <p:nvSpPr>
          <p:cNvPr id="69" name="TextBox 68"/>
          <p:cNvSpPr txBox="1"/>
          <p:nvPr/>
        </p:nvSpPr>
        <p:spPr>
          <a:xfrm>
            <a:off x="1005840" y="4992624"/>
            <a:ext cx="2194560" cy="237744"/>
          </a:xfrm>
          <a:prstGeom prst="rect">
            <a:avLst/>
          </a:prstGeom>
          <a:noFill/>
        </p:spPr>
        <p:txBody>
          <a:bodyPr wrap="square" lIns="0" rIns="0" tIns="0" bIns="0">
            <a:spAutoFit/>
          </a:bodyPr>
          <a:lstStyle/>
          <a:p>
            <a:pPr algn="l"/>
            <a:r>
              <a:rPr sz="850" b="1">
                <a:solidFill>
                  <a:srgbClr val="1B3F8F"/>
                </a:solidFill>
                <a:latin typeface="Segoe UI"/>
              </a:rPr>
              <a:t>L3 · OBSERVABILITY</a:t>
            </a:r>
          </a:p>
        </p:txBody>
      </p:sp>
      <p:sp>
        <p:nvSpPr>
          <p:cNvPr id="70" name="TextBox 69"/>
          <p:cNvSpPr txBox="1"/>
          <p:nvPr/>
        </p:nvSpPr>
        <p:spPr>
          <a:xfrm>
            <a:off x="1005840" y="5303520"/>
            <a:ext cx="2194560" cy="274320"/>
          </a:xfrm>
          <a:prstGeom prst="rect">
            <a:avLst/>
          </a:prstGeom>
          <a:noFill/>
        </p:spPr>
        <p:txBody>
          <a:bodyPr wrap="square" lIns="0" rIns="0" tIns="0" bIns="0">
            <a:spAutoFit/>
          </a:bodyPr>
          <a:lstStyle/>
          <a:p>
            <a:pPr algn="l"/>
            <a:r>
              <a:rPr sz="950" b="1">
                <a:solidFill>
                  <a:srgbClr val="2777EF"/>
                </a:solidFill>
                <a:latin typeface="Segoe UI"/>
              </a:rPr>
              <a:t>+36% y/y · ~29% FCF</a:t>
            </a:r>
          </a:p>
        </p:txBody>
      </p:sp>
      <p:sp>
        <p:nvSpPr>
          <p:cNvPr id="71" name="TextBox 70"/>
          <p:cNvSpPr txBox="1"/>
          <p:nvPr/>
        </p:nvSpPr>
        <p:spPr>
          <a:xfrm>
            <a:off x="3383280" y="4645152"/>
            <a:ext cx="3977639" cy="201168"/>
          </a:xfrm>
          <a:prstGeom prst="rect">
            <a:avLst/>
          </a:prstGeom>
          <a:noFill/>
        </p:spPr>
        <p:txBody>
          <a:bodyPr wrap="square" lIns="0" rIns="0" tIns="0" bIns="0">
            <a:spAutoFit/>
          </a:bodyPr>
          <a:lstStyle/>
          <a:p>
            <a:pPr algn="l"/>
            <a:r>
              <a:rPr sz="800" b="1">
                <a:solidFill>
                  <a:srgbClr val="8A97B0"/>
                </a:solidFill>
                <a:latin typeface="Segoe UI"/>
              </a:rPr>
              <a:t>THE METER</a:t>
            </a:r>
          </a:p>
        </p:txBody>
      </p:sp>
      <p:sp>
        <p:nvSpPr>
          <p:cNvPr id="72" name="TextBox 71"/>
          <p:cNvSpPr txBox="1"/>
          <p:nvPr/>
        </p:nvSpPr>
        <p:spPr>
          <a:xfrm>
            <a:off x="3383280" y="4864608"/>
            <a:ext cx="3977639" cy="914400"/>
          </a:xfrm>
          <a:prstGeom prst="rect">
            <a:avLst/>
          </a:prstGeom>
          <a:noFill/>
        </p:spPr>
        <p:txBody>
          <a:bodyPr wrap="square" lIns="0" rIns="0" tIns="0" bIns="0">
            <a:spAutoFit/>
          </a:bodyPr>
          <a:lstStyle/>
          <a:p>
            <a:pPr algn="l"/>
            <a:r>
              <a:rPr sz="950" b="0">
                <a:solidFill>
                  <a:srgbClr val="5A6478"/>
                </a:solidFill>
                <a:latin typeface="Segoe UI"/>
              </a:rPr>
              <a:t>committed amounts drawn down by measured units + on-demand — per GB, host and event</a:t>
            </a:r>
          </a:p>
        </p:txBody>
      </p:sp>
      <p:sp>
        <p:nvSpPr>
          <p:cNvPr id="73" name="TextBox 72"/>
          <p:cNvSpPr txBox="1"/>
          <p:nvPr/>
        </p:nvSpPr>
        <p:spPr>
          <a:xfrm>
            <a:off x="7589520" y="4645152"/>
            <a:ext cx="3931920" cy="201168"/>
          </a:xfrm>
          <a:prstGeom prst="rect">
            <a:avLst/>
          </a:prstGeom>
          <a:noFill/>
        </p:spPr>
        <p:txBody>
          <a:bodyPr wrap="square" lIns="0" rIns="0" tIns="0" bIns="0">
            <a:spAutoFit/>
          </a:bodyPr>
          <a:lstStyle/>
          <a:p>
            <a:pPr algn="l"/>
            <a:r>
              <a:rPr sz="800" b="1">
                <a:solidFill>
                  <a:srgbClr val="8A97B0"/>
                </a:solidFill>
                <a:latin typeface="Segoe UI"/>
              </a:rPr>
              <a:t>WHEN AN AGENT WORKS</a:t>
            </a:r>
          </a:p>
        </p:txBody>
      </p:sp>
      <p:sp>
        <p:nvSpPr>
          <p:cNvPr id="74" name="TextBox 73"/>
          <p:cNvSpPr txBox="1"/>
          <p:nvPr/>
        </p:nvSpPr>
        <p:spPr>
          <a:xfrm>
            <a:off x="7589520" y="4864608"/>
            <a:ext cx="3931920" cy="914400"/>
          </a:xfrm>
          <a:prstGeom prst="rect">
            <a:avLst/>
          </a:prstGeom>
          <a:noFill/>
        </p:spPr>
        <p:txBody>
          <a:bodyPr wrap="square" lIns="0" rIns="0" tIns="0" bIns="0">
            <a:spAutoFit/>
          </a:bodyPr>
          <a:lstStyle/>
          <a:p>
            <a:pPr algn="l"/>
            <a:r>
              <a:rPr sz="950" b="0">
                <a:solidFill>
                  <a:srgbClr val="5A6478"/>
                </a:solidFill>
                <a:latin typeface="Segoe UI"/>
              </a:rPr>
              <a:t>Every agent step emits logs, traces and metrics. Machine activity is the product; incident response becomes machine-scale triage.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backend, graded: distance to the cohort</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ALL 25 BACKEND NAMES ON THE ADMISSION LADDER — THE MAJORITY-CONSUMPTION LINE SITS AT 50% · RE-SCORED QUARTERLY</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777240" y="6108192"/>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Twenty-five backend names, one line at 50% — three across it, nine moving toward it, thirteen not started. Re-graded quarterly, in public.</a:t>
            </a:r>
            <a:r>
              <a:rPr sz="1200">
                <a:solidFill>
                  <a:srgbClr val="1A2233"/>
                </a:solidFill>
                <a:latin typeface="Calibri"/>
              </a:rPr>
              <a:t/>
            </a:r>
          </a:p>
        </p:txBody>
      </p:sp>
      <p:sp>
        <p:nvSpPr>
          <p:cNvPr id="48" name="TextBox 4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49" name="TextBox 4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73</a:t>
            </a:r>
          </a:p>
        </p:txBody>
      </p:sp>
      <p:sp>
        <p:nvSpPr>
          <p:cNvPr id="50" name="TextBox 49"/>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Usage-linked shares per filings where disclosed; drawdown and flex-credit models per pricing disclosures; Skycatcher classification, Aug 2026. Classification, not recommendations.</a:t>
            </a:r>
          </a:p>
        </p:txBody>
      </p:sp>
      <p:sp>
        <p:nvSpPr>
          <p:cNvPr id="51" name="TextBox 50"/>
          <p:cNvSpPr txBox="1"/>
          <p:nvPr/>
        </p:nvSpPr>
        <p:spPr>
          <a:xfrm>
            <a:off x="777240" y="1499616"/>
            <a:ext cx="3108960" cy="201168"/>
          </a:xfrm>
          <a:prstGeom prst="rect">
            <a:avLst/>
          </a:prstGeom>
          <a:noFill/>
        </p:spPr>
        <p:txBody>
          <a:bodyPr wrap="square" lIns="0" rIns="0" tIns="0" bIns="0">
            <a:spAutoFit/>
          </a:bodyPr>
          <a:lstStyle/>
          <a:p>
            <a:pPr algn="l"/>
            <a:r>
              <a:rPr sz="800" b="1">
                <a:solidFill>
                  <a:srgbClr val="8A97B0"/>
                </a:solidFill>
                <a:latin typeface="Segoe UI"/>
              </a:rPr>
              <a:t>COMPANY</a:t>
            </a:r>
          </a:p>
        </p:txBody>
      </p:sp>
      <p:sp>
        <p:nvSpPr>
          <p:cNvPr id="52" name="TextBox 51"/>
          <p:cNvSpPr txBox="1"/>
          <p:nvPr/>
        </p:nvSpPr>
        <p:spPr>
          <a:xfrm>
            <a:off x="2606040" y="1499616"/>
            <a:ext cx="3108960" cy="201168"/>
          </a:xfrm>
          <a:prstGeom prst="rect">
            <a:avLst/>
          </a:prstGeom>
          <a:noFill/>
        </p:spPr>
        <p:txBody>
          <a:bodyPr wrap="square" lIns="0" rIns="0" tIns="0" bIns="0">
            <a:spAutoFit/>
          </a:bodyPr>
          <a:lstStyle/>
          <a:p>
            <a:pPr algn="l"/>
            <a:r>
              <a:rPr sz="800" b="1">
                <a:solidFill>
                  <a:srgbClr val="8A97B0"/>
                </a:solidFill>
                <a:latin typeface="Segoe UI"/>
              </a:rPr>
              <a:t>LAYER</a:t>
            </a:r>
          </a:p>
        </p:txBody>
      </p:sp>
      <p:sp>
        <p:nvSpPr>
          <p:cNvPr id="53" name="TextBox 52"/>
          <p:cNvSpPr txBox="1"/>
          <p:nvPr/>
        </p:nvSpPr>
        <p:spPr>
          <a:xfrm>
            <a:off x="3474720" y="1499616"/>
            <a:ext cx="3108960" cy="201168"/>
          </a:xfrm>
          <a:prstGeom prst="rect">
            <a:avLst/>
          </a:prstGeom>
          <a:noFill/>
        </p:spPr>
        <p:txBody>
          <a:bodyPr wrap="square" lIns="0" rIns="0" tIns="0" bIns="0">
            <a:spAutoFit/>
          </a:bodyPr>
          <a:lstStyle/>
          <a:p>
            <a:pPr algn="l"/>
            <a:r>
              <a:rPr sz="800" b="1">
                <a:solidFill>
                  <a:srgbClr val="8A97B0"/>
                </a:solidFill>
                <a:latin typeface="Segoe UI"/>
              </a:rPr>
              <a:t>USAGE-LINKED SHARE · 50% LINE MARKED</a:t>
            </a:r>
          </a:p>
        </p:txBody>
      </p:sp>
      <p:sp>
        <p:nvSpPr>
          <p:cNvPr id="54" name="TextBox 53"/>
          <p:cNvSpPr txBox="1"/>
          <p:nvPr/>
        </p:nvSpPr>
        <p:spPr>
          <a:xfrm>
            <a:off x="7360920" y="1499616"/>
            <a:ext cx="3108960" cy="201168"/>
          </a:xfrm>
          <a:prstGeom prst="rect">
            <a:avLst/>
          </a:prstGeom>
          <a:noFill/>
        </p:spPr>
        <p:txBody>
          <a:bodyPr wrap="square" lIns="0" rIns="0" tIns="0" bIns="0">
            <a:spAutoFit/>
          </a:bodyPr>
          <a:lstStyle/>
          <a:p>
            <a:pPr algn="l"/>
            <a:r>
              <a:rPr sz="800" b="1">
                <a:solidFill>
                  <a:srgbClr val="8A97B0"/>
                </a:solidFill>
                <a:latin typeface="Segoe UI"/>
              </a:rPr>
              <a:t>STATUS</a:t>
            </a:r>
          </a:p>
        </p:txBody>
      </p:sp>
      <p:sp>
        <p:nvSpPr>
          <p:cNvPr id="55" name="TextBox 54"/>
          <p:cNvSpPr txBox="1"/>
          <p:nvPr/>
        </p:nvSpPr>
        <p:spPr>
          <a:xfrm>
            <a:off x="8412480" y="1499616"/>
            <a:ext cx="3246120" cy="201168"/>
          </a:xfrm>
          <a:prstGeom prst="rect">
            <a:avLst/>
          </a:prstGeom>
          <a:noFill/>
        </p:spPr>
        <p:txBody>
          <a:bodyPr wrap="square" lIns="0" rIns="0" tIns="0" bIns="0">
            <a:spAutoFit/>
          </a:bodyPr>
          <a:lstStyle/>
          <a:p>
            <a:pPr algn="l"/>
            <a:r>
              <a:rPr sz="800" b="1">
                <a:solidFill>
                  <a:srgbClr val="8A97B0"/>
                </a:solidFill>
                <a:latin typeface="Segoe UI"/>
              </a:rPr>
              <a:t>WHAT MOVES IT</a:t>
            </a:r>
          </a:p>
        </p:txBody>
      </p:sp>
      <p:sp>
        <p:nvSpPr>
          <p:cNvPr id="56" name="Rounded Rectangle 55"/>
          <p:cNvSpPr/>
          <p:nvPr/>
        </p:nvSpPr>
        <p:spPr>
          <a:xfrm>
            <a:off x="731520" y="1723644"/>
            <a:ext cx="11018520" cy="278892"/>
          </a:xfrm>
          <a:prstGeom prst="roundRect">
            <a:avLst>
              <a:gd name="adj" fmla="val 3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1755648"/>
            <a:ext cx="1737360" cy="219456"/>
          </a:xfrm>
          <a:prstGeom prst="rect">
            <a:avLst/>
          </a:prstGeom>
          <a:noFill/>
        </p:spPr>
        <p:txBody>
          <a:bodyPr wrap="square" lIns="0" rIns="0" tIns="0" bIns="0">
            <a:spAutoFit/>
          </a:bodyPr>
          <a:lstStyle/>
          <a:p>
            <a:pPr algn="l"/>
            <a:r>
              <a:rPr sz="950" b="1">
                <a:solidFill>
                  <a:srgbClr val="1A2233"/>
                </a:solidFill>
                <a:latin typeface="Segoe UI"/>
              </a:rPr>
              <a:t>Snowflake</a:t>
            </a:r>
          </a:p>
        </p:txBody>
      </p:sp>
      <p:sp>
        <p:nvSpPr>
          <p:cNvPr id="58" name="TextBox 57"/>
          <p:cNvSpPr txBox="1"/>
          <p:nvPr/>
        </p:nvSpPr>
        <p:spPr>
          <a:xfrm>
            <a:off x="2606040" y="1755648"/>
            <a:ext cx="822960" cy="219456"/>
          </a:xfrm>
          <a:prstGeom prst="rect">
            <a:avLst/>
          </a:prstGeom>
          <a:noFill/>
        </p:spPr>
        <p:txBody>
          <a:bodyPr wrap="square" lIns="0" rIns="0" tIns="0" bIns="0">
            <a:spAutoFit/>
          </a:bodyPr>
          <a:lstStyle/>
          <a:p>
            <a:pPr algn="l"/>
            <a:r>
              <a:rPr sz="850" b="1">
                <a:solidFill>
                  <a:srgbClr val="0B8BB5"/>
                </a:solidFill>
                <a:latin typeface="Segoe UI"/>
              </a:rPr>
              <a:t>L2</a:t>
            </a:r>
          </a:p>
        </p:txBody>
      </p:sp>
      <p:sp>
        <p:nvSpPr>
          <p:cNvPr id="59" name="Rounded Rectangle 58"/>
          <p:cNvSpPr/>
          <p:nvPr/>
        </p:nvSpPr>
        <p:spPr>
          <a:xfrm>
            <a:off x="3474720" y="1805939"/>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74720" y="1805939"/>
            <a:ext cx="2692908" cy="105156"/>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1" name="Connector 60"/>
          <p:cNvCxnSpPr/>
          <p:nvPr/>
        </p:nvCxnSpPr>
        <p:spPr>
          <a:xfrm>
            <a:off x="4892040" y="1764792"/>
            <a:ext cx="0" cy="187451"/>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419088" y="1755648"/>
            <a:ext cx="841248" cy="219456"/>
          </a:xfrm>
          <a:prstGeom prst="rect">
            <a:avLst/>
          </a:prstGeom>
          <a:noFill/>
        </p:spPr>
        <p:txBody>
          <a:bodyPr wrap="square" lIns="0" rIns="0" tIns="0" bIns="0">
            <a:spAutoFit/>
          </a:bodyPr>
          <a:lstStyle/>
          <a:p>
            <a:pPr algn="l"/>
            <a:r>
              <a:rPr sz="800" b="0">
                <a:solidFill>
                  <a:srgbClr val="5A6478"/>
                </a:solidFill>
                <a:latin typeface="Segoe UI"/>
              </a:rPr>
              <a:t>~95%</a:t>
            </a:r>
          </a:p>
        </p:txBody>
      </p:sp>
      <p:sp>
        <p:nvSpPr>
          <p:cNvPr id="63" name="TextBox 62"/>
          <p:cNvSpPr txBox="1"/>
          <p:nvPr/>
        </p:nvSpPr>
        <p:spPr>
          <a:xfrm>
            <a:off x="7360920" y="1755648"/>
            <a:ext cx="1143000" cy="219456"/>
          </a:xfrm>
          <a:prstGeom prst="rect">
            <a:avLst/>
          </a:prstGeom>
          <a:noFill/>
        </p:spPr>
        <p:txBody>
          <a:bodyPr wrap="square" lIns="0" rIns="0" tIns="0" bIns="0">
            <a:spAutoFit/>
          </a:bodyPr>
          <a:lstStyle/>
          <a:p>
            <a:pPr algn="l"/>
            <a:r>
              <a:rPr sz="850" b="1">
                <a:solidFill>
                  <a:srgbClr val="2777EF"/>
                </a:solidFill>
                <a:latin typeface="Segoe UI"/>
              </a:rPr>
              <a:t>IN</a:t>
            </a:r>
          </a:p>
        </p:txBody>
      </p:sp>
      <p:sp>
        <p:nvSpPr>
          <p:cNvPr id="64" name="TextBox 63"/>
          <p:cNvSpPr txBox="1"/>
          <p:nvPr/>
        </p:nvSpPr>
        <p:spPr>
          <a:xfrm>
            <a:off x="8412480" y="1755648"/>
            <a:ext cx="3246120" cy="256032"/>
          </a:xfrm>
          <a:prstGeom prst="rect">
            <a:avLst/>
          </a:prstGeom>
          <a:noFill/>
        </p:spPr>
        <p:txBody>
          <a:bodyPr wrap="square" lIns="0" rIns="0" tIns="0" bIns="0">
            <a:spAutoFit/>
          </a:bodyPr>
          <a:lstStyle/>
          <a:p>
            <a:pPr algn="l"/>
            <a:r>
              <a:rPr sz="800" b="0">
                <a:solidFill>
                  <a:srgbClr val="5A6478"/>
                </a:solidFill>
                <a:latin typeface="Segoe UI"/>
              </a:rPr>
              <a:t>stays on quarterly re-verification</a:t>
            </a:r>
          </a:p>
        </p:txBody>
      </p:sp>
      <p:sp>
        <p:nvSpPr>
          <p:cNvPr id="65" name="Rounded Rectangle 64"/>
          <p:cNvSpPr/>
          <p:nvPr/>
        </p:nvSpPr>
        <p:spPr>
          <a:xfrm>
            <a:off x="731520" y="2020824"/>
            <a:ext cx="11018520" cy="278892"/>
          </a:xfrm>
          <a:prstGeom prst="roundRect">
            <a:avLst>
              <a:gd name="adj" fmla="val 3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22960" y="2052828"/>
            <a:ext cx="1737360" cy="219456"/>
          </a:xfrm>
          <a:prstGeom prst="rect">
            <a:avLst/>
          </a:prstGeom>
          <a:noFill/>
        </p:spPr>
        <p:txBody>
          <a:bodyPr wrap="square" lIns="0" rIns="0" tIns="0" bIns="0">
            <a:spAutoFit/>
          </a:bodyPr>
          <a:lstStyle/>
          <a:p>
            <a:pPr algn="l"/>
            <a:r>
              <a:rPr sz="950" b="1">
                <a:solidFill>
                  <a:srgbClr val="1A2233"/>
                </a:solidFill>
                <a:latin typeface="Segoe UI"/>
              </a:rPr>
              <a:t>MongoDB</a:t>
            </a:r>
          </a:p>
        </p:txBody>
      </p:sp>
      <p:sp>
        <p:nvSpPr>
          <p:cNvPr id="67" name="TextBox 66"/>
          <p:cNvSpPr txBox="1"/>
          <p:nvPr/>
        </p:nvSpPr>
        <p:spPr>
          <a:xfrm>
            <a:off x="2606040" y="2052828"/>
            <a:ext cx="822960" cy="219456"/>
          </a:xfrm>
          <a:prstGeom prst="rect">
            <a:avLst/>
          </a:prstGeom>
          <a:noFill/>
        </p:spPr>
        <p:txBody>
          <a:bodyPr wrap="square" lIns="0" rIns="0" tIns="0" bIns="0">
            <a:spAutoFit/>
          </a:bodyPr>
          <a:lstStyle/>
          <a:p>
            <a:pPr algn="l"/>
            <a:r>
              <a:rPr sz="850" b="1">
                <a:solidFill>
                  <a:srgbClr val="0B8BB5"/>
                </a:solidFill>
                <a:latin typeface="Segoe UI"/>
              </a:rPr>
              <a:t>L2</a:t>
            </a:r>
          </a:p>
        </p:txBody>
      </p:sp>
      <p:sp>
        <p:nvSpPr>
          <p:cNvPr id="68" name="Rounded Rectangle 67"/>
          <p:cNvSpPr/>
          <p:nvPr/>
        </p:nvSpPr>
        <p:spPr>
          <a:xfrm>
            <a:off x="3474720" y="210312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3474720" y="2103120"/>
            <a:ext cx="2069287" cy="105156"/>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4892040" y="206197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6419088" y="2052828"/>
            <a:ext cx="841248" cy="219456"/>
          </a:xfrm>
          <a:prstGeom prst="rect">
            <a:avLst/>
          </a:prstGeom>
          <a:noFill/>
        </p:spPr>
        <p:txBody>
          <a:bodyPr wrap="square" lIns="0" rIns="0" tIns="0" bIns="0">
            <a:spAutoFit/>
          </a:bodyPr>
          <a:lstStyle/>
          <a:p>
            <a:pPr algn="l"/>
            <a:r>
              <a:rPr sz="800" b="0">
                <a:solidFill>
                  <a:srgbClr val="5A6478"/>
                </a:solidFill>
                <a:latin typeface="Segoe UI"/>
              </a:rPr>
              <a:t>73%</a:t>
            </a:r>
          </a:p>
        </p:txBody>
      </p:sp>
      <p:sp>
        <p:nvSpPr>
          <p:cNvPr id="72" name="TextBox 71"/>
          <p:cNvSpPr txBox="1"/>
          <p:nvPr/>
        </p:nvSpPr>
        <p:spPr>
          <a:xfrm>
            <a:off x="7360920" y="2052828"/>
            <a:ext cx="1143000" cy="219456"/>
          </a:xfrm>
          <a:prstGeom prst="rect">
            <a:avLst/>
          </a:prstGeom>
          <a:noFill/>
        </p:spPr>
        <p:txBody>
          <a:bodyPr wrap="square" lIns="0" rIns="0" tIns="0" bIns="0">
            <a:spAutoFit/>
          </a:bodyPr>
          <a:lstStyle/>
          <a:p>
            <a:pPr algn="l"/>
            <a:r>
              <a:rPr sz="850" b="1">
                <a:solidFill>
                  <a:srgbClr val="2777EF"/>
                </a:solidFill>
                <a:latin typeface="Segoe UI"/>
              </a:rPr>
              <a:t>IN</a:t>
            </a:r>
          </a:p>
        </p:txBody>
      </p:sp>
      <p:sp>
        <p:nvSpPr>
          <p:cNvPr id="73" name="TextBox 72"/>
          <p:cNvSpPr txBox="1"/>
          <p:nvPr/>
        </p:nvSpPr>
        <p:spPr>
          <a:xfrm>
            <a:off x="8412480" y="2052828"/>
            <a:ext cx="3246120" cy="256032"/>
          </a:xfrm>
          <a:prstGeom prst="rect">
            <a:avLst/>
          </a:prstGeom>
          <a:noFill/>
        </p:spPr>
        <p:txBody>
          <a:bodyPr wrap="square" lIns="0" rIns="0" tIns="0" bIns="0">
            <a:spAutoFit/>
          </a:bodyPr>
          <a:lstStyle/>
          <a:p>
            <a:pPr algn="l"/>
            <a:r>
              <a:rPr sz="800" b="0">
                <a:solidFill>
                  <a:srgbClr val="5A6478"/>
                </a:solidFill>
                <a:latin typeface="Segoe UI"/>
              </a:rPr>
              <a:t>Atlas share still rising</a:t>
            </a:r>
          </a:p>
        </p:txBody>
      </p:sp>
      <p:sp>
        <p:nvSpPr>
          <p:cNvPr id="74" name="Rounded Rectangle 73"/>
          <p:cNvSpPr/>
          <p:nvPr/>
        </p:nvSpPr>
        <p:spPr>
          <a:xfrm>
            <a:off x="731520" y="2318004"/>
            <a:ext cx="11018520" cy="278892"/>
          </a:xfrm>
          <a:prstGeom prst="roundRect">
            <a:avLst>
              <a:gd name="adj" fmla="val 30000"/>
            </a:avLst>
          </a:prstGeom>
          <a:solidFill>
            <a:srgbClr val="EAF1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22960" y="2350008"/>
            <a:ext cx="1737360" cy="219456"/>
          </a:xfrm>
          <a:prstGeom prst="rect">
            <a:avLst/>
          </a:prstGeom>
          <a:noFill/>
        </p:spPr>
        <p:txBody>
          <a:bodyPr wrap="square" lIns="0" rIns="0" tIns="0" bIns="0">
            <a:spAutoFit/>
          </a:bodyPr>
          <a:lstStyle/>
          <a:p>
            <a:pPr algn="l"/>
            <a:r>
              <a:rPr sz="950" b="1">
                <a:solidFill>
                  <a:srgbClr val="1A2233"/>
                </a:solidFill>
                <a:latin typeface="Segoe UI"/>
              </a:rPr>
              <a:t>Datadog</a:t>
            </a:r>
          </a:p>
        </p:txBody>
      </p:sp>
      <p:sp>
        <p:nvSpPr>
          <p:cNvPr id="76" name="TextBox 75"/>
          <p:cNvSpPr txBox="1"/>
          <p:nvPr/>
        </p:nvSpPr>
        <p:spPr>
          <a:xfrm>
            <a:off x="2606040" y="235000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77" name="Rounded Rectangle 76"/>
          <p:cNvSpPr/>
          <p:nvPr/>
        </p:nvSpPr>
        <p:spPr>
          <a:xfrm>
            <a:off x="3474720" y="240030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3474720" y="2400300"/>
            <a:ext cx="2607868" cy="105156"/>
          </a:xfrm>
          <a:prstGeom prst="roundRect">
            <a:avLst>
              <a:gd name="adj" fmla="val 50000"/>
            </a:avLst>
          </a:prstGeom>
          <a:solidFill>
            <a:srgbClr val="8A9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4892040" y="235915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6419088" y="2350008"/>
            <a:ext cx="841248" cy="219456"/>
          </a:xfrm>
          <a:prstGeom prst="rect">
            <a:avLst/>
          </a:prstGeom>
          <a:noFill/>
        </p:spPr>
        <p:txBody>
          <a:bodyPr wrap="square" lIns="0" rIns="0" tIns="0" bIns="0">
            <a:spAutoFit/>
          </a:bodyPr>
          <a:lstStyle/>
          <a:p>
            <a:pPr algn="l"/>
            <a:r>
              <a:rPr sz="800" b="0">
                <a:solidFill>
                  <a:srgbClr val="5A6478"/>
                </a:solidFill>
                <a:latin typeface="Segoe UI"/>
              </a:rPr>
              <a:t>structural</a:t>
            </a:r>
          </a:p>
        </p:txBody>
      </p:sp>
      <p:sp>
        <p:nvSpPr>
          <p:cNvPr id="81" name="TextBox 80"/>
          <p:cNvSpPr txBox="1"/>
          <p:nvPr/>
        </p:nvSpPr>
        <p:spPr>
          <a:xfrm>
            <a:off x="7360920" y="2350008"/>
            <a:ext cx="1143000" cy="219456"/>
          </a:xfrm>
          <a:prstGeom prst="rect">
            <a:avLst/>
          </a:prstGeom>
          <a:noFill/>
        </p:spPr>
        <p:txBody>
          <a:bodyPr wrap="square" lIns="0" rIns="0" tIns="0" bIns="0">
            <a:spAutoFit/>
          </a:bodyPr>
          <a:lstStyle/>
          <a:p>
            <a:pPr algn="l"/>
            <a:r>
              <a:rPr sz="850" b="1">
                <a:solidFill>
                  <a:srgbClr val="2777EF"/>
                </a:solidFill>
                <a:latin typeface="Segoe UI"/>
              </a:rPr>
              <a:t>IN</a:t>
            </a:r>
          </a:p>
        </p:txBody>
      </p:sp>
      <p:sp>
        <p:nvSpPr>
          <p:cNvPr id="82" name="TextBox 81"/>
          <p:cNvSpPr txBox="1"/>
          <p:nvPr/>
        </p:nvSpPr>
        <p:spPr>
          <a:xfrm>
            <a:off x="8412480" y="2350008"/>
            <a:ext cx="3246120" cy="256032"/>
          </a:xfrm>
          <a:prstGeom prst="rect">
            <a:avLst/>
          </a:prstGeom>
          <a:noFill/>
        </p:spPr>
        <p:txBody>
          <a:bodyPr wrap="square" lIns="0" rIns="0" tIns="0" bIns="0">
            <a:spAutoFit/>
          </a:bodyPr>
          <a:lstStyle/>
          <a:p>
            <a:pPr algn="l"/>
            <a:r>
              <a:rPr sz="800" b="0">
                <a:solidFill>
                  <a:srgbClr val="5A6478"/>
                </a:solidFill>
                <a:latin typeface="Segoe UI"/>
              </a:rPr>
              <a:t>committed drawdown; usage moves revenue in-quarter</a:t>
            </a:r>
          </a:p>
        </p:txBody>
      </p:sp>
      <p:sp>
        <p:nvSpPr>
          <p:cNvPr id="83" name="TextBox 82"/>
          <p:cNvSpPr txBox="1"/>
          <p:nvPr/>
        </p:nvSpPr>
        <p:spPr>
          <a:xfrm>
            <a:off x="822960" y="2647188"/>
            <a:ext cx="1737360" cy="219456"/>
          </a:xfrm>
          <a:prstGeom prst="rect">
            <a:avLst/>
          </a:prstGeom>
          <a:noFill/>
        </p:spPr>
        <p:txBody>
          <a:bodyPr wrap="square" lIns="0" rIns="0" tIns="0" bIns="0">
            <a:spAutoFit/>
          </a:bodyPr>
          <a:lstStyle/>
          <a:p>
            <a:pPr algn="l"/>
            <a:r>
              <a:rPr sz="950" b="1">
                <a:solidFill>
                  <a:srgbClr val="1A2233"/>
                </a:solidFill>
                <a:latin typeface="Segoe UI"/>
              </a:rPr>
              <a:t>Fastly</a:t>
            </a:r>
          </a:p>
        </p:txBody>
      </p:sp>
      <p:sp>
        <p:nvSpPr>
          <p:cNvPr id="84" name="TextBox 83"/>
          <p:cNvSpPr txBox="1"/>
          <p:nvPr/>
        </p:nvSpPr>
        <p:spPr>
          <a:xfrm>
            <a:off x="2606040" y="2647188"/>
            <a:ext cx="822960" cy="219456"/>
          </a:xfrm>
          <a:prstGeom prst="rect">
            <a:avLst/>
          </a:prstGeom>
          <a:noFill/>
        </p:spPr>
        <p:txBody>
          <a:bodyPr wrap="square" lIns="0" rIns="0" tIns="0" bIns="0">
            <a:spAutoFit/>
          </a:bodyPr>
          <a:lstStyle/>
          <a:p>
            <a:pPr algn="l"/>
            <a:r>
              <a:rPr sz="850" b="1">
                <a:solidFill>
                  <a:srgbClr val="0B8BB5"/>
                </a:solidFill>
                <a:latin typeface="Segoe UI"/>
              </a:rPr>
              <a:t>L2</a:t>
            </a:r>
          </a:p>
        </p:txBody>
      </p:sp>
      <p:sp>
        <p:nvSpPr>
          <p:cNvPr id="85" name="Rounded Rectangle 84"/>
          <p:cNvSpPr/>
          <p:nvPr/>
        </p:nvSpPr>
        <p:spPr>
          <a:xfrm>
            <a:off x="3474720" y="269748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3474720" y="2697480"/>
            <a:ext cx="1644091" cy="105156"/>
          </a:xfrm>
          <a:prstGeom prst="roundRect">
            <a:avLst>
              <a:gd name="adj" fmla="val 50000"/>
            </a:avLst>
          </a:prstGeom>
          <a:solidFill>
            <a:srgbClr val="8A9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4892040" y="265633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6419088" y="2647188"/>
            <a:ext cx="841248" cy="219456"/>
          </a:xfrm>
          <a:prstGeom prst="rect">
            <a:avLst/>
          </a:prstGeom>
          <a:noFill/>
        </p:spPr>
        <p:txBody>
          <a:bodyPr wrap="square" lIns="0" rIns="0" tIns="0" bIns="0">
            <a:spAutoFit/>
          </a:bodyPr>
          <a:lstStyle/>
          <a:p>
            <a:pPr algn="l"/>
            <a:r>
              <a:rPr sz="800" b="0">
                <a:solidFill>
                  <a:srgbClr val="5A6478"/>
                </a:solidFill>
                <a:latin typeface="Segoe UI"/>
              </a:rPr>
              <a:t>~58% EST</a:t>
            </a:r>
          </a:p>
        </p:txBody>
      </p:sp>
      <p:sp>
        <p:nvSpPr>
          <p:cNvPr id="89" name="TextBox 88"/>
          <p:cNvSpPr txBox="1"/>
          <p:nvPr/>
        </p:nvSpPr>
        <p:spPr>
          <a:xfrm>
            <a:off x="7360920" y="264718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90" name="TextBox 89"/>
          <p:cNvSpPr txBox="1"/>
          <p:nvPr/>
        </p:nvSpPr>
        <p:spPr>
          <a:xfrm>
            <a:off x="8412480" y="2647188"/>
            <a:ext cx="3246120" cy="256032"/>
          </a:xfrm>
          <a:prstGeom prst="rect">
            <a:avLst/>
          </a:prstGeom>
          <a:noFill/>
        </p:spPr>
        <p:txBody>
          <a:bodyPr wrap="square" lIns="0" rIns="0" tIns="0" bIns="0">
            <a:spAutoFit/>
          </a:bodyPr>
          <a:lstStyle/>
          <a:p>
            <a:pPr algn="l"/>
            <a:r>
              <a:rPr sz="800" b="0">
                <a:solidFill>
                  <a:srgbClr val="5A6478"/>
                </a:solidFill>
                <a:latin typeface="Segoe UI"/>
              </a:rPr>
              <a:t>a disclosed percentage admits it — one filing away</a:t>
            </a:r>
          </a:p>
        </p:txBody>
      </p:sp>
      <p:sp>
        <p:nvSpPr>
          <p:cNvPr id="91" name="TextBox 90"/>
          <p:cNvSpPr txBox="1"/>
          <p:nvPr/>
        </p:nvSpPr>
        <p:spPr>
          <a:xfrm>
            <a:off x="822960" y="2944368"/>
            <a:ext cx="1737360" cy="219456"/>
          </a:xfrm>
          <a:prstGeom prst="rect">
            <a:avLst/>
          </a:prstGeom>
          <a:noFill/>
        </p:spPr>
        <p:txBody>
          <a:bodyPr wrap="square" lIns="0" rIns="0" tIns="0" bIns="0">
            <a:spAutoFit/>
          </a:bodyPr>
          <a:lstStyle/>
          <a:p>
            <a:pPr algn="l"/>
            <a:r>
              <a:rPr sz="950" b="1">
                <a:solidFill>
                  <a:srgbClr val="1A2233"/>
                </a:solidFill>
                <a:latin typeface="Segoe UI"/>
              </a:rPr>
              <a:t>Elastic</a:t>
            </a:r>
          </a:p>
        </p:txBody>
      </p:sp>
      <p:sp>
        <p:nvSpPr>
          <p:cNvPr id="92" name="TextBox 91"/>
          <p:cNvSpPr txBox="1"/>
          <p:nvPr/>
        </p:nvSpPr>
        <p:spPr>
          <a:xfrm>
            <a:off x="2606040" y="2944368"/>
            <a:ext cx="822960" cy="219456"/>
          </a:xfrm>
          <a:prstGeom prst="rect">
            <a:avLst/>
          </a:prstGeom>
          <a:noFill/>
        </p:spPr>
        <p:txBody>
          <a:bodyPr wrap="square" lIns="0" rIns="0" tIns="0" bIns="0">
            <a:spAutoFit/>
          </a:bodyPr>
          <a:lstStyle/>
          <a:p>
            <a:pPr algn="l"/>
            <a:r>
              <a:rPr sz="850" b="1">
                <a:solidFill>
                  <a:srgbClr val="0B8BB5"/>
                </a:solidFill>
                <a:latin typeface="Segoe UI"/>
              </a:rPr>
              <a:t>L2</a:t>
            </a:r>
          </a:p>
        </p:txBody>
      </p:sp>
      <p:sp>
        <p:nvSpPr>
          <p:cNvPr id="93" name="Rounded Rectangle 92"/>
          <p:cNvSpPr/>
          <p:nvPr/>
        </p:nvSpPr>
        <p:spPr>
          <a:xfrm>
            <a:off x="3474720" y="299466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3474720" y="2994660"/>
            <a:ext cx="1332280" cy="105156"/>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5" name="Connector 94"/>
          <p:cNvCxnSpPr/>
          <p:nvPr/>
        </p:nvCxnSpPr>
        <p:spPr>
          <a:xfrm>
            <a:off x="4892040" y="295351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6419088" y="2944368"/>
            <a:ext cx="841248" cy="219456"/>
          </a:xfrm>
          <a:prstGeom prst="rect">
            <a:avLst/>
          </a:prstGeom>
          <a:noFill/>
        </p:spPr>
        <p:txBody>
          <a:bodyPr wrap="square" lIns="0" rIns="0" tIns="0" bIns="0">
            <a:spAutoFit/>
          </a:bodyPr>
          <a:lstStyle/>
          <a:p>
            <a:pPr algn="l"/>
            <a:r>
              <a:rPr sz="800" b="0">
                <a:solidFill>
                  <a:srgbClr val="5A6478"/>
                </a:solidFill>
                <a:latin typeface="Segoe UI"/>
              </a:rPr>
              <a:t>~47%</a:t>
            </a:r>
          </a:p>
        </p:txBody>
      </p:sp>
      <p:sp>
        <p:nvSpPr>
          <p:cNvPr id="97" name="TextBox 96"/>
          <p:cNvSpPr txBox="1"/>
          <p:nvPr/>
        </p:nvSpPr>
        <p:spPr>
          <a:xfrm>
            <a:off x="7360920" y="294436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98" name="TextBox 97"/>
          <p:cNvSpPr txBox="1"/>
          <p:nvPr/>
        </p:nvSpPr>
        <p:spPr>
          <a:xfrm>
            <a:off x="8412480" y="2944368"/>
            <a:ext cx="3246120" cy="256032"/>
          </a:xfrm>
          <a:prstGeom prst="rect">
            <a:avLst/>
          </a:prstGeom>
          <a:noFill/>
        </p:spPr>
        <p:txBody>
          <a:bodyPr wrap="square" lIns="0" rIns="0" tIns="0" bIns="0">
            <a:spAutoFit/>
          </a:bodyPr>
          <a:lstStyle/>
          <a:p>
            <a:pPr algn="l"/>
            <a:r>
              <a:rPr sz="800" b="0">
                <a:solidFill>
                  <a:srgbClr val="5A6478"/>
                </a:solidFill>
                <a:latin typeface="Segoe UI"/>
              </a:rPr>
              <a:t>Elastic Cloud crossing 50% admits it — +2pts/yr</a:t>
            </a:r>
          </a:p>
        </p:txBody>
      </p:sp>
      <p:sp>
        <p:nvSpPr>
          <p:cNvPr id="99" name="TextBox 98"/>
          <p:cNvSpPr txBox="1"/>
          <p:nvPr/>
        </p:nvSpPr>
        <p:spPr>
          <a:xfrm>
            <a:off x="822960" y="3241548"/>
            <a:ext cx="1737360" cy="219456"/>
          </a:xfrm>
          <a:prstGeom prst="rect">
            <a:avLst/>
          </a:prstGeom>
          <a:noFill/>
        </p:spPr>
        <p:txBody>
          <a:bodyPr wrap="square" lIns="0" rIns="0" tIns="0" bIns="0">
            <a:spAutoFit/>
          </a:bodyPr>
          <a:lstStyle/>
          <a:p>
            <a:pPr algn="l"/>
            <a:r>
              <a:rPr sz="950" b="1">
                <a:solidFill>
                  <a:srgbClr val="1A2233"/>
                </a:solidFill>
                <a:latin typeface="Segoe UI"/>
              </a:rPr>
              <a:t>Akamai</a:t>
            </a:r>
          </a:p>
        </p:txBody>
      </p:sp>
      <p:sp>
        <p:nvSpPr>
          <p:cNvPr id="100" name="TextBox 99"/>
          <p:cNvSpPr txBox="1"/>
          <p:nvPr/>
        </p:nvSpPr>
        <p:spPr>
          <a:xfrm>
            <a:off x="2606040" y="324154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101" name="Rounded Rectangle 100"/>
          <p:cNvSpPr/>
          <p:nvPr/>
        </p:nvSpPr>
        <p:spPr>
          <a:xfrm>
            <a:off x="3474720" y="329184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101"/>
          <p:cNvSpPr/>
          <p:nvPr/>
        </p:nvSpPr>
        <p:spPr>
          <a:xfrm>
            <a:off x="3474720" y="3291840"/>
            <a:ext cx="1218895" cy="105156"/>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3" name="Connector 102"/>
          <p:cNvCxnSpPr/>
          <p:nvPr/>
        </p:nvCxnSpPr>
        <p:spPr>
          <a:xfrm>
            <a:off x="4892040" y="325069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6419088" y="3241548"/>
            <a:ext cx="841248" cy="219456"/>
          </a:xfrm>
          <a:prstGeom prst="rect">
            <a:avLst/>
          </a:prstGeom>
          <a:noFill/>
        </p:spPr>
        <p:txBody>
          <a:bodyPr wrap="square" lIns="0" rIns="0" tIns="0" bIns="0">
            <a:spAutoFit/>
          </a:bodyPr>
          <a:lstStyle/>
          <a:p>
            <a:pPr algn="l"/>
            <a:r>
              <a:rPr sz="800" b="0">
                <a:solidFill>
                  <a:srgbClr val="5A6478"/>
                </a:solidFill>
                <a:latin typeface="Segoe UI"/>
              </a:rPr>
              <a:t>~43%</a:t>
            </a:r>
          </a:p>
        </p:txBody>
      </p:sp>
      <p:sp>
        <p:nvSpPr>
          <p:cNvPr id="105" name="TextBox 104"/>
          <p:cNvSpPr txBox="1"/>
          <p:nvPr/>
        </p:nvSpPr>
        <p:spPr>
          <a:xfrm>
            <a:off x="7360920" y="324154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106" name="TextBox 105"/>
          <p:cNvSpPr txBox="1"/>
          <p:nvPr/>
        </p:nvSpPr>
        <p:spPr>
          <a:xfrm>
            <a:off x="8412480" y="3241548"/>
            <a:ext cx="3246120" cy="256032"/>
          </a:xfrm>
          <a:prstGeom prst="rect">
            <a:avLst/>
          </a:prstGeom>
          <a:noFill/>
        </p:spPr>
        <p:txBody>
          <a:bodyPr wrap="square" lIns="0" rIns="0" tIns="0" bIns="0">
            <a:spAutoFit/>
          </a:bodyPr>
          <a:lstStyle/>
          <a:p>
            <a:pPr algn="l"/>
            <a:r>
              <a:rPr sz="800" b="0">
                <a:solidFill>
                  <a:srgbClr val="5A6478"/>
                </a:solidFill>
                <a:latin typeface="Segoe UI"/>
              </a:rPr>
              <a:t>compute growth against delivery + security subscriptions</a:t>
            </a:r>
          </a:p>
        </p:txBody>
      </p:sp>
      <p:sp>
        <p:nvSpPr>
          <p:cNvPr id="107" name="TextBox 106"/>
          <p:cNvSpPr txBox="1"/>
          <p:nvPr/>
        </p:nvSpPr>
        <p:spPr>
          <a:xfrm>
            <a:off x="822960" y="3538728"/>
            <a:ext cx="1737360" cy="219456"/>
          </a:xfrm>
          <a:prstGeom prst="rect">
            <a:avLst/>
          </a:prstGeom>
          <a:noFill/>
        </p:spPr>
        <p:txBody>
          <a:bodyPr wrap="square" lIns="0" rIns="0" tIns="0" bIns="0">
            <a:spAutoFit/>
          </a:bodyPr>
          <a:lstStyle/>
          <a:p>
            <a:pPr algn="l"/>
            <a:r>
              <a:rPr sz="950" b="1">
                <a:solidFill>
                  <a:srgbClr val="1A2233"/>
                </a:solidFill>
                <a:latin typeface="Segoe UI"/>
              </a:rPr>
              <a:t>Cloudflare</a:t>
            </a:r>
          </a:p>
        </p:txBody>
      </p:sp>
      <p:sp>
        <p:nvSpPr>
          <p:cNvPr id="108" name="TextBox 107"/>
          <p:cNvSpPr txBox="1"/>
          <p:nvPr/>
        </p:nvSpPr>
        <p:spPr>
          <a:xfrm>
            <a:off x="2606040" y="353872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109" name="Rounded Rectangle 108"/>
          <p:cNvSpPr/>
          <p:nvPr/>
        </p:nvSpPr>
        <p:spPr>
          <a:xfrm>
            <a:off x="3474720" y="358902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Rounded Rectangle 109"/>
          <p:cNvSpPr/>
          <p:nvPr/>
        </p:nvSpPr>
        <p:spPr>
          <a:xfrm>
            <a:off x="3474720" y="3589020"/>
            <a:ext cx="708660" cy="105156"/>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1" name="Connector 110"/>
          <p:cNvCxnSpPr/>
          <p:nvPr/>
        </p:nvCxnSpPr>
        <p:spPr>
          <a:xfrm>
            <a:off x="4892040" y="354787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112" name="TextBox 111"/>
          <p:cNvSpPr txBox="1"/>
          <p:nvPr/>
        </p:nvSpPr>
        <p:spPr>
          <a:xfrm>
            <a:off x="6419088" y="3538728"/>
            <a:ext cx="841248" cy="219456"/>
          </a:xfrm>
          <a:prstGeom prst="rect">
            <a:avLst/>
          </a:prstGeom>
          <a:noFill/>
        </p:spPr>
        <p:txBody>
          <a:bodyPr wrap="square" lIns="0" rIns="0" tIns="0" bIns="0">
            <a:spAutoFit/>
          </a:bodyPr>
          <a:lstStyle/>
          <a:p>
            <a:pPr algn="l"/>
            <a:r>
              <a:rPr sz="800" b="0">
                <a:solidFill>
                  <a:srgbClr val="5A6478"/>
                </a:solidFill>
                <a:latin typeface="Segoe UI"/>
              </a:rPr>
              <a:t>~25%</a:t>
            </a:r>
          </a:p>
        </p:txBody>
      </p:sp>
      <p:sp>
        <p:nvSpPr>
          <p:cNvPr id="113" name="TextBox 112"/>
          <p:cNvSpPr txBox="1"/>
          <p:nvPr/>
        </p:nvSpPr>
        <p:spPr>
          <a:xfrm>
            <a:off x="7360920" y="353872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114" name="TextBox 113"/>
          <p:cNvSpPr txBox="1"/>
          <p:nvPr/>
        </p:nvSpPr>
        <p:spPr>
          <a:xfrm>
            <a:off x="8412480" y="3538728"/>
            <a:ext cx="3246120" cy="256032"/>
          </a:xfrm>
          <a:prstGeom prst="rect">
            <a:avLst/>
          </a:prstGeom>
          <a:noFill/>
        </p:spPr>
        <p:txBody>
          <a:bodyPr wrap="square" lIns="0" rIns="0" tIns="0" bIns="0">
            <a:spAutoFit/>
          </a:bodyPr>
          <a:lstStyle/>
          <a:p>
            <a:pPr algn="l"/>
            <a:r>
              <a:rPr sz="800" b="0">
                <a:solidFill>
                  <a:srgbClr val="5A6478"/>
                </a:solidFill>
                <a:latin typeface="Segoe UI"/>
              </a:rPr>
              <a:t>Workers, R2, Pay-Per-Crawl scaling inside a subscription base</a:t>
            </a:r>
          </a:p>
        </p:txBody>
      </p:sp>
      <p:sp>
        <p:nvSpPr>
          <p:cNvPr id="115" name="TextBox 114"/>
          <p:cNvSpPr txBox="1"/>
          <p:nvPr/>
        </p:nvSpPr>
        <p:spPr>
          <a:xfrm>
            <a:off x="822960" y="3835908"/>
            <a:ext cx="1737360" cy="219456"/>
          </a:xfrm>
          <a:prstGeom prst="rect">
            <a:avLst/>
          </a:prstGeom>
          <a:noFill/>
        </p:spPr>
        <p:txBody>
          <a:bodyPr wrap="square" lIns="0" rIns="0" tIns="0" bIns="0">
            <a:spAutoFit/>
          </a:bodyPr>
          <a:lstStyle/>
          <a:p>
            <a:pPr algn="l"/>
            <a:r>
              <a:rPr sz="950" b="1">
                <a:solidFill>
                  <a:srgbClr val="1A2233"/>
                </a:solidFill>
                <a:latin typeface="Segoe UI"/>
              </a:rPr>
              <a:t>Dynatrace</a:t>
            </a:r>
          </a:p>
        </p:txBody>
      </p:sp>
      <p:sp>
        <p:nvSpPr>
          <p:cNvPr id="116" name="TextBox 115"/>
          <p:cNvSpPr txBox="1"/>
          <p:nvPr/>
        </p:nvSpPr>
        <p:spPr>
          <a:xfrm>
            <a:off x="2606040" y="383590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117" name="Rounded Rectangle 116"/>
          <p:cNvSpPr/>
          <p:nvPr/>
        </p:nvSpPr>
        <p:spPr>
          <a:xfrm>
            <a:off x="3474720" y="388620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Rounded Rectangle 117"/>
          <p:cNvSpPr/>
          <p:nvPr/>
        </p:nvSpPr>
        <p:spPr>
          <a:xfrm>
            <a:off x="3474720" y="3886200"/>
            <a:ext cx="340156" cy="105156"/>
          </a:xfrm>
          <a:prstGeom prst="roundRect">
            <a:avLst>
              <a:gd name="adj" fmla="val 50000"/>
            </a:avLst>
          </a:prstGeom>
          <a:solidFill>
            <a:srgbClr val="8A9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4892040" y="384505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120" name="TextBox 119"/>
          <p:cNvSpPr txBox="1"/>
          <p:nvPr/>
        </p:nvSpPr>
        <p:spPr>
          <a:xfrm>
            <a:off x="6419088" y="3835908"/>
            <a:ext cx="841248" cy="219456"/>
          </a:xfrm>
          <a:prstGeom prst="rect">
            <a:avLst/>
          </a:prstGeom>
          <a:noFill/>
        </p:spPr>
        <p:txBody>
          <a:bodyPr wrap="square" lIns="0" rIns="0" tIns="0" bIns="0">
            <a:spAutoFit/>
          </a:bodyPr>
          <a:lstStyle/>
          <a:p>
            <a:pPr algn="l"/>
            <a:r>
              <a:rPr sz="800" b="0">
                <a:solidFill>
                  <a:srgbClr val="5A6478"/>
                </a:solidFill>
                <a:latin typeface="Segoe UI"/>
              </a:rPr>
              <a:t>emerging</a:t>
            </a:r>
          </a:p>
        </p:txBody>
      </p:sp>
      <p:sp>
        <p:nvSpPr>
          <p:cNvPr id="121" name="TextBox 120"/>
          <p:cNvSpPr txBox="1"/>
          <p:nvPr/>
        </p:nvSpPr>
        <p:spPr>
          <a:xfrm>
            <a:off x="7360920" y="383590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122" name="TextBox 121"/>
          <p:cNvSpPr txBox="1"/>
          <p:nvPr/>
        </p:nvSpPr>
        <p:spPr>
          <a:xfrm>
            <a:off x="8412480" y="3835908"/>
            <a:ext cx="3246120" cy="256032"/>
          </a:xfrm>
          <a:prstGeom prst="rect">
            <a:avLst/>
          </a:prstGeom>
          <a:noFill/>
        </p:spPr>
        <p:txBody>
          <a:bodyPr wrap="square" lIns="0" rIns="0" tIns="0" bIns="0">
            <a:spAutoFit/>
          </a:bodyPr>
          <a:lstStyle/>
          <a:p>
            <a:pPr algn="l"/>
            <a:r>
              <a:rPr sz="800" b="0">
                <a:solidFill>
                  <a:srgbClr val="5A6478"/>
                </a:solidFill>
                <a:latin typeface="Segoe UI"/>
              </a:rPr>
              <a:t>DPS consumption commitments scaling through the base</a:t>
            </a:r>
          </a:p>
        </p:txBody>
      </p:sp>
      <p:sp>
        <p:nvSpPr>
          <p:cNvPr id="123" name="TextBox 122"/>
          <p:cNvSpPr txBox="1"/>
          <p:nvPr/>
        </p:nvSpPr>
        <p:spPr>
          <a:xfrm>
            <a:off x="822960" y="4133088"/>
            <a:ext cx="1737360" cy="219456"/>
          </a:xfrm>
          <a:prstGeom prst="rect">
            <a:avLst/>
          </a:prstGeom>
          <a:noFill/>
        </p:spPr>
        <p:txBody>
          <a:bodyPr wrap="square" lIns="0" rIns="0" tIns="0" bIns="0">
            <a:spAutoFit/>
          </a:bodyPr>
          <a:lstStyle/>
          <a:p>
            <a:pPr algn="l"/>
            <a:r>
              <a:rPr sz="950" b="1">
                <a:solidFill>
                  <a:srgbClr val="1A2233"/>
                </a:solidFill>
                <a:latin typeface="Segoe UI"/>
              </a:rPr>
              <a:t>CrowdStrike</a:t>
            </a:r>
          </a:p>
        </p:txBody>
      </p:sp>
      <p:sp>
        <p:nvSpPr>
          <p:cNvPr id="124" name="TextBox 123"/>
          <p:cNvSpPr txBox="1"/>
          <p:nvPr/>
        </p:nvSpPr>
        <p:spPr>
          <a:xfrm>
            <a:off x="2606040" y="413308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125" name="Rounded Rectangle 124"/>
          <p:cNvSpPr/>
          <p:nvPr/>
        </p:nvSpPr>
        <p:spPr>
          <a:xfrm>
            <a:off x="3474720" y="418338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3474720" y="4183380"/>
            <a:ext cx="283464" cy="105156"/>
          </a:xfrm>
          <a:prstGeom prst="roundRect">
            <a:avLst>
              <a:gd name="adj" fmla="val 50000"/>
            </a:avLst>
          </a:prstGeom>
          <a:solidFill>
            <a:srgbClr val="8A9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a:off x="4892040" y="414223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6419088" y="4133088"/>
            <a:ext cx="841248" cy="219456"/>
          </a:xfrm>
          <a:prstGeom prst="rect">
            <a:avLst/>
          </a:prstGeom>
          <a:noFill/>
        </p:spPr>
        <p:txBody>
          <a:bodyPr wrap="square" lIns="0" rIns="0" tIns="0" bIns="0">
            <a:spAutoFit/>
          </a:bodyPr>
          <a:lstStyle/>
          <a:p>
            <a:pPr algn="l"/>
            <a:r>
              <a:rPr sz="800" b="0">
                <a:solidFill>
                  <a:srgbClr val="5A6478"/>
                </a:solidFill>
                <a:latin typeface="Segoe UI"/>
              </a:rPr>
              <a:t>emerging</a:t>
            </a:r>
          </a:p>
        </p:txBody>
      </p:sp>
      <p:sp>
        <p:nvSpPr>
          <p:cNvPr id="129" name="TextBox 128"/>
          <p:cNvSpPr txBox="1"/>
          <p:nvPr/>
        </p:nvSpPr>
        <p:spPr>
          <a:xfrm>
            <a:off x="7360920" y="413308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130" name="TextBox 129"/>
          <p:cNvSpPr txBox="1"/>
          <p:nvPr/>
        </p:nvSpPr>
        <p:spPr>
          <a:xfrm>
            <a:off x="8412480" y="4133088"/>
            <a:ext cx="3246120" cy="256032"/>
          </a:xfrm>
          <a:prstGeom prst="rect">
            <a:avLst/>
          </a:prstGeom>
          <a:noFill/>
        </p:spPr>
        <p:txBody>
          <a:bodyPr wrap="square" lIns="0" rIns="0" tIns="0" bIns="0">
            <a:spAutoFit/>
          </a:bodyPr>
          <a:lstStyle/>
          <a:p>
            <a:pPr algn="l"/>
            <a:r>
              <a:rPr sz="800" b="0">
                <a:solidFill>
                  <a:srgbClr val="5A6478"/>
                </a:solidFill>
                <a:latin typeface="Segoe UI"/>
              </a:rPr>
              <a:t>Falcon Flex drawdown adoption</a:t>
            </a:r>
          </a:p>
        </p:txBody>
      </p:sp>
      <p:sp>
        <p:nvSpPr>
          <p:cNvPr id="131" name="TextBox 130"/>
          <p:cNvSpPr txBox="1"/>
          <p:nvPr/>
        </p:nvSpPr>
        <p:spPr>
          <a:xfrm>
            <a:off x="822960" y="4430268"/>
            <a:ext cx="1737360" cy="219456"/>
          </a:xfrm>
          <a:prstGeom prst="rect">
            <a:avLst/>
          </a:prstGeom>
          <a:noFill/>
        </p:spPr>
        <p:txBody>
          <a:bodyPr wrap="square" lIns="0" rIns="0" tIns="0" bIns="0">
            <a:spAutoFit/>
          </a:bodyPr>
          <a:lstStyle/>
          <a:p>
            <a:pPr algn="l"/>
            <a:r>
              <a:rPr sz="950" b="1">
                <a:solidFill>
                  <a:srgbClr val="1A2233"/>
                </a:solidFill>
                <a:latin typeface="Segoe UI"/>
              </a:rPr>
              <a:t>Palo Alto</a:t>
            </a:r>
          </a:p>
        </p:txBody>
      </p:sp>
      <p:sp>
        <p:nvSpPr>
          <p:cNvPr id="132" name="TextBox 131"/>
          <p:cNvSpPr txBox="1"/>
          <p:nvPr/>
        </p:nvSpPr>
        <p:spPr>
          <a:xfrm>
            <a:off x="2606040" y="443026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133" name="Rounded Rectangle 132"/>
          <p:cNvSpPr/>
          <p:nvPr/>
        </p:nvSpPr>
        <p:spPr>
          <a:xfrm>
            <a:off x="3474720" y="448056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ounded Rectangle 133"/>
          <p:cNvSpPr/>
          <p:nvPr/>
        </p:nvSpPr>
        <p:spPr>
          <a:xfrm>
            <a:off x="3474720" y="4480560"/>
            <a:ext cx="283464" cy="105156"/>
          </a:xfrm>
          <a:prstGeom prst="roundRect">
            <a:avLst>
              <a:gd name="adj" fmla="val 50000"/>
            </a:avLst>
          </a:prstGeom>
          <a:solidFill>
            <a:srgbClr val="8A9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5" name="Connector 134"/>
          <p:cNvCxnSpPr/>
          <p:nvPr/>
        </p:nvCxnSpPr>
        <p:spPr>
          <a:xfrm>
            <a:off x="4892040" y="443941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419088" y="4430268"/>
            <a:ext cx="841248" cy="219456"/>
          </a:xfrm>
          <a:prstGeom prst="rect">
            <a:avLst/>
          </a:prstGeom>
          <a:noFill/>
        </p:spPr>
        <p:txBody>
          <a:bodyPr wrap="square" lIns="0" rIns="0" tIns="0" bIns="0">
            <a:spAutoFit/>
          </a:bodyPr>
          <a:lstStyle/>
          <a:p>
            <a:pPr algn="l"/>
            <a:r>
              <a:rPr sz="800" b="0">
                <a:solidFill>
                  <a:srgbClr val="5A6478"/>
                </a:solidFill>
                <a:latin typeface="Segoe UI"/>
              </a:rPr>
              <a:t>emerging</a:t>
            </a:r>
          </a:p>
        </p:txBody>
      </p:sp>
      <p:sp>
        <p:nvSpPr>
          <p:cNvPr id="137" name="TextBox 136"/>
          <p:cNvSpPr txBox="1"/>
          <p:nvPr/>
        </p:nvSpPr>
        <p:spPr>
          <a:xfrm>
            <a:off x="7360920" y="443026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138" name="TextBox 137"/>
          <p:cNvSpPr txBox="1"/>
          <p:nvPr/>
        </p:nvSpPr>
        <p:spPr>
          <a:xfrm>
            <a:off x="8412480" y="4430268"/>
            <a:ext cx="3246120" cy="256032"/>
          </a:xfrm>
          <a:prstGeom prst="rect">
            <a:avLst/>
          </a:prstGeom>
          <a:noFill/>
        </p:spPr>
        <p:txBody>
          <a:bodyPr wrap="square" lIns="0" rIns="0" tIns="0" bIns="0">
            <a:spAutoFit/>
          </a:bodyPr>
          <a:lstStyle/>
          <a:p>
            <a:pPr algn="l"/>
            <a:r>
              <a:rPr sz="800" b="0">
                <a:solidFill>
                  <a:srgbClr val="5A6478"/>
                </a:solidFill>
                <a:latin typeface="Segoe UI"/>
              </a:rPr>
              <a:t>flex credits spreading across the platform</a:t>
            </a:r>
          </a:p>
        </p:txBody>
      </p:sp>
      <p:sp>
        <p:nvSpPr>
          <p:cNvPr id="139" name="TextBox 138"/>
          <p:cNvSpPr txBox="1"/>
          <p:nvPr/>
        </p:nvSpPr>
        <p:spPr>
          <a:xfrm>
            <a:off x="822960" y="4727448"/>
            <a:ext cx="1737360" cy="219456"/>
          </a:xfrm>
          <a:prstGeom prst="rect">
            <a:avLst/>
          </a:prstGeom>
          <a:noFill/>
        </p:spPr>
        <p:txBody>
          <a:bodyPr wrap="square" lIns="0" rIns="0" tIns="0" bIns="0">
            <a:spAutoFit/>
          </a:bodyPr>
          <a:lstStyle/>
          <a:p>
            <a:pPr algn="l"/>
            <a:r>
              <a:rPr sz="950" b="1">
                <a:solidFill>
                  <a:srgbClr val="1A2233"/>
                </a:solidFill>
                <a:latin typeface="Segoe UI"/>
              </a:rPr>
              <a:t>GitLab</a:t>
            </a:r>
          </a:p>
        </p:txBody>
      </p:sp>
      <p:sp>
        <p:nvSpPr>
          <p:cNvPr id="140" name="TextBox 139"/>
          <p:cNvSpPr txBox="1"/>
          <p:nvPr/>
        </p:nvSpPr>
        <p:spPr>
          <a:xfrm>
            <a:off x="2606040" y="472744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141" name="Rounded Rectangle 140"/>
          <p:cNvSpPr/>
          <p:nvPr/>
        </p:nvSpPr>
        <p:spPr>
          <a:xfrm>
            <a:off x="3474720" y="477774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ounded Rectangle 141"/>
          <p:cNvSpPr/>
          <p:nvPr/>
        </p:nvSpPr>
        <p:spPr>
          <a:xfrm>
            <a:off x="3474720" y="4777740"/>
            <a:ext cx="226771" cy="105156"/>
          </a:xfrm>
          <a:prstGeom prst="roundRect">
            <a:avLst>
              <a:gd name="adj" fmla="val 50000"/>
            </a:avLst>
          </a:prstGeom>
          <a:solidFill>
            <a:srgbClr val="8A9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3" name="Connector 142"/>
          <p:cNvCxnSpPr/>
          <p:nvPr/>
        </p:nvCxnSpPr>
        <p:spPr>
          <a:xfrm>
            <a:off x="4892040" y="473659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6419088" y="4727448"/>
            <a:ext cx="841248" cy="219456"/>
          </a:xfrm>
          <a:prstGeom prst="rect">
            <a:avLst/>
          </a:prstGeom>
          <a:noFill/>
        </p:spPr>
        <p:txBody>
          <a:bodyPr wrap="square" lIns="0" rIns="0" tIns="0" bIns="0">
            <a:spAutoFit/>
          </a:bodyPr>
          <a:lstStyle/>
          <a:p>
            <a:pPr algn="l"/>
            <a:r>
              <a:rPr sz="800" b="0">
                <a:solidFill>
                  <a:srgbClr val="5A6478"/>
                </a:solidFill>
                <a:latin typeface="Segoe UI"/>
              </a:rPr>
              <a:t>emerging</a:t>
            </a:r>
          </a:p>
        </p:txBody>
      </p:sp>
      <p:sp>
        <p:nvSpPr>
          <p:cNvPr id="145" name="TextBox 144"/>
          <p:cNvSpPr txBox="1"/>
          <p:nvPr/>
        </p:nvSpPr>
        <p:spPr>
          <a:xfrm>
            <a:off x="7360920" y="472744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146" name="TextBox 145"/>
          <p:cNvSpPr txBox="1"/>
          <p:nvPr/>
        </p:nvSpPr>
        <p:spPr>
          <a:xfrm>
            <a:off x="8412480" y="4727448"/>
            <a:ext cx="3246120" cy="256032"/>
          </a:xfrm>
          <a:prstGeom prst="rect">
            <a:avLst/>
          </a:prstGeom>
          <a:noFill/>
        </p:spPr>
        <p:txBody>
          <a:bodyPr wrap="square" lIns="0" rIns="0" tIns="0" bIns="0">
            <a:spAutoFit/>
          </a:bodyPr>
          <a:lstStyle/>
          <a:p>
            <a:pPr algn="l"/>
            <a:r>
              <a:rPr sz="800" b="0">
                <a:solidFill>
                  <a:srgbClr val="5A6478"/>
                </a:solidFill>
                <a:latin typeface="Segoe UI"/>
              </a:rPr>
              <a:t>CI compute minutes — small share today</a:t>
            </a:r>
          </a:p>
        </p:txBody>
      </p:sp>
      <p:sp>
        <p:nvSpPr>
          <p:cNvPr id="147" name="TextBox 146"/>
          <p:cNvSpPr txBox="1"/>
          <p:nvPr/>
        </p:nvSpPr>
        <p:spPr>
          <a:xfrm>
            <a:off x="822960" y="5024628"/>
            <a:ext cx="1737360" cy="219456"/>
          </a:xfrm>
          <a:prstGeom prst="rect">
            <a:avLst/>
          </a:prstGeom>
          <a:noFill/>
        </p:spPr>
        <p:txBody>
          <a:bodyPr wrap="square" lIns="0" rIns="0" tIns="0" bIns="0">
            <a:spAutoFit/>
          </a:bodyPr>
          <a:lstStyle/>
          <a:p>
            <a:pPr algn="l"/>
            <a:r>
              <a:rPr sz="950" b="1">
                <a:solidFill>
                  <a:srgbClr val="1A2233"/>
                </a:solidFill>
                <a:latin typeface="Segoe UI"/>
              </a:rPr>
              <a:t>JFrog</a:t>
            </a:r>
          </a:p>
        </p:txBody>
      </p:sp>
      <p:sp>
        <p:nvSpPr>
          <p:cNvPr id="148" name="TextBox 147"/>
          <p:cNvSpPr txBox="1"/>
          <p:nvPr/>
        </p:nvSpPr>
        <p:spPr>
          <a:xfrm>
            <a:off x="2606040" y="5024628"/>
            <a:ext cx="822960" cy="219456"/>
          </a:xfrm>
          <a:prstGeom prst="rect">
            <a:avLst/>
          </a:prstGeom>
          <a:noFill/>
        </p:spPr>
        <p:txBody>
          <a:bodyPr wrap="square" lIns="0" rIns="0" tIns="0" bIns="0">
            <a:spAutoFit/>
          </a:bodyPr>
          <a:lstStyle/>
          <a:p>
            <a:pPr algn="l"/>
            <a:r>
              <a:rPr sz="850" b="1">
                <a:solidFill>
                  <a:srgbClr val="1B3F8F"/>
                </a:solidFill>
                <a:latin typeface="Segoe UI"/>
              </a:rPr>
              <a:t>L3</a:t>
            </a:r>
          </a:p>
        </p:txBody>
      </p:sp>
      <p:sp>
        <p:nvSpPr>
          <p:cNvPr id="149" name="Rounded Rectangle 148"/>
          <p:cNvSpPr/>
          <p:nvPr/>
        </p:nvSpPr>
        <p:spPr>
          <a:xfrm>
            <a:off x="3474720" y="5074920"/>
            <a:ext cx="2834640" cy="105156"/>
          </a:xfrm>
          <a:prstGeom prst="roundRect">
            <a:avLst>
              <a:gd name="adj" fmla="val 50000"/>
            </a:avLst>
          </a:prstGeom>
          <a:solidFill>
            <a:srgbClr val="E7EC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Rounded Rectangle 149"/>
          <p:cNvSpPr/>
          <p:nvPr/>
        </p:nvSpPr>
        <p:spPr>
          <a:xfrm>
            <a:off x="3474720" y="5074920"/>
            <a:ext cx="226771" cy="105156"/>
          </a:xfrm>
          <a:prstGeom prst="roundRect">
            <a:avLst>
              <a:gd name="adj" fmla="val 50000"/>
            </a:avLst>
          </a:prstGeom>
          <a:solidFill>
            <a:srgbClr val="8A97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1" name="Connector 150"/>
          <p:cNvCxnSpPr/>
          <p:nvPr/>
        </p:nvCxnSpPr>
        <p:spPr>
          <a:xfrm>
            <a:off x="4892040" y="5033772"/>
            <a:ext cx="0" cy="187452"/>
          </a:xfrm>
          <a:prstGeom prst="line">
            <a:avLst/>
          </a:prstGeom>
          <a:ln w="12700">
            <a:solidFill>
              <a:srgbClr val="1A2233"/>
            </a:solidFill>
          </a:ln>
        </p:spPr>
        <p:style>
          <a:lnRef idx="2">
            <a:schemeClr val="accent1"/>
          </a:lnRef>
          <a:fillRef idx="0">
            <a:schemeClr val="accent1"/>
          </a:fillRef>
          <a:effectRef idx="1">
            <a:schemeClr val="accent1"/>
          </a:effectRef>
          <a:fontRef idx="minor">
            <a:schemeClr val="tx1"/>
          </a:fontRef>
        </p:style>
      </p:cxnSp>
      <p:sp>
        <p:nvSpPr>
          <p:cNvPr id="152" name="TextBox 151"/>
          <p:cNvSpPr txBox="1"/>
          <p:nvPr/>
        </p:nvSpPr>
        <p:spPr>
          <a:xfrm>
            <a:off x="6419088" y="5024628"/>
            <a:ext cx="841248" cy="219456"/>
          </a:xfrm>
          <a:prstGeom prst="rect">
            <a:avLst/>
          </a:prstGeom>
          <a:noFill/>
        </p:spPr>
        <p:txBody>
          <a:bodyPr wrap="square" lIns="0" rIns="0" tIns="0" bIns="0">
            <a:spAutoFit/>
          </a:bodyPr>
          <a:lstStyle/>
          <a:p>
            <a:pPr algn="l"/>
            <a:r>
              <a:rPr sz="800" b="0">
                <a:solidFill>
                  <a:srgbClr val="5A6478"/>
                </a:solidFill>
                <a:latin typeface="Segoe UI"/>
              </a:rPr>
              <a:t>emerging</a:t>
            </a:r>
          </a:p>
        </p:txBody>
      </p:sp>
      <p:sp>
        <p:nvSpPr>
          <p:cNvPr id="153" name="TextBox 152"/>
          <p:cNvSpPr txBox="1"/>
          <p:nvPr/>
        </p:nvSpPr>
        <p:spPr>
          <a:xfrm>
            <a:off x="7360920" y="5024628"/>
            <a:ext cx="1143000" cy="219456"/>
          </a:xfrm>
          <a:prstGeom prst="rect">
            <a:avLst/>
          </a:prstGeom>
          <a:noFill/>
        </p:spPr>
        <p:txBody>
          <a:bodyPr wrap="square" lIns="0" rIns="0" tIns="0" bIns="0">
            <a:spAutoFit/>
          </a:bodyPr>
          <a:lstStyle/>
          <a:p>
            <a:pPr algn="l"/>
            <a:r>
              <a:rPr sz="850" b="1">
                <a:solidFill>
                  <a:srgbClr val="1B3F8F"/>
                </a:solidFill>
                <a:latin typeface="Segoe UI"/>
              </a:rPr>
              <a:t>CONVERTING</a:t>
            </a:r>
          </a:p>
        </p:txBody>
      </p:sp>
      <p:sp>
        <p:nvSpPr>
          <p:cNvPr id="154" name="TextBox 153"/>
          <p:cNvSpPr txBox="1"/>
          <p:nvPr/>
        </p:nvSpPr>
        <p:spPr>
          <a:xfrm>
            <a:off x="8412480" y="5024628"/>
            <a:ext cx="3246120" cy="256032"/>
          </a:xfrm>
          <a:prstGeom prst="rect">
            <a:avLst/>
          </a:prstGeom>
          <a:noFill/>
        </p:spPr>
        <p:txBody>
          <a:bodyPr wrap="square" lIns="0" rIns="0" tIns="0" bIns="0">
            <a:spAutoFit/>
          </a:bodyPr>
          <a:lstStyle/>
          <a:p>
            <a:pPr algn="l"/>
            <a:r>
              <a:rPr sz="800" b="0">
                <a:solidFill>
                  <a:srgbClr val="5A6478"/>
                </a:solidFill>
                <a:latin typeface="Segoe UI"/>
              </a:rPr>
              <a:t>usage tiers and data-transfer billing</a:t>
            </a:r>
          </a:p>
        </p:txBody>
      </p:sp>
      <p:sp>
        <p:nvSpPr>
          <p:cNvPr id="155" name="Rounded Rectangle 154"/>
          <p:cNvSpPr/>
          <p:nvPr/>
        </p:nvSpPr>
        <p:spPr>
          <a:xfrm>
            <a:off x="731520" y="5376672"/>
            <a:ext cx="11018520" cy="658368"/>
          </a:xfrm>
          <a:prstGeom prst="roundRect">
            <a:avLst>
              <a:gd name="adj" fmla="val 12000"/>
            </a:avLst>
          </a:prstGeom>
          <a:solidFill>
            <a:srgbClr val="F5F8FC"/>
          </a:solidFill>
          <a:ln w="9525">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914400" y="5449824"/>
            <a:ext cx="2194560" cy="219456"/>
          </a:xfrm>
          <a:prstGeom prst="rect">
            <a:avLst/>
          </a:prstGeom>
          <a:noFill/>
        </p:spPr>
        <p:txBody>
          <a:bodyPr wrap="square" lIns="0" rIns="0" tIns="0" bIns="0">
            <a:spAutoFit/>
          </a:bodyPr>
          <a:lstStyle/>
          <a:p>
            <a:pPr algn="l"/>
            <a:r>
              <a:rPr sz="900" b="1">
                <a:solidFill>
                  <a:srgbClr val="5A6478"/>
                </a:solidFill>
                <a:latin typeface="Segoe UI"/>
              </a:rPr>
              <a:t>SUBSCRIPTION TODAY</a:t>
            </a:r>
          </a:p>
        </p:txBody>
      </p:sp>
      <p:sp>
        <p:nvSpPr>
          <p:cNvPr id="157" name="TextBox 156"/>
          <p:cNvSpPr txBox="1"/>
          <p:nvPr/>
        </p:nvSpPr>
        <p:spPr>
          <a:xfrm>
            <a:off x="914400" y="5705856"/>
            <a:ext cx="822960" cy="219456"/>
          </a:xfrm>
          <a:prstGeom prst="rect">
            <a:avLst/>
          </a:prstGeom>
          <a:noFill/>
        </p:spPr>
        <p:txBody>
          <a:bodyPr wrap="square" lIns="0" rIns="0" tIns="0" bIns="0">
            <a:spAutoFit/>
          </a:bodyPr>
          <a:lstStyle/>
          <a:p>
            <a:pPr algn="l"/>
            <a:r>
              <a:rPr sz="1200" b="1">
                <a:solidFill>
                  <a:srgbClr val="5A6478"/>
                </a:solidFill>
                <a:latin typeface="Segoe UI"/>
              </a:rPr>
              <a:t>13</a:t>
            </a:r>
          </a:p>
        </p:txBody>
      </p:sp>
      <p:sp>
        <p:nvSpPr>
          <p:cNvPr id="158" name="TextBox 157"/>
          <p:cNvSpPr txBox="1"/>
          <p:nvPr/>
        </p:nvSpPr>
        <p:spPr>
          <a:xfrm>
            <a:off x="3108960" y="5440680"/>
            <a:ext cx="8503920" cy="274320"/>
          </a:xfrm>
          <a:prstGeom prst="rect">
            <a:avLst/>
          </a:prstGeom>
          <a:noFill/>
        </p:spPr>
        <p:txBody>
          <a:bodyPr wrap="square" lIns="0" rIns="0" tIns="0" bIns="0">
            <a:spAutoFit/>
          </a:bodyPr>
          <a:lstStyle/>
          <a:p>
            <a:pPr algn="l"/>
            <a:r>
              <a:rPr sz="850" b="1">
                <a:solidFill>
                  <a:srgbClr val="1A2233"/>
                </a:solidFill>
                <a:latin typeface="Segoe UI"/>
              </a:rPr>
              <a:t>Nutanix · Amplitude · Okta · Atlassian · SentinelOne · Zscaler · Rubrik · Tenable · Qualys · SailPoint · Cellebrite · PagerDuty · Netskope</a:t>
            </a:r>
          </a:p>
        </p:txBody>
      </p:sp>
      <p:sp>
        <p:nvSpPr>
          <p:cNvPr id="159" name="TextBox 158"/>
          <p:cNvSpPr txBox="1"/>
          <p:nvPr/>
        </p:nvSpPr>
        <p:spPr>
          <a:xfrm>
            <a:off x="3108960" y="5724144"/>
            <a:ext cx="8503920" cy="237744"/>
          </a:xfrm>
          <a:prstGeom prst="rect">
            <a:avLst/>
          </a:prstGeom>
          <a:noFill/>
        </p:spPr>
        <p:txBody>
          <a:bodyPr wrap="square" lIns="0" rIns="0" tIns="0" bIns="0">
            <a:spAutoFit/>
          </a:bodyPr>
          <a:lstStyle/>
          <a:p>
            <a:pPr algn="l"/>
            <a:r>
              <a:rPr sz="800" b="0">
                <a:solidFill>
                  <a:srgbClr val="8A97B0"/>
                </a:solidFill>
                <a:latin typeface="Segoe UI"/>
              </a:rPr>
              <a:t>no material usage line yet — agent demand without agent metering; every per-agent or per-action SKU shipped is an upgrade event on this board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cohort on the tape: contracts, meters, then revenue</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MACHINE LABOR COHORT (3), QUARTERLY — MEASURED FROM FILINGS + SKYCATCHER ESTIMATES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Contracts first (+19% → +32%), meters next (11% → 19% at list, dollars more than doubling), revenue last (25% → 32%) — the same wave, in the order the accounting requires.</a:t>
            </a:r>
            <a:r>
              <a:rPr sz="1200">
                <a:solidFill>
                  <a:srgbClr val="1A2233"/>
                </a:solidFill>
                <a:latin typeface="Calibri"/>
              </a:rPr>
              <a:t/>
            </a:r>
          </a:p>
        </p:txBody>
      </p:sp>
      <p:sp>
        <p:nvSpPr>
          <p:cNvPr id="22" name="TextBox 2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3" name="TextBox 2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74</a:t>
            </a:r>
          </a:p>
        </p:txBody>
      </p:sp>
      <p:sp>
        <p:nvSpPr>
          <p:cNvPr id="24" name="TextBox 2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Median y/y deferred revenue and revenue growth from filings (FMP), 3 constituents; overage share Skycatcher estimate (methodology p. 57). Quarters to Jun 2026.</a:t>
            </a:r>
          </a:p>
        </p:txBody>
      </p:sp>
      <p:sp>
        <p:nvSpPr>
          <p:cNvPr id="25" name="Rounded Rectangle 24"/>
          <p:cNvSpPr/>
          <p:nvPr/>
        </p:nvSpPr>
        <p:spPr>
          <a:xfrm>
            <a:off x="777240" y="1645920"/>
            <a:ext cx="3429000" cy="39319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1" y="1828800"/>
            <a:ext cx="2926080" cy="219456"/>
          </a:xfrm>
          <a:prstGeom prst="rect">
            <a:avLst/>
          </a:prstGeom>
          <a:noFill/>
        </p:spPr>
        <p:txBody>
          <a:bodyPr wrap="square" lIns="0" rIns="0" tIns="0" bIns="0">
            <a:spAutoFit/>
          </a:bodyPr>
          <a:lstStyle/>
          <a:p>
            <a:pPr algn="l"/>
            <a:r>
              <a:rPr sz="1100" b="1">
                <a:solidFill>
                  <a:srgbClr val="2777EF"/>
                </a:solidFill>
                <a:latin typeface="Segoe UI"/>
              </a:rPr>
              <a:t>COMMITMENT</a:t>
            </a:r>
          </a:p>
        </p:txBody>
      </p:sp>
      <p:sp>
        <p:nvSpPr>
          <p:cNvPr id="27" name="TextBox 26"/>
          <p:cNvSpPr txBox="1"/>
          <p:nvPr/>
        </p:nvSpPr>
        <p:spPr>
          <a:xfrm>
            <a:off x="1033271" y="2084831"/>
            <a:ext cx="2926080" cy="201168"/>
          </a:xfrm>
          <a:prstGeom prst="rect">
            <a:avLst/>
          </a:prstGeom>
          <a:noFill/>
        </p:spPr>
        <p:txBody>
          <a:bodyPr wrap="square" lIns="0" rIns="0" tIns="0" bIns="0">
            <a:spAutoFit/>
          </a:bodyPr>
          <a:lstStyle/>
          <a:p>
            <a:pPr algn="l"/>
            <a:r>
              <a:rPr sz="800" b="0">
                <a:solidFill>
                  <a:srgbClr val="8A97B0"/>
                </a:solidFill>
                <a:latin typeface="Segoe UI"/>
              </a:rPr>
              <a:t>deferred revenue, median y/y — MEASURED</a:t>
            </a:r>
          </a:p>
        </p:txBody>
      </p:sp>
      <p:sp>
        <p:nvSpPr>
          <p:cNvPr id="28" name="Rounded Rectangle 27"/>
          <p:cNvSpPr/>
          <p:nvPr/>
        </p:nvSpPr>
        <p:spPr>
          <a:xfrm>
            <a:off x="1033271" y="3644900"/>
            <a:ext cx="488289" cy="1109980"/>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1831" y="3443732"/>
            <a:ext cx="671169" cy="164592"/>
          </a:xfrm>
          <a:prstGeom prst="rect">
            <a:avLst/>
          </a:prstGeom>
          <a:noFill/>
        </p:spPr>
        <p:txBody>
          <a:bodyPr wrap="square" lIns="0" rIns="0" tIns="0" bIns="0">
            <a:spAutoFit/>
          </a:bodyPr>
          <a:lstStyle/>
          <a:p>
            <a:pPr algn="ctr"/>
            <a:r>
              <a:rPr sz="800" b="1">
                <a:solidFill>
                  <a:srgbClr val="2777EF"/>
                </a:solidFill>
                <a:latin typeface="Segoe UI"/>
              </a:rPr>
              <a:t>19%</a:t>
            </a:r>
          </a:p>
        </p:txBody>
      </p:sp>
      <p:sp>
        <p:nvSpPr>
          <p:cNvPr id="30" name="Rounded Rectangle 29"/>
          <p:cNvSpPr/>
          <p:nvPr/>
        </p:nvSpPr>
        <p:spPr>
          <a:xfrm>
            <a:off x="1640433" y="3469640"/>
            <a:ext cx="488289" cy="1285240"/>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548993" y="3268472"/>
            <a:ext cx="671169" cy="164592"/>
          </a:xfrm>
          <a:prstGeom prst="rect">
            <a:avLst/>
          </a:prstGeom>
          <a:noFill/>
        </p:spPr>
        <p:txBody>
          <a:bodyPr wrap="square" lIns="0" rIns="0" tIns="0" bIns="0">
            <a:spAutoFit/>
          </a:bodyPr>
          <a:lstStyle/>
          <a:p>
            <a:pPr algn="ctr"/>
            <a:r>
              <a:rPr sz="800" b="1">
                <a:solidFill>
                  <a:srgbClr val="2777EF"/>
                </a:solidFill>
                <a:latin typeface="Segoe UI"/>
              </a:rPr>
              <a:t>22%</a:t>
            </a:r>
          </a:p>
        </p:txBody>
      </p:sp>
      <p:sp>
        <p:nvSpPr>
          <p:cNvPr id="32" name="Rounded Rectangle 31"/>
          <p:cNvSpPr/>
          <p:nvPr/>
        </p:nvSpPr>
        <p:spPr>
          <a:xfrm>
            <a:off x="2247595" y="3411220"/>
            <a:ext cx="488289" cy="1343660"/>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156155" y="3210052"/>
            <a:ext cx="671169" cy="164592"/>
          </a:xfrm>
          <a:prstGeom prst="rect">
            <a:avLst/>
          </a:prstGeom>
          <a:noFill/>
        </p:spPr>
        <p:txBody>
          <a:bodyPr wrap="square" lIns="0" rIns="0" tIns="0" bIns="0">
            <a:spAutoFit/>
          </a:bodyPr>
          <a:lstStyle/>
          <a:p>
            <a:pPr algn="ctr"/>
            <a:r>
              <a:rPr sz="800" b="1">
                <a:solidFill>
                  <a:srgbClr val="2777EF"/>
                </a:solidFill>
                <a:latin typeface="Segoe UI"/>
              </a:rPr>
              <a:t>23%</a:t>
            </a:r>
          </a:p>
        </p:txBody>
      </p:sp>
      <p:sp>
        <p:nvSpPr>
          <p:cNvPr id="34" name="Rounded Rectangle 33"/>
          <p:cNvSpPr/>
          <p:nvPr/>
        </p:nvSpPr>
        <p:spPr>
          <a:xfrm>
            <a:off x="2854756" y="3002280"/>
            <a:ext cx="488289" cy="1752599"/>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63316" y="2801112"/>
            <a:ext cx="671169" cy="164592"/>
          </a:xfrm>
          <a:prstGeom prst="rect">
            <a:avLst/>
          </a:prstGeom>
          <a:noFill/>
        </p:spPr>
        <p:txBody>
          <a:bodyPr wrap="square" lIns="0" rIns="0" tIns="0" bIns="0">
            <a:spAutoFit/>
          </a:bodyPr>
          <a:lstStyle/>
          <a:p>
            <a:pPr algn="ctr"/>
            <a:r>
              <a:rPr sz="800" b="1">
                <a:solidFill>
                  <a:srgbClr val="2777EF"/>
                </a:solidFill>
                <a:latin typeface="Segoe UI"/>
              </a:rPr>
              <a:t>30%</a:t>
            </a:r>
          </a:p>
        </p:txBody>
      </p:sp>
      <p:sp>
        <p:nvSpPr>
          <p:cNvPr id="36" name="Rounded Rectangle 35"/>
          <p:cNvSpPr/>
          <p:nvPr/>
        </p:nvSpPr>
        <p:spPr>
          <a:xfrm>
            <a:off x="3461918" y="2885440"/>
            <a:ext cx="488289" cy="1869439"/>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70478" y="2684272"/>
            <a:ext cx="671169" cy="164592"/>
          </a:xfrm>
          <a:prstGeom prst="rect">
            <a:avLst/>
          </a:prstGeom>
          <a:noFill/>
        </p:spPr>
        <p:txBody>
          <a:bodyPr wrap="square" lIns="0" rIns="0" tIns="0" bIns="0">
            <a:spAutoFit/>
          </a:bodyPr>
          <a:lstStyle/>
          <a:p>
            <a:pPr algn="ctr"/>
            <a:r>
              <a:rPr sz="800" b="1">
                <a:solidFill>
                  <a:srgbClr val="2777EF"/>
                </a:solidFill>
                <a:latin typeface="Segoe UI"/>
              </a:rPr>
              <a:t>32%</a:t>
            </a:r>
          </a:p>
        </p:txBody>
      </p:sp>
      <p:sp>
        <p:nvSpPr>
          <p:cNvPr id="38" name="TextBox 37"/>
          <p:cNvSpPr txBox="1"/>
          <p:nvPr/>
        </p:nvSpPr>
        <p:spPr>
          <a:xfrm>
            <a:off x="1033271" y="4828032"/>
            <a:ext cx="1188720" cy="182880"/>
          </a:xfrm>
          <a:prstGeom prst="rect">
            <a:avLst/>
          </a:prstGeom>
          <a:noFill/>
        </p:spPr>
        <p:txBody>
          <a:bodyPr wrap="square" lIns="0" rIns="0" tIns="0" bIns="0">
            <a:spAutoFit/>
          </a:bodyPr>
          <a:lstStyle/>
          <a:p>
            <a:pPr algn="l"/>
            <a:r>
              <a:rPr sz="750" b="0">
                <a:solidFill>
                  <a:srgbClr val="8A97B0"/>
                </a:solidFill>
                <a:latin typeface="Segoe UI"/>
              </a:rPr>
              <a:t>Q2 '25</a:t>
            </a:r>
          </a:p>
        </p:txBody>
      </p:sp>
      <p:sp>
        <p:nvSpPr>
          <p:cNvPr id="39" name="TextBox 38"/>
          <p:cNvSpPr txBox="1"/>
          <p:nvPr/>
        </p:nvSpPr>
        <p:spPr>
          <a:xfrm>
            <a:off x="2761488" y="4828032"/>
            <a:ext cx="1188720" cy="182880"/>
          </a:xfrm>
          <a:prstGeom prst="rect">
            <a:avLst/>
          </a:prstGeom>
          <a:noFill/>
        </p:spPr>
        <p:txBody>
          <a:bodyPr wrap="square" lIns="0" rIns="0" tIns="0" bIns="0">
            <a:spAutoFit/>
          </a:bodyPr>
          <a:lstStyle/>
          <a:p>
            <a:pPr algn="r"/>
            <a:r>
              <a:rPr sz="750" b="0">
                <a:solidFill>
                  <a:srgbClr val="8A97B0"/>
                </a:solidFill>
                <a:latin typeface="Segoe UI"/>
              </a:rPr>
              <a:t>Q2 '26</a:t>
            </a:r>
          </a:p>
        </p:txBody>
      </p:sp>
      <p:sp>
        <p:nvSpPr>
          <p:cNvPr id="40" name="Rounded Rectangle 39"/>
          <p:cNvSpPr/>
          <p:nvPr/>
        </p:nvSpPr>
        <p:spPr>
          <a:xfrm>
            <a:off x="4379976" y="1645920"/>
            <a:ext cx="3429000" cy="39319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36008" y="1828800"/>
            <a:ext cx="2926080" cy="219456"/>
          </a:xfrm>
          <a:prstGeom prst="rect">
            <a:avLst/>
          </a:prstGeom>
          <a:noFill/>
        </p:spPr>
        <p:txBody>
          <a:bodyPr wrap="square" lIns="0" rIns="0" tIns="0" bIns="0">
            <a:spAutoFit/>
          </a:bodyPr>
          <a:lstStyle/>
          <a:p>
            <a:pPr algn="l"/>
            <a:r>
              <a:rPr sz="1100" b="1">
                <a:solidFill>
                  <a:srgbClr val="2777EF"/>
                </a:solidFill>
                <a:latin typeface="Segoe UI"/>
              </a:rPr>
              <a:t>OVERAGE</a:t>
            </a:r>
          </a:p>
        </p:txBody>
      </p:sp>
      <p:sp>
        <p:nvSpPr>
          <p:cNvPr id="42" name="TextBox 41"/>
          <p:cNvSpPr txBox="1"/>
          <p:nvPr/>
        </p:nvSpPr>
        <p:spPr>
          <a:xfrm>
            <a:off x="4636008" y="2084831"/>
            <a:ext cx="2926080" cy="201168"/>
          </a:xfrm>
          <a:prstGeom prst="rect">
            <a:avLst/>
          </a:prstGeom>
          <a:noFill/>
        </p:spPr>
        <p:txBody>
          <a:bodyPr wrap="square" lIns="0" rIns="0" tIns="0" bIns="0">
            <a:spAutoFit/>
          </a:bodyPr>
          <a:lstStyle/>
          <a:p>
            <a:pPr algn="l"/>
            <a:r>
              <a:rPr sz="800" b="0">
                <a:solidFill>
                  <a:srgbClr val="8A97B0"/>
                </a:solidFill>
                <a:latin typeface="Segoe UI"/>
              </a:rPr>
              <a:t>share of revenue above floors — ESTIMATED</a:t>
            </a:r>
          </a:p>
        </p:txBody>
      </p:sp>
      <p:sp>
        <p:nvSpPr>
          <p:cNvPr id="43" name="Rounded Rectangle 42"/>
          <p:cNvSpPr/>
          <p:nvPr/>
        </p:nvSpPr>
        <p:spPr>
          <a:xfrm>
            <a:off x="4636008" y="3703320"/>
            <a:ext cx="387096" cy="1051560"/>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44568" y="3502152"/>
            <a:ext cx="569976" cy="164592"/>
          </a:xfrm>
          <a:prstGeom prst="rect">
            <a:avLst/>
          </a:prstGeom>
          <a:noFill/>
        </p:spPr>
        <p:txBody>
          <a:bodyPr wrap="square" lIns="0" rIns="0" tIns="0" bIns="0">
            <a:spAutoFit/>
          </a:bodyPr>
          <a:lstStyle/>
          <a:p>
            <a:pPr algn="ctr"/>
            <a:r>
              <a:rPr sz="800" b="1">
                <a:solidFill>
                  <a:srgbClr val="2777EF"/>
                </a:solidFill>
                <a:latin typeface="Segoe UI"/>
              </a:rPr>
              <a:t>11%</a:t>
            </a:r>
          </a:p>
        </p:txBody>
      </p:sp>
      <p:sp>
        <p:nvSpPr>
          <p:cNvPr id="45" name="Rounded Rectangle 44"/>
          <p:cNvSpPr/>
          <p:nvPr/>
        </p:nvSpPr>
        <p:spPr>
          <a:xfrm>
            <a:off x="5141976" y="3559925"/>
            <a:ext cx="387096" cy="1194954"/>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50536" y="3358757"/>
            <a:ext cx="569976" cy="164592"/>
          </a:xfrm>
          <a:prstGeom prst="rect">
            <a:avLst/>
          </a:prstGeom>
          <a:noFill/>
        </p:spPr>
        <p:txBody>
          <a:bodyPr wrap="square" lIns="0" rIns="0" tIns="0" bIns="0">
            <a:spAutoFit/>
          </a:bodyPr>
          <a:lstStyle/>
          <a:p>
            <a:pPr algn="ctr"/>
            <a:r>
              <a:rPr sz="800" b="1">
                <a:solidFill>
                  <a:srgbClr val="2777EF"/>
                </a:solidFill>
                <a:latin typeface="Segoe UI"/>
              </a:rPr>
              <a:t>12.5%</a:t>
            </a:r>
          </a:p>
        </p:txBody>
      </p:sp>
      <p:sp>
        <p:nvSpPr>
          <p:cNvPr id="47" name="Rounded Rectangle 46"/>
          <p:cNvSpPr/>
          <p:nvPr/>
        </p:nvSpPr>
        <p:spPr>
          <a:xfrm>
            <a:off x="5647944" y="3416530"/>
            <a:ext cx="387096" cy="1338349"/>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556504" y="3215362"/>
            <a:ext cx="569976" cy="164592"/>
          </a:xfrm>
          <a:prstGeom prst="rect">
            <a:avLst/>
          </a:prstGeom>
          <a:noFill/>
        </p:spPr>
        <p:txBody>
          <a:bodyPr wrap="square" lIns="0" rIns="0" tIns="0" bIns="0">
            <a:spAutoFit/>
          </a:bodyPr>
          <a:lstStyle/>
          <a:p>
            <a:pPr algn="ctr"/>
            <a:r>
              <a:rPr sz="800" b="1">
                <a:solidFill>
                  <a:srgbClr val="2777EF"/>
                </a:solidFill>
                <a:latin typeface="Segoe UI"/>
              </a:rPr>
              <a:t>14%</a:t>
            </a:r>
          </a:p>
        </p:txBody>
      </p:sp>
      <p:sp>
        <p:nvSpPr>
          <p:cNvPr id="49" name="Rounded Rectangle 48"/>
          <p:cNvSpPr/>
          <p:nvPr/>
        </p:nvSpPr>
        <p:spPr>
          <a:xfrm>
            <a:off x="6153912" y="3273136"/>
            <a:ext cx="387096" cy="1481743"/>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62472" y="3071968"/>
            <a:ext cx="569976" cy="164592"/>
          </a:xfrm>
          <a:prstGeom prst="rect">
            <a:avLst/>
          </a:prstGeom>
          <a:noFill/>
        </p:spPr>
        <p:txBody>
          <a:bodyPr wrap="square" lIns="0" rIns="0" tIns="0" bIns="0">
            <a:spAutoFit/>
          </a:bodyPr>
          <a:lstStyle/>
          <a:p>
            <a:pPr algn="ctr"/>
            <a:r>
              <a:rPr sz="800" b="1">
                <a:solidFill>
                  <a:srgbClr val="2777EF"/>
                </a:solidFill>
                <a:latin typeface="Segoe UI"/>
              </a:rPr>
              <a:t>15.5%</a:t>
            </a:r>
          </a:p>
        </p:txBody>
      </p:sp>
      <p:sp>
        <p:nvSpPr>
          <p:cNvPr id="51" name="Rounded Rectangle 50"/>
          <p:cNvSpPr/>
          <p:nvPr/>
        </p:nvSpPr>
        <p:spPr>
          <a:xfrm>
            <a:off x="6659880" y="3081943"/>
            <a:ext cx="387096" cy="1672936"/>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68440" y="2880775"/>
            <a:ext cx="569976" cy="164592"/>
          </a:xfrm>
          <a:prstGeom prst="rect">
            <a:avLst/>
          </a:prstGeom>
          <a:noFill/>
        </p:spPr>
        <p:txBody>
          <a:bodyPr wrap="square" lIns="0" rIns="0" tIns="0" bIns="0">
            <a:spAutoFit/>
          </a:bodyPr>
          <a:lstStyle/>
          <a:p>
            <a:pPr algn="ctr"/>
            <a:r>
              <a:rPr sz="800" b="1">
                <a:solidFill>
                  <a:srgbClr val="2777EF"/>
                </a:solidFill>
                <a:latin typeface="Segoe UI"/>
              </a:rPr>
              <a:t>17.5%</a:t>
            </a:r>
          </a:p>
        </p:txBody>
      </p:sp>
      <p:sp>
        <p:nvSpPr>
          <p:cNvPr id="53" name="Rounded Rectangle 52"/>
          <p:cNvSpPr/>
          <p:nvPr/>
        </p:nvSpPr>
        <p:spPr>
          <a:xfrm>
            <a:off x="7165848" y="2938549"/>
            <a:ext cx="387096" cy="1816330"/>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074408" y="2737381"/>
            <a:ext cx="569976" cy="164592"/>
          </a:xfrm>
          <a:prstGeom prst="rect">
            <a:avLst/>
          </a:prstGeom>
          <a:noFill/>
        </p:spPr>
        <p:txBody>
          <a:bodyPr wrap="square" lIns="0" rIns="0" tIns="0" bIns="0">
            <a:spAutoFit/>
          </a:bodyPr>
          <a:lstStyle/>
          <a:p>
            <a:pPr algn="ctr"/>
            <a:r>
              <a:rPr sz="800" b="1">
                <a:solidFill>
                  <a:srgbClr val="2777EF"/>
                </a:solidFill>
                <a:latin typeface="Segoe UI"/>
              </a:rPr>
              <a:t>19%</a:t>
            </a:r>
          </a:p>
        </p:txBody>
      </p:sp>
      <p:sp>
        <p:nvSpPr>
          <p:cNvPr id="55" name="TextBox 54"/>
          <p:cNvSpPr txBox="1"/>
          <p:nvPr/>
        </p:nvSpPr>
        <p:spPr>
          <a:xfrm>
            <a:off x="4636008" y="4828032"/>
            <a:ext cx="1188720" cy="182880"/>
          </a:xfrm>
          <a:prstGeom prst="rect">
            <a:avLst/>
          </a:prstGeom>
          <a:noFill/>
        </p:spPr>
        <p:txBody>
          <a:bodyPr wrap="square" lIns="0" rIns="0" tIns="0" bIns="0">
            <a:spAutoFit/>
          </a:bodyPr>
          <a:lstStyle/>
          <a:p>
            <a:pPr algn="l"/>
            <a:r>
              <a:rPr sz="750" b="0">
                <a:solidFill>
                  <a:srgbClr val="8A97B0"/>
                </a:solidFill>
                <a:latin typeface="Segoe UI"/>
              </a:rPr>
              <a:t>Q1 '25</a:t>
            </a:r>
          </a:p>
        </p:txBody>
      </p:sp>
      <p:sp>
        <p:nvSpPr>
          <p:cNvPr id="56" name="TextBox 55"/>
          <p:cNvSpPr txBox="1"/>
          <p:nvPr/>
        </p:nvSpPr>
        <p:spPr>
          <a:xfrm>
            <a:off x="6364224" y="4828032"/>
            <a:ext cx="1188720" cy="182880"/>
          </a:xfrm>
          <a:prstGeom prst="rect">
            <a:avLst/>
          </a:prstGeom>
          <a:noFill/>
        </p:spPr>
        <p:txBody>
          <a:bodyPr wrap="square" lIns="0" rIns="0" tIns="0" bIns="0">
            <a:spAutoFit/>
          </a:bodyPr>
          <a:lstStyle/>
          <a:p>
            <a:pPr algn="r"/>
            <a:r>
              <a:rPr sz="750" b="0">
                <a:solidFill>
                  <a:srgbClr val="8A97B0"/>
                </a:solidFill>
                <a:latin typeface="Segoe UI"/>
              </a:rPr>
              <a:t>Q2 '26</a:t>
            </a:r>
          </a:p>
        </p:txBody>
      </p:sp>
      <p:sp>
        <p:nvSpPr>
          <p:cNvPr id="57" name="TextBox 56"/>
          <p:cNvSpPr txBox="1"/>
          <p:nvPr/>
        </p:nvSpPr>
        <p:spPr>
          <a:xfrm>
            <a:off x="4636008" y="5138928"/>
            <a:ext cx="2926080" cy="219456"/>
          </a:xfrm>
          <a:prstGeom prst="rect">
            <a:avLst/>
          </a:prstGeom>
          <a:noFill/>
        </p:spPr>
        <p:txBody>
          <a:bodyPr wrap="square" lIns="0" rIns="0" tIns="0" bIns="0">
            <a:spAutoFit/>
          </a:bodyPr>
          <a:lstStyle/>
          <a:p>
            <a:pPr algn="l"/>
            <a:r>
              <a:rPr sz="850" b="0">
                <a:solidFill>
                  <a:srgbClr val="5A6478"/>
                </a:solidFill>
                <a:latin typeface="Segoe UI"/>
              </a:rPr>
              <a:t>$0.25B → $0.59B billed per quarter, at list</a:t>
            </a:r>
          </a:p>
        </p:txBody>
      </p:sp>
      <p:sp>
        <p:nvSpPr>
          <p:cNvPr id="58" name="Rounded Rectangle 57"/>
          <p:cNvSpPr/>
          <p:nvPr/>
        </p:nvSpPr>
        <p:spPr>
          <a:xfrm>
            <a:off x="7982712" y="1645920"/>
            <a:ext cx="3429000" cy="393192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238744" y="1828800"/>
            <a:ext cx="2926080" cy="219456"/>
          </a:xfrm>
          <a:prstGeom prst="rect">
            <a:avLst/>
          </a:prstGeom>
          <a:noFill/>
        </p:spPr>
        <p:txBody>
          <a:bodyPr wrap="square" lIns="0" rIns="0" tIns="0" bIns="0">
            <a:spAutoFit/>
          </a:bodyPr>
          <a:lstStyle/>
          <a:p>
            <a:pPr algn="l"/>
            <a:r>
              <a:rPr sz="1100" b="1">
                <a:solidFill>
                  <a:srgbClr val="2777EF"/>
                </a:solidFill>
                <a:latin typeface="Segoe UI"/>
              </a:rPr>
              <a:t>REVENUE GROWTH</a:t>
            </a:r>
          </a:p>
        </p:txBody>
      </p:sp>
      <p:sp>
        <p:nvSpPr>
          <p:cNvPr id="60" name="TextBox 59"/>
          <p:cNvSpPr txBox="1"/>
          <p:nvPr/>
        </p:nvSpPr>
        <p:spPr>
          <a:xfrm>
            <a:off x="8238744" y="2084831"/>
            <a:ext cx="2926080" cy="201168"/>
          </a:xfrm>
          <a:prstGeom prst="rect">
            <a:avLst/>
          </a:prstGeom>
          <a:noFill/>
        </p:spPr>
        <p:txBody>
          <a:bodyPr wrap="square" lIns="0" rIns="0" tIns="0" bIns="0">
            <a:spAutoFit/>
          </a:bodyPr>
          <a:lstStyle/>
          <a:p>
            <a:pPr algn="l"/>
            <a:r>
              <a:rPr sz="800" b="0">
                <a:solidFill>
                  <a:srgbClr val="8A97B0"/>
                </a:solidFill>
                <a:latin typeface="Segoe UI"/>
              </a:rPr>
              <a:t>recognized revenue, median y/y — MEASURED</a:t>
            </a:r>
          </a:p>
        </p:txBody>
      </p:sp>
      <p:sp>
        <p:nvSpPr>
          <p:cNvPr id="61" name="Rounded Rectangle 60"/>
          <p:cNvSpPr/>
          <p:nvPr/>
        </p:nvSpPr>
        <p:spPr>
          <a:xfrm>
            <a:off x="8238744" y="3294380"/>
            <a:ext cx="387096" cy="1460500"/>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147304" y="3093212"/>
            <a:ext cx="569976" cy="164592"/>
          </a:xfrm>
          <a:prstGeom prst="rect">
            <a:avLst/>
          </a:prstGeom>
          <a:noFill/>
        </p:spPr>
        <p:txBody>
          <a:bodyPr wrap="square" lIns="0" rIns="0" tIns="0" bIns="0">
            <a:spAutoFit/>
          </a:bodyPr>
          <a:lstStyle/>
          <a:p>
            <a:pPr algn="ctr"/>
            <a:r>
              <a:rPr sz="800" b="1">
                <a:solidFill>
                  <a:srgbClr val="2777EF"/>
                </a:solidFill>
                <a:latin typeface="Segoe UI"/>
              </a:rPr>
              <a:t>25%</a:t>
            </a:r>
          </a:p>
        </p:txBody>
      </p:sp>
      <p:sp>
        <p:nvSpPr>
          <p:cNvPr id="63" name="Rounded Rectangle 62"/>
          <p:cNvSpPr/>
          <p:nvPr/>
        </p:nvSpPr>
        <p:spPr>
          <a:xfrm>
            <a:off x="8744712" y="3294380"/>
            <a:ext cx="387096" cy="1460500"/>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653272" y="3093212"/>
            <a:ext cx="569976" cy="164592"/>
          </a:xfrm>
          <a:prstGeom prst="rect">
            <a:avLst/>
          </a:prstGeom>
          <a:noFill/>
        </p:spPr>
        <p:txBody>
          <a:bodyPr wrap="square" lIns="0" rIns="0" tIns="0" bIns="0">
            <a:spAutoFit/>
          </a:bodyPr>
          <a:lstStyle/>
          <a:p>
            <a:pPr algn="ctr"/>
            <a:r>
              <a:rPr sz="800" b="1">
                <a:solidFill>
                  <a:srgbClr val="2777EF"/>
                </a:solidFill>
                <a:latin typeface="Segoe UI"/>
              </a:rPr>
              <a:t>25%</a:t>
            </a:r>
          </a:p>
        </p:txBody>
      </p:sp>
      <p:sp>
        <p:nvSpPr>
          <p:cNvPr id="65" name="Rounded Rectangle 64"/>
          <p:cNvSpPr/>
          <p:nvPr/>
        </p:nvSpPr>
        <p:spPr>
          <a:xfrm>
            <a:off x="9250680" y="3119120"/>
            <a:ext cx="387096" cy="1635759"/>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159240" y="2917952"/>
            <a:ext cx="569976" cy="164592"/>
          </a:xfrm>
          <a:prstGeom prst="rect">
            <a:avLst/>
          </a:prstGeom>
          <a:noFill/>
        </p:spPr>
        <p:txBody>
          <a:bodyPr wrap="square" lIns="0" rIns="0" tIns="0" bIns="0">
            <a:spAutoFit/>
          </a:bodyPr>
          <a:lstStyle/>
          <a:p>
            <a:pPr algn="ctr"/>
            <a:r>
              <a:rPr sz="800" b="1">
                <a:solidFill>
                  <a:srgbClr val="2777EF"/>
                </a:solidFill>
                <a:latin typeface="Segoe UI"/>
              </a:rPr>
              <a:t>28%</a:t>
            </a:r>
          </a:p>
        </p:txBody>
      </p:sp>
      <p:sp>
        <p:nvSpPr>
          <p:cNvPr id="67" name="Rounded Rectangle 66"/>
          <p:cNvSpPr/>
          <p:nvPr/>
        </p:nvSpPr>
        <p:spPr>
          <a:xfrm>
            <a:off x="9756648" y="3119120"/>
            <a:ext cx="387096" cy="1635759"/>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665208" y="2917952"/>
            <a:ext cx="569976" cy="164592"/>
          </a:xfrm>
          <a:prstGeom prst="rect">
            <a:avLst/>
          </a:prstGeom>
          <a:noFill/>
        </p:spPr>
        <p:txBody>
          <a:bodyPr wrap="square" lIns="0" rIns="0" tIns="0" bIns="0">
            <a:spAutoFit/>
          </a:bodyPr>
          <a:lstStyle/>
          <a:p>
            <a:pPr algn="ctr"/>
            <a:r>
              <a:rPr sz="800" b="1">
                <a:solidFill>
                  <a:srgbClr val="2777EF"/>
                </a:solidFill>
                <a:latin typeface="Segoe UI"/>
              </a:rPr>
              <a:t>28%</a:t>
            </a:r>
          </a:p>
        </p:txBody>
      </p:sp>
      <p:sp>
        <p:nvSpPr>
          <p:cNvPr id="69" name="Rounded Rectangle 68"/>
          <p:cNvSpPr/>
          <p:nvPr/>
        </p:nvSpPr>
        <p:spPr>
          <a:xfrm>
            <a:off x="10262616" y="3060700"/>
            <a:ext cx="387096" cy="1694179"/>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171176" y="2859532"/>
            <a:ext cx="569976" cy="164592"/>
          </a:xfrm>
          <a:prstGeom prst="rect">
            <a:avLst/>
          </a:prstGeom>
          <a:noFill/>
        </p:spPr>
        <p:txBody>
          <a:bodyPr wrap="square" lIns="0" rIns="0" tIns="0" bIns="0">
            <a:spAutoFit/>
          </a:bodyPr>
          <a:lstStyle/>
          <a:p>
            <a:pPr algn="ctr"/>
            <a:r>
              <a:rPr sz="800" b="1">
                <a:solidFill>
                  <a:srgbClr val="2777EF"/>
                </a:solidFill>
                <a:latin typeface="Segoe UI"/>
              </a:rPr>
              <a:t>29%</a:t>
            </a:r>
          </a:p>
        </p:txBody>
      </p:sp>
      <p:sp>
        <p:nvSpPr>
          <p:cNvPr id="71" name="Rounded Rectangle 70"/>
          <p:cNvSpPr/>
          <p:nvPr/>
        </p:nvSpPr>
        <p:spPr>
          <a:xfrm>
            <a:off x="10768584" y="2885440"/>
            <a:ext cx="387096" cy="1869439"/>
          </a:xfrm>
          <a:prstGeom prst="roundRect">
            <a:avLst>
              <a:gd name="adj" fmla="val 12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0677144" y="2684272"/>
            <a:ext cx="569976" cy="164592"/>
          </a:xfrm>
          <a:prstGeom prst="rect">
            <a:avLst/>
          </a:prstGeom>
          <a:noFill/>
        </p:spPr>
        <p:txBody>
          <a:bodyPr wrap="square" lIns="0" rIns="0" tIns="0" bIns="0">
            <a:spAutoFit/>
          </a:bodyPr>
          <a:lstStyle/>
          <a:p>
            <a:pPr algn="ctr"/>
            <a:r>
              <a:rPr sz="800" b="1">
                <a:solidFill>
                  <a:srgbClr val="2777EF"/>
                </a:solidFill>
                <a:latin typeface="Segoe UI"/>
              </a:rPr>
              <a:t>32%</a:t>
            </a:r>
          </a:p>
        </p:txBody>
      </p:sp>
      <p:sp>
        <p:nvSpPr>
          <p:cNvPr id="73" name="TextBox 72"/>
          <p:cNvSpPr txBox="1"/>
          <p:nvPr/>
        </p:nvSpPr>
        <p:spPr>
          <a:xfrm>
            <a:off x="8238744" y="4828032"/>
            <a:ext cx="1188720" cy="182880"/>
          </a:xfrm>
          <a:prstGeom prst="rect">
            <a:avLst/>
          </a:prstGeom>
          <a:noFill/>
        </p:spPr>
        <p:txBody>
          <a:bodyPr wrap="square" lIns="0" rIns="0" tIns="0" bIns="0">
            <a:spAutoFit/>
          </a:bodyPr>
          <a:lstStyle/>
          <a:p>
            <a:pPr algn="l"/>
            <a:r>
              <a:rPr sz="750" b="0">
                <a:solidFill>
                  <a:srgbClr val="8A97B0"/>
                </a:solidFill>
                <a:latin typeface="Segoe UI"/>
              </a:rPr>
              <a:t>Q1 '25</a:t>
            </a:r>
          </a:p>
        </p:txBody>
      </p:sp>
      <p:sp>
        <p:nvSpPr>
          <p:cNvPr id="74" name="TextBox 73"/>
          <p:cNvSpPr txBox="1"/>
          <p:nvPr/>
        </p:nvSpPr>
        <p:spPr>
          <a:xfrm>
            <a:off x="9966959" y="4828032"/>
            <a:ext cx="1188720" cy="182880"/>
          </a:xfrm>
          <a:prstGeom prst="rect">
            <a:avLst/>
          </a:prstGeom>
          <a:noFill/>
        </p:spPr>
        <p:txBody>
          <a:bodyPr wrap="square" lIns="0" rIns="0" tIns="0" bIns="0">
            <a:spAutoFit/>
          </a:bodyPr>
          <a:lstStyle/>
          <a:p>
            <a:pPr algn="r"/>
            <a:r>
              <a:rPr sz="750" b="0">
                <a:solidFill>
                  <a:srgbClr val="8A97B0"/>
                </a:solidFill>
                <a:latin typeface="Segoe UI"/>
              </a:rPr>
              <a:t>Q2 '26</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rule alone beats the layers — no selection required</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TOTAL RETURN, MACHINE LABOR COHORT VS. ITS SOURCE LAYERS — EQUAL-WEIGHTED, REBALANCED ANNUALLY · MECHANICAL · TO AUG 11, 2026</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474720" y="1609344"/>
            <a:ext cx="2926080" cy="219456"/>
          </a:xfrm>
          <a:prstGeom prst="rect">
            <a:avLst/>
          </a:prstGeom>
          <a:noFill/>
        </p:spPr>
        <p:txBody>
          <a:bodyPr wrap="square" lIns="0" rIns="0" tIns="0" bIns="0">
            <a:spAutoFit/>
          </a:bodyPr>
          <a:lstStyle/>
          <a:p>
            <a:pPr algn="l"/>
            <a:r>
              <a:rPr sz="950" b="1" i="0">
                <a:solidFill>
                  <a:srgbClr val="2777EF"/>
                </a:solidFill>
                <a:latin typeface="Calibri"/>
              </a:rPr>
              <a:t>SINCE CHATGPT (NOV '22)</a:t>
            </a:r>
          </a:p>
        </p:txBody>
      </p:sp>
      <p:sp>
        <p:nvSpPr>
          <p:cNvPr id="6" name="TextBox 5"/>
          <p:cNvSpPr txBox="1"/>
          <p:nvPr/>
        </p:nvSpPr>
        <p:spPr>
          <a:xfrm>
            <a:off x="10332720" y="1609344"/>
            <a:ext cx="1325880" cy="219456"/>
          </a:xfrm>
          <a:prstGeom prst="rect">
            <a:avLst/>
          </a:prstGeom>
          <a:noFill/>
        </p:spPr>
        <p:txBody>
          <a:bodyPr wrap="square" lIns="0" rIns="0" tIns="0" bIns="0">
            <a:spAutoFit/>
          </a:bodyPr>
          <a:lstStyle/>
          <a:p>
            <a:pPr algn="r"/>
            <a:r>
              <a:rPr sz="950" b="1" i="0">
                <a:solidFill>
                  <a:srgbClr val="5A6478"/>
                </a:solidFill>
                <a:latin typeface="Calibri"/>
              </a:rPr>
              <a:t>SINCE JAN '22</a:t>
            </a:r>
          </a:p>
        </p:txBody>
      </p:sp>
      <p:sp>
        <p:nvSpPr>
          <p:cNvPr id="23" name="Rounded Rectangle 22"/>
          <p:cNvSpPr/>
          <p:nvPr/>
        </p:nvSpPr>
        <p:spPr>
          <a:xfrm>
            <a:off x="777240" y="4846320"/>
            <a:ext cx="3429000" cy="1170432"/>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96695" y="4974336"/>
            <a:ext cx="3017520" cy="219456"/>
          </a:xfrm>
          <a:prstGeom prst="rect">
            <a:avLst/>
          </a:prstGeom>
          <a:noFill/>
        </p:spPr>
        <p:txBody>
          <a:bodyPr wrap="square" lIns="0" rIns="0" tIns="0" bIns="0">
            <a:spAutoFit/>
          </a:bodyPr>
          <a:lstStyle/>
          <a:p>
            <a:pPr algn="l"/>
            <a:r>
              <a:rPr sz="950" b="1" i="0">
                <a:solidFill>
                  <a:srgbClr val="2777EF"/>
                </a:solidFill>
                <a:latin typeface="Calibri"/>
              </a:rPr>
              <a:t>THE RULE IS THE ALPHA</a:t>
            </a:r>
          </a:p>
        </p:txBody>
      </p:sp>
      <p:sp>
        <p:nvSpPr>
          <p:cNvPr id="25" name="TextBox 24"/>
          <p:cNvSpPr txBox="1"/>
          <p:nvPr/>
        </p:nvSpPr>
        <p:spPr>
          <a:xfrm>
            <a:off x="996695" y="5248656"/>
            <a:ext cx="3017520" cy="731520"/>
          </a:xfrm>
          <a:prstGeom prst="rect">
            <a:avLst/>
          </a:prstGeom>
          <a:noFill/>
        </p:spPr>
        <p:txBody>
          <a:bodyPr wrap="square" lIns="0" rIns="0" tIns="0" bIns="0">
            <a:spAutoFit/>
          </a:bodyPr>
          <a:lstStyle/>
          <a:p>
            <a:pPr algn="l"/>
            <a:r>
              <a:rPr sz="980" b="0" i="0">
                <a:solidFill>
                  <a:srgbClr val="5A6478"/>
                </a:solidFill>
                <a:latin typeface="Calibri"/>
              </a:rPr>
              <a:t>One mechanical filter — usage-billed or not — separates +218% from +55%. The market pays the billing model, not the sector.</a:t>
            </a:r>
          </a:p>
        </p:txBody>
      </p:sp>
      <p:sp>
        <p:nvSpPr>
          <p:cNvPr id="26" name="Rounded Rectangle 25"/>
          <p:cNvSpPr/>
          <p:nvPr/>
        </p:nvSpPr>
        <p:spPr>
          <a:xfrm>
            <a:off x="4379976" y="4846320"/>
            <a:ext cx="3429000" cy="1170432"/>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99432" y="4974336"/>
            <a:ext cx="3017520" cy="219456"/>
          </a:xfrm>
          <a:prstGeom prst="rect">
            <a:avLst/>
          </a:prstGeom>
          <a:noFill/>
        </p:spPr>
        <p:txBody>
          <a:bodyPr wrap="square" lIns="0" rIns="0" tIns="0" bIns="0">
            <a:spAutoFit/>
          </a:bodyPr>
          <a:lstStyle/>
          <a:p>
            <a:pPr algn="l"/>
            <a:r>
              <a:rPr sz="950" b="1" i="0">
                <a:solidFill>
                  <a:srgbClr val="2777EF"/>
                </a:solidFill>
                <a:latin typeface="Calibri"/>
              </a:rPr>
              <a:t>NO HINDSIGHT INVOLVED</a:t>
            </a:r>
          </a:p>
        </p:txBody>
      </p:sp>
      <p:sp>
        <p:nvSpPr>
          <p:cNvPr id="28" name="TextBox 27"/>
          <p:cNvSpPr txBox="1"/>
          <p:nvPr/>
        </p:nvSpPr>
        <p:spPr>
          <a:xfrm>
            <a:off x="4599432" y="5248656"/>
            <a:ext cx="3017520" cy="731520"/>
          </a:xfrm>
          <a:prstGeom prst="rect">
            <a:avLst/>
          </a:prstGeom>
          <a:noFill/>
        </p:spPr>
        <p:txBody>
          <a:bodyPr wrap="square" lIns="0" rIns="0" tIns="0" bIns="0">
            <a:spAutoFit/>
          </a:bodyPr>
          <a:lstStyle/>
          <a:p>
            <a:pPr algn="l"/>
            <a:r>
              <a:rPr sz="980" b="0" i="0">
                <a:solidFill>
                  <a:srgbClr val="5A6478"/>
                </a:solidFill>
                <a:latin typeface="Calibri"/>
              </a:rPr>
              <a:t>The rule could have been applied in 2022 from public pricing pages alone — nothing about it requires knowing what happened next.</a:t>
            </a:r>
          </a:p>
        </p:txBody>
      </p:sp>
      <p:sp>
        <p:nvSpPr>
          <p:cNvPr id="29" name="Rounded Rectangle 28"/>
          <p:cNvSpPr/>
          <p:nvPr/>
        </p:nvSpPr>
        <p:spPr>
          <a:xfrm>
            <a:off x="7982712" y="4846320"/>
            <a:ext cx="3429000" cy="1170432"/>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02168" y="4974336"/>
            <a:ext cx="3017520" cy="219456"/>
          </a:xfrm>
          <a:prstGeom prst="rect">
            <a:avLst/>
          </a:prstGeom>
          <a:noFill/>
        </p:spPr>
        <p:txBody>
          <a:bodyPr wrap="square" lIns="0" rIns="0" tIns="0" bIns="0">
            <a:spAutoFit/>
          </a:bodyPr>
          <a:lstStyle/>
          <a:p>
            <a:pPr algn="l"/>
            <a:r>
              <a:rPr sz="950" b="1" i="0">
                <a:solidFill>
                  <a:srgbClr val="2777EF"/>
                </a:solidFill>
                <a:latin typeface="Calibri"/>
              </a:rPr>
              <a:t>THE HONEST CUT</a:t>
            </a:r>
          </a:p>
        </p:txBody>
      </p:sp>
      <p:sp>
        <p:nvSpPr>
          <p:cNvPr id="31" name="TextBox 30"/>
          <p:cNvSpPr txBox="1"/>
          <p:nvPr/>
        </p:nvSpPr>
        <p:spPr>
          <a:xfrm>
            <a:off x="8202168" y="5248656"/>
            <a:ext cx="3017520" cy="731520"/>
          </a:xfrm>
          <a:prstGeom prst="rect">
            <a:avLst/>
          </a:prstGeom>
          <a:noFill/>
        </p:spPr>
        <p:txBody>
          <a:bodyPr wrap="square" lIns="0" rIns="0" tIns="0" bIns="0">
            <a:spAutoFit/>
          </a:bodyPr>
          <a:lstStyle/>
          <a:p>
            <a:pPr algn="l"/>
            <a:r>
              <a:rPr sz="980" b="0" i="0">
                <a:solidFill>
                  <a:srgbClr val="5A6478"/>
                </a:solidFill>
                <a:latin typeface="Calibri"/>
              </a:rPr>
              <a:t>The cohort also absorbed the deepest 2022 derate (−60%); from Jan '22 it's +18% — behind both layers on the full period; the derate cut deepest exactly here.</a:t>
            </a:r>
          </a:p>
        </p:txBody>
      </p:sp>
      <p:sp>
        <p:nvSpPr>
          <p:cNvPr id="32" name="Rounded Rectangle 31"/>
          <p:cNvSpPr/>
          <p:nvPr/>
        </p:nvSpPr>
        <p:spPr>
          <a:xfrm>
            <a:off x="777240" y="6163056"/>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tape pays consumption over seats  — mechanically, on both sides of the derate.</a:t>
            </a:r>
            <a:r>
              <a:rPr sz="1200">
                <a:solidFill>
                  <a:srgbClr val="1A2233"/>
                </a:solidFill>
                <a:latin typeface="Calibri"/>
              </a:rPr>
              <a:t/>
            </a:r>
          </a:p>
        </p:txBody>
      </p:sp>
      <p:sp>
        <p:nvSpPr>
          <p:cNvPr id="33" name="TextBox 32"/>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4" name="TextBox 33"/>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75</a:t>
            </a:r>
          </a:p>
        </p:txBody>
      </p:sp>
      <p:sp>
        <p:nvSpPr>
          <p:cNvPr id="35" name="TextBox 34"/>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Equal-weighted total return, rebalanced each December; the 3 constituents, equal weight. Adjusted closes via Alpha Vantage, Jul 2026. A three-name equal-weight series is concentrated — the return evidence is directional, not statistical. Mechanical rule; not a portfolio or a recommendation.</a:t>
            </a:r>
          </a:p>
        </p:txBody>
      </p:sp>
      <p:sp>
        <p:nvSpPr>
          <p:cNvPr id="36" name="TextBox 35"/>
          <p:cNvSpPr txBox="1"/>
          <p:nvPr/>
        </p:nvSpPr>
        <p:spPr>
          <a:xfrm>
            <a:off x="777240" y="2066544"/>
            <a:ext cx="2606040" cy="256032"/>
          </a:xfrm>
          <a:prstGeom prst="rect">
            <a:avLst/>
          </a:prstGeom>
          <a:noFill/>
        </p:spPr>
        <p:txBody>
          <a:bodyPr wrap="square" lIns="0" rIns="0" tIns="0" bIns="0">
            <a:spAutoFit/>
          </a:bodyPr>
          <a:lstStyle/>
          <a:p>
            <a:pPr algn="l"/>
            <a:r>
              <a:rPr sz="1200" b="1" i="0">
                <a:solidFill>
                  <a:srgbClr val="2777EF"/>
                </a:solidFill>
                <a:latin typeface="Calibri"/>
              </a:rPr>
              <a:t>MACHINE LABOR COHORT</a:t>
            </a:r>
          </a:p>
        </p:txBody>
      </p:sp>
      <p:sp>
        <p:nvSpPr>
          <p:cNvPr id="37" name="Rounded Rectangle 36"/>
          <p:cNvSpPr/>
          <p:nvPr/>
        </p:nvSpPr>
        <p:spPr>
          <a:xfrm>
            <a:off x="3474720" y="1975104"/>
            <a:ext cx="6400800" cy="438912"/>
          </a:xfrm>
          <a:prstGeom prst="roundRect">
            <a:avLst>
              <a:gd name="adj" fmla="val 50000"/>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985248" y="2048256"/>
            <a:ext cx="1097280" cy="274320"/>
          </a:xfrm>
          <a:prstGeom prst="rect">
            <a:avLst/>
          </a:prstGeom>
          <a:noFill/>
        </p:spPr>
        <p:txBody>
          <a:bodyPr wrap="square" lIns="0" rIns="0" tIns="0" bIns="0">
            <a:spAutoFit/>
          </a:bodyPr>
          <a:lstStyle/>
          <a:p>
            <a:pPr algn="l"/>
            <a:r>
              <a:rPr sz="1300" b="1" i="0">
                <a:solidFill>
                  <a:srgbClr val="2777EF"/>
                </a:solidFill>
                <a:latin typeface="Calibri"/>
              </a:rPr>
              <a:t>+218%</a:t>
            </a:r>
          </a:p>
        </p:txBody>
      </p:sp>
      <p:sp>
        <p:nvSpPr>
          <p:cNvPr id="39" name="TextBox 38"/>
          <p:cNvSpPr txBox="1"/>
          <p:nvPr/>
        </p:nvSpPr>
        <p:spPr>
          <a:xfrm>
            <a:off x="10332720" y="2066544"/>
            <a:ext cx="1325880" cy="237744"/>
          </a:xfrm>
          <a:prstGeom prst="rect">
            <a:avLst/>
          </a:prstGeom>
          <a:noFill/>
        </p:spPr>
        <p:txBody>
          <a:bodyPr wrap="square" lIns="0" rIns="0" tIns="0" bIns="0">
            <a:spAutoFit/>
          </a:bodyPr>
          <a:lstStyle/>
          <a:p>
            <a:pPr algn="r"/>
            <a:r>
              <a:rPr sz="1050" b="1" i="0">
                <a:solidFill>
                  <a:srgbClr val="1A2233"/>
                </a:solidFill>
                <a:latin typeface="Calibri"/>
              </a:rPr>
              <a:t>+18%</a:t>
            </a:r>
          </a:p>
        </p:txBody>
      </p:sp>
      <p:sp>
        <p:nvSpPr>
          <p:cNvPr id="40" name="TextBox 39"/>
          <p:cNvSpPr txBox="1"/>
          <p:nvPr/>
        </p:nvSpPr>
        <p:spPr>
          <a:xfrm>
            <a:off x="777240" y="2724912"/>
            <a:ext cx="2606040" cy="256032"/>
          </a:xfrm>
          <a:prstGeom prst="rect">
            <a:avLst/>
          </a:prstGeom>
          <a:noFill/>
        </p:spPr>
        <p:txBody>
          <a:bodyPr wrap="square" lIns="0" rIns="0" tIns="0" bIns="0">
            <a:spAutoFit/>
          </a:bodyPr>
          <a:lstStyle/>
          <a:p>
            <a:pPr algn="l"/>
            <a:r>
              <a:rPr sz="1200" b="1" i="0">
                <a:solidFill>
                  <a:srgbClr val="1A2233"/>
                </a:solidFill>
                <a:latin typeface="Calibri"/>
              </a:rPr>
              <a:t>L2 · State</a:t>
            </a:r>
          </a:p>
        </p:txBody>
      </p:sp>
      <p:sp>
        <p:nvSpPr>
          <p:cNvPr id="41" name="Rounded Rectangle 40"/>
          <p:cNvSpPr/>
          <p:nvPr/>
        </p:nvSpPr>
        <p:spPr>
          <a:xfrm>
            <a:off x="3474720" y="2633472"/>
            <a:ext cx="4412919" cy="438912"/>
          </a:xfrm>
          <a:prstGeom prst="roundRect">
            <a:avLst>
              <a:gd name="adj" fmla="val 50000"/>
            </a:avLst>
          </a:prstGeom>
          <a:solidFill>
            <a:srgbClr val="29C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997367" y="2706624"/>
            <a:ext cx="1097280" cy="274320"/>
          </a:xfrm>
          <a:prstGeom prst="rect">
            <a:avLst/>
          </a:prstGeom>
          <a:noFill/>
        </p:spPr>
        <p:txBody>
          <a:bodyPr wrap="square" lIns="0" rIns="0" tIns="0" bIns="0">
            <a:spAutoFit/>
          </a:bodyPr>
          <a:lstStyle/>
          <a:p>
            <a:pPr algn="l"/>
            <a:r>
              <a:rPr sz="1300" b="1" i="0">
                <a:solidFill>
                  <a:srgbClr val="1A2233"/>
                </a:solidFill>
                <a:latin typeface="Calibri"/>
              </a:rPr>
              <a:t>+177%</a:t>
            </a:r>
          </a:p>
        </p:txBody>
      </p:sp>
      <p:sp>
        <p:nvSpPr>
          <p:cNvPr id="43" name="TextBox 42"/>
          <p:cNvSpPr txBox="1"/>
          <p:nvPr/>
        </p:nvSpPr>
        <p:spPr>
          <a:xfrm>
            <a:off x="10332720" y="2724912"/>
            <a:ext cx="1325880" cy="237744"/>
          </a:xfrm>
          <a:prstGeom prst="rect">
            <a:avLst/>
          </a:prstGeom>
          <a:noFill/>
        </p:spPr>
        <p:txBody>
          <a:bodyPr wrap="square" lIns="0" rIns="0" tIns="0" bIns="0">
            <a:spAutoFit/>
          </a:bodyPr>
          <a:lstStyle/>
          <a:p>
            <a:pPr algn="r"/>
            <a:r>
              <a:rPr sz="1050" b="0" i="0">
                <a:solidFill>
                  <a:srgbClr val="1A2233"/>
                </a:solidFill>
                <a:latin typeface="Calibri"/>
              </a:rPr>
              <a:t>+28%</a:t>
            </a:r>
          </a:p>
        </p:txBody>
      </p:sp>
      <p:sp>
        <p:nvSpPr>
          <p:cNvPr id="44" name="TextBox 43"/>
          <p:cNvSpPr txBox="1"/>
          <p:nvPr/>
        </p:nvSpPr>
        <p:spPr>
          <a:xfrm>
            <a:off x="777240" y="3383279"/>
            <a:ext cx="2606040" cy="256032"/>
          </a:xfrm>
          <a:prstGeom prst="rect">
            <a:avLst/>
          </a:prstGeom>
          <a:noFill/>
        </p:spPr>
        <p:txBody>
          <a:bodyPr wrap="square" lIns="0" rIns="0" tIns="0" bIns="0">
            <a:spAutoFit/>
          </a:bodyPr>
          <a:lstStyle/>
          <a:p>
            <a:pPr algn="l"/>
            <a:r>
              <a:rPr sz="1200" b="1" i="0">
                <a:solidFill>
                  <a:srgbClr val="1A2233"/>
                </a:solidFill>
                <a:latin typeface="Calibri"/>
              </a:rPr>
              <a:t>L3 · Work</a:t>
            </a:r>
          </a:p>
        </p:txBody>
      </p:sp>
      <p:sp>
        <p:nvSpPr>
          <p:cNvPr id="45" name="Rounded Rectangle 44"/>
          <p:cNvSpPr/>
          <p:nvPr/>
        </p:nvSpPr>
        <p:spPr>
          <a:xfrm>
            <a:off x="3474720" y="3291839"/>
            <a:ext cx="4045593" cy="438912"/>
          </a:xfrm>
          <a:prstGeom prst="roundRect">
            <a:avLst>
              <a:gd name="adj" fmla="val 50000"/>
            </a:avLst>
          </a:prstGeom>
          <a:solidFill>
            <a:srgbClr val="1B3F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30041" y="3364991"/>
            <a:ext cx="1097280" cy="274320"/>
          </a:xfrm>
          <a:prstGeom prst="rect">
            <a:avLst/>
          </a:prstGeom>
          <a:noFill/>
        </p:spPr>
        <p:txBody>
          <a:bodyPr wrap="square" lIns="0" rIns="0" tIns="0" bIns="0">
            <a:spAutoFit/>
          </a:bodyPr>
          <a:lstStyle/>
          <a:p>
            <a:pPr algn="l"/>
            <a:r>
              <a:rPr sz="1300" b="1" i="0">
                <a:solidFill>
                  <a:srgbClr val="1A2233"/>
                </a:solidFill>
                <a:latin typeface="Calibri"/>
              </a:rPr>
              <a:t>+175%</a:t>
            </a:r>
          </a:p>
        </p:txBody>
      </p:sp>
      <p:sp>
        <p:nvSpPr>
          <p:cNvPr id="47" name="TextBox 46"/>
          <p:cNvSpPr txBox="1"/>
          <p:nvPr/>
        </p:nvSpPr>
        <p:spPr>
          <a:xfrm>
            <a:off x="10332720" y="3383279"/>
            <a:ext cx="1325880" cy="237744"/>
          </a:xfrm>
          <a:prstGeom prst="rect">
            <a:avLst/>
          </a:prstGeom>
          <a:noFill/>
        </p:spPr>
        <p:txBody>
          <a:bodyPr wrap="square" lIns="0" rIns="0" tIns="0" bIns="0">
            <a:spAutoFit/>
          </a:bodyPr>
          <a:lstStyle/>
          <a:p>
            <a:pPr algn="r"/>
            <a:r>
              <a:rPr sz="1050" b="0" i="0">
                <a:solidFill>
                  <a:srgbClr val="1A2233"/>
                </a:solidFill>
                <a:latin typeface="Calibri"/>
              </a:rPr>
              <a:t>+46%</a:t>
            </a:r>
          </a:p>
        </p:txBody>
      </p:sp>
      <p:sp>
        <p:nvSpPr>
          <p:cNvPr id="48" name="TextBox 47"/>
          <p:cNvSpPr txBox="1"/>
          <p:nvPr/>
        </p:nvSpPr>
        <p:spPr>
          <a:xfrm>
            <a:off x="777240" y="4041647"/>
            <a:ext cx="2606040" cy="256032"/>
          </a:xfrm>
          <a:prstGeom prst="rect">
            <a:avLst/>
          </a:prstGeom>
          <a:noFill/>
        </p:spPr>
        <p:txBody>
          <a:bodyPr wrap="square" lIns="0" rIns="0" tIns="0" bIns="0">
            <a:spAutoFit/>
          </a:bodyPr>
          <a:lstStyle/>
          <a:p>
            <a:pPr algn="l"/>
            <a:r>
              <a:rPr sz="1200" b="1" i="0">
                <a:solidFill>
                  <a:srgbClr val="5A6478"/>
                </a:solidFill>
                <a:latin typeface="Calibri"/>
              </a:rPr>
              <a:t>L4 · Apps</a:t>
            </a:r>
          </a:p>
        </p:txBody>
      </p:sp>
      <p:sp>
        <p:nvSpPr>
          <p:cNvPr id="49" name="Rounded Rectangle 48"/>
          <p:cNvSpPr/>
          <p:nvPr/>
        </p:nvSpPr>
        <p:spPr>
          <a:xfrm>
            <a:off x="3474720" y="3950207"/>
            <a:ext cx="1279846" cy="438912"/>
          </a:xfrm>
          <a:prstGeom prst="roundRect">
            <a:avLst>
              <a:gd name="adj" fmla="val 50000"/>
            </a:avLst>
          </a:prstGeom>
          <a:solidFill>
            <a:srgbClr val="C9D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864294" y="4023359"/>
            <a:ext cx="1097280" cy="274320"/>
          </a:xfrm>
          <a:prstGeom prst="rect">
            <a:avLst/>
          </a:prstGeom>
          <a:noFill/>
        </p:spPr>
        <p:txBody>
          <a:bodyPr wrap="square" lIns="0" rIns="0" tIns="0" bIns="0">
            <a:spAutoFit/>
          </a:bodyPr>
          <a:lstStyle/>
          <a:p>
            <a:pPr algn="l"/>
            <a:r>
              <a:rPr sz="1300" b="1" i="0">
                <a:solidFill>
                  <a:srgbClr val="5A6478"/>
                </a:solidFill>
                <a:latin typeface="Calibri"/>
              </a:rPr>
              <a:t>+55%</a:t>
            </a:r>
          </a:p>
        </p:txBody>
      </p:sp>
      <p:sp>
        <p:nvSpPr>
          <p:cNvPr id="51" name="TextBox 50"/>
          <p:cNvSpPr txBox="1"/>
          <p:nvPr/>
        </p:nvSpPr>
        <p:spPr>
          <a:xfrm>
            <a:off x="10332720" y="4041647"/>
            <a:ext cx="1325880" cy="237744"/>
          </a:xfrm>
          <a:prstGeom prst="rect">
            <a:avLst/>
          </a:prstGeom>
          <a:noFill/>
        </p:spPr>
        <p:txBody>
          <a:bodyPr wrap="square" lIns="0" rIns="0" tIns="0" bIns="0">
            <a:spAutoFit/>
          </a:bodyPr>
          <a:lstStyle/>
          <a:p>
            <a:pPr algn="r"/>
            <a:r>
              <a:rPr sz="1050" b="0" i="0">
                <a:solidFill>
                  <a:srgbClr val="5A6478"/>
                </a:solidFill>
                <a:latin typeface="Calibri"/>
              </a:rPr>
              <a:t>-9%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The revenue multiple, 2020 → today: 42x, 10x, 16x</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MACHINE LABOR COHORT — EV / NEXT-4Q REVENUE (LEFT) AND REVENUE GROWTH Y/Y (RIGHT), Q4 2020 → TODAY</a:t>
            </a:r>
            <a:endParaRPr lang="en-US" sz="1150" dirty="0"/>
          </a:p>
        </p:txBody>
      </p:sp>
      <p:sp>
        <p:nvSpPr>
          <p:cNvPr id="22" name="Text 20"/>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3" name="Text 21"/>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History: quarterly enterprise values (FMP: shares × price + net debt, fiscal quarter-ends) ÷ realized next-4-quarter revenue (FMP income statements). Series begins at Snowflake’s first post-IPO quarter-end. Aug ’26 = consensus NTM at Aug-11 marks. Approximate.</a:t>
            </a:r>
            <a:endParaRPr lang="en-US" sz="75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76</a:t>
            </a:fld>
            <a:endParaRPr lang="en-US"/>
          </a:p>
        </p:txBody>
      </p:sp>
      <p:cxnSp>
        <p:nvCxnSpPr>
          <p:cNvPr id="26" name="Connector 25"/>
          <p:cNvCxnSpPr/>
          <p:nvPr/>
        </p:nvCxnSpPr>
        <p:spPr>
          <a:xfrm>
            <a:off x="1188720" y="4468368"/>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4376928"/>
            <a:ext cx="640080" cy="182880"/>
          </a:xfrm>
          <a:prstGeom prst="rect">
            <a:avLst/>
          </a:prstGeom>
          <a:noFill/>
        </p:spPr>
        <p:txBody>
          <a:bodyPr wrap="square" lIns="0" rIns="0" tIns="0" bIns="0">
            <a:spAutoFit/>
          </a:bodyPr>
          <a:lstStyle/>
          <a:p>
            <a:pPr algn="r"/>
            <a:r>
              <a:rPr sz="900" b="0">
                <a:solidFill>
                  <a:srgbClr val="8A97B0"/>
                </a:solidFill>
                <a:latin typeface="Segoe UI"/>
              </a:rPr>
              <a:t>10x</a:t>
            </a:r>
          </a:p>
        </p:txBody>
      </p:sp>
      <p:cxnSp>
        <p:nvCxnSpPr>
          <p:cNvPr id="28" name="Connector 27"/>
          <p:cNvCxnSpPr/>
          <p:nvPr/>
        </p:nvCxnSpPr>
        <p:spPr>
          <a:xfrm>
            <a:off x="1188720" y="3797808"/>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3706368"/>
            <a:ext cx="640080" cy="182880"/>
          </a:xfrm>
          <a:prstGeom prst="rect">
            <a:avLst/>
          </a:prstGeom>
          <a:noFill/>
        </p:spPr>
        <p:txBody>
          <a:bodyPr wrap="square" lIns="0" rIns="0" tIns="0" bIns="0">
            <a:spAutoFit/>
          </a:bodyPr>
          <a:lstStyle/>
          <a:p>
            <a:pPr algn="r"/>
            <a:r>
              <a:rPr sz="900" b="0">
                <a:solidFill>
                  <a:srgbClr val="8A97B0"/>
                </a:solidFill>
                <a:latin typeface="Segoe UI"/>
              </a:rPr>
              <a:t>20x</a:t>
            </a:r>
          </a:p>
        </p:txBody>
      </p:sp>
      <p:cxnSp>
        <p:nvCxnSpPr>
          <p:cNvPr id="30" name="Connector 29"/>
          <p:cNvCxnSpPr/>
          <p:nvPr/>
        </p:nvCxnSpPr>
        <p:spPr>
          <a:xfrm>
            <a:off x="1188720" y="3127248"/>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3035808"/>
            <a:ext cx="640080" cy="182880"/>
          </a:xfrm>
          <a:prstGeom prst="rect">
            <a:avLst/>
          </a:prstGeom>
          <a:noFill/>
        </p:spPr>
        <p:txBody>
          <a:bodyPr wrap="square" lIns="0" rIns="0" tIns="0" bIns="0">
            <a:spAutoFit/>
          </a:bodyPr>
          <a:lstStyle/>
          <a:p>
            <a:pPr algn="r"/>
            <a:r>
              <a:rPr sz="900" b="0">
                <a:solidFill>
                  <a:srgbClr val="8A97B0"/>
                </a:solidFill>
                <a:latin typeface="Segoe UI"/>
              </a:rPr>
              <a:t>30x</a:t>
            </a:r>
          </a:p>
        </p:txBody>
      </p:sp>
      <p:cxnSp>
        <p:nvCxnSpPr>
          <p:cNvPr id="32" name="Connector 31"/>
          <p:cNvCxnSpPr/>
          <p:nvPr/>
        </p:nvCxnSpPr>
        <p:spPr>
          <a:xfrm>
            <a:off x="1188720" y="2456688"/>
            <a:ext cx="10058400" cy="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365248"/>
            <a:ext cx="640080" cy="182880"/>
          </a:xfrm>
          <a:prstGeom prst="rect">
            <a:avLst/>
          </a:prstGeom>
          <a:noFill/>
        </p:spPr>
        <p:txBody>
          <a:bodyPr wrap="square" lIns="0" rIns="0" tIns="0" bIns="0">
            <a:spAutoFit/>
          </a:bodyPr>
          <a:lstStyle/>
          <a:p>
            <a:pPr algn="r"/>
            <a:r>
              <a:rPr sz="900" b="0">
                <a:solidFill>
                  <a:srgbClr val="8A97B0"/>
                </a:solidFill>
                <a:latin typeface="Segoe UI"/>
              </a:rPr>
              <a:t>40x</a:t>
            </a:r>
          </a:p>
        </p:txBody>
      </p:sp>
      <p:sp>
        <p:nvSpPr>
          <p:cNvPr id="34" name="TextBox 33"/>
          <p:cNvSpPr txBox="1"/>
          <p:nvPr/>
        </p:nvSpPr>
        <p:spPr>
          <a:xfrm>
            <a:off x="11320272" y="4376928"/>
            <a:ext cx="566928" cy="182880"/>
          </a:xfrm>
          <a:prstGeom prst="rect">
            <a:avLst/>
          </a:prstGeom>
          <a:noFill/>
        </p:spPr>
        <p:txBody>
          <a:bodyPr wrap="square" lIns="0" rIns="0" tIns="0" bIns="0">
            <a:spAutoFit/>
          </a:bodyPr>
          <a:lstStyle/>
          <a:p>
            <a:pPr algn="l"/>
            <a:r>
              <a:rPr sz="850" b="0">
                <a:solidFill>
                  <a:srgbClr val="9AA6BC"/>
                </a:solidFill>
                <a:latin typeface="Segoe UI"/>
              </a:rPr>
              <a:t>20%</a:t>
            </a:r>
          </a:p>
        </p:txBody>
      </p:sp>
      <p:sp>
        <p:nvSpPr>
          <p:cNvPr id="35" name="TextBox 34"/>
          <p:cNvSpPr txBox="1"/>
          <p:nvPr/>
        </p:nvSpPr>
        <p:spPr>
          <a:xfrm>
            <a:off x="11320272" y="3706368"/>
            <a:ext cx="566928" cy="182880"/>
          </a:xfrm>
          <a:prstGeom prst="rect">
            <a:avLst/>
          </a:prstGeom>
          <a:noFill/>
        </p:spPr>
        <p:txBody>
          <a:bodyPr wrap="square" lIns="0" rIns="0" tIns="0" bIns="0">
            <a:spAutoFit/>
          </a:bodyPr>
          <a:lstStyle/>
          <a:p>
            <a:pPr algn="l"/>
            <a:r>
              <a:rPr sz="850" b="0">
                <a:solidFill>
                  <a:srgbClr val="9AA6BC"/>
                </a:solidFill>
                <a:latin typeface="Segoe UI"/>
              </a:rPr>
              <a:t>40%</a:t>
            </a:r>
          </a:p>
        </p:txBody>
      </p:sp>
      <p:sp>
        <p:nvSpPr>
          <p:cNvPr id="36" name="TextBox 35"/>
          <p:cNvSpPr txBox="1"/>
          <p:nvPr/>
        </p:nvSpPr>
        <p:spPr>
          <a:xfrm>
            <a:off x="11320272" y="3035808"/>
            <a:ext cx="566928" cy="182880"/>
          </a:xfrm>
          <a:prstGeom prst="rect">
            <a:avLst/>
          </a:prstGeom>
          <a:noFill/>
        </p:spPr>
        <p:txBody>
          <a:bodyPr wrap="square" lIns="0" rIns="0" tIns="0" bIns="0">
            <a:spAutoFit/>
          </a:bodyPr>
          <a:lstStyle/>
          <a:p>
            <a:pPr algn="l"/>
            <a:r>
              <a:rPr sz="850" b="0">
                <a:solidFill>
                  <a:srgbClr val="9AA6BC"/>
                </a:solidFill>
                <a:latin typeface="Segoe UI"/>
              </a:rPr>
              <a:t>60%</a:t>
            </a:r>
          </a:p>
        </p:txBody>
      </p:sp>
      <p:sp>
        <p:nvSpPr>
          <p:cNvPr id="37" name="TextBox 36"/>
          <p:cNvSpPr txBox="1"/>
          <p:nvPr/>
        </p:nvSpPr>
        <p:spPr>
          <a:xfrm>
            <a:off x="11320272" y="2365248"/>
            <a:ext cx="566928" cy="182880"/>
          </a:xfrm>
          <a:prstGeom prst="rect">
            <a:avLst/>
          </a:prstGeom>
          <a:noFill/>
        </p:spPr>
        <p:txBody>
          <a:bodyPr wrap="square" lIns="0" rIns="0" tIns="0" bIns="0">
            <a:spAutoFit/>
          </a:bodyPr>
          <a:lstStyle/>
          <a:p>
            <a:pPr algn="l"/>
            <a:r>
              <a:rPr sz="850" b="0">
                <a:solidFill>
                  <a:srgbClr val="9AA6BC"/>
                </a:solidFill>
                <a:latin typeface="Segoe UI"/>
              </a:rPr>
              <a:t>80%</a:t>
            </a:r>
          </a:p>
        </p:txBody>
      </p:sp>
      <p:cxnSp>
        <p:nvCxnSpPr>
          <p:cNvPr id="38" name="Connector 37"/>
          <p:cNvCxnSpPr/>
          <p:nvPr/>
        </p:nvCxnSpPr>
        <p:spPr>
          <a:xfrm flipV="1">
            <a:off x="1853738" y="2795320"/>
            <a:ext cx="436418" cy="211227"/>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290156" y="2657856"/>
            <a:ext cx="436418" cy="137464"/>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726574" y="2392984"/>
            <a:ext cx="436418" cy="264872"/>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162992" y="2392984"/>
            <a:ext cx="436418" cy="33528"/>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3599410" y="2426512"/>
            <a:ext cx="436419" cy="264872"/>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4035829" y="2691384"/>
            <a:ext cx="436418" cy="204520"/>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472247" y="2895904"/>
            <a:ext cx="436418" cy="459334"/>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908665" y="3355238"/>
            <a:ext cx="436418" cy="398983"/>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345083" y="3754221"/>
            <a:ext cx="436418" cy="217932"/>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781501" y="3972153"/>
            <a:ext cx="436419" cy="60351"/>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217920" y="4032504"/>
            <a:ext cx="436418" cy="127406"/>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654338" y="4159910"/>
            <a:ext cx="436418" cy="13411"/>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090756" y="4173321"/>
            <a:ext cx="436418" cy="20117"/>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7527174" y="4193438"/>
            <a:ext cx="436418" cy="147523"/>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7963592" y="4273905"/>
            <a:ext cx="436418" cy="67056"/>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8400010" y="4273905"/>
            <a:ext cx="436419" cy="40234"/>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836429" y="4280611"/>
            <a:ext cx="436418" cy="33528"/>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9272847" y="4176674"/>
            <a:ext cx="436418" cy="103937"/>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709265" y="4176674"/>
            <a:ext cx="436418" cy="73762"/>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0145683" y="4133087"/>
            <a:ext cx="436418" cy="117349"/>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10582101" y="4052620"/>
            <a:ext cx="436419" cy="80467"/>
          </a:xfrm>
          <a:prstGeom prst="line">
            <a:avLst/>
          </a:prstGeom>
          <a:ln w="19050">
            <a:solidFill>
              <a:srgbClr val="9AA6BC"/>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1824477" y="2977286"/>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2260895" y="276606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2697313" y="2628595"/>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3133731" y="2363724"/>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3570150" y="2397252"/>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4006568" y="2662123"/>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4442986" y="2866644"/>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4879404" y="3325977"/>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5315822" y="372496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5752241" y="3942892"/>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Oval 68"/>
          <p:cNvSpPr/>
          <p:nvPr/>
        </p:nvSpPr>
        <p:spPr>
          <a:xfrm>
            <a:off x="6188659" y="4003243"/>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Oval 69"/>
          <p:cNvSpPr/>
          <p:nvPr/>
        </p:nvSpPr>
        <p:spPr>
          <a:xfrm>
            <a:off x="6625077" y="4130649"/>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7061495" y="414406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7497913" y="4164177"/>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934331" y="431170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8370750" y="4244644"/>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8807168" y="4284878"/>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9243586" y="425135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680004" y="4147413"/>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10116422" y="4221175"/>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10552841" y="4103827"/>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10989259" y="4023360"/>
            <a:ext cx="58521" cy="58521"/>
          </a:xfrm>
          <a:prstGeom prst="ellipse">
            <a:avLst/>
          </a:prstGeom>
          <a:solidFill>
            <a:srgbClr val="9AA6BC"/>
          </a:solidFill>
          <a:ln w="9525">
            <a:solidFill>
              <a:srgbClr val="9AA6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1417320" y="2510332"/>
            <a:ext cx="436418" cy="0"/>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853738" y="2510332"/>
            <a:ext cx="436418" cy="509626"/>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2290156" y="2845612"/>
            <a:ext cx="436418" cy="174346"/>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2726574" y="2342692"/>
            <a:ext cx="436418" cy="502920"/>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3162992" y="2342692"/>
            <a:ext cx="436418" cy="643738"/>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3599410" y="2986430"/>
            <a:ext cx="436419" cy="838200"/>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4035829" y="3824630"/>
            <a:ext cx="436418" cy="207874"/>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4472247" y="4032504"/>
            <a:ext cx="436418" cy="181051"/>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4908665" y="4213555"/>
            <a:ext cx="436418" cy="40233"/>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5345083" y="4240377"/>
            <a:ext cx="436418" cy="13411"/>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5781501" y="4086148"/>
            <a:ext cx="436419" cy="154229"/>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6217920" y="4086148"/>
            <a:ext cx="436418" cy="107290"/>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654338" y="4079443"/>
            <a:ext cx="436418" cy="113995"/>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7090756" y="4079443"/>
            <a:ext cx="436418" cy="147523"/>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7527174" y="4226966"/>
            <a:ext cx="436418" cy="207874"/>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7963592" y="4421428"/>
            <a:ext cx="436418" cy="13412"/>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400010" y="4421428"/>
            <a:ext cx="436419" cy="0"/>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836429" y="4421428"/>
            <a:ext cx="436418" cy="60351"/>
          </a:xfrm>
          <a:prstGeom prst="line">
            <a:avLst/>
          </a:prstGeom>
          <a:ln w="24130">
            <a:solidFill>
              <a:srgbClr val="2777EF"/>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1376172" y="2469184"/>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812590" y="2469184"/>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Oval 100"/>
          <p:cNvSpPr/>
          <p:nvPr/>
        </p:nvSpPr>
        <p:spPr>
          <a:xfrm>
            <a:off x="2249008" y="2978810"/>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Oval 101"/>
          <p:cNvSpPr/>
          <p:nvPr/>
        </p:nvSpPr>
        <p:spPr>
          <a:xfrm>
            <a:off x="2685426" y="2804464"/>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3121844" y="2301544"/>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3558262" y="2945282"/>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3994681" y="3783482"/>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4431099" y="3991356"/>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4867517" y="4172407"/>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5303935" y="4212640"/>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5740353" y="4199229"/>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6176772" y="4045000"/>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6613190" y="4152290"/>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7049608" y="4038295"/>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7486026" y="4185818"/>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7922444" y="4393692"/>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8358862" y="4380280"/>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8795281" y="4380280"/>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Oval 116"/>
          <p:cNvSpPr/>
          <p:nvPr/>
        </p:nvSpPr>
        <p:spPr>
          <a:xfrm>
            <a:off x="9231699" y="4440631"/>
            <a:ext cx="82296" cy="82296"/>
          </a:xfrm>
          <a:prstGeom prst="ellipse">
            <a:avLst/>
          </a:prstGeom>
          <a:solidFill>
            <a:srgbClr val="2777EF"/>
          </a:solidFill>
          <a:ln w="952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8" name="Connector 117"/>
          <p:cNvCxnSpPr/>
          <p:nvPr/>
        </p:nvCxnSpPr>
        <p:spPr>
          <a:xfrm flipV="1">
            <a:off x="9272847" y="4032504"/>
            <a:ext cx="1745673" cy="449275"/>
          </a:xfrm>
          <a:prstGeom prst="line">
            <a:avLst/>
          </a:prstGeom>
          <a:ln w="17780">
            <a:solidFill>
              <a:srgbClr val="2777EF"/>
            </a:solidFill>
          </a:ln>
        </p:spPr>
        <p:style>
          <a:lnRef idx="2">
            <a:schemeClr val="accent1"/>
          </a:lnRef>
          <a:fillRef idx="0">
            <a:schemeClr val="accent1"/>
          </a:fillRef>
          <a:effectRef idx="1">
            <a:schemeClr val="accent1"/>
          </a:effectRef>
          <a:fontRef idx="minor">
            <a:schemeClr val="tx1"/>
          </a:fontRef>
        </p:style>
      </p:cxnSp>
      <p:sp>
        <p:nvSpPr>
          <p:cNvPr id="119" name="Oval 118"/>
          <p:cNvSpPr/>
          <p:nvPr/>
        </p:nvSpPr>
        <p:spPr>
          <a:xfrm>
            <a:off x="10954512" y="3968496"/>
            <a:ext cx="128016" cy="128016"/>
          </a:xfrm>
          <a:prstGeom prst="ellipse">
            <a:avLst/>
          </a:prstGeom>
          <a:solidFill>
            <a:srgbClr val="FFFFFF"/>
          </a:solidFill>
          <a:ln w="1778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417320" y="1517904"/>
            <a:ext cx="118872" cy="118872"/>
          </a:xfrm>
          <a:prstGeom prst="ellipse">
            <a:avLst/>
          </a:prstGeom>
          <a:solidFill>
            <a:srgbClr val="2777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600200" y="1481328"/>
            <a:ext cx="3108960" cy="201168"/>
          </a:xfrm>
          <a:prstGeom prst="rect">
            <a:avLst/>
          </a:prstGeom>
          <a:noFill/>
        </p:spPr>
        <p:txBody>
          <a:bodyPr wrap="square" lIns="0" rIns="0" tIns="0" bIns="0">
            <a:spAutoFit/>
          </a:bodyPr>
          <a:lstStyle/>
          <a:p>
            <a:pPr algn="l"/>
            <a:r>
              <a:rPr sz="950" b="1">
                <a:solidFill>
                  <a:srgbClr val="5A6478"/>
                </a:solidFill>
                <a:latin typeface="Segoe UI"/>
              </a:rPr>
              <a:t>EV / next-4Q revenue (left)</a:t>
            </a:r>
          </a:p>
        </p:txBody>
      </p:sp>
      <p:sp>
        <p:nvSpPr>
          <p:cNvPr id="122" name="Oval 121"/>
          <p:cNvSpPr/>
          <p:nvPr/>
        </p:nvSpPr>
        <p:spPr>
          <a:xfrm>
            <a:off x="4617720" y="1517904"/>
            <a:ext cx="118872" cy="118872"/>
          </a:xfrm>
          <a:prstGeom prst="ellipse">
            <a:avLst/>
          </a:prstGeom>
          <a:solidFill>
            <a:srgbClr val="9AA6B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800600" y="1481328"/>
            <a:ext cx="3108960" cy="201168"/>
          </a:xfrm>
          <a:prstGeom prst="rect">
            <a:avLst/>
          </a:prstGeom>
          <a:noFill/>
        </p:spPr>
        <p:txBody>
          <a:bodyPr wrap="square" lIns="0" rIns="0" tIns="0" bIns="0">
            <a:spAutoFit/>
          </a:bodyPr>
          <a:lstStyle/>
          <a:p>
            <a:pPr algn="l"/>
            <a:r>
              <a:rPr sz="950" b="1">
                <a:solidFill>
                  <a:srgbClr val="5A6478"/>
                </a:solidFill>
                <a:latin typeface="Segoe UI"/>
              </a:rPr>
              <a:t>revenue growth y/y (right)</a:t>
            </a:r>
          </a:p>
        </p:txBody>
      </p:sp>
      <p:sp>
        <p:nvSpPr>
          <p:cNvPr id="124" name="TextBox 123"/>
          <p:cNvSpPr txBox="1"/>
          <p:nvPr/>
        </p:nvSpPr>
        <p:spPr>
          <a:xfrm>
            <a:off x="2477192" y="1976932"/>
            <a:ext cx="1463040" cy="201168"/>
          </a:xfrm>
          <a:prstGeom prst="rect">
            <a:avLst/>
          </a:prstGeom>
          <a:noFill/>
        </p:spPr>
        <p:txBody>
          <a:bodyPr wrap="square" lIns="0" rIns="0" tIns="0" bIns="0">
            <a:spAutoFit/>
          </a:bodyPr>
          <a:lstStyle/>
          <a:p>
            <a:pPr algn="ctr"/>
            <a:r>
              <a:rPr sz="950" b="1">
                <a:solidFill>
                  <a:srgbClr val="1A2233"/>
                </a:solidFill>
                <a:latin typeface="Segoe UI"/>
              </a:rPr>
              <a:t>42x — Q4 ’21</a:t>
            </a:r>
          </a:p>
        </p:txBody>
      </p:sp>
      <p:sp>
        <p:nvSpPr>
          <p:cNvPr id="125" name="TextBox 124"/>
          <p:cNvSpPr txBox="1"/>
          <p:nvPr/>
        </p:nvSpPr>
        <p:spPr>
          <a:xfrm>
            <a:off x="2934392" y="2319832"/>
            <a:ext cx="1645920" cy="201168"/>
          </a:xfrm>
          <a:prstGeom prst="rect">
            <a:avLst/>
          </a:prstGeom>
          <a:noFill/>
        </p:spPr>
        <p:txBody>
          <a:bodyPr wrap="square" lIns="0" rIns="0" tIns="0" bIns="0">
            <a:spAutoFit/>
          </a:bodyPr>
          <a:lstStyle/>
          <a:p>
            <a:pPr algn="ctr"/>
            <a:r>
              <a:rPr sz="900" b="1">
                <a:solidFill>
                  <a:srgbClr val="9AA6BC"/>
                </a:solidFill>
                <a:latin typeface="Segoe UI"/>
              </a:rPr>
              <a:t>~80% growth</a:t>
            </a:r>
          </a:p>
        </p:txBody>
      </p:sp>
      <p:sp>
        <p:nvSpPr>
          <p:cNvPr id="126" name="TextBox 125"/>
          <p:cNvSpPr txBox="1"/>
          <p:nvPr/>
        </p:nvSpPr>
        <p:spPr>
          <a:xfrm>
            <a:off x="8221287" y="4600651"/>
            <a:ext cx="1554480" cy="201168"/>
          </a:xfrm>
          <a:prstGeom prst="rect">
            <a:avLst/>
          </a:prstGeom>
          <a:noFill/>
        </p:spPr>
        <p:txBody>
          <a:bodyPr wrap="square" lIns="0" rIns="0" tIns="0" bIns="0">
            <a:spAutoFit/>
          </a:bodyPr>
          <a:lstStyle/>
          <a:p>
            <a:pPr algn="ctr"/>
            <a:r>
              <a:rPr sz="950" b="1">
                <a:solidFill>
                  <a:srgbClr val="1A2233"/>
                </a:solidFill>
                <a:latin typeface="Segoe UI"/>
              </a:rPr>
              <a:t>~10x trough</a:t>
            </a:r>
          </a:p>
        </p:txBody>
      </p:sp>
      <p:sp>
        <p:nvSpPr>
          <p:cNvPr id="127" name="TextBox 126"/>
          <p:cNvSpPr txBox="1"/>
          <p:nvPr/>
        </p:nvSpPr>
        <p:spPr>
          <a:xfrm>
            <a:off x="9464040" y="3648456"/>
            <a:ext cx="1417320" cy="201168"/>
          </a:xfrm>
          <a:prstGeom prst="rect">
            <a:avLst/>
          </a:prstGeom>
          <a:noFill/>
        </p:spPr>
        <p:txBody>
          <a:bodyPr wrap="square" lIns="0" rIns="0" tIns="0" bIns="0">
            <a:spAutoFit/>
          </a:bodyPr>
          <a:lstStyle/>
          <a:p>
            <a:pPr algn="ctr"/>
            <a:r>
              <a:rPr sz="1000" b="1">
                <a:solidFill>
                  <a:srgbClr val="2777EF"/>
                </a:solidFill>
                <a:latin typeface="Segoe UI"/>
              </a:rPr>
              <a:t>16.5x today</a:t>
            </a:r>
          </a:p>
        </p:txBody>
      </p:sp>
      <p:sp>
        <p:nvSpPr>
          <p:cNvPr id="128" name="TextBox 127"/>
          <p:cNvSpPr txBox="1"/>
          <p:nvPr/>
        </p:nvSpPr>
        <p:spPr>
          <a:xfrm>
            <a:off x="9006840" y="4016044"/>
            <a:ext cx="1828800" cy="182880"/>
          </a:xfrm>
          <a:prstGeom prst="rect">
            <a:avLst/>
          </a:prstGeom>
          <a:noFill/>
        </p:spPr>
        <p:txBody>
          <a:bodyPr wrap="square" lIns="0" rIns="0" tIns="0" bIns="0">
            <a:spAutoFit/>
          </a:bodyPr>
          <a:lstStyle/>
          <a:p>
            <a:pPr algn="ctr"/>
            <a:r>
              <a:rPr sz="850" b="1">
                <a:solidFill>
                  <a:srgbClr val="9AA6BC"/>
                </a:solidFill>
                <a:latin typeface="Segoe UI"/>
              </a:rPr>
              <a:t>+32% and rising</a:t>
            </a:r>
          </a:p>
        </p:txBody>
      </p:sp>
      <p:sp>
        <p:nvSpPr>
          <p:cNvPr id="129" name="TextBox 128"/>
          <p:cNvSpPr txBox="1"/>
          <p:nvPr/>
        </p:nvSpPr>
        <p:spPr>
          <a:xfrm>
            <a:off x="1396538" y="5248656"/>
            <a:ext cx="914400" cy="201168"/>
          </a:xfrm>
          <a:prstGeom prst="rect">
            <a:avLst/>
          </a:prstGeom>
          <a:noFill/>
        </p:spPr>
        <p:txBody>
          <a:bodyPr wrap="square" lIns="0" rIns="0" tIns="0" bIns="0">
            <a:spAutoFit/>
          </a:bodyPr>
          <a:lstStyle/>
          <a:p>
            <a:pPr algn="ctr"/>
            <a:r>
              <a:rPr sz="900" b="1">
                <a:solidFill>
                  <a:srgbClr val="5A6478"/>
                </a:solidFill>
                <a:latin typeface="Segoe UI"/>
              </a:rPr>
              <a:t>2021</a:t>
            </a:r>
          </a:p>
        </p:txBody>
      </p:sp>
      <p:sp>
        <p:nvSpPr>
          <p:cNvPr id="130" name="TextBox 129"/>
          <p:cNvSpPr txBox="1"/>
          <p:nvPr/>
        </p:nvSpPr>
        <p:spPr>
          <a:xfrm>
            <a:off x="3142210" y="5248656"/>
            <a:ext cx="914400" cy="201168"/>
          </a:xfrm>
          <a:prstGeom prst="rect">
            <a:avLst/>
          </a:prstGeom>
          <a:noFill/>
        </p:spPr>
        <p:txBody>
          <a:bodyPr wrap="square" lIns="0" rIns="0" tIns="0" bIns="0">
            <a:spAutoFit/>
          </a:bodyPr>
          <a:lstStyle/>
          <a:p>
            <a:pPr algn="ctr"/>
            <a:r>
              <a:rPr sz="900" b="1">
                <a:solidFill>
                  <a:srgbClr val="5A6478"/>
                </a:solidFill>
                <a:latin typeface="Segoe UI"/>
              </a:rPr>
              <a:t>2022</a:t>
            </a:r>
          </a:p>
        </p:txBody>
      </p:sp>
      <p:sp>
        <p:nvSpPr>
          <p:cNvPr id="131" name="TextBox 130"/>
          <p:cNvSpPr txBox="1"/>
          <p:nvPr/>
        </p:nvSpPr>
        <p:spPr>
          <a:xfrm>
            <a:off x="4887883" y="5248656"/>
            <a:ext cx="914400" cy="201168"/>
          </a:xfrm>
          <a:prstGeom prst="rect">
            <a:avLst/>
          </a:prstGeom>
          <a:noFill/>
        </p:spPr>
        <p:txBody>
          <a:bodyPr wrap="square" lIns="0" rIns="0" tIns="0" bIns="0">
            <a:spAutoFit/>
          </a:bodyPr>
          <a:lstStyle/>
          <a:p>
            <a:pPr algn="ctr"/>
            <a:r>
              <a:rPr sz="900" b="1">
                <a:solidFill>
                  <a:srgbClr val="5A6478"/>
                </a:solidFill>
                <a:latin typeface="Segoe UI"/>
              </a:rPr>
              <a:t>2023</a:t>
            </a:r>
          </a:p>
        </p:txBody>
      </p:sp>
      <p:sp>
        <p:nvSpPr>
          <p:cNvPr id="132" name="TextBox 131"/>
          <p:cNvSpPr txBox="1"/>
          <p:nvPr/>
        </p:nvSpPr>
        <p:spPr>
          <a:xfrm>
            <a:off x="6633556" y="5248656"/>
            <a:ext cx="914400" cy="201168"/>
          </a:xfrm>
          <a:prstGeom prst="rect">
            <a:avLst/>
          </a:prstGeom>
          <a:noFill/>
        </p:spPr>
        <p:txBody>
          <a:bodyPr wrap="square" lIns="0" rIns="0" tIns="0" bIns="0">
            <a:spAutoFit/>
          </a:bodyPr>
          <a:lstStyle/>
          <a:p>
            <a:pPr algn="ctr"/>
            <a:r>
              <a:rPr sz="900" b="1">
                <a:solidFill>
                  <a:srgbClr val="5A6478"/>
                </a:solidFill>
                <a:latin typeface="Segoe UI"/>
              </a:rPr>
              <a:t>2024</a:t>
            </a:r>
          </a:p>
        </p:txBody>
      </p:sp>
      <p:sp>
        <p:nvSpPr>
          <p:cNvPr id="133" name="TextBox 132"/>
          <p:cNvSpPr txBox="1"/>
          <p:nvPr/>
        </p:nvSpPr>
        <p:spPr>
          <a:xfrm>
            <a:off x="8379229" y="5248656"/>
            <a:ext cx="914400" cy="201168"/>
          </a:xfrm>
          <a:prstGeom prst="rect">
            <a:avLst/>
          </a:prstGeom>
          <a:noFill/>
        </p:spPr>
        <p:txBody>
          <a:bodyPr wrap="square" lIns="0" rIns="0" tIns="0" bIns="0">
            <a:spAutoFit/>
          </a:bodyPr>
          <a:lstStyle/>
          <a:p>
            <a:pPr algn="ctr"/>
            <a:r>
              <a:rPr sz="900" b="1">
                <a:solidFill>
                  <a:srgbClr val="5A6478"/>
                </a:solidFill>
                <a:latin typeface="Segoe UI"/>
              </a:rPr>
              <a:t>2025</a:t>
            </a:r>
          </a:p>
        </p:txBody>
      </p:sp>
      <p:sp>
        <p:nvSpPr>
          <p:cNvPr id="134" name="TextBox 133"/>
          <p:cNvSpPr txBox="1"/>
          <p:nvPr/>
        </p:nvSpPr>
        <p:spPr>
          <a:xfrm>
            <a:off x="10124901" y="5248656"/>
            <a:ext cx="914400" cy="201168"/>
          </a:xfrm>
          <a:prstGeom prst="rect">
            <a:avLst/>
          </a:prstGeom>
          <a:noFill/>
        </p:spPr>
        <p:txBody>
          <a:bodyPr wrap="square" lIns="0" rIns="0" tIns="0" bIns="0">
            <a:spAutoFit/>
          </a:bodyPr>
          <a:lstStyle/>
          <a:p>
            <a:pPr algn="ctr"/>
            <a:r>
              <a:rPr sz="900" b="1">
                <a:solidFill>
                  <a:srgbClr val="5A6478"/>
                </a:solidFill>
                <a:latin typeface="Segoe UI"/>
              </a:rPr>
              <a:t>2026</a:t>
            </a:r>
          </a:p>
        </p:txBody>
      </p:sp>
      <p:sp>
        <p:nvSpPr>
          <p:cNvPr id="135" name="TextBox 134"/>
          <p:cNvSpPr txBox="1"/>
          <p:nvPr/>
        </p:nvSpPr>
        <p:spPr>
          <a:xfrm>
            <a:off x="777240" y="5596128"/>
            <a:ext cx="10881360" cy="310896"/>
          </a:xfrm>
          <a:prstGeom prst="rect">
            <a:avLst/>
          </a:prstGeom>
          <a:noFill/>
        </p:spPr>
        <p:txBody>
          <a:bodyPr wrap="square" lIns="0" rIns="0" tIns="0" bIns="0">
            <a:spAutoFit/>
          </a:bodyPr>
          <a:lstStyle/>
          <a:p>
            <a:pPr algn="ctr"/>
            <a:r>
              <a:rPr sz="900" b="0">
                <a:solidFill>
                  <a:srgbClr val="8A97B0"/>
                </a:solidFill>
                <a:latin typeface="Segoe UI"/>
              </a:rPr>
              <a:t>🎢  GROWTH-ADJUSTED, THE WHOLE WAY — 2021 peak: 42x ÷ ~80% ≈ 0.5x · trough: 10x ÷ ~25% ≈ 0.4x · today: 16.5x ÷ ~32% ≈ 0.5x. The multiple has always tracked growth — which is why we frame value in growth ranges, not point multiples (p. 77).</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Three growth worlds: 2029 revenue as CAGR ranges</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MACHINE LABOR COHORT — 2029 REVENUE FRAMED AS 3.5-YEAR CAGR RANGES FROM ~$11B LTM · SCENARIOS, NOT FORECASTS</a:t>
            </a:r>
            <a:endParaRPr lang="en-US" sz="1150" dirty="0"/>
          </a:p>
        </p:txBody>
      </p:sp>
      <p:sp>
        <p:nvSpPr>
          <p:cNvPr id="42" name="Text 40"/>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43" name="Text 41"/>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CAGRs measured mid-2026 → end-2029 from ~$11.3B LTM revenue. Fade = calendar-2029 consensus; conversion = event math on the street-floor token path; wave = the ~4,000Q token case through the four haircuts (unit prices −30–50%/yr passed to customers · discounted commits, not list · capture at measured 0.5–0.7 elasticity · compute-heavier margin). SA case sits above the wave (p. 31). Illustrative.</a:t>
            </a:r>
            <a:endParaRPr lang="en-US" sz="750" dirty="0"/>
          </a:p>
        </p:txBody>
      </p:sp>
      <p:sp>
        <p:nvSpPr>
          <p:cNvPr id="44"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77</a:t>
            </a:fld>
            <a:endParaRPr lang="en-US"/>
          </a:p>
        </p:txBody>
      </p:sp>
      <p:sp>
        <p:nvSpPr>
          <p:cNvPr id="45" name="Rounded Rectangle 44"/>
          <p:cNvSpPr/>
          <p:nvPr/>
        </p:nvSpPr>
        <p:spPr>
          <a:xfrm>
            <a:off x="777240" y="1645920"/>
            <a:ext cx="10954512" cy="1316736"/>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1773936"/>
            <a:ext cx="2331720" cy="274320"/>
          </a:xfrm>
          <a:prstGeom prst="rect">
            <a:avLst/>
          </a:prstGeom>
          <a:noFill/>
        </p:spPr>
        <p:txBody>
          <a:bodyPr wrap="square" lIns="0" rIns="0" tIns="0" bIns="0">
            <a:spAutoFit/>
          </a:bodyPr>
          <a:lstStyle/>
          <a:p>
            <a:pPr algn="l"/>
            <a:r>
              <a:rPr sz="1050" b="1">
                <a:solidFill>
                  <a:srgbClr val="2777EF"/>
                </a:solidFill>
                <a:latin typeface="Segoe UI"/>
              </a:rPr>
              <a:t>THE FADE</a:t>
            </a:r>
          </a:p>
        </p:txBody>
      </p:sp>
      <p:sp>
        <p:nvSpPr>
          <p:cNvPr id="47" name="TextBox 46"/>
          <p:cNvSpPr txBox="1"/>
          <p:nvPr/>
        </p:nvSpPr>
        <p:spPr>
          <a:xfrm>
            <a:off x="1005840" y="2066544"/>
            <a:ext cx="2331720" cy="365760"/>
          </a:xfrm>
          <a:prstGeom prst="rect">
            <a:avLst/>
          </a:prstGeom>
          <a:noFill/>
        </p:spPr>
        <p:txBody>
          <a:bodyPr wrap="square" lIns="0" rIns="0" tIns="0" bIns="0">
            <a:spAutoFit/>
          </a:bodyPr>
          <a:lstStyle/>
          <a:p>
            <a:pPr algn="l"/>
            <a:r>
              <a:rPr sz="1500" b="1">
                <a:solidFill>
                  <a:srgbClr val="1A2233"/>
                </a:solidFill>
                <a:latin typeface="Segoe UI"/>
              </a:rPr>
              <a:t>~20–25% CAGR</a:t>
            </a:r>
          </a:p>
        </p:txBody>
      </p:sp>
      <p:sp>
        <p:nvSpPr>
          <p:cNvPr id="48" name="TextBox 47"/>
          <p:cNvSpPr txBox="1"/>
          <p:nvPr/>
        </p:nvSpPr>
        <p:spPr>
          <a:xfrm>
            <a:off x="1005840" y="2505456"/>
            <a:ext cx="2331720" cy="274320"/>
          </a:xfrm>
          <a:prstGeom prst="rect">
            <a:avLst/>
          </a:prstGeom>
          <a:noFill/>
        </p:spPr>
        <p:txBody>
          <a:bodyPr wrap="square" lIns="0" rIns="0" tIns="0" bIns="0">
            <a:spAutoFit/>
          </a:bodyPr>
          <a:lstStyle/>
          <a:p>
            <a:pPr algn="l"/>
            <a:r>
              <a:rPr sz="1100" b="1">
                <a:solidFill>
                  <a:srgbClr val="2777EF"/>
                </a:solidFill>
                <a:latin typeface="Segoe UI"/>
              </a:rPr>
              <a:t>2029: $21–25B</a:t>
            </a:r>
          </a:p>
        </p:txBody>
      </p:sp>
      <p:sp>
        <p:nvSpPr>
          <p:cNvPr id="49" name="TextBox 48"/>
          <p:cNvSpPr txBox="1"/>
          <p:nvPr/>
        </p:nvSpPr>
        <p:spPr>
          <a:xfrm>
            <a:off x="3611880" y="1773936"/>
            <a:ext cx="5120640" cy="1097280"/>
          </a:xfrm>
          <a:prstGeom prst="rect">
            <a:avLst/>
          </a:prstGeom>
          <a:noFill/>
        </p:spPr>
        <p:txBody>
          <a:bodyPr wrap="square" lIns="0" rIns="0" tIns="0" bIns="0">
            <a:spAutoFit/>
          </a:bodyPr>
          <a:lstStyle/>
          <a:p>
            <a:pPr algn="l"/>
            <a:r>
              <a:rPr sz="950" b="0">
                <a:solidFill>
                  <a:srgbClr val="5A6478"/>
                </a:solidFill>
                <a:latin typeface="Segoe UI"/>
              </a:rPr>
              <a:t>Consensus: growth exits the decade in the high teens and agents never become a revenue line. This is what today’s price already carries.</a:t>
            </a:r>
          </a:p>
        </p:txBody>
      </p:sp>
      <p:sp>
        <p:nvSpPr>
          <p:cNvPr id="50" name="TextBox 49"/>
          <p:cNvSpPr txBox="1"/>
          <p:nvPr/>
        </p:nvSpPr>
        <p:spPr>
          <a:xfrm>
            <a:off x="9006840" y="1773936"/>
            <a:ext cx="2514600" cy="201168"/>
          </a:xfrm>
          <a:prstGeom prst="rect">
            <a:avLst/>
          </a:prstGeom>
          <a:noFill/>
        </p:spPr>
        <p:txBody>
          <a:bodyPr wrap="square" lIns="0" rIns="0" tIns="0" bIns="0">
            <a:spAutoFit/>
          </a:bodyPr>
          <a:lstStyle/>
          <a:p>
            <a:pPr algn="l"/>
            <a:r>
              <a:rPr sz="800" b="1">
                <a:solidFill>
                  <a:srgbClr val="8A97B0"/>
                </a:solidFill>
                <a:latin typeface="Segoe UI"/>
              </a:rPr>
              <a:t>WHAT SELECTS IT</a:t>
            </a:r>
          </a:p>
        </p:txBody>
      </p:sp>
      <p:sp>
        <p:nvSpPr>
          <p:cNvPr id="51" name="TextBox 50"/>
          <p:cNvSpPr txBox="1"/>
          <p:nvPr/>
        </p:nvSpPr>
        <p:spPr>
          <a:xfrm>
            <a:off x="9006840" y="2011680"/>
            <a:ext cx="2514600" cy="822960"/>
          </a:xfrm>
          <a:prstGeom prst="rect">
            <a:avLst/>
          </a:prstGeom>
          <a:noFill/>
        </p:spPr>
        <p:txBody>
          <a:bodyPr wrap="square" lIns="0" rIns="0" tIns="0" bIns="0">
            <a:spAutoFit/>
          </a:bodyPr>
          <a:lstStyle/>
          <a:p>
            <a:pPr algn="l"/>
            <a:r>
              <a:rPr sz="900" b="0">
                <a:solidFill>
                  <a:srgbClr val="1A2233"/>
                </a:solidFill>
                <a:latin typeface="Segoe UI"/>
              </a:rPr>
              <a:t>every sell-side model today</a:t>
            </a:r>
          </a:p>
        </p:txBody>
      </p:sp>
      <p:sp>
        <p:nvSpPr>
          <p:cNvPr id="52" name="Rounded Rectangle 51"/>
          <p:cNvSpPr/>
          <p:nvPr/>
        </p:nvSpPr>
        <p:spPr>
          <a:xfrm>
            <a:off x="777240" y="3090672"/>
            <a:ext cx="10954512" cy="1316736"/>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05840" y="3218688"/>
            <a:ext cx="2331720" cy="274320"/>
          </a:xfrm>
          <a:prstGeom prst="rect">
            <a:avLst/>
          </a:prstGeom>
          <a:noFill/>
        </p:spPr>
        <p:txBody>
          <a:bodyPr wrap="square" lIns="0" rIns="0" tIns="0" bIns="0">
            <a:spAutoFit/>
          </a:bodyPr>
          <a:lstStyle/>
          <a:p>
            <a:pPr algn="l"/>
            <a:r>
              <a:rPr sz="1050" b="1">
                <a:solidFill>
                  <a:srgbClr val="2777EF"/>
                </a:solidFill>
                <a:latin typeface="Segoe UI"/>
              </a:rPr>
              <a:t>PARTIAL CONVERSION</a:t>
            </a:r>
          </a:p>
        </p:txBody>
      </p:sp>
      <p:sp>
        <p:nvSpPr>
          <p:cNvPr id="54" name="TextBox 53"/>
          <p:cNvSpPr txBox="1"/>
          <p:nvPr/>
        </p:nvSpPr>
        <p:spPr>
          <a:xfrm>
            <a:off x="1005840" y="3511296"/>
            <a:ext cx="2331720" cy="365760"/>
          </a:xfrm>
          <a:prstGeom prst="rect">
            <a:avLst/>
          </a:prstGeom>
          <a:noFill/>
        </p:spPr>
        <p:txBody>
          <a:bodyPr wrap="square" lIns="0" rIns="0" tIns="0" bIns="0">
            <a:spAutoFit/>
          </a:bodyPr>
          <a:lstStyle/>
          <a:p>
            <a:pPr algn="l"/>
            <a:r>
              <a:rPr sz="1500" b="1">
                <a:solidFill>
                  <a:srgbClr val="1A2233"/>
                </a:solidFill>
                <a:latin typeface="Segoe UI"/>
              </a:rPr>
              <a:t>~25–35% CAGR</a:t>
            </a:r>
          </a:p>
        </p:txBody>
      </p:sp>
      <p:sp>
        <p:nvSpPr>
          <p:cNvPr id="55" name="TextBox 54"/>
          <p:cNvSpPr txBox="1"/>
          <p:nvPr/>
        </p:nvSpPr>
        <p:spPr>
          <a:xfrm>
            <a:off x="1005840" y="3950208"/>
            <a:ext cx="2331720" cy="274320"/>
          </a:xfrm>
          <a:prstGeom prst="rect">
            <a:avLst/>
          </a:prstGeom>
          <a:noFill/>
        </p:spPr>
        <p:txBody>
          <a:bodyPr wrap="square" lIns="0" rIns="0" tIns="0" bIns="0">
            <a:spAutoFit/>
          </a:bodyPr>
          <a:lstStyle/>
          <a:p>
            <a:pPr algn="l"/>
            <a:r>
              <a:rPr sz="1100" b="1">
                <a:solidFill>
                  <a:srgbClr val="2777EF"/>
                </a:solidFill>
                <a:latin typeface="Segoe UI"/>
              </a:rPr>
              <a:t>2029: $25–33B</a:t>
            </a:r>
          </a:p>
        </p:txBody>
      </p:sp>
      <p:sp>
        <p:nvSpPr>
          <p:cNvPr id="56" name="TextBox 55"/>
          <p:cNvSpPr txBox="1"/>
          <p:nvPr/>
        </p:nvSpPr>
        <p:spPr>
          <a:xfrm>
            <a:off x="3611880" y="3218688"/>
            <a:ext cx="5120640" cy="1097280"/>
          </a:xfrm>
          <a:prstGeom prst="rect">
            <a:avLst/>
          </a:prstGeom>
          <a:noFill/>
        </p:spPr>
        <p:txBody>
          <a:bodyPr wrap="square" lIns="0" rIns="0" tIns="0" bIns="0">
            <a:spAutoFit/>
          </a:bodyPr>
          <a:lstStyle/>
          <a:p>
            <a:pPr algn="l"/>
            <a:r>
              <a:rPr sz="950" b="0">
                <a:solidFill>
                  <a:srgbClr val="5A6478"/>
                </a:solidFill>
                <a:latin typeface="Segoe UI"/>
              </a:rPr>
              <a:t>Event volumes arrive on the street-floor token path (~1,100Q) but capture leaks — overage plateaus, drawdowns smooth the surge. The floor case lives here.</a:t>
            </a:r>
          </a:p>
        </p:txBody>
      </p:sp>
      <p:sp>
        <p:nvSpPr>
          <p:cNvPr id="57" name="TextBox 56"/>
          <p:cNvSpPr txBox="1"/>
          <p:nvPr/>
        </p:nvSpPr>
        <p:spPr>
          <a:xfrm>
            <a:off x="9006840" y="3218688"/>
            <a:ext cx="2514600" cy="201168"/>
          </a:xfrm>
          <a:prstGeom prst="rect">
            <a:avLst/>
          </a:prstGeom>
          <a:noFill/>
        </p:spPr>
        <p:txBody>
          <a:bodyPr wrap="square" lIns="0" rIns="0" tIns="0" bIns="0">
            <a:spAutoFit/>
          </a:bodyPr>
          <a:lstStyle/>
          <a:p>
            <a:pPr algn="l"/>
            <a:r>
              <a:rPr sz="800" b="1">
                <a:solidFill>
                  <a:srgbClr val="8A97B0"/>
                </a:solidFill>
                <a:latin typeface="Segoe UI"/>
              </a:rPr>
              <a:t>WHAT SELECTS IT</a:t>
            </a:r>
          </a:p>
        </p:txBody>
      </p:sp>
      <p:sp>
        <p:nvSpPr>
          <p:cNvPr id="58" name="TextBox 57"/>
          <p:cNvSpPr txBox="1"/>
          <p:nvPr/>
        </p:nvSpPr>
        <p:spPr>
          <a:xfrm>
            <a:off x="9006840" y="3456432"/>
            <a:ext cx="2514600" cy="822960"/>
          </a:xfrm>
          <a:prstGeom prst="rect">
            <a:avLst/>
          </a:prstGeom>
          <a:noFill/>
        </p:spPr>
        <p:txBody>
          <a:bodyPr wrap="square" lIns="0" rIns="0" tIns="0" bIns="0">
            <a:spAutoFit/>
          </a:bodyPr>
          <a:lstStyle/>
          <a:p>
            <a:pPr algn="l"/>
            <a:r>
              <a:rPr sz="900" b="0">
                <a:solidFill>
                  <a:srgbClr val="1A2233"/>
                </a:solidFill>
                <a:latin typeface="Segoe UI"/>
              </a:rPr>
              <a:t>the evidence stalls where it is</a:t>
            </a:r>
          </a:p>
        </p:txBody>
      </p:sp>
      <p:sp>
        <p:nvSpPr>
          <p:cNvPr id="59" name="Rounded Rectangle 58"/>
          <p:cNvSpPr/>
          <p:nvPr/>
        </p:nvSpPr>
        <p:spPr>
          <a:xfrm>
            <a:off x="777240" y="4535424"/>
            <a:ext cx="10954512" cy="1316736"/>
          </a:xfrm>
          <a:prstGeom prst="roundRect">
            <a:avLst>
              <a:gd name="adj" fmla="val 8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5840" y="4663440"/>
            <a:ext cx="2331720" cy="274320"/>
          </a:xfrm>
          <a:prstGeom prst="rect">
            <a:avLst/>
          </a:prstGeom>
          <a:noFill/>
        </p:spPr>
        <p:txBody>
          <a:bodyPr wrap="square" lIns="0" rIns="0" tIns="0" bIns="0">
            <a:spAutoFit/>
          </a:bodyPr>
          <a:lstStyle/>
          <a:p>
            <a:pPr algn="l"/>
            <a:r>
              <a:rPr sz="1050" b="1">
                <a:solidFill>
                  <a:srgbClr val="2777EF"/>
                </a:solidFill>
                <a:latin typeface="Segoe UI"/>
              </a:rPr>
              <a:t>THE WAVE</a:t>
            </a:r>
          </a:p>
        </p:txBody>
      </p:sp>
      <p:sp>
        <p:nvSpPr>
          <p:cNvPr id="61" name="TextBox 60"/>
          <p:cNvSpPr txBox="1"/>
          <p:nvPr/>
        </p:nvSpPr>
        <p:spPr>
          <a:xfrm>
            <a:off x="1005840" y="4956048"/>
            <a:ext cx="2331720" cy="365760"/>
          </a:xfrm>
          <a:prstGeom prst="rect">
            <a:avLst/>
          </a:prstGeom>
          <a:noFill/>
        </p:spPr>
        <p:txBody>
          <a:bodyPr wrap="square" lIns="0" rIns="0" tIns="0" bIns="0">
            <a:spAutoFit/>
          </a:bodyPr>
          <a:lstStyle/>
          <a:p>
            <a:pPr algn="l"/>
            <a:r>
              <a:rPr sz="1500" b="1">
                <a:solidFill>
                  <a:srgbClr val="1A2233"/>
                </a:solidFill>
                <a:latin typeface="Segoe UI"/>
              </a:rPr>
              <a:t>~35–50% CAGR</a:t>
            </a:r>
          </a:p>
        </p:txBody>
      </p:sp>
      <p:sp>
        <p:nvSpPr>
          <p:cNvPr id="62" name="TextBox 61"/>
          <p:cNvSpPr txBox="1"/>
          <p:nvPr/>
        </p:nvSpPr>
        <p:spPr>
          <a:xfrm>
            <a:off x="1005840" y="5394960"/>
            <a:ext cx="2331720" cy="274320"/>
          </a:xfrm>
          <a:prstGeom prst="rect">
            <a:avLst/>
          </a:prstGeom>
          <a:noFill/>
        </p:spPr>
        <p:txBody>
          <a:bodyPr wrap="square" lIns="0" rIns="0" tIns="0" bIns="0">
            <a:spAutoFit/>
          </a:bodyPr>
          <a:lstStyle/>
          <a:p>
            <a:pPr algn="l"/>
            <a:r>
              <a:rPr sz="1100" b="1">
                <a:solidFill>
                  <a:srgbClr val="2777EF"/>
                </a:solidFill>
                <a:latin typeface="Segoe UI"/>
              </a:rPr>
              <a:t>2029: $33–47B</a:t>
            </a:r>
          </a:p>
        </p:txBody>
      </p:sp>
      <p:sp>
        <p:nvSpPr>
          <p:cNvPr id="63" name="TextBox 62"/>
          <p:cNvSpPr txBox="1"/>
          <p:nvPr/>
        </p:nvSpPr>
        <p:spPr>
          <a:xfrm>
            <a:off x="3611880" y="4663440"/>
            <a:ext cx="5120640" cy="1097280"/>
          </a:xfrm>
          <a:prstGeom prst="rect">
            <a:avLst/>
          </a:prstGeom>
          <a:noFill/>
        </p:spPr>
        <p:txBody>
          <a:bodyPr wrap="square" lIns="0" rIns="0" tIns="0" bIns="0">
            <a:spAutoFit/>
          </a:bodyPr>
          <a:lstStyle/>
          <a:p>
            <a:pPr algn="l"/>
            <a:r>
              <a:rPr sz="950" b="0">
                <a:solidFill>
                  <a:srgbClr val="5A6478"/>
                </a:solidFill>
                <a:latin typeface="Segoe UI"/>
              </a:rPr>
              <a:t>The ~4,000Q token case through the four haircuts lands at ~45% (~$42B). Above it: the SA case. Requires only measured slopes continuing at half their trailing pace.</a:t>
            </a:r>
          </a:p>
        </p:txBody>
      </p:sp>
      <p:sp>
        <p:nvSpPr>
          <p:cNvPr id="64" name="TextBox 63"/>
          <p:cNvSpPr txBox="1"/>
          <p:nvPr/>
        </p:nvSpPr>
        <p:spPr>
          <a:xfrm>
            <a:off x="9006840" y="4663440"/>
            <a:ext cx="2514600" cy="201168"/>
          </a:xfrm>
          <a:prstGeom prst="rect">
            <a:avLst/>
          </a:prstGeom>
          <a:noFill/>
        </p:spPr>
        <p:txBody>
          <a:bodyPr wrap="square" lIns="0" rIns="0" tIns="0" bIns="0">
            <a:spAutoFit/>
          </a:bodyPr>
          <a:lstStyle/>
          <a:p>
            <a:pPr algn="l"/>
            <a:r>
              <a:rPr sz="800" b="1">
                <a:solidFill>
                  <a:srgbClr val="8A97B0"/>
                </a:solidFill>
                <a:latin typeface="Segoe UI"/>
              </a:rPr>
              <a:t>WHAT SELECTS IT</a:t>
            </a:r>
          </a:p>
        </p:txBody>
      </p:sp>
      <p:sp>
        <p:nvSpPr>
          <p:cNvPr id="65" name="TextBox 64"/>
          <p:cNvSpPr txBox="1"/>
          <p:nvPr/>
        </p:nvSpPr>
        <p:spPr>
          <a:xfrm>
            <a:off x="9006840" y="4901184"/>
            <a:ext cx="2514600" cy="822960"/>
          </a:xfrm>
          <a:prstGeom prst="rect">
            <a:avLst/>
          </a:prstGeom>
          <a:noFill/>
        </p:spPr>
        <p:txBody>
          <a:bodyPr wrap="square" lIns="0" rIns="0" tIns="0" bIns="0">
            <a:spAutoFit/>
          </a:bodyPr>
          <a:lstStyle/>
          <a:p>
            <a:pPr algn="l"/>
            <a:r>
              <a:rPr sz="900" b="0">
                <a:solidFill>
                  <a:srgbClr val="1A2233"/>
                </a:solidFill>
                <a:latin typeface="Segoe UI"/>
              </a:rPr>
              <a:t>commitment &gt;40%, overage &gt;25%, NDR &gt;130</a:t>
            </a:r>
          </a:p>
        </p:txBody>
      </p:sp>
    </p:spTree>
    <p:extLst>
      <p:ext uri="{BB962C8B-B14F-4D97-AF65-F5344CB8AC3E}">
        <p14:creationId xmlns:p14="http://schemas.microsoft.com/office/powerpoint/2010/main" val="20168709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cohort's cash machine at wave volumes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COHORT FCF BRIDGE, TODAY → 2029 SCENARIOS — MEASURED BASE, MODELED DROP-THROUGH</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82496"/>
            <a:ext cx="3429000" cy="3749039"/>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883664"/>
            <a:ext cx="2880360" cy="256032"/>
          </a:xfrm>
          <a:prstGeom prst="rect">
            <a:avLst/>
          </a:prstGeom>
          <a:noFill/>
        </p:spPr>
        <p:txBody>
          <a:bodyPr wrap="square" lIns="0" rIns="0" tIns="0" bIns="0">
            <a:spAutoFit/>
          </a:bodyPr>
          <a:lstStyle/>
          <a:p>
            <a:pPr algn="l"/>
            <a:r>
              <a:rPr sz="1100" b="1" i="0">
                <a:solidFill>
                  <a:srgbClr val="8A97B0"/>
                </a:solidFill>
                <a:latin typeface="Calibri"/>
              </a:rPr>
              <a:t>TODAY (LTM)</a:t>
            </a:r>
          </a:p>
        </p:txBody>
      </p:sp>
      <p:sp>
        <p:nvSpPr>
          <p:cNvPr id="7" name="TextBox 6"/>
          <p:cNvSpPr txBox="1"/>
          <p:nvPr/>
        </p:nvSpPr>
        <p:spPr>
          <a:xfrm>
            <a:off x="1051560" y="2304288"/>
            <a:ext cx="2880360" cy="457200"/>
          </a:xfrm>
          <a:prstGeom prst="rect">
            <a:avLst/>
          </a:prstGeom>
          <a:noFill/>
        </p:spPr>
        <p:txBody>
          <a:bodyPr wrap="square" lIns="0" rIns="0" tIns="0" bIns="0">
            <a:spAutoFit/>
          </a:bodyPr>
          <a:lstStyle/>
          <a:p>
            <a:pPr algn="l"/>
            <a:r>
              <a:rPr sz="2600" b="1" i="0">
                <a:solidFill>
                  <a:srgbClr val="5A6478"/>
                </a:solidFill>
                <a:latin typeface="Cambria"/>
              </a:rPr>
              <a:t>~$11B</a:t>
            </a:r>
          </a:p>
        </p:txBody>
      </p:sp>
      <p:sp>
        <p:nvSpPr>
          <p:cNvPr id="8" name="TextBox 7"/>
          <p:cNvSpPr txBox="1"/>
          <p:nvPr/>
        </p:nvSpPr>
        <p:spPr>
          <a:xfrm>
            <a:off x="1051560" y="2816352"/>
            <a:ext cx="2880360" cy="219456"/>
          </a:xfrm>
          <a:prstGeom prst="rect">
            <a:avLst/>
          </a:prstGeom>
          <a:noFill/>
        </p:spPr>
        <p:txBody>
          <a:bodyPr wrap="square" lIns="0" rIns="0" tIns="0" bIns="0">
            <a:spAutoFit/>
          </a:bodyPr>
          <a:lstStyle/>
          <a:p>
            <a:pPr algn="l"/>
            <a:r>
              <a:rPr sz="850" b="1" i="0">
                <a:solidFill>
                  <a:srgbClr val="8A97B0"/>
                </a:solidFill>
                <a:latin typeface="Calibri"/>
              </a:rPr>
              <a:t>REVENUE</a:t>
            </a:r>
          </a:p>
        </p:txBody>
      </p:sp>
      <p:sp>
        <p:nvSpPr>
          <p:cNvPr id="9" name="TextBox 8"/>
          <p:cNvSpPr txBox="1"/>
          <p:nvPr/>
        </p:nvSpPr>
        <p:spPr>
          <a:xfrm>
            <a:off x="1051560" y="3163824"/>
            <a:ext cx="2880360" cy="457200"/>
          </a:xfrm>
          <a:prstGeom prst="rect">
            <a:avLst/>
          </a:prstGeom>
          <a:noFill/>
        </p:spPr>
        <p:txBody>
          <a:bodyPr wrap="square" lIns="0" rIns="0" tIns="0" bIns="0">
            <a:spAutoFit/>
          </a:bodyPr>
          <a:lstStyle/>
          <a:p>
            <a:pPr algn="l"/>
            <a:r>
              <a:rPr sz="2600" b="1" i="0">
                <a:solidFill>
                  <a:srgbClr val="5A6478"/>
                </a:solidFill>
                <a:latin typeface="Cambria"/>
              </a:rPr>
              <a:t>~25%</a:t>
            </a:r>
          </a:p>
        </p:txBody>
      </p:sp>
      <p:sp>
        <p:nvSpPr>
          <p:cNvPr id="10" name="TextBox 9"/>
          <p:cNvSpPr txBox="1"/>
          <p:nvPr/>
        </p:nvSpPr>
        <p:spPr>
          <a:xfrm>
            <a:off x="1051560" y="3675887"/>
            <a:ext cx="2880360" cy="219456"/>
          </a:xfrm>
          <a:prstGeom prst="rect">
            <a:avLst/>
          </a:prstGeom>
          <a:noFill/>
        </p:spPr>
        <p:txBody>
          <a:bodyPr wrap="square" lIns="0" rIns="0" tIns="0" bIns="0">
            <a:spAutoFit/>
          </a:bodyPr>
          <a:lstStyle/>
          <a:p>
            <a:pPr algn="l"/>
            <a:r>
              <a:rPr sz="850" b="1" i="0">
                <a:solidFill>
                  <a:srgbClr val="8A97B0"/>
                </a:solidFill>
                <a:latin typeface="Calibri"/>
              </a:rPr>
              <a:t>FCF MARGIN</a:t>
            </a:r>
          </a:p>
        </p:txBody>
      </p:sp>
      <p:sp>
        <p:nvSpPr>
          <p:cNvPr id="11" name="TextBox 10"/>
          <p:cNvSpPr txBox="1"/>
          <p:nvPr/>
        </p:nvSpPr>
        <p:spPr>
          <a:xfrm>
            <a:off x="1051560" y="4023360"/>
            <a:ext cx="2880360" cy="457200"/>
          </a:xfrm>
          <a:prstGeom prst="rect">
            <a:avLst/>
          </a:prstGeom>
          <a:noFill/>
        </p:spPr>
        <p:txBody>
          <a:bodyPr wrap="square" lIns="0" rIns="0" tIns="0" bIns="0">
            <a:spAutoFit/>
          </a:bodyPr>
          <a:lstStyle/>
          <a:p>
            <a:pPr algn="l"/>
            <a:r>
              <a:rPr sz="2600" b="1" i="0">
                <a:solidFill>
                  <a:srgbClr val="5A6478"/>
                </a:solidFill>
                <a:latin typeface="Cambria"/>
              </a:rPr>
              <a:t>~$2.8B</a:t>
            </a:r>
          </a:p>
        </p:txBody>
      </p:sp>
      <p:sp>
        <p:nvSpPr>
          <p:cNvPr id="12" name="TextBox 11"/>
          <p:cNvSpPr txBox="1"/>
          <p:nvPr/>
        </p:nvSpPr>
        <p:spPr>
          <a:xfrm>
            <a:off x="1051560" y="4535424"/>
            <a:ext cx="2880360" cy="219456"/>
          </a:xfrm>
          <a:prstGeom prst="rect">
            <a:avLst/>
          </a:prstGeom>
          <a:noFill/>
        </p:spPr>
        <p:txBody>
          <a:bodyPr wrap="square" lIns="0" rIns="0" tIns="0" bIns="0">
            <a:spAutoFit/>
          </a:bodyPr>
          <a:lstStyle/>
          <a:p>
            <a:pPr algn="l"/>
            <a:r>
              <a:rPr sz="850" b="1" i="0">
                <a:solidFill>
                  <a:srgbClr val="8A97B0"/>
                </a:solidFill>
                <a:latin typeface="Calibri"/>
              </a:rPr>
              <a:t>FREE CASH FLOW</a:t>
            </a:r>
          </a:p>
        </p:txBody>
      </p:sp>
      <p:sp>
        <p:nvSpPr>
          <p:cNvPr id="13" name="TextBox 12"/>
          <p:cNvSpPr txBox="1"/>
          <p:nvPr/>
        </p:nvSpPr>
        <p:spPr>
          <a:xfrm>
            <a:off x="1051560" y="4956048"/>
            <a:ext cx="2880360" cy="457200"/>
          </a:xfrm>
          <a:prstGeom prst="rect">
            <a:avLst/>
          </a:prstGeom>
          <a:noFill/>
        </p:spPr>
        <p:txBody>
          <a:bodyPr wrap="square" lIns="0" rIns="0" tIns="0" bIns="0">
            <a:spAutoFit/>
          </a:bodyPr>
          <a:lstStyle/>
          <a:p>
            <a:pPr algn="l"/>
            <a:r>
              <a:rPr sz="900" b="0" i="1">
                <a:solidFill>
                  <a:srgbClr val="5A6478"/>
                </a:solidFill>
                <a:latin typeface="Calibri"/>
              </a:rPr>
              <a:t>measured — filings</a:t>
            </a:r>
          </a:p>
        </p:txBody>
      </p:sp>
      <p:sp>
        <p:nvSpPr>
          <p:cNvPr id="14" name="Rounded Rectangle 13"/>
          <p:cNvSpPr/>
          <p:nvPr/>
        </p:nvSpPr>
        <p:spPr>
          <a:xfrm>
            <a:off x="4379976" y="1682496"/>
            <a:ext cx="3429000" cy="3749039"/>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54296" y="1883664"/>
            <a:ext cx="2880360" cy="256032"/>
          </a:xfrm>
          <a:prstGeom prst="rect">
            <a:avLst/>
          </a:prstGeom>
          <a:noFill/>
        </p:spPr>
        <p:txBody>
          <a:bodyPr wrap="square" lIns="0" rIns="0" tIns="0" bIns="0">
            <a:spAutoFit/>
          </a:bodyPr>
          <a:lstStyle/>
          <a:p>
            <a:pPr algn="l"/>
            <a:r>
              <a:rPr sz="1100" b="1" i="0">
                <a:solidFill>
                  <a:srgbClr val="8A97B0"/>
                </a:solidFill>
                <a:latin typeface="Calibri"/>
              </a:rPr>
              <a:t>2029 · STREET FADE</a:t>
            </a:r>
          </a:p>
        </p:txBody>
      </p:sp>
      <p:sp>
        <p:nvSpPr>
          <p:cNvPr id="16" name="TextBox 15"/>
          <p:cNvSpPr txBox="1"/>
          <p:nvPr/>
        </p:nvSpPr>
        <p:spPr>
          <a:xfrm>
            <a:off x="4654296" y="2304288"/>
            <a:ext cx="2880360" cy="457200"/>
          </a:xfrm>
          <a:prstGeom prst="rect">
            <a:avLst/>
          </a:prstGeom>
          <a:noFill/>
        </p:spPr>
        <p:txBody>
          <a:bodyPr wrap="square" lIns="0" rIns="0" tIns="0" bIns="0">
            <a:spAutoFit/>
          </a:bodyPr>
          <a:lstStyle/>
          <a:p>
            <a:pPr algn="l"/>
            <a:r>
              <a:rPr sz="2600" b="1" i="0">
                <a:solidFill>
                  <a:srgbClr val="5A6478"/>
                </a:solidFill>
                <a:latin typeface="Cambria"/>
              </a:rPr>
              <a:t>~$24B</a:t>
            </a:r>
          </a:p>
        </p:txBody>
      </p:sp>
      <p:sp>
        <p:nvSpPr>
          <p:cNvPr id="17" name="TextBox 16"/>
          <p:cNvSpPr txBox="1"/>
          <p:nvPr/>
        </p:nvSpPr>
        <p:spPr>
          <a:xfrm>
            <a:off x="4654296" y="2816352"/>
            <a:ext cx="2880360" cy="219456"/>
          </a:xfrm>
          <a:prstGeom prst="rect">
            <a:avLst/>
          </a:prstGeom>
          <a:noFill/>
        </p:spPr>
        <p:txBody>
          <a:bodyPr wrap="square" lIns="0" rIns="0" tIns="0" bIns="0">
            <a:spAutoFit/>
          </a:bodyPr>
          <a:lstStyle/>
          <a:p>
            <a:pPr algn="l"/>
            <a:r>
              <a:rPr sz="850" b="1" i="0">
                <a:solidFill>
                  <a:srgbClr val="8A97B0"/>
                </a:solidFill>
                <a:latin typeface="Calibri"/>
              </a:rPr>
              <a:t>REVENUE</a:t>
            </a:r>
          </a:p>
        </p:txBody>
      </p:sp>
      <p:sp>
        <p:nvSpPr>
          <p:cNvPr id="18" name="TextBox 17"/>
          <p:cNvSpPr txBox="1"/>
          <p:nvPr/>
        </p:nvSpPr>
        <p:spPr>
          <a:xfrm>
            <a:off x="4654296" y="3163824"/>
            <a:ext cx="2880360" cy="457200"/>
          </a:xfrm>
          <a:prstGeom prst="rect">
            <a:avLst/>
          </a:prstGeom>
          <a:noFill/>
        </p:spPr>
        <p:txBody>
          <a:bodyPr wrap="square" lIns="0" rIns="0" tIns="0" bIns="0">
            <a:spAutoFit/>
          </a:bodyPr>
          <a:lstStyle/>
          <a:p>
            <a:pPr algn="l"/>
            <a:r>
              <a:rPr sz="2600" b="1" i="0">
                <a:solidFill>
                  <a:srgbClr val="5A6478"/>
                </a:solidFill>
                <a:latin typeface="Cambria"/>
              </a:rPr>
              <a:t>~28%</a:t>
            </a:r>
          </a:p>
        </p:txBody>
      </p:sp>
      <p:sp>
        <p:nvSpPr>
          <p:cNvPr id="19" name="TextBox 18"/>
          <p:cNvSpPr txBox="1"/>
          <p:nvPr/>
        </p:nvSpPr>
        <p:spPr>
          <a:xfrm>
            <a:off x="4654296" y="3675887"/>
            <a:ext cx="2880360" cy="219456"/>
          </a:xfrm>
          <a:prstGeom prst="rect">
            <a:avLst/>
          </a:prstGeom>
          <a:noFill/>
        </p:spPr>
        <p:txBody>
          <a:bodyPr wrap="square" lIns="0" rIns="0" tIns="0" bIns="0">
            <a:spAutoFit/>
          </a:bodyPr>
          <a:lstStyle/>
          <a:p>
            <a:pPr algn="l"/>
            <a:r>
              <a:rPr sz="850" b="1" i="0">
                <a:solidFill>
                  <a:srgbClr val="8A97B0"/>
                </a:solidFill>
                <a:latin typeface="Calibri"/>
              </a:rPr>
              <a:t>FCF MARGIN</a:t>
            </a:r>
          </a:p>
        </p:txBody>
      </p:sp>
      <p:sp>
        <p:nvSpPr>
          <p:cNvPr id="20" name="TextBox 19"/>
          <p:cNvSpPr txBox="1"/>
          <p:nvPr/>
        </p:nvSpPr>
        <p:spPr>
          <a:xfrm>
            <a:off x="4654296" y="4023360"/>
            <a:ext cx="2880360" cy="457200"/>
          </a:xfrm>
          <a:prstGeom prst="rect">
            <a:avLst/>
          </a:prstGeom>
          <a:noFill/>
        </p:spPr>
        <p:txBody>
          <a:bodyPr wrap="square" lIns="0" rIns="0" tIns="0" bIns="0">
            <a:spAutoFit/>
          </a:bodyPr>
          <a:lstStyle/>
          <a:p>
            <a:pPr algn="l"/>
            <a:r>
              <a:rPr sz="2600" b="1" i="0">
                <a:solidFill>
                  <a:srgbClr val="5A6478"/>
                </a:solidFill>
                <a:latin typeface="Cambria"/>
              </a:rPr>
              <a:t>~$6.8B</a:t>
            </a:r>
          </a:p>
        </p:txBody>
      </p:sp>
      <p:sp>
        <p:nvSpPr>
          <p:cNvPr id="21" name="TextBox 20"/>
          <p:cNvSpPr txBox="1"/>
          <p:nvPr/>
        </p:nvSpPr>
        <p:spPr>
          <a:xfrm>
            <a:off x="4654296" y="4535424"/>
            <a:ext cx="2880360" cy="219456"/>
          </a:xfrm>
          <a:prstGeom prst="rect">
            <a:avLst/>
          </a:prstGeom>
          <a:noFill/>
        </p:spPr>
        <p:txBody>
          <a:bodyPr wrap="square" lIns="0" rIns="0" tIns="0" bIns="0">
            <a:spAutoFit/>
          </a:bodyPr>
          <a:lstStyle/>
          <a:p>
            <a:pPr algn="l"/>
            <a:r>
              <a:rPr sz="850" b="1" i="0">
                <a:solidFill>
                  <a:srgbClr val="8A97B0"/>
                </a:solidFill>
                <a:latin typeface="Calibri"/>
              </a:rPr>
              <a:t>FREE CASH FLOW</a:t>
            </a:r>
          </a:p>
        </p:txBody>
      </p:sp>
      <p:sp>
        <p:nvSpPr>
          <p:cNvPr id="22" name="TextBox 21"/>
          <p:cNvSpPr txBox="1"/>
          <p:nvPr/>
        </p:nvSpPr>
        <p:spPr>
          <a:xfrm>
            <a:off x="4654296" y="4956048"/>
            <a:ext cx="2880360" cy="457200"/>
          </a:xfrm>
          <a:prstGeom prst="rect">
            <a:avLst/>
          </a:prstGeom>
          <a:noFill/>
        </p:spPr>
        <p:txBody>
          <a:bodyPr wrap="square" lIns="0" rIns="0" tIns="0" bIns="0">
            <a:spAutoFit/>
          </a:bodyPr>
          <a:lstStyle/>
          <a:p>
            <a:pPr algn="l"/>
            <a:r>
              <a:rPr sz="900" b="0" i="1">
                <a:solidFill>
                  <a:srgbClr val="5A6478"/>
                </a:solidFill>
                <a:latin typeface="Calibri"/>
              </a:rPr>
              <a:t>calendar-2029 consensus; margin drifts up on scale</a:t>
            </a:r>
          </a:p>
        </p:txBody>
      </p:sp>
      <p:sp>
        <p:nvSpPr>
          <p:cNvPr id="23" name="Rounded Rectangle 22"/>
          <p:cNvSpPr/>
          <p:nvPr/>
        </p:nvSpPr>
        <p:spPr>
          <a:xfrm>
            <a:off x="7982712" y="1682496"/>
            <a:ext cx="3429000" cy="3749039"/>
          </a:xfrm>
          <a:prstGeom prst="roundRect">
            <a:avLst>
              <a:gd name="adj" fmla="val 5000"/>
            </a:avLst>
          </a:prstGeom>
          <a:solidFill>
            <a:srgbClr val="EAF1FE"/>
          </a:solidFill>
          <a:ln w="1778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57032" y="1883664"/>
            <a:ext cx="2880360" cy="256032"/>
          </a:xfrm>
          <a:prstGeom prst="rect">
            <a:avLst/>
          </a:prstGeom>
          <a:noFill/>
        </p:spPr>
        <p:txBody>
          <a:bodyPr wrap="square" lIns="0" rIns="0" tIns="0" bIns="0">
            <a:spAutoFit/>
          </a:bodyPr>
          <a:lstStyle/>
          <a:p>
            <a:pPr algn="l"/>
            <a:r>
              <a:rPr sz="1100" b="1" i="0">
                <a:solidFill>
                  <a:srgbClr val="2777EF"/>
                </a:solidFill>
                <a:latin typeface="Calibri"/>
              </a:rPr>
              <a:t>2029 · WAVE CASE</a:t>
            </a:r>
          </a:p>
        </p:txBody>
      </p:sp>
      <p:sp>
        <p:nvSpPr>
          <p:cNvPr id="25" name="TextBox 24"/>
          <p:cNvSpPr txBox="1"/>
          <p:nvPr/>
        </p:nvSpPr>
        <p:spPr>
          <a:xfrm>
            <a:off x="8257032" y="2304288"/>
            <a:ext cx="2880360" cy="457200"/>
          </a:xfrm>
          <a:prstGeom prst="rect">
            <a:avLst/>
          </a:prstGeom>
          <a:noFill/>
        </p:spPr>
        <p:txBody>
          <a:bodyPr wrap="square" lIns="0" rIns="0" tIns="0" bIns="0">
            <a:spAutoFit/>
          </a:bodyPr>
          <a:lstStyle/>
          <a:p>
            <a:pPr algn="l"/>
            <a:r>
              <a:rPr sz="2600" b="1" i="0">
                <a:solidFill>
                  <a:srgbClr val="1A2233"/>
                </a:solidFill>
                <a:latin typeface="Cambria"/>
              </a:rPr>
              <a:t>~$42B</a:t>
            </a:r>
          </a:p>
        </p:txBody>
      </p:sp>
      <p:sp>
        <p:nvSpPr>
          <p:cNvPr id="26" name="TextBox 25"/>
          <p:cNvSpPr txBox="1"/>
          <p:nvPr/>
        </p:nvSpPr>
        <p:spPr>
          <a:xfrm>
            <a:off x="8257032" y="2816352"/>
            <a:ext cx="2880360" cy="219456"/>
          </a:xfrm>
          <a:prstGeom prst="rect">
            <a:avLst/>
          </a:prstGeom>
          <a:noFill/>
        </p:spPr>
        <p:txBody>
          <a:bodyPr wrap="square" lIns="0" rIns="0" tIns="0" bIns="0">
            <a:spAutoFit/>
          </a:bodyPr>
          <a:lstStyle/>
          <a:p>
            <a:pPr algn="l"/>
            <a:r>
              <a:rPr sz="850" b="1" i="0">
                <a:solidFill>
                  <a:srgbClr val="8A97B0"/>
                </a:solidFill>
                <a:latin typeface="Calibri"/>
              </a:rPr>
              <a:t>REVENUE</a:t>
            </a:r>
          </a:p>
        </p:txBody>
      </p:sp>
      <p:sp>
        <p:nvSpPr>
          <p:cNvPr id="27" name="TextBox 26"/>
          <p:cNvSpPr txBox="1"/>
          <p:nvPr/>
        </p:nvSpPr>
        <p:spPr>
          <a:xfrm>
            <a:off x="8257032" y="3163824"/>
            <a:ext cx="2880360" cy="457200"/>
          </a:xfrm>
          <a:prstGeom prst="rect">
            <a:avLst/>
          </a:prstGeom>
          <a:noFill/>
        </p:spPr>
        <p:txBody>
          <a:bodyPr wrap="square" lIns="0" rIns="0" tIns="0" bIns="0">
            <a:spAutoFit/>
          </a:bodyPr>
          <a:lstStyle/>
          <a:p>
            <a:pPr algn="l"/>
            <a:r>
              <a:rPr sz="2600" b="1" i="0">
                <a:solidFill>
                  <a:srgbClr val="1A2233"/>
                </a:solidFill>
                <a:latin typeface="Cambria"/>
              </a:rPr>
              <a:t>~34%</a:t>
            </a:r>
          </a:p>
        </p:txBody>
      </p:sp>
      <p:sp>
        <p:nvSpPr>
          <p:cNvPr id="28" name="TextBox 27"/>
          <p:cNvSpPr txBox="1"/>
          <p:nvPr/>
        </p:nvSpPr>
        <p:spPr>
          <a:xfrm>
            <a:off x="8257032" y="3675887"/>
            <a:ext cx="2880360" cy="219456"/>
          </a:xfrm>
          <a:prstGeom prst="rect">
            <a:avLst/>
          </a:prstGeom>
          <a:noFill/>
        </p:spPr>
        <p:txBody>
          <a:bodyPr wrap="square" lIns="0" rIns="0" tIns="0" bIns="0">
            <a:spAutoFit/>
          </a:bodyPr>
          <a:lstStyle/>
          <a:p>
            <a:pPr algn="l"/>
            <a:r>
              <a:rPr sz="850" b="1" i="0">
                <a:solidFill>
                  <a:srgbClr val="8A97B0"/>
                </a:solidFill>
                <a:latin typeface="Calibri"/>
              </a:rPr>
              <a:t>FCF MARGIN</a:t>
            </a:r>
          </a:p>
        </p:txBody>
      </p:sp>
      <p:sp>
        <p:nvSpPr>
          <p:cNvPr id="29" name="TextBox 28"/>
          <p:cNvSpPr txBox="1"/>
          <p:nvPr/>
        </p:nvSpPr>
        <p:spPr>
          <a:xfrm>
            <a:off x="8257032" y="4023360"/>
            <a:ext cx="2880360" cy="457200"/>
          </a:xfrm>
          <a:prstGeom prst="rect">
            <a:avLst/>
          </a:prstGeom>
          <a:noFill/>
        </p:spPr>
        <p:txBody>
          <a:bodyPr wrap="square" lIns="0" rIns="0" tIns="0" bIns="0">
            <a:spAutoFit/>
          </a:bodyPr>
          <a:lstStyle/>
          <a:p>
            <a:pPr algn="l"/>
            <a:r>
              <a:rPr sz="2600" b="1" i="0">
                <a:solidFill>
                  <a:srgbClr val="1A2233"/>
                </a:solidFill>
                <a:latin typeface="Cambria"/>
              </a:rPr>
              <a:t>~$14B</a:t>
            </a:r>
          </a:p>
        </p:txBody>
      </p:sp>
      <p:sp>
        <p:nvSpPr>
          <p:cNvPr id="30" name="TextBox 29"/>
          <p:cNvSpPr txBox="1"/>
          <p:nvPr/>
        </p:nvSpPr>
        <p:spPr>
          <a:xfrm>
            <a:off x="8257032" y="4535424"/>
            <a:ext cx="2880360" cy="219456"/>
          </a:xfrm>
          <a:prstGeom prst="rect">
            <a:avLst/>
          </a:prstGeom>
          <a:noFill/>
        </p:spPr>
        <p:txBody>
          <a:bodyPr wrap="square" lIns="0" rIns="0" tIns="0" bIns="0">
            <a:spAutoFit/>
          </a:bodyPr>
          <a:lstStyle/>
          <a:p>
            <a:pPr algn="l"/>
            <a:r>
              <a:rPr sz="850" b="1" i="0">
                <a:solidFill>
                  <a:srgbClr val="8A97B0"/>
                </a:solidFill>
                <a:latin typeface="Calibri"/>
              </a:rPr>
              <a:t>FREE CASH FLOW</a:t>
            </a:r>
          </a:p>
        </p:txBody>
      </p:sp>
      <p:sp>
        <p:nvSpPr>
          <p:cNvPr id="31" name="TextBox 30"/>
          <p:cNvSpPr txBox="1"/>
          <p:nvPr/>
        </p:nvSpPr>
        <p:spPr>
          <a:xfrm>
            <a:off x="8257032" y="4956048"/>
            <a:ext cx="2880360" cy="457200"/>
          </a:xfrm>
          <a:prstGeom prst="rect">
            <a:avLst/>
          </a:prstGeom>
          <a:noFill/>
        </p:spPr>
        <p:txBody>
          <a:bodyPr wrap="square" lIns="0" rIns="0" tIns="0" bIns="0">
            <a:spAutoFit/>
          </a:bodyPr>
          <a:lstStyle/>
          <a:p>
            <a:pPr algn="l"/>
            <a:r>
              <a:rPr sz="900" b="0" i="1">
                <a:solidFill>
                  <a:srgbClr val="5A6478"/>
                </a:solidFill>
                <a:latin typeface="Calibri"/>
              </a:rPr>
              <a:t>~35–45% incremental drop-through on wave revenue</a:t>
            </a:r>
          </a:p>
        </p:txBody>
      </p:sp>
      <p:sp>
        <p:nvSpPr>
          <p:cNvPr id="32" name="Rounded Rectangle 31"/>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Cash rises five-fold in the wave case  </a:t>
            </a:r>
            <a:r>
              <a:rPr sz="1200">
                <a:solidFill>
                  <a:srgbClr val="1A2233"/>
                </a:solidFill>
                <a:latin typeface="Calibri"/>
              </a:rPr>
              <a:t>— usage revenue drops through at software economics; the growth-range framework carries this path (p. 77).</a:t>
            </a:r>
          </a:p>
        </p:txBody>
      </p:sp>
      <p:sp>
        <p:nvSpPr>
          <p:cNvPr id="33" name="TextBox 32"/>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4" name="TextBox 33"/>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78</a:t>
            </a:r>
          </a:p>
        </p:txBody>
      </p:sp>
      <p:sp>
        <p:nvSpPr>
          <p:cNvPr id="35" name="TextBox 34"/>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Today measured from filings (LTM, blended); 2029 scenarios modeled — margins per incremental drop-through assumptions, marked MODELED. Illustrative.</a:t>
            </a:r>
          </a:p>
        </p:txBody>
      </p:sp>
    </p:spTree>
    <p:extLst>
      <p:ext uri="{BB962C8B-B14F-4D97-AF65-F5344CB8AC3E}">
        <p14:creationId xmlns:p14="http://schemas.microsoft.com/office/powerpoint/2010/main" val="364472919"/>
      </p:ext>
    </p:extLst>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What the tape pays for growth: the universe, in regimes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EV / NTM REVENUE ACROSS GROWTH BANDS — ALL 67 UNIVERSE NAMES, QUARTILE RANGES · CONSENSUS BASIS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777240" y="6016752"/>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multiple is a growth ladder — and it steps, not slopes: past ~30% growth the tape triples what it pays. Which band a name occupies is the only multiple question that matters.</a:t>
            </a:r>
            <a:r>
              <a:rPr sz="1200">
                <a:solidFill>
                  <a:srgbClr val="1A2233"/>
                </a:solidFill>
                <a:latin typeface="Calibri"/>
              </a:rPr>
              <a:t/>
            </a:r>
          </a:p>
        </p:txBody>
      </p:sp>
      <p:sp>
        <p:nvSpPr>
          <p:cNvPr id="40" name="TextBox 3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41" name="TextBox 4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79</a:t>
            </a:r>
          </a:p>
        </p:txBody>
      </p:sp>
      <p:sp>
        <p:nvSpPr>
          <p:cNvPr id="42" name="TextBox 41"/>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Consensus NTM growth and EV/NTM revenue, 67 names, fundamentals Jul 30 2026 (FMP). Bars = interquartile range, marker = median. Names withheld; classification, not recommendations.</a:t>
            </a:r>
          </a:p>
        </p:txBody>
      </p:sp>
      <p:cxnSp>
        <p:nvCxnSpPr>
          <p:cNvPr id="43" name="Connector 42"/>
          <p:cNvCxnSpPr/>
          <p:nvPr/>
        </p:nvCxnSpPr>
        <p:spPr>
          <a:xfrm>
            <a:off x="5615247" y="1645920"/>
            <a:ext cx="0" cy="393192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340927" y="5614416"/>
            <a:ext cx="548640" cy="182880"/>
          </a:xfrm>
          <a:prstGeom prst="rect">
            <a:avLst/>
          </a:prstGeom>
          <a:noFill/>
        </p:spPr>
        <p:txBody>
          <a:bodyPr wrap="square" lIns="0" rIns="0" tIns="0" bIns="0">
            <a:spAutoFit/>
          </a:bodyPr>
          <a:lstStyle/>
          <a:p>
            <a:pPr algn="ctr"/>
            <a:r>
              <a:rPr sz="900" b="0">
                <a:solidFill>
                  <a:srgbClr val="8A97B0"/>
                </a:solidFill>
                <a:latin typeface="Segoe UI"/>
              </a:rPr>
              <a:t>5x</a:t>
            </a:r>
          </a:p>
        </p:txBody>
      </p:sp>
      <p:cxnSp>
        <p:nvCxnSpPr>
          <p:cNvPr id="45" name="Connector 44"/>
          <p:cNvCxnSpPr/>
          <p:nvPr/>
        </p:nvCxnSpPr>
        <p:spPr>
          <a:xfrm>
            <a:off x="7298574" y="1645920"/>
            <a:ext cx="0" cy="393192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7024254" y="5614416"/>
            <a:ext cx="548640" cy="182880"/>
          </a:xfrm>
          <a:prstGeom prst="rect">
            <a:avLst/>
          </a:prstGeom>
          <a:noFill/>
        </p:spPr>
        <p:txBody>
          <a:bodyPr wrap="square" lIns="0" rIns="0" tIns="0" bIns="0">
            <a:spAutoFit/>
          </a:bodyPr>
          <a:lstStyle/>
          <a:p>
            <a:pPr algn="ctr"/>
            <a:r>
              <a:rPr sz="900" b="0">
                <a:solidFill>
                  <a:srgbClr val="8A97B0"/>
                </a:solidFill>
                <a:latin typeface="Segoe UI"/>
              </a:rPr>
              <a:t>10x</a:t>
            </a:r>
          </a:p>
        </p:txBody>
      </p:sp>
      <p:cxnSp>
        <p:nvCxnSpPr>
          <p:cNvPr id="47" name="Connector 46"/>
          <p:cNvCxnSpPr/>
          <p:nvPr/>
        </p:nvCxnSpPr>
        <p:spPr>
          <a:xfrm>
            <a:off x="8981901" y="1645920"/>
            <a:ext cx="0" cy="393192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8707581" y="5614416"/>
            <a:ext cx="548640" cy="182880"/>
          </a:xfrm>
          <a:prstGeom prst="rect">
            <a:avLst/>
          </a:prstGeom>
          <a:noFill/>
        </p:spPr>
        <p:txBody>
          <a:bodyPr wrap="square" lIns="0" rIns="0" tIns="0" bIns="0">
            <a:spAutoFit/>
          </a:bodyPr>
          <a:lstStyle/>
          <a:p>
            <a:pPr algn="ctr"/>
            <a:r>
              <a:rPr sz="900" b="0">
                <a:solidFill>
                  <a:srgbClr val="8A97B0"/>
                </a:solidFill>
                <a:latin typeface="Segoe UI"/>
              </a:rPr>
              <a:t>15x</a:t>
            </a:r>
          </a:p>
        </p:txBody>
      </p:sp>
      <p:cxnSp>
        <p:nvCxnSpPr>
          <p:cNvPr id="49" name="Connector 48"/>
          <p:cNvCxnSpPr/>
          <p:nvPr/>
        </p:nvCxnSpPr>
        <p:spPr>
          <a:xfrm>
            <a:off x="10665229" y="1645920"/>
            <a:ext cx="0" cy="3931920"/>
          </a:xfrm>
          <a:prstGeom prst="line">
            <a:avLst/>
          </a:prstGeom>
          <a:ln w="9525">
            <a:solidFill>
              <a:srgbClr val="D5DCE8"/>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10390909" y="5614416"/>
            <a:ext cx="548640" cy="182880"/>
          </a:xfrm>
          <a:prstGeom prst="rect">
            <a:avLst/>
          </a:prstGeom>
          <a:noFill/>
        </p:spPr>
        <p:txBody>
          <a:bodyPr wrap="square" lIns="0" rIns="0" tIns="0" bIns="0">
            <a:spAutoFit/>
          </a:bodyPr>
          <a:lstStyle/>
          <a:p>
            <a:pPr algn="ctr"/>
            <a:r>
              <a:rPr sz="900" b="0">
                <a:solidFill>
                  <a:srgbClr val="8A97B0"/>
                </a:solidFill>
                <a:latin typeface="Segoe UI"/>
              </a:rPr>
              <a:t>20x</a:t>
            </a:r>
          </a:p>
        </p:txBody>
      </p:sp>
      <p:sp>
        <p:nvSpPr>
          <p:cNvPr id="51" name="Rounded Rectangle 50"/>
          <p:cNvSpPr/>
          <p:nvPr/>
        </p:nvSpPr>
        <p:spPr>
          <a:xfrm>
            <a:off x="777240" y="1719072"/>
            <a:ext cx="10954512" cy="89611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05840" y="1828800"/>
            <a:ext cx="1463040" cy="292608"/>
          </a:xfrm>
          <a:prstGeom prst="rect">
            <a:avLst/>
          </a:prstGeom>
          <a:noFill/>
        </p:spPr>
        <p:txBody>
          <a:bodyPr wrap="square" lIns="0" rIns="0" tIns="0" bIns="0">
            <a:spAutoFit/>
          </a:bodyPr>
          <a:lstStyle/>
          <a:p>
            <a:pPr algn="l"/>
            <a:r>
              <a:rPr sz="1500" b="1">
                <a:solidFill>
                  <a:srgbClr val="1A2233"/>
                </a:solidFill>
                <a:latin typeface="Segoe UI"/>
              </a:rPr>
              <a:t>&lt;10%</a:t>
            </a:r>
          </a:p>
        </p:txBody>
      </p:sp>
      <p:sp>
        <p:nvSpPr>
          <p:cNvPr id="53" name="TextBox 52"/>
          <p:cNvSpPr txBox="1"/>
          <p:nvPr/>
        </p:nvSpPr>
        <p:spPr>
          <a:xfrm>
            <a:off x="1005840" y="2194560"/>
            <a:ext cx="1463040" cy="219456"/>
          </a:xfrm>
          <a:prstGeom prst="rect">
            <a:avLst/>
          </a:prstGeom>
          <a:noFill/>
        </p:spPr>
        <p:txBody>
          <a:bodyPr wrap="square" lIns="0" rIns="0" tIns="0" bIns="0">
            <a:spAutoFit/>
          </a:bodyPr>
          <a:lstStyle/>
          <a:p>
            <a:pPr algn="l"/>
            <a:r>
              <a:rPr sz="850" b="0">
                <a:solidFill>
                  <a:srgbClr val="8A97B0"/>
                </a:solidFill>
                <a:latin typeface="Segoe UI"/>
              </a:rPr>
              <a:t>9 names</a:t>
            </a:r>
          </a:p>
        </p:txBody>
      </p:sp>
      <p:sp>
        <p:nvSpPr>
          <p:cNvPr id="54" name="TextBox 53"/>
          <p:cNvSpPr txBox="1"/>
          <p:nvPr/>
        </p:nvSpPr>
        <p:spPr>
          <a:xfrm>
            <a:off x="2331720" y="1883664"/>
            <a:ext cx="1554480" cy="548640"/>
          </a:xfrm>
          <a:prstGeom prst="rect">
            <a:avLst/>
          </a:prstGeom>
          <a:noFill/>
        </p:spPr>
        <p:txBody>
          <a:bodyPr wrap="square" lIns="0" rIns="0" tIns="0" bIns="0">
            <a:spAutoFit/>
          </a:bodyPr>
          <a:lstStyle/>
          <a:p>
            <a:pPr algn="l"/>
            <a:r>
              <a:rPr sz="100" b="1">
                <a:solidFill>
                  <a:srgbClr val="1A2233"/>
                </a:solidFill>
                <a:latin typeface="Segoe UI"/>
              </a:rPr>
              <a:t/>
            </a:r>
          </a:p>
        </p:txBody>
      </p:sp>
      <p:sp>
        <p:nvSpPr>
          <p:cNvPr id="55" name="Rounded Rectangle 54"/>
          <p:cNvSpPr/>
          <p:nvPr/>
        </p:nvSpPr>
        <p:spPr>
          <a:xfrm>
            <a:off x="4706250" y="1920240"/>
            <a:ext cx="605997" cy="237744"/>
          </a:xfrm>
          <a:prstGeom prst="roundRect">
            <a:avLst>
              <a:gd name="adj" fmla="val 50000"/>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4975582" y="1847088"/>
            <a:ext cx="0" cy="384048"/>
          </a:xfrm>
          <a:prstGeom prst="line">
            <a:avLst/>
          </a:prstGeom>
          <a:ln w="30480">
            <a:solidFill>
              <a:srgbClr val="2777EF"/>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564102" y="1609344"/>
            <a:ext cx="822960" cy="201168"/>
          </a:xfrm>
          <a:prstGeom prst="rect">
            <a:avLst/>
          </a:prstGeom>
          <a:noFill/>
        </p:spPr>
        <p:txBody>
          <a:bodyPr wrap="square" lIns="0" rIns="0" tIns="0" bIns="0">
            <a:spAutoFit/>
          </a:bodyPr>
          <a:lstStyle/>
          <a:p>
            <a:pPr algn="ctr"/>
            <a:r>
              <a:rPr sz="1000" b="1">
                <a:solidFill>
                  <a:srgbClr val="2777EF"/>
                </a:solidFill>
                <a:latin typeface="Segoe UI"/>
              </a:rPr>
              <a:t>3.1x</a:t>
            </a:r>
          </a:p>
        </p:txBody>
      </p:sp>
      <p:sp>
        <p:nvSpPr>
          <p:cNvPr id="58" name="TextBox 57"/>
          <p:cNvSpPr txBox="1"/>
          <p:nvPr/>
        </p:nvSpPr>
        <p:spPr>
          <a:xfrm>
            <a:off x="1005840" y="2395728"/>
            <a:ext cx="9966960" cy="219456"/>
          </a:xfrm>
          <a:prstGeom prst="rect">
            <a:avLst/>
          </a:prstGeom>
          <a:noFill/>
        </p:spPr>
        <p:txBody>
          <a:bodyPr wrap="square" lIns="0" rIns="0" tIns="0" bIns="0">
            <a:spAutoFit/>
          </a:bodyPr>
          <a:lstStyle/>
          <a:p>
            <a:pPr algn="l"/>
            <a:r>
              <a:rPr sz="850" b="0">
                <a:solidFill>
                  <a:srgbClr val="5A6478"/>
                </a:solidFill>
                <a:latin typeface="Segoe UI"/>
              </a:rPr>
              <a:t>ex-growth — terminal-value pricing</a:t>
            </a:r>
          </a:p>
        </p:txBody>
      </p:sp>
      <p:sp>
        <p:nvSpPr>
          <p:cNvPr id="59" name="Rounded Rectangle 58"/>
          <p:cNvSpPr/>
          <p:nvPr/>
        </p:nvSpPr>
        <p:spPr>
          <a:xfrm>
            <a:off x="777240" y="2724912"/>
            <a:ext cx="10954512" cy="89611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5840" y="2834640"/>
            <a:ext cx="1463040" cy="292608"/>
          </a:xfrm>
          <a:prstGeom prst="rect">
            <a:avLst/>
          </a:prstGeom>
          <a:noFill/>
        </p:spPr>
        <p:txBody>
          <a:bodyPr wrap="square" lIns="0" rIns="0" tIns="0" bIns="0">
            <a:spAutoFit/>
          </a:bodyPr>
          <a:lstStyle/>
          <a:p>
            <a:pPr algn="l"/>
            <a:r>
              <a:rPr sz="1500" b="1">
                <a:solidFill>
                  <a:srgbClr val="1A2233"/>
                </a:solidFill>
                <a:latin typeface="Segoe UI"/>
              </a:rPr>
              <a:t>10–20%</a:t>
            </a:r>
          </a:p>
        </p:txBody>
      </p:sp>
      <p:sp>
        <p:nvSpPr>
          <p:cNvPr id="61" name="TextBox 60"/>
          <p:cNvSpPr txBox="1"/>
          <p:nvPr/>
        </p:nvSpPr>
        <p:spPr>
          <a:xfrm>
            <a:off x="1005840" y="3200400"/>
            <a:ext cx="1463040" cy="219456"/>
          </a:xfrm>
          <a:prstGeom prst="rect">
            <a:avLst/>
          </a:prstGeom>
          <a:noFill/>
        </p:spPr>
        <p:txBody>
          <a:bodyPr wrap="square" lIns="0" rIns="0" tIns="0" bIns="0">
            <a:spAutoFit/>
          </a:bodyPr>
          <a:lstStyle/>
          <a:p>
            <a:pPr algn="l"/>
            <a:r>
              <a:rPr sz="850" b="0">
                <a:solidFill>
                  <a:srgbClr val="8A97B0"/>
                </a:solidFill>
                <a:latin typeface="Segoe UI"/>
              </a:rPr>
              <a:t>28 names</a:t>
            </a:r>
          </a:p>
        </p:txBody>
      </p:sp>
      <p:sp>
        <p:nvSpPr>
          <p:cNvPr id="62" name="TextBox 61"/>
          <p:cNvSpPr txBox="1"/>
          <p:nvPr/>
        </p:nvSpPr>
        <p:spPr>
          <a:xfrm>
            <a:off x="2331720" y="2889504"/>
            <a:ext cx="1554480" cy="548640"/>
          </a:xfrm>
          <a:prstGeom prst="rect">
            <a:avLst/>
          </a:prstGeom>
          <a:noFill/>
        </p:spPr>
        <p:txBody>
          <a:bodyPr wrap="square" lIns="0" rIns="0" tIns="0" bIns="0">
            <a:spAutoFit/>
          </a:bodyPr>
          <a:lstStyle/>
          <a:p>
            <a:pPr algn="l"/>
            <a:r>
              <a:rPr sz="100" b="1">
                <a:solidFill>
                  <a:srgbClr val="1A2233"/>
                </a:solidFill>
                <a:latin typeface="Segoe UI"/>
              </a:rPr>
              <a:t/>
            </a:r>
          </a:p>
        </p:txBody>
      </p:sp>
      <p:sp>
        <p:nvSpPr>
          <p:cNvPr id="63" name="Rounded Rectangle 62"/>
          <p:cNvSpPr/>
          <p:nvPr/>
        </p:nvSpPr>
        <p:spPr>
          <a:xfrm>
            <a:off x="4975582" y="2926080"/>
            <a:ext cx="572331" cy="237744"/>
          </a:xfrm>
          <a:prstGeom prst="roundRect">
            <a:avLst>
              <a:gd name="adj" fmla="val 50000"/>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5211248" y="2852928"/>
            <a:ext cx="0" cy="384048"/>
          </a:xfrm>
          <a:prstGeom prst="line">
            <a:avLst/>
          </a:prstGeom>
          <a:ln w="30480">
            <a:solidFill>
              <a:srgbClr val="2777EF"/>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4799768" y="2615184"/>
            <a:ext cx="822960" cy="201168"/>
          </a:xfrm>
          <a:prstGeom prst="rect">
            <a:avLst/>
          </a:prstGeom>
          <a:noFill/>
        </p:spPr>
        <p:txBody>
          <a:bodyPr wrap="square" lIns="0" rIns="0" tIns="0" bIns="0">
            <a:spAutoFit/>
          </a:bodyPr>
          <a:lstStyle/>
          <a:p>
            <a:pPr algn="ctr"/>
            <a:r>
              <a:rPr sz="1000" b="1">
                <a:solidFill>
                  <a:srgbClr val="2777EF"/>
                </a:solidFill>
                <a:latin typeface="Segoe UI"/>
              </a:rPr>
              <a:t>3.8x</a:t>
            </a:r>
          </a:p>
        </p:txBody>
      </p:sp>
      <p:sp>
        <p:nvSpPr>
          <p:cNvPr id="66" name="TextBox 65"/>
          <p:cNvSpPr txBox="1"/>
          <p:nvPr/>
        </p:nvSpPr>
        <p:spPr>
          <a:xfrm>
            <a:off x="1005840" y="3401568"/>
            <a:ext cx="9966960" cy="219456"/>
          </a:xfrm>
          <a:prstGeom prst="rect">
            <a:avLst/>
          </a:prstGeom>
          <a:noFill/>
        </p:spPr>
        <p:txBody>
          <a:bodyPr wrap="square" lIns="0" rIns="0" tIns="0" bIns="0">
            <a:spAutoFit/>
          </a:bodyPr>
          <a:lstStyle/>
          <a:p>
            <a:pPr algn="l"/>
            <a:r>
              <a:rPr sz="850" b="0">
                <a:solidFill>
                  <a:srgbClr val="5A6478"/>
                </a:solidFill>
                <a:latin typeface="Segoe UI"/>
              </a:rPr>
              <a:t>the SaaS middle — where most of software now lives</a:t>
            </a:r>
          </a:p>
        </p:txBody>
      </p:sp>
      <p:sp>
        <p:nvSpPr>
          <p:cNvPr id="67" name="Rounded Rectangle 66"/>
          <p:cNvSpPr/>
          <p:nvPr/>
        </p:nvSpPr>
        <p:spPr>
          <a:xfrm>
            <a:off x="777240" y="3730752"/>
            <a:ext cx="10954512" cy="89611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005840" y="3840480"/>
            <a:ext cx="1463040" cy="292608"/>
          </a:xfrm>
          <a:prstGeom prst="rect">
            <a:avLst/>
          </a:prstGeom>
          <a:noFill/>
        </p:spPr>
        <p:txBody>
          <a:bodyPr wrap="square" lIns="0" rIns="0" tIns="0" bIns="0">
            <a:spAutoFit/>
          </a:bodyPr>
          <a:lstStyle/>
          <a:p>
            <a:pPr algn="l"/>
            <a:r>
              <a:rPr sz="1500" b="1">
                <a:solidFill>
                  <a:srgbClr val="1A2233"/>
                </a:solidFill>
                <a:latin typeface="Segoe UI"/>
              </a:rPr>
              <a:t>20–30%</a:t>
            </a:r>
          </a:p>
        </p:txBody>
      </p:sp>
      <p:sp>
        <p:nvSpPr>
          <p:cNvPr id="69" name="TextBox 68"/>
          <p:cNvSpPr txBox="1"/>
          <p:nvPr/>
        </p:nvSpPr>
        <p:spPr>
          <a:xfrm>
            <a:off x="1005840" y="4206240"/>
            <a:ext cx="1463040" cy="219456"/>
          </a:xfrm>
          <a:prstGeom prst="rect">
            <a:avLst/>
          </a:prstGeom>
          <a:noFill/>
        </p:spPr>
        <p:txBody>
          <a:bodyPr wrap="square" lIns="0" rIns="0" tIns="0" bIns="0">
            <a:spAutoFit/>
          </a:bodyPr>
          <a:lstStyle/>
          <a:p>
            <a:pPr algn="l"/>
            <a:r>
              <a:rPr sz="850" b="0">
                <a:solidFill>
                  <a:srgbClr val="8A97B0"/>
                </a:solidFill>
                <a:latin typeface="Segoe UI"/>
              </a:rPr>
              <a:t>21 names</a:t>
            </a:r>
          </a:p>
        </p:txBody>
      </p:sp>
      <p:sp>
        <p:nvSpPr>
          <p:cNvPr id="70" name="TextBox 69"/>
          <p:cNvSpPr txBox="1"/>
          <p:nvPr/>
        </p:nvSpPr>
        <p:spPr>
          <a:xfrm>
            <a:off x="2331720" y="3895344"/>
            <a:ext cx="1554480" cy="548640"/>
          </a:xfrm>
          <a:prstGeom prst="rect">
            <a:avLst/>
          </a:prstGeom>
          <a:noFill/>
        </p:spPr>
        <p:txBody>
          <a:bodyPr wrap="square" lIns="0" rIns="0" tIns="0" bIns="0">
            <a:spAutoFit/>
          </a:bodyPr>
          <a:lstStyle/>
          <a:p>
            <a:pPr algn="l"/>
            <a:r>
              <a:rPr sz="100" b="1">
                <a:solidFill>
                  <a:srgbClr val="1A2233"/>
                </a:solidFill>
                <a:latin typeface="Segoe UI"/>
              </a:rPr>
              <a:t/>
            </a:r>
          </a:p>
        </p:txBody>
      </p:sp>
      <p:sp>
        <p:nvSpPr>
          <p:cNvPr id="71" name="Rounded Rectangle 70"/>
          <p:cNvSpPr/>
          <p:nvPr/>
        </p:nvSpPr>
        <p:spPr>
          <a:xfrm>
            <a:off x="4874583" y="3931920"/>
            <a:ext cx="1312995" cy="237744"/>
          </a:xfrm>
          <a:prstGeom prst="roundRect">
            <a:avLst>
              <a:gd name="adj" fmla="val 50000"/>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5581580" y="3858768"/>
            <a:ext cx="0" cy="384048"/>
          </a:xfrm>
          <a:prstGeom prst="line">
            <a:avLst/>
          </a:prstGeom>
          <a:ln w="30480">
            <a:solidFill>
              <a:srgbClr val="2777EF"/>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5170100" y="3621024"/>
            <a:ext cx="822960" cy="201168"/>
          </a:xfrm>
          <a:prstGeom prst="rect">
            <a:avLst/>
          </a:prstGeom>
          <a:noFill/>
        </p:spPr>
        <p:txBody>
          <a:bodyPr wrap="square" lIns="0" rIns="0" tIns="0" bIns="0">
            <a:spAutoFit/>
          </a:bodyPr>
          <a:lstStyle/>
          <a:p>
            <a:pPr algn="ctr"/>
            <a:r>
              <a:rPr sz="1000" b="1">
                <a:solidFill>
                  <a:srgbClr val="2777EF"/>
                </a:solidFill>
                <a:latin typeface="Segoe UI"/>
              </a:rPr>
              <a:t>4.9x</a:t>
            </a:r>
          </a:p>
        </p:txBody>
      </p:sp>
      <p:sp>
        <p:nvSpPr>
          <p:cNvPr id="74" name="TextBox 73"/>
          <p:cNvSpPr txBox="1"/>
          <p:nvPr/>
        </p:nvSpPr>
        <p:spPr>
          <a:xfrm>
            <a:off x="1005840" y="4407408"/>
            <a:ext cx="9966960" cy="219456"/>
          </a:xfrm>
          <a:prstGeom prst="rect">
            <a:avLst/>
          </a:prstGeom>
          <a:noFill/>
        </p:spPr>
        <p:txBody>
          <a:bodyPr wrap="square" lIns="0" rIns="0" tIns="0" bIns="0">
            <a:spAutoFit/>
          </a:bodyPr>
          <a:lstStyle/>
          <a:p>
            <a:pPr algn="l"/>
            <a:r>
              <a:rPr sz="850" b="0">
                <a:solidFill>
                  <a:srgbClr val="5A6478"/>
                </a:solidFill>
                <a:latin typeface="Segoe UI"/>
              </a:rPr>
              <a:t>scarce growth — high-single-digit multiples begin</a:t>
            </a:r>
          </a:p>
        </p:txBody>
      </p:sp>
      <p:sp>
        <p:nvSpPr>
          <p:cNvPr id="75" name="Rounded Rectangle 74"/>
          <p:cNvSpPr/>
          <p:nvPr/>
        </p:nvSpPr>
        <p:spPr>
          <a:xfrm>
            <a:off x="777240" y="4736592"/>
            <a:ext cx="10954512" cy="896112"/>
          </a:xfrm>
          <a:prstGeom prst="roundRect">
            <a:avLst>
              <a:gd name="adj" fmla="val 10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005840" y="4846320"/>
            <a:ext cx="1463040" cy="292608"/>
          </a:xfrm>
          <a:prstGeom prst="rect">
            <a:avLst/>
          </a:prstGeom>
          <a:noFill/>
        </p:spPr>
        <p:txBody>
          <a:bodyPr wrap="square" lIns="0" rIns="0" tIns="0" bIns="0">
            <a:spAutoFit/>
          </a:bodyPr>
          <a:lstStyle/>
          <a:p>
            <a:pPr algn="l"/>
            <a:r>
              <a:rPr sz="1500" b="1">
                <a:solidFill>
                  <a:srgbClr val="2777EF"/>
                </a:solidFill>
                <a:latin typeface="Segoe UI"/>
              </a:rPr>
              <a:t>30%+</a:t>
            </a:r>
          </a:p>
        </p:txBody>
      </p:sp>
      <p:sp>
        <p:nvSpPr>
          <p:cNvPr id="77" name="TextBox 76"/>
          <p:cNvSpPr txBox="1"/>
          <p:nvPr/>
        </p:nvSpPr>
        <p:spPr>
          <a:xfrm>
            <a:off x="1005840" y="5212080"/>
            <a:ext cx="1463040" cy="219456"/>
          </a:xfrm>
          <a:prstGeom prst="rect">
            <a:avLst/>
          </a:prstGeom>
          <a:noFill/>
        </p:spPr>
        <p:txBody>
          <a:bodyPr wrap="square" lIns="0" rIns="0" tIns="0" bIns="0">
            <a:spAutoFit/>
          </a:bodyPr>
          <a:lstStyle/>
          <a:p>
            <a:pPr algn="l"/>
            <a:r>
              <a:rPr sz="850" b="0">
                <a:solidFill>
                  <a:srgbClr val="8A97B0"/>
                </a:solidFill>
                <a:latin typeface="Segoe UI"/>
              </a:rPr>
              <a:t>9 names</a:t>
            </a:r>
          </a:p>
        </p:txBody>
      </p:sp>
      <p:sp>
        <p:nvSpPr>
          <p:cNvPr id="78" name="TextBox 77"/>
          <p:cNvSpPr txBox="1"/>
          <p:nvPr/>
        </p:nvSpPr>
        <p:spPr>
          <a:xfrm>
            <a:off x="2331720" y="4901184"/>
            <a:ext cx="1554480" cy="548640"/>
          </a:xfrm>
          <a:prstGeom prst="rect">
            <a:avLst/>
          </a:prstGeom>
          <a:noFill/>
        </p:spPr>
        <p:txBody>
          <a:bodyPr wrap="square" lIns="0" rIns="0" tIns="0" bIns="0">
            <a:spAutoFit/>
          </a:bodyPr>
          <a:lstStyle/>
          <a:p>
            <a:pPr algn="l"/>
            <a:r>
              <a:rPr sz="100" b="1">
                <a:solidFill>
                  <a:srgbClr val="1A2233"/>
                </a:solidFill>
                <a:latin typeface="Segoe UI"/>
              </a:rPr>
              <a:t/>
            </a:r>
          </a:p>
        </p:txBody>
      </p:sp>
      <p:sp>
        <p:nvSpPr>
          <p:cNvPr id="79" name="Rounded Rectangle 78"/>
          <p:cNvSpPr/>
          <p:nvPr/>
        </p:nvSpPr>
        <p:spPr>
          <a:xfrm>
            <a:off x="7130241" y="4937760"/>
            <a:ext cx="3433987" cy="237744"/>
          </a:xfrm>
          <a:prstGeom prst="roundRect">
            <a:avLst>
              <a:gd name="adj" fmla="val 50000"/>
            </a:avLst>
          </a:prstGeom>
          <a:solidFill>
            <a:srgbClr val="A8C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0" name="Connector 79"/>
          <p:cNvCxnSpPr/>
          <p:nvPr/>
        </p:nvCxnSpPr>
        <p:spPr>
          <a:xfrm>
            <a:off x="9015568" y="4864608"/>
            <a:ext cx="0" cy="384048"/>
          </a:xfrm>
          <a:prstGeom prst="line">
            <a:avLst/>
          </a:prstGeom>
          <a:ln w="30480">
            <a:solidFill>
              <a:srgbClr val="2777EF"/>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8604088" y="4626864"/>
            <a:ext cx="822960" cy="201168"/>
          </a:xfrm>
          <a:prstGeom prst="rect">
            <a:avLst/>
          </a:prstGeom>
          <a:noFill/>
        </p:spPr>
        <p:txBody>
          <a:bodyPr wrap="square" lIns="0" rIns="0" tIns="0" bIns="0">
            <a:spAutoFit/>
          </a:bodyPr>
          <a:lstStyle/>
          <a:p>
            <a:pPr algn="ctr"/>
            <a:r>
              <a:rPr sz="1000" b="1">
                <a:solidFill>
                  <a:srgbClr val="2777EF"/>
                </a:solidFill>
                <a:latin typeface="Segoe UI"/>
              </a:rPr>
              <a:t>15.1x</a:t>
            </a:r>
          </a:p>
        </p:txBody>
      </p:sp>
      <p:sp>
        <p:nvSpPr>
          <p:cNvPr id="82" name="TextBox 81"/>
          <p:cNvSpPr txBox="1"/>
          <p:nvPr/>
        </p:nvSpPr>
        <p:spPr>
          <a:xfrm>
            <a:off x="1005840" y="5413248"/>
            <a:ext cx="9966960" cy="219456"/>
          </a:xfrm>
          <a:prstGeom prst="rect">
            <a:avLst/>
          </a:prstGeom>
          <a:noFill/>
        </p:spPr>
        <p:txBody>
          <a:bodyPr wrap="square" lIns="0" rIns="0" tIns="0" bIns="0">
            <a:spAutoFit/>
          </a:bodyPr>
          <a:lstStyle/>
          <a:p>
            <a:pPr algn="l"/>
            <a:r>
              <a:rPr sz="850" b="0">
                <a:solidFill>
                  <a:srgbClr val="5A6478"/>
                </a:solidFill>
                <a:latin typeface="Segoe UI"/>
              </a:rPr>
              <a:t>THE ACCELERATION REGIME — the tape pays a step-function, not a premium</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You don't need AGI for this thesis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SENSITIVITY TO AI TIMELINES — THE SCENARIOS ACROSS THREE WORLDS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700784"/>
            <a:ext cx="3429000" cy="365760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920240"/>
            <a:ext cx="2880360" cy="274320"/>
          </a:xfrm>
          <a:prstGeom prst="rect">
            <a:avLst/>
          </a:prstGeom>
          <a:noFill/>
        </p:spPr>
        <p:txBody>
          <a:bodyPr wrap="square" lIns="0" rIns="0" tIns="0" bIns="0">
            <a:spAutoFit/>
          </a:bodyPr>
          <a:lstStyle/>
          <a:p>
            <a:pPr algn="l"/>
            <a:r>
              <a:rPr sz="1100" b="1" i="0">
                <a:solidFill>
                  <a:srgbClr val="8A97B0"/>
                </a:solidFill>
                <a:latin typeface="Calibri"/>
              </a:rPr>
              <a:t>THE SLOW WORLD</a:t>
            </a:r>
          </a:p>
        </p:txBody>
      </p:sp>
      <p:sp>
        <p:nvSpPr>
          <p:cNvPr id="7" name="TextBox 6"/>
          <p:cNvSpPr txBox="1"/>
          <p:nvPr/>
        </p:nvSpPr>
        <p:spPr>
          <a:xfrm>
            <a:off x="1051560" y="2267712"/>
            <a:ext cx="2880360" cy="566928"/>
          </a:xfrm>
          <a:prstGeom prst="rect">
            <a:avLst/>
          </a:prstGeom>
          <a:noFill/>
        </p:spPr>
        <p:txBody>
          <a:bodyPr wrap="square" lIns="0" rIns="0" tIns="0" bIns="0">
            <a:spAutoFit/>
          </a:bodyPr>
          <a:lstStyle/>
          <a:p>
            <a:pPr algn="l"/>
            <a:r>
              <a:rPr sz="1250" b="1" i="0">
                <a:solidFill>
                  <a:srgbClr val="1A2233"/>
                </a:solidFill>
                <a:latin typeface="Cambria"/>
              </a:rPr>
              <a:t>AI plateaus near current capability</a:t>
            </a:r>
          </a:p>
        </p:txBody>
      </p:sp>
      <p:sp>
        <p:nvSpPr>
          <p:cNvPr id="8" name="TextBox 7"/>
          <p:cNvSpPr txBox="1"/>
          <p:nvPr/>
        </p:nvSpPr>
        <p:spPr>
          <a:xfrm>
            <a:off x="1051560" y="2999232"/>
            <a:ext cx="2880360" cy="2194560"/>
          </a:xfrm>
          <a:prstGeom prst="rect">
            <a:avLst/>
          </a:prstGeom>
          <a:noFill/>
        </p:spPr>
        <p:txBody>
          <a:bodyPr wrap="square" lIns="0" rIns="0" tIns="0" bIns="0">
            <a:spAutoFit/>
          </a:bodyPr>
          <a:lstStyle/>
          <a:p>
            <a:pPr algn="l"/>
            <a:r>
              <a:rPr sz="1050" b="0" i="0">
                <a:solidFill>
                  <a:srgbClr val="1A2233"/>
                </a:solidFill>
                <a:latin typeface="Calibri"/>
              </a:rPr>
              <a:t>Agent adoption still compounds off today's base; the street's own fade still grows the cohort ~2.2x in revenue terms. The floor is not an AI bet — it's an elasticity bet.</a:t>
            </a:r>
          </a:p>
        </p:txBody>
      </p:sp>
      <p:sp>
        <p:nvSpPr>
          <p:cNvPr id="9" name="Rounded Rectangle 8"/>
          <p:cNvSpPr/>
          <p:nvPr/>
        </p:nvSpPr>
        <p:spPr>
          <a:xfrm>
            <a:off x="4379976" y="1700784"/>
            <a:ext cx="3429000" cy="3657600"/>
          </a:xfrm>
          <a:prstGeom prst="roundRect">
            <a:avLst>
              <a:gd name="adj" fmla="val 6000"/>
            </a:avLst>
          </a:prstGeom>
          <a:solidFill>
            <a:srgbClr val="EAF1FE"/>
          </a:solidFill>
          <a:ln w="16510">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1920240"/>
            <a:ext cx="2880360" cy="274320"/>
          </a:xfrm>
          <a:prstGeom prst="rect">
            <a:avLst/>
          </a:prstGeom>
          <a:noFill/>
        </p:spPr>
        <p:txBody>
          <a:bodyPr wrap="square" lIns="0" rIns="0" tIns="0" bIns="0">
            <a:spAutoFit/>
          </a:bodyPr>
          <a:lstStyle/>
          <a:p>
            <a:pPr algn="l"/>
            <a:r>
              <a:rPr sz="1100" b="1" i="0">
                <a:solidFill>
                  <a:srgbClr val="2777EF"/>
                </a:solidFill>
                <a:latin typeface="Calibri"/>
              </a:rPr>
              <a:t>OUR WAVE (THE CASE)</a:t>
            </a:r>
          </a:p>
        </p:txBody>
      </p:sp>
      <p:sp>
        <p:nvSpPr>
          <p:cNvPr id="11" name="TextBox 10"/>
          <p:cNvSpPr txBox="1"/>
          <p:nvPr/>
        </p:nvSpPr>
        <p:spPr>
          <a:xfrm>
            <a:off x="4654296" y="2267712"/>
            <a:ext cx="2880360" cy="566928"/>
          </a:xfrm>
          <a:prstGeom prst="rect">
            <a:avLst/>
          </a:prstGeom>
          <a:noFill/>
        </p:spPr>
        <p:txBody>
          <a:bodyPr wrap="square" lIns="0" rIns="0" tIns="0" bIns="0">
            <a:spAutoFit/>
          </a:bodyPr>
          <a:lstStyle/>
          <a:p>
            <a:pPr algn="l"/>
            <a:r>
              <a:rPr sz="1250" b="1" i="0">
                <a:solidFill>
                  <a:srgbClr val="1A2233"/>
                </a:solidFill>
                <a:latin typeface="Cambria"/>
              </a:rPr>
              <a:t>tokens ~40x, doing-share ~75%</a:t>
            </a:r>
          </a:p>
        </p:txBody>
      </p:sp>
      <p:sp>
        <p:nvSpPr>
          <p:cNvPr id="12" name="TextBox 11"/>
          <p:cNvSpPr txBox="1"/>
          <p:nvPr/>
        </p:nvSpPr>
        <p:spPr>
          <a:xfrm>
            <a:off x="4654296" y="2999232"/>
            <a:ext cx="2880360" cy="2194560"/>
          </a:xfrm>
          <a:prstGeom prst="rect">
            <a:avLst/>
          </a:prstGeom>
          <a:noFill/>
        </p:spPr>
        <p:txBody>
          <a:bodyPr wrap="square" lIns="0" rIns="0" tIns="0" bIns="0">
            <a:spAutoFit/>
          </a:bodyPr>
          <a:lstStyle/>
          <a:p>
            <a:pPr algn="l"/>
            <a:r>
              <a:rPr sz="1050" b="0" i="0">
                <a:solidFill>
                  <a:srgbClr val="1A2233"/>
                </a:solidFill>
                <a:latin typeface="Calibri"/>
              </a:rPr>
              <a:t>The demand stack alone: ~$42B of cohort revenue — the top growth band, which the tape prices as a regime (p. 79). Requires no capability breakthrough — only measured slopes continuing at half their trailing pace.</a:t>
            </a:r>
          </a:p>
        </p:txBody>
      </p:sp>
      <p:sp>
        <p:nvSpPr>
          <p:cNvPr id="13" name="Rounded Rectangle 12"/>
          <p:cNvSpPr/>
          <p:nvPr/>
        </p:nvSpPr>
        <p:spPr>
          <a:xfrm>
            <a:off x="7982712" y="1700784"/>
            <a:ext cx="3429000" cy="3657600"/>
          </a:xfrm>
          <a:prstGeom prst="roundRect">
            <a:avLst>
              <a:gd name="adj" fmla="val 6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1920240"/>
            <a:ext cx="2880360" cy="274320"/>
          </a:xfrm>
          <a:prstGeom prst="rect">
            <a:avLst/>
          </a:prstGeom>
          <a:noFill/>
        </p:spPr>
        <p:txBody>
          <a:bodyPr wrap="square" lIns="0" rIns="0" tIns="0" bIns="0">
            <a:spAutoFit/>
          </a:bodyPr>
          <a:lstStyle/>
          <a:p>
            <a:pPr algn="l"/>
            <a:r>
              <a:rPr sz="1100" b="1" i="0">
                <a:solidFill>
                  <a:srgbClr val="8A97B0"/>
                </a:solidFill>
                <a:latin typeface="Calibri"/>
              </a:rPr>
              <a:t>THE ASCHENBRENNER WORLD</a:t>
            </a:r>
          </a:p>
        </p:txBody>
      </p:sp>
      <p:sp>
        <p:nvSpPr>
          <p:cNvPr id="15" name="TextBox 14"/>
          <p:cNvSpPr txBox="1"/>
          <p:nvPr/>
        </p:nvSpPr>
        <p:spPr>
          <a:xfrm>
            <a:off x="8257032" y="2267712"/>
            <a:ext cx="2880360" cy="566928"/>
          </a:xfrm>
          <a:prstGeom prst="rect">
            <a:avLst/>
          </a:prstGeom>
          <a:noFill/>
        </p:spPr>
        <p:txBody>
          <a:bodyPr wrap="square" lIns="0" rIns="0" tIns="0" bIns="0">
            <a:spAutoFit/>
          </a:bodyPr>
          <a:lstStyle/>
          <a:p>
            <a:pPr algn="l"/>
            <a:r>
              <a:rPr sz="1250" b="1" i="0">
                <a:solidFill>
                  <a:srgbClr val="1A2233"/>
                </a:solidFill>
                <a:latin typeface="Cambria"/>
              </a:rPr>
              <a:t>drop-in workers, then automated research</a:t>
            </a:r>
          </a:p>
        </p:txBody>
      </p:sp>
      <p:sp>
        <p:nvSpPr>
          <p:cNvPr id="16" name="TextBox 15"/>
          <p:cNvSpPr txBox="1"/>
          <p:nvPr/>
        </p:nvSpPr>
        <p:spPr>
          <a:xfrm>
            <a:off x="8257032" y="2999232"/>
            <a:ext cx="2880360" cy="2194560"/>
          </a:xfrm>
          <a:prstGeom prst="rect">
            <a:avLst/>
          </a:prstGeom>
          <a:noFill/>
        </p:spPr>
        <p:txBody>
          <a:bodyPr wrap="square" lIns="0" rIns="0" tIns="0" bIns="0">
            <a:spAutoFit/>
          </a:bodyPr>
          <a:lstStyle/>
          <a:p>
            <a:pPr algn="l"/>
            <a:r>
              <a:rPr sz="1050" b="0" i="0">
                <a:solidFill>
                  <a:srgbClr val="1A2233"/>
                </a:solidFill>
                <a:latin typeface="Calibri"/>
              </a:rPr>
              <a:t>Effective machine labor grows far faster than tokens; the SA case (~6,000Q, p. 31) puts cohort revenue near ~$60B — and metered rails are among the few public claims on it. Shown, not underwritten.</a:t>
            </a:r>
          </a:p>
        </p:txBody>
      </p:sp>
      <p:sp>
        <p:nvSpPr>
          <p:cNvPr id="17" name="TextBox 16"/>
          <p:cNvSpPr txBox="1"/>
          <p:nvPr/>
        </p:nvSpPr>
        <p:spPr>
          <a:xfrm>
            <a:off x="777240" y="5504688"/>
            <a:ext cx="10634472" cy="411480"/>
          </a:xfrm>
          <a:prstGeom prst="rect">
            <a:avLst/>
          </a:prstGeom>
          <a:noFill/>
        </p:spPr>
        <p:txBody>
          <a:bodyPr wrap="square" lIns="0" rIns="0" tIns="0" bIns="0">
            <a:spAutoFit/>
          </a:bodyPr>
          <a:lstStyle/>
          <a:p>
            <a:pPr algn="l"/>
            <a:r>
              <a:rPr sz="1050" b="0" i="1">
                <a:solidFill>
                  <a:srgbClr val="5A6478"/>
                </a:solidFill>
                <a:latin typeface="Calibri"/>
              </a:rPr>
              <a:t>The one world the thesis does not cover: machine labor migrating off public rails entirely — sealed labs, national projects. That risk is on the bear-case ledger, with the rest.</a:t>
            </a:r>
          </a:p>
        </p:txBody>
      </p:sp>
      <p:sp>
        <p:nvSpPr>
          <p:cNvPr id="18" name="Rounded Rectangle 17"/>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meters work across the timeline distribution  </a:t>
            </a:r>
            <a:r>
              <a:rPr sz="1200">
                <a:solidFill>
                  <a:srgbClr val="1A2233"/>
                </a:solidFill>
                <a:latin typeface="Calibri"/>
              </a:rPr>
              <a:t>— faster AI means more machine labor sooner; slower AI still grows the cohort ~2x.</a:t>
            </a:r>
          </a:p>
        </p:txBody>
      </p:sp>
      <p:sp>
        <p:nvSpPr>
          <p:cNvPr id="19" name="TextBox 18"/>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0" name="TextBox 19"/>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80</a:t>
            </a:r>
          </a:p>
        </p:txBody>
      </p:sp>
      <p:sp>
        <p:nvSpPr>
          <p:cNvPr id="21" name="TextBox 20"/>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Scenario framings: slow world = consensus fade (p. 77); wave = this piece; fast world per Aschenbrenner, Situational Awareness (Jun 2024) — hyperboom shown on the case slide, not underwritten.</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10728655" cy="676656"/>
          </a:xfrm>
          <a:prstGeom prst="rect">
            <a:avLst/>
          </a:prstGeom>
          <a:noFill/>
        </p:spPr>
        <p:txBody>
          <a:bodyPr wrap="square" lIns="0" tIns="0" rIns="0" bIns="0" rtlCol="0" anchor="ctr"/>
          <a:lstStyle/>
          <a:p>
            <a:pPr marL="0" indent="0" algn="l">
              <a:buNone/>
            </a:pPr>
            <a:r>
              <a:rPr lang="en-US" sz="2700" b="1" dirty="0">
                <a:solidFill>
                  <a:srgbClr val="1A2233"/>
                </a:solidFill>
                <a:latin typeface="Cambria" pitchFamily="34" charset="0"/>
                <a:ea typeface="Cambria" pitchFamily="34" charset="-122"/>
                <a:cs typeface="Cambria" pitchFamily="34" charset="-120"/>
              </a:rPr>
              <a:t>Why the cohort’s growth accelerates from here</a:t>
            </a:r>
            <a:endParaRPr lang="en-US" sz="2700" dirty="0"/>
          </a:p>
        </p:txBody>
      </p:sp>
      <p:sp>
        <p:nvSpPr>
          <p:cNvPr id="3" name="Text 1"/>
          <p:cNvSpPr/>
          <p:nvPr/>
        </p:nvSpPr>
        <p:spPr>
          <a:xfrm>
            <a:off x="502920" y="1024128"/>
            <a:ext cx="11185855" cy="274320"/>
          </a:xfrm>
          <a:prstGeom prst="rect">
            <a:avLst/>
          </a:prstGeom>
          <a:noFill/>
        </p:spPr>
        <p:txBody>
          <a:bodyPr wrap="square" lIns="0" tIns="0" rIns="0" bIns="0" rtlCol="0" anchor="ctr"/>
          <a:lstStyle/>
          <a:p>
            <a:pPr marL="0" indent="0" algn="l">
              <a:buNone/>
            </a:pPr>
            <a:r>
              <a:rPr lang="en-US" sz="1150" b="1" kern="0" spc="120" dirty="0">
                <a:solidFill>
                  <a:srgbClr val="5A6478"/>
                </a:solidFill>
                <a:latin typeface="Calibri" pitchFamily="34" charset="0"/>
                <a:ea typeface="Calibri" pitchFamily="34" charset="-122"/>
                <a:cs typeface="Calibri" pitchFamily="34" charset="-120"/>
              </a:rPr>
              <a:t>FIVE MECHANISMS, EACH MEASURABLE IN FILINGS — THE ACCELERATION IS ALREADY IN THE CONTRACTS</a:t>
            </a:r>
            <a:endParaRPr lang="en-US" sz="1150" dirty="0"/>
          </a:p>
        </p:txBody>
      </p:sp>
      <p:sp>
        <p:nvSpPr>
          <p:cNvPr id="42" name="Text 40"/>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43" name="Text 41"/>
          <p:cNvSpPr/>
          <p:nvPr/>
        </p:nvSpPr>
        <p:spPr>
          <a:xfrm>
            <a:off x="2011680" y="6528816"/>
            <a:ext cx="8778240" cy="219456"/>
          </a:xfrm>
          <a:prstGeom prst="rect">
            <a:avLst/>
          </a:prstGeom>
          <a:noFill/>
        </p:spPr>
        <p:txBody>
          <a:bodyPr wrap="square" lIns="0" tIns="0" rIns="0" bIns="0" rtlCol="0" anchor="ctr"/>
          <a:lstStyle/>
          <a:p>
            <a:pPr marL="0" indent="0">
              <a:buNone/>
            </a:pPr>
            <a:r>
              <a:rPr lang="en-US" sz="750" dirty="0">
                <a:solidFill>
                  <a:srgbClr val="8A97B0"/>
                </a:solidFill>
                <a:latin typeface="Calibri" pitchFamily="34" charset="0"/>
                <a:ea typeface="Calibri" pitchFamily="34" charset="-122"/>
                <a:cs typeface="Calibri" pitchFamily="34" charset="-120"/>
              </a:rPr>
              <a:t>Mechanics per the cohort tape (p. 74), the layer series (pp. 56–58), and the conversion model (p. 40). Snowflake NDR history per company disclosures. Scenarios, not forecasts.</a:t>
            </a:r>
            <a:endParaRPr lang="en-US" sz="750" dirty="0"/>
          </a:p>
        </p:txBody>
      </p:sp>
      <p:sp>
        <p:nvSpPr>
          <p:cNvPr id="44"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81</a:t>
            </a:fld>
            <a:endParaRPr lang="en-US"/>
          </a:p>
        </p:txBody>
      </p:sp>
      <p:sp>
        <p:nvSpPr>
          <p:cNvPr id="45" name="Rounded Rectangle 44"/>
          <p:cNvSpPr/>
          <p:nvPr/>
        </p:nvSpPr>
        <p:spPr>
          <a:xfrm>
            <a:off x="777240" y="1645920"/>
            <a:ext cx="10954512" cy="786384"/>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05840" y="1847088"/>
            <a:ext cx="457200" cy="365760"/>
          </a:xfrm>
          <a:prstGeom prst="rect">
            <a:avLst/>
          </a:prstGeom>
          <a:noFill/>
        </p:spPr>
        <p:txBody>
          <a:bodyPr wrap="square" lIns="0" rIns="0" tIns="0" bIns="0">
            <a:spAutoFit/>
          </a:bodyPr>
          <a:lstStyle/>
          <a:p>
            <a:pPr algn="l"/>
            <a:r>
              <a:rPr sz="1600" b="1">
                <a:solidFill>
                  <a:srgbClr val="2777EF"/>
                </a:solidFill>
                <a:latin typeface="Segoe UI"/>
              </a:rPr>
              <a:t>1</a:t>
            </a:r>
          </a:p>
        </p:txBody>
      </p:sp>
      <p:sp>
        <p:nvSpPr>
          <p:cNvPr id="47" name="TextBox 46"/>
          <p:cNvSpPr txBox="1"/>
          <p:nvPr/>
        </p:nvSpPr>
        <p:spPr>
          <a:xfrm>
            <a:off x="1600200" y="1746504"/>
            <a:ext cx="4160520" cy="548640"/>
          </a:xfrm>
          <a:prstGeom prst="rect">
            <a:avLst/>
          </a:prstGeom>
          <a:noFill/>
        </p:spPr>
        <p:txBody>
          <a:bodyPr wrap="square" lIns="0" rIns="0" tIns="0" bIns="0">
            <a:spAutoFit/>
          </a:bodyPr>
          <a:lstStyle/>
          <a:p>
            <a:pPr algn="l"/>
            <a:r>
              <a:rPr sz="1100" b="1">
                <a:solidFill>
                  <a:srgbClr val="1A2233"/>
                </a:solidFill>
                <a:latin typeface="Segoe UI"/>
              </a:rPr>
              <a:t>Commitment leads revenue by 2–4 quarters</a:t>
            </a:r>
          </a:p>
        </p:txBody>
      </p:sp>
      <p:sp>
        <p:nvSpPr>
          <p:cNvPr id="48" name="TextBox 47"/>
          <p:cNvSpPr txBox="1"/>
          <p:nvPr/>
        </p:nvSpPr>
        <p:spPr>
          <a:xfrm>
            <a:off x="5943600" y="1746504"/>
            <a:ext cx="5577840" cy="603504"/>
          </a:xfrm>
          <a:prstGeom prst="rect">
            <a:avLst/>
          </a:prstGeom>
          <a:noFill/>
        </p:spPr>
        <p:txBody>
          <a:bodyPr wrap="square" lIns="0" rIns="0" tIns="0" bIns="0">
            <a:spAutoFit/>
          </a:bodyPr>
          <a:lstStyle/>
          <a:p>
            <a:pPr algn="l"/>
            <a:r>
              <a:rPr sz="900" b="0">
                <a:solidFill>
                  <a:srgbClr val="5A6478"/>
                </a:solidFill>
                <a:latin typeface="Segoe UI"/>
              </a:rPr>
              <a:t>deferred revenue +19% → +32% y/y in five quarters — growth already signed, sitting on the balance sheet, not yet recognized</a:t>
            </a:r>
          </a:p>
        </p:txBody>
      </p:sp>
      <p:sp>
        <p:nvSpPr>
          <p:cNvPr id="49" name="Rounded Rectangle 48"/>
          <p:cNvSpPr/>
          <p:nvPr/>
        </p:nvSpPr>
        <p:spPr>
          <a:xfrm>
            <a:off x="777240" y="2542032"/>
            <a:ext cx="10954512" cy="786384"/>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5840" y="2743200"/>
            <a:ext cx="457200" cy="365760"/>
          </a:xfrm>
          <a:prstGeom prst="rect">
            <a:avLst/>
          </a:prstGeom>
          <a:noFill/>
        </p:spPr>
        <p:txBody>
          <a:bodyPr wrap="square" lIns="0" rIns="0" tIns="0" bIns="0">
            <a:spAutoFit/>
          </a:bodyPr>
          <a:lstStyle/>
          <a:p>
            <a:pPr algn="l"/>
            <a:r>
              <a:rPr sz="1600" b="1">
                <a:solidFill>
                  <a:srgbClr val="2777EF"/>
                </a:solidFill>
                <a:latin typeface="Segoe UI"/>
              </a:rPr>
              <a:t>2</a:t>
            </a:r>
          </a:p>
        </p:txBody>
      </p:sp>
      <p:sp>
        <p:nvSpPr>
          <p:cNvPr id="51" name="TextBox 50"/>
          <p:cNvSpPr txBox="1"/>
          <p:nvPr/>
        </p:nvSpPr>
        <p:spPr>
          <a:xfrm>
            <a:off x="1600200" y="2642616"/>
            <a:ext cx="4160520" cy="548640"/>
          </a:xfrm>
          <a:prstGeom prst="rect">
            <a:avLst/>
          </a:prstGeom>
          <a:noFill/>
        </p:spPr>
        <p:txBody>
          <a:bodyPr wrap="square" lIns="0" rIns="0" tIns="0" bIns="0">
            <a:spAutoFit/>
          </a:bodyPr>
          <a:lstStyle/>
          <a:p>
            <a:pPr algn="l"/>
            <a:r>
              <a:rPr sz="1100" b="1">
                <a:solidFill>
                  <a:srgbClr val="1A2233"/>
                </a:solidFill>
                <a:latin typeface="Segoe UI"/>
              </a:rPr>
              <a:t>Overage compounds faster than the base</a:t>
            </a:r>
          </a:p>
        </p:txBody>
      </p:sp>
      <p:sp>
        <p:nvSpPr>
          <p:cNvPr id="52" name="TextBox 51"/>
          <p:cNvSpPr txBox="1"/>
          <p:nvPr/>
        </p:nvSpPr>
        <p:spPr>
          <a:xfrm>
            <a:off x="5943600" y="2642616"/>
            <a:ext cx="5577840" cy="603504"/>
          </a:xfrm>
          <a:prstGeom prst="rect">
            <a:avLst/>
          </a:prstGeom>
          <a:noFill/>
        </p:spPr>
        <p:txBody>
          <a:bodyPr wrap="square" lIns="0" rIns="0" tIns="0" bIns="0">
            <a:spAutoFit/>
          </a:bodyPr>
          <a:lstStyle/>
          <a:p>
            <a:pPr algn="l"/>
            <a:r>
              <a:rPr sz="900" b="0">
                <a:solidFill>
                  <a:srgbClr val="5A6478"/>
                </a:solidFill>
                <a:latin typeface="Segoe UI"/>
              </a:rPr>
              <a:t>11% → 19% of revenue billed above floors, at list — the fastest-growing line inside the model, and it re-rates floors at every renewal</a:t>
            </a:r>
          </a:p>
        </p:txBody>
      </p:sp>
      <p:sp>
        <p:nvSpPr>
          <p:cNvPr id="53" name="Rounded Rectangle 52"/>
          <p:cNvSpPr/>
          <p:nvPr/>
        </p:nvSpPr>
        <p:spPr>
          <a:xfrm>
            <a:off x="777240" y="3438144"/>
            <a:ext cx="10954512" cy="786384"/>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05840" y="3639312"/>
            <a:ext cx="457200" cy="365760"/>
          </a:xfrm>
          <a:prstGeom prst="rect">
            <a:avLst/>
          </a:prstGeom>
          <a:noFill/>
        </p:spPr>
        <p:txBody>
          <a:bodyPr wrap="square" lIns="0" rIns="0" tIns="0" bIns="0">
            <a:spAutoFit/>
          </a:bodyPr>
          <a:lstStyle/>
          <a:p>
            <a:pPr algn="l"/>
            <a:r>
              <a:rPr sz="1600" b="1">
                <a:solidFill>
                  <a:srgbClr val="2777EF"/>
                </a:solidFill>
                <a:latin typeface="Segoe UI"/>
              </a:rPr>
              <a:t>3</a:t>
            </a:r>
          </a:p>
        </p:txBody>
      </p:sp>
      <p:sp>
        <p:nvSpPr>
          <p:cNvPr id="55" name="TextBox 54"/>
          <p:cNvSpPr txBox="1"/>
          <p:nvPr/>
        </p:nvSpPr>
        <p:spPr>
          <a:xfrm>
            <a:off x="1600200" y="3538728"/>
            <a:ext cx="4160520" cy="548640"/>
          </a:xfrm>
          <a:prstGeom prst="rect">
            <a:avLst/>
          </a:prstGeom>
          <a:noFill/>
        </p:spPr>
        <p:txBody>
          <a:bodyPr wrap="square" lIns="0" rIns="0" tIns="0" bIns="0">
            <a:spAutoFit/>
          </a:bodyPr>
          <a:lstStyle/>
          <a:p>
            <a:pPr algn="l"/>
            <a:r>
              <a:rPr sz="1100" b="1">
                <a:solidFill>
                  <a:srgbClr val="1A2233"/>
                </a:solidFill>
                <a:latin typeface="Segoe UI"/>
              </a:rPr>
              <a:t>Agent workloads stack a second S-curve on the first</a:t>
            </a:r>
          </a:p>
        </p:txBody>
      </p:sp>
      <p:sp>
        <p:nvSpPr>
          <p:cNvPr id="56" name="TextBox 55"/>
          <p:cNvSpPr txBox="1"/>
          <p:nvPr/>
        </p:nvSpPr>
        <p:spPr>
          <a:xfrm>
            <a:off x="5943600" y="3538728"/>
            <a:ext cx="5577840" cy="603504"/>
          </a:xfrm>
          <a:prstGeom prst="rect">
            <a:avLst/>
          </a:prstGeom>
          <a:noFill/>
        </p:spPr>
        <p:txBody>
          <a:bodyPr wrap="square" lIns="0" rIns="0" tIns="0" bIns="0">
            <a:spAutoFit/>
          </a:bodyPr>
          <a:lstStyle/>
          <a:p>
            <a:pPr algn="l"/>
            <a:r>
              <a:rPr sz="900" b="0">
                <a:solidFill>
                  <a:srgbClr val="5A6478"/>
                </a:solidFill>
                <a:latin typeface="Segoe UI"/>
              </a:rPr>
              <a:t>the cloud base still grows ~20%; always-on agents add 168-hour duty cycles of queries, writes and telemetry on top of it</a:t>
            </a:r>
          </a:p>
        </p:txBody>
      </p:sp>
      <p:sp>
        <p:nvSpPr>
          <p:cNvPr id="57" name="Rounded Rectangle 56"/>
          <p:cNvSpPr/>
          <p:nvPr/>
        </p:nvSpPr>
        <p:spPr>
          <a:xfrm>
            <a:off x="777240" y="4334256"/>
            <a:ext cx="10954512" cy="786384"/>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05840" y="4535424"/>
            <a:ext cx="457200" cy="365760"/>
          </a:xfrm>
          <a:prstGeom prst="rect">
            <a:avLst/>
          </a:prstGeom>
          <a:noFill/>
        </p:spPr>
        <p:txBody>
          <a:bodyPr wrap="square" lIns="0" rIns="0" tIns="0" bIns="0">
            <a:spAutoFit/>
          </a:bodyPr>
          <a:lstStyle/>
          <a:p>
            <a:pPr algn="l"/>
            <a:r>
              <a:rPr sz="1600" b="1">
                <a:solidFill>
                  <a:srgbClr val="2777EF"/>
                </a:solidFill>
                <a:latin typeface="Segoe UI"/>
              </a:rPr>
              <a:t>4</a:t>
            </a:r>
          </a:p>
        </p:txBody>
      </p:sp>
      <p:sp>
        <p:nvSpPr>
          <p:cNvPr id="59" name="TextBox 58"/>
          <p:cNvSpPr txBox="1"/>
          <p:nvPr/>
        </p:nvSpPr>
        <p:spPr>
          <a:xfrm>
            <a:off x="1600200" y="4434840"/>
            <a:ext cx="4160520" cy="548640"/>
          </a:xfrm>
          <a:prstGeom prst="rect">
            <a:avLst/>
          </a:prstGeom>
          <a:noFill/>
        </p:spPr>
        <p:txBody>
          <a:bodyPr wrap="square" lIns="0" rIns="0" tIns="0" bIns="0">
            <a:spAutoFit/>
          </a:bodyPr>
          <a:lstStyle/>
          <a:p>
            <a:pPr algn="l"/>
            <a:r>
              <a:rPr sz="1100" b="1">
                <a:solidFill>
                  <a:srgbClr val="1A2233"/>
                </a:solidFill>
                <a:latin typeface="Segoe UI"/>
              </a:rPr>
              <a:t>Retention math re-accelerates before new logos do</a:t>
            </a:r>
          </a:p>
        </p:txBody>
      </p:sp>
      <p:sp>
        <p:nvSpPr>
          <p:cNvPr id="60" name="TextBox 59"/>
          <p:cNvSpPr txBox="1"/>
          <p:nvPr/>
        </p:nvSpPr>
        <p:spPr>
          <a:xfrm>
            <a:off x="5943600" y="4434840"/>
            <a:ext cx="5577840" cy="603504"/>
          </a:xfrm>
          <a:prstGeom prst="rect">
            <a:avLst/>
          </a:prstGeom>
          <a:noFill/>
        </p:spPr>
        <p:txBody>
          <a:bodyPr wrap="square" lIns="0" rIns="0" tIns="0" bIns="0">
            <a:spAutoFit/>
          </a:bodyPr>
          <a:lstStyle/>
          <a:p>
            <a:pPr algn="l"/>
            <a:r>
              <a:rPr sz="900" b="0">
                <a:solidFill>
                  <a:srgbClr val="5A6478"/>
                </a:solidFill>
                <a:latin typeface="Segoe UI"/>
              </a:rPr>
              <a:t>meters’ NDR ~117 and rising — at 130+, the installed base alone compounds &gt;30%; Snowflake ran ~170 through the last step function</a:t>
            </a:r>
          </a:p>
        </p:txBody>
      </p:sp>
      <p:sp>
        <p:nvSpPr>
          <p:cNvPr id="61" name="Rounded Rectangle 60"/>
          <p:cNvSpPr/>
          <p:nvPr/>
        </p:nvSpPr>
        <p:spPr>
          <a:xfrm>
            <a:off x="777240" y="5230368"/>
            <a:ext cx="10954512" cy="786384"/>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05840" y="5431536"/>
            <a:ext cx="457200" cy="365760"/>
          </a:xfrm>
          <a:prstGeom prst="rect">
            <a:avLst/>
          </a:prstGeom>
          <a:noFill/>
        </p:spPr>
        <p:txBody>
          <a:bodyPr wrap="square" lIns="0" rIns="0" tIns="0" bIns="0">
            <a:spAutoFit/>
          </a:bodyPr>
          <a:lstStyle/>
          <a:p>
            <a:pPr algn="l"/>
            <a:r>
              <a:rPr sz="1600" b="1">
                <a:solidFill>
                  <a:srgbClr val="2777EF"/>
                </a:solidFill>
                <a:latin typeface="Segoe UI"/>
              </a:rPr>
              <a:t>5</a:t>
            </a:r>
          </a:p>
        </p:txBody>
      </p:sp>
      <p:sp>
        <p:nvSpPr>
          <p:cNvPr id="63" name="TextBox 62"/>
          <p:cNvSpPr txBox="1"/>
          <p:nvPr/>
        </p:nvSpPr>
        <p:spPr>
          <a:xfrm>
            <a:off x="1600200" y="5330952"/>
            <a:ext cx="4160520" cy="548640"/>
          </a:xfrm>
          <a:prstGeom prst="rect">
            <a:avLst/>
          </a:prstGeom>
          <a:noFill/>
        </p:spPr>
        <p:txBody>
          <a:bodyPr wrap="square" lIns="0" rIns="0" tIns="0" bIns="0">
            <a:spAutoFit/>
          </a:bodyPr>
          <a:lstStyle/>
          <a:p>
            <a:pPr algn="l"/>
            <a:r>
              <a:rPr sz="1100" b="1">
                <a:solidFill>
                  <a:srgbClr val="1A2233"/>
                </a:solidFill>
                <a:latin typeface="Segoe UI"/>
              </a:rPr>
              <a:t>The wave’s transmission is direct</a:t>
            </a:r>
          </a:p>
        </p:txBody>
      </p:sp>
      <p:sp>
        <p:nvSpPr>
          <p:cNvPr id="64" name="TextBox 63"/>
          <p:cNvSpPr txBox="1"/>
          <p:nvPr/>
        </p:nvSpPr>
        <p:spPr>
          <a:xfrm>
            <a:off x="5943600" y="5330952"/>
            <a:ext cx="5577840" cy="603504"/>
          </a:xfrm>
          <a:prstGeom prst="rect">
            <a:avLst/>
          </a:prstGeom>
          <a:noFill/>
        </p:spPr>
        <p:txBody>
          <a:bodyPr wrap="square" lIns="0" rIns="0" tIns="0" bIns="0">
            <a:spAutoFit/>
          </a:bodyPr>
          <a:lstStyle/>
          <a:p>
            <a:pPr algn="l"/>
            <a:r>
              <a:rPr sz="900" b="0">
                <a:solidFill>
                  <a:srgbClr val="5A6478"/>
                </a:solidFill>
                <a:latin typeface="Segoe UI"/>
              </a:rPr>
              <a:t>40x tokens → ~190x billable events land on exactly these meters; even at 0.5–0.7 capture, the arithmetic is the ~35–50% band (p. 77)</a:t>
            </a:r>
          </a:p>
        </p:txBody>
      </p:sp>
    </p:spTree>
    <p:extLst>
      <p:ext uri="{BB962C8B-B14F-4D97-AF65-F5344CB8AC3E}">
        <p14:creationId xmlns:p14="http://schemas.microsoft.com/office/powerpoint/2010/main" val="3368300412"/>
      </p:ext>
    </p:extLst>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Oracle ledger: eight dated predictions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WHAT THE THESIS MUST DELIVER, WITH DEADLINES — GRADED QUARTERLY IN SKY1, IN PUBLIC</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09344"/>
            <a:ext cx="10634472" cy="475488"/>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19072"/>
            <a:ext cx="1417320" cy="256032"/>
          </a:xfrm>
          <a:prstGeom prst="rect">
            <a:avLst/>
          </a:prstGeom>
          <a:noFill/>
        </p:spPr>
        <p:txBody>
          <a:bodyPr wrap="square" lIns="0" rIns="0" tIns="0" bIns="0">
            <a:spAutoFit/>
          </a:bodyPr>
          <a:lstStyle/>
          <a:p>
            <a:pPr algn="l"/>
            <a:r>
              <a:rPr sz="950" b="1" i="0">
                <a:solidFill>
                  <a:srgbClr val="2777EF"/>
                </a:solidFill>
                <a:latin typeface="Calibri"/>
              </a:rPr>
              <a:t>Q4 '26</a:t>
            </a:r>
          </a:p>
        </p:txBody>
      </p:sp>
      <p:sp>
        <p:nvSpPr>
          <p:cNvPr id="7" name="TextBox 6"/>
          <p:cNvSpPr txBox="1"/>
          <p:nvPr/>
        </p:nvSpPr>
        <p:spPr>
          <a:xfrm>
            <a:off x="2560320" y="1709928"/>
            <a:ext cx="5120640" cy="274320"/>
          </a:xfrm>
          <a:prstGeom prst="rect">
            <a:avLst/>
          </a:prstGeom>
          <a:noFill/>
        </p:spPr>
        <p:txBody>
          <a:bodyPr wrap="square" lIns="0" rIns="0" tIns="0" bIns="0">
            <a:spAutoFit/>
          </a:bodyPr>
          <a:lstStyle/>
          <a:p>
            <a:pPr algn="l"/>
            <a:r>
              <a:rPr sz="1050" b="1" i="0">
                <a:solidFill>
                  <a:srgbClr val="1A2233"/>
                </a:solidFill>
                <a:latin typeface="Calibri"/>
              </a:rPr>
              <a:t>A platform prints ≥2Q tokens / month</a:t>
            </a:r>
          </a:p>
        </p:txBody>
      </p:sp>
      <p:sp>
        <p:nvSpPr>
          <p:cNvPr id="8" name="TextBox 7"/>
          <p:cNvSpPr txBox="1"/>
          <p:nvPr/>
        </p:nvSpPr>
        <p:spPr>
          <a:xfrm>
            <a:off x="7818120" y="1719072"/>
            <a:ext cx="3429000" cy="256032"/>
          </a:xfrm>
          <a:prstGeom prst="rect">
            <a:avLst/>
          </a:prstGeom>
          <a:noFill/>
        </p:spPr>
        <p:txBody>
          <a:bodyPr wrap="square" lIns="0" rIns="0" tIns="0" bIns="0">
            <a:spAutoFit/>
          </a:bodyPr>
          <a:lstStyle/>
          <a:p>
            <a:pPr algn="l"/>
            <a:r>
              <a:rPr sz="900" b="0" i="1">
                <a:solidFill>
                  <a:srgbClr val="5A6478"/>
                </a:solidFill>
                <a:latin typeface="Calibri"/>
              </a:rPr>
              <a:t>the wave stays on curve (from 1.3Q, Oct '25)</a:t>
            </a:r>
          </a:p>
        </p:txBody>
      </p:sp>
      <p:sp>
        <p:nvSpPr>
          <p:cNvPr id="9" name="Rounded Rectangle 8"/>
          <p:cNvSpPr/>
          <p:nvPr/>
        </p:nvSpPr>
        <p:spPr>
          <a:xfrm>
            <a:off x="777240" y="2144268"/>
            <a:ext cx="10634472" cy="475488"/>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253996"/>
            <a:ext cx="1417320" cy="256032"/>
          </a:xfrm>
          <a:prstGeom prst="rect">
            <a:avLst/>
          </a:prstGeom>
          <a:noFill/>
        </p:spPr>
        <p:txBody>
          <a:bodyPr wrap="square" lIns="0" rIns="0" tIns="0" bIns="0">
            <a:spAutoFit/>
          </a:bodyPr>
          <a:lstStyle/>
          <a:p>
            <a:pPr algn="l"/>
            <a:r>
              <a:rPr sz="950" b="1" i="0">
                <a:solidFill>
                  <a:srgbClr val="2777EF"/>
                </a:solidFill>
                <a:latin typeface="Calibri"/>
              </a:rPr>
              <a:t>Q2 '27</a:t>
            </a:r>
          </a:p>
        </p:txBody>
      </p:sp>
      <p:sp>
        <p:nvSpPr>
          <p:cNvPr id="11" name="TextBox 10"/>
          <p:cNvSpPr txBox="1"/>
          <p:nvPr/>
        </p:nvSpPr>
        <p:spPr>
          <a:xfrm>
            <a:off x="2560320" y="2244851"/>
            <a:ext cx="5120640" cy="274320"/>
          </a:xfrm>
          <a:prstGeom prst="rect">
            <a:avLst/>
          </a:prstGeom>
          <a:noFill/>
        </p:spPr>
        <p:txBody>
          <a:bodyPr wrap="square" lIns="0" rIns="0" tIns="0" bIns="0">
            <a:spAutoFit/>
          </a:bodyPr>
          <a:lstStyle/>
          <a:p>
            <a:pPr algn="l"/>
            <a:r>
              <a:rPr sz="1050" b="1" i="0">
                <a:solidFill>
                  <a:srgbClr val="1A2233"/>
                </a:solidFill>
                <a:latin typeface="Calibri"/>
              </a:rPr>
              <a:t>Cohort overage share ≥25% of revenue</a:t>
            </a:r>
          </a:p>
        </p:txBody>
      </p:sp>
      <p:sp>
        <p:nvSpPr>
          <p:cNvPr id="12" name="TextBox 11"/>
          <p:cNvSpPr txBox="1"/>
          <p:nvPr/>
        </p:nvSpPr>
        <p:spPr>
          <a:xfrm>
            <a:off x="7818120" y="2253996"/>
            <a:ext cx="3429000" cy="256032"/>
          </a:xfrm>
          <a:prstGeom prst="rect">
            <a:avLst/>
          </a:prstGeom>
          <a:noFill/>
        </p:spPr>
        <p:txBody>
          <a:bodyPr wrap="square" lIns="0" rIns="0" tIns="0" bIns="0">
            <a:spAutoFit/>
          </a:bodyPr>
          <a:lstStyle/>
          <a:p>
            <a:pPr algn="l"/>
            <a:r>
              <a:rPr sz="900" b="0" i="1">
                <a:solidFill>
                  <a:srgbClr val="5A6478"/>
                </a:solidFill>
                <a:latin typeface="Calibri"/>
              </a:rPr>
              <a:t>conversion keeps compounding (from ~19%)</a:t>
            </a:r>
          </a:p>
        </p:txBody>
      </p:sp>
      <p:sp>
        <p:nvSpPr>
          <p:cNvPr id="13" name="Rounded Rectangle 12"/>
          <p:cNvSpPr/>
          <p:nvPr/>
        </p:nvSpPr>
        <p:spPr>
          <a:xfrm>
            <a:off x="777240" y="2679191"/>
            <a:ext cx="10634472" cy="475488"/>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2788920"/>
            <a:ext cx="1417320" cy="256032"/>
          </a:xfrm>
          <a:prstGeom prst="rect">
            <a:avLst/>
          </a:prstGeom>
          <a:noFill/>
        </p:spPr>
        <p:txBody>
          <a:bodyPr wrap="square" lIns="0" rIns="0" tIns="0" bIns="0">
            <a:spAutoFit/>
          </a:bodyPr>
          <a:lstStyle/>
          <a:p>
            <a:pPr algn="l"/>
            <a:r>
              <a:rPr sz="950" b="1" i="0">
                <a:solidFill>
                  <a:srgbClr val="2777EF"/>
                </a:solidFill>
                <a:latin typeface="Calibri"/>
              </a:rPr>
              <a:t>MID '27</a:t>
            </a:r>
          </a:p>
        </p:txBody>
      </p:sp>
      <p:sp>
        <p:nvSpPr>
          <p:cNvPr id="15" name="TextBox 14"/>
          <p:cNvSpPr txBox="1"/>
          <p:nvPr/>
        </p:nvSpPr>
        <p:spPr>
          <a:xfrm>
            <a:off x="2560320" y="2779775"/>
            <a:ext cx="5120640" cy="274320"/>
          </a:xfrm>
          <a:prstGeom prst="rect">
            <a:avLst/>
          </a:prstGeom>
          <a:noFill/>
        </p:spPr>
        <p:txBody>
          <a:bodyPr wrap="square" lIns="0" rIns="0" tIns="0" bIns="0">
            <a:spAutoFit/>
          </a:bodyPr>
          <a:lstStyle/>
          <a:p>
            <a:pPr algn="l"/>
            <a:r>
              <a:rPr sz="1050" b="1" i="0">
                <a:solidFill>
                  <a:srgbClr val="1A2233"/>
                </a:solidFill>
                <a:latin typeface="Calibri"/>
              </a:rPr>
              <a:t>Meters' median NDR ≥120 while apps ≤103</a:t>
            </a:r>
          </a:p>
        </p:txBody>
      </p:sp>
      <p:sp>
        <p:nvSpPr>
          <p:cNvPr id="16" name="TextBox 15"/>
          <p:cNvSpPr txBox="1"/>
          <p:nvPr/>
        </p:nvSpPr>
        <p:spPr>
          <a:xfrm>
            <a:off x="7818120" y="2788920"/>
            <a:ext cx="3429000" cy="256032"/>
          </a:xfrm>
          <a:prstGeom prst="rect">
            <a:avLst/>
          </a:prstGeom>
          <a:noFill/>
        </p:spPr>
        <p:txBody>
          <a:bodyPr wrap="square" lIns="0" rIns="0" tIns="0" bIns="0">
            <a:spAutoFit/>
          </a:bodyPr>
          <a:lstStyle/>
          <a:p>
            <a:pPr algn="l"/>
            <a:r>
              <a:rPr sz="900" b="0" i="1">
                <a:solidFill>
                  <a:srgbClr val="5A6478"/>
                </a:solidFill>
                <a:latin typeface="Calibri"/>
              </a:rPr>
              <a:t>agents pay meters, not seats — the gap widens</a:t>
            </a:r>
          </a:p>
        </p:txBody>
      </p:sp>
      <p:sp>
        <p:nvSpPr>
          <p:cNvPr id="17" name="Rounded Rectangle 16"/>
          <p:cNvSpPr/>
          <p:nvPr/>
        </p:nvSpPr>
        <p:spPr>
          <a:xfrm>
            <a:off x="777240" y="3214115"/>
            <a:ext cx="10634472" cy="475488"/>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323844"/>
            <a:ext cx="1417320" cy="256032"/>
          </a:xfrm>
          <a:prstGeom prst="rect">
            <a:avLst/>
          </a:prstGeom>
          <a:noFill/>
        </p:spPr>
        <p:txBody>
          <a:bodyPr wrap="square" lIns="0" rIns="0" tIns="0" bIns="0">
            <a:spAutoFit/>
          </a:bodyPr>
          <a:lstStyle/>
          <a:p>
            <a:pPr algn="l"/>
            <a:r>
              <a:rPr sz="950" b="1" i="0">
                <a:solidFill>
                  <a:srgbClr val="2777EF"/>
                </a:solidFill>
                <a:latin typeface="Calibri"/>
              </a:rPr>
              <a:t>EVERY QTR</a:t>
            </a:r>
          </a:p>
        </p:txBody>
      </p:sp>
      <p:sp>
        <p:nvSpPr>
          <p:cNvPr id="19" name="TextBox 18"/>
          <p:cNvSpPr txBox="1"/>
          <p:nvPr/>
        </p:nvSpPr>
        <p:spPr>
          <a:xfrm>
            <a:off x="2560320" y="3314699"/>
            <a:ext cx="5120640" cy="274320"/>
          </a:xfrm>
          <a:prstGeom prst="rect">
            <a:avLst/>
          </a:prstGeom>
          <a:noFill/>
        </p:spPr>
        <p:txBody>
          <a:bodyPr wrap="square" lIns="0" rIns="0" tIns="0" bIns="0">
            <a:spAutoFit/>
          </a:bodyPr>
          <a:lstStyle/>
          <a:p>
            <a:pPr algn="l"/>
            <a:r>
              <a:rPr sz="1050" b="1" i="0">
                <a:solidFill>
                  <a:srgbClr val="1A2233"/>
                </a:solidFill>
                <a:latin typeface="Calibri"/>
              </a:rPr>
              <a:t>Cohort backlog growth ≥ revenue growth</a:t>
            </a:r>
          </a:p>
        </p:txBody>
      </p:sp>
      <p:sp>
        <p:nvSpPr>
          <p:cNvPr id="20" name="TextBox 19"/>
          <p:cNvSpPr txBox="1"/>
          <p:nvPr/>
        </p:nvSpPr>
        <p:spPr>
          <a:xfrm>
            <a:off x="7818120" y="3323844"/>
            <a:ext cx="3429000" cy="256032"/>
          </a:xfrm>
          <a:prstGeom prst="rect">
            <a:avLst/>
          </a:prstGeom>
          <a:noFill/>
        </p:spPr>
        <p:txBody>
          <a:bodyPr wrap="square" lIns="0" rIns="0" tIns="0" bIns="0">
            <a:spAutoFit/>
          </a:bodyPr>
          <a:lstStyle/>
          <a:p>
            <a:pPr algn="l"/>
            <a:r>
              <a:rPr sz="900" b="0" i="1">
                <a:solidFill>
                  <a:srgbClr val="5A6478"/>
                </a:solidFill>
                <a:latin typeface="Calibri"/>
              </a:rPr>
              <a:t>commitment keeps leading recognition</a:t>
            </a:r>
          </a:p>
        </p:txBody>
      </p:sp>
      <p:sp>
        <p:nvSpPr>
          <p:cNvPr id="21" name="Rounded Rectangle 20"/>
          <p:cNvSpPr/>
          <p:nvPr/>
        </p:nvSpPr>
        <p:spPr>
          <a:xfrm>
            <a:off x="777240" y="3749039"/>
            <a:ext cx="10634472" cy="475488"/>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3858768"/>
            <a:ext cx="1417320" cy="256032"/>
          </a:xfrm>
          <a:prstGeom prst="rect">
            <a:avLst/>
          </a:prstGeom>
          <a:noFill/>
        </p:spPr>
        <p:txBody>
          <a:bodyPr wrap="square" lIns="0" rIns="0" tIns="0" bIns="0">
            <a:spAutoFit/>
          </a:bodyPr>
          <a:lstStyle/>
          <a:p>
            <a:pPr algn="l"/>
            <a:r>
              <a:rPr sz="950" b="1" i="0">
                <a:solidFill>
                  <a:srgbClr val="2777EF"/>
                </a:solidFill>
                <a:latin typeface="Calibri"/>
              </a:rPr>
              <a:t>END '27</a:t>
            </a:r>
          </a:p>
        </p:txBody>
      </p:sp>
      <p:sp>
        <p:nvSpPr>
          <p:cNvPr id="23" name="TextBox 22"/>
          <p:cNvSpPr txBox="1"/>
          <p:nvPr/>
        </p:nvSpPr>
        <p:spPr>
          <a:xfrm>
            <a:off x="2560320" y="3849624"/>
            <a:ext cx="5120640" cy="274320"/>
          </a:xfrm>
          <a:prstGeom prst="rect">
            <a:avLst/>
          </a:prstGeom>
          <a:noFill/>
        </p:spPr>
        <p:txBody>
          <a:bodyPr wrap="square" lIns="0" rIns="0" tIns="0" bIns="0">
            <a:spAutoFit/>
          </a:bodyPr>
          <a:lstStyle/>
          <a:p>
            <a:pPr algn="l"/>
            <a:r>
              <a:rPr sz="1050" b="1" i="0">
                <a:solidFill>
                  <a:srgbClr val="1A2233"/>
                </a:solidFill>
                <a:latin typeface="Calibri"/>
              </a:rPr>
              <a:t>≥15 major vendors ship billable agent SKUs</a:t>
            </a:r>
          </a:p>
        </p:txBody>
      </p:sp>
      <p:sp>
        <p:nvSpPr>
          <p:cNvPr id="24" name="TextBox 23"/>
          <p:cNvSpPr txBox="1"/>
          <p:nvPr/>
        </p:nvSpPr>
        <p:spPr>
          <a:xfrm>
            <a:off x="7818120" y="3858768"/>
            <a:ext cx="3429000" cy="256032"/>
          </a:xfrm>
          <a:prstGeom prst="rect">
            <a:avLst/>
          </a:prstGeom>
          <a:noFill/>
        </p:spPr>
        <p:txBody>
          <a:bodyPr wrap="square" lIns="0" rIns="0" tIns="0" bIns="0">
            <a:spAutoFit/>
          </a:bodyPr>
          <a:lstStyle/>
          <a:p>
            <a:pPr algn="l"/>
            <a:r>
              <a:rPr sz="900" b="0" i="1">
                <a:solidFill>
                  <a:srgbClr val="5A6478"/>
                </a:solidFill>
                <a:latin typeface="Calibri"/>
              </a:rPr>
              <a:t>the invoice line spreads (from 7 today)</a:t>
            </a:r>
          </a:p>
        </p:txBody>
      </p:sp>
      <p:sp>
        <p:nvSpPr>
          <p:cNvPr id="25" name="Rounded Rectangle 24"/>
          <p:cNvSpPr/>
          <p:nvPr/>
        </p:nvSpPr>
        <p:spPr>
          <a:xfrm>
            <a:off x="777240" y="4283964"/>
            <a:ext cx="10634472" cy="475488"/>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4393692"/>
            <a:ext cx="1417320" cy="256032"/>
          </a:xfrm>
          <a:prstGeom prst="rect">
            <a:avLst/>
          </a:prstGeom>
          <a:noFill/>
        </p:spPr>
        <p:txBody>
          <a:bodyPr wrap="square" lIns="0" rIns="0" tIns="0" bIns="0">
            <a:spAutoFit/>
          </a:bodyPr>
          <a:lstStyle/>
          <a:p>
            <a:pPr algn="l"/>
            <a:r>
              <a:rPr sz="950" b="1" i="0">
                <a:solidFill>
                  <a:srgbClr val="2777EF"/>
                </a:solidFill>
                <a:latin typeface="Calibri"/>
              </a:rPr>
              <a:t>WITHIN 4 QTRS</a:t>
            </a:r>
          </a:p>
        </p:txBody>
      </p:sp>
      <p:sp>
        <p:nvSpPr>
          <p:cNvPr id="27" name="TextBox 26"/>
          <p:cNvSpPr txBox="1"/>
          <p:nvPr/>
        </p:nvSpPr>
        <p:spPr>
          <a:xfrm>
            <a:off x="2560320" y="4384548"/>
            <a:ext cx="5120640" cy="274320"/>
          </a:xfrm>
          <a:prstGeom prst="rect">
            <a:avLst/>
          </a:prstGeom>
          <a:noFill/>
        </p:spPr>
        <p:txBody>
          <a:bodyPr wrap="square" lIns="0" rIns="0" tIns="0" bIns="0">
            <a:spAutoFit/>
          </a:bodyPr>
          <a:lstStyle/>
          <a:p>
            <a:pPr algn="l"/>
            <a:r>
              <a:rPr sz="1050" b="1" i="0">
                <a:solidFill>
                  <a:srgbClr val="1A2233"/>
                </a:solidFill>
                <a:latin typeface="Calibri"/>
              </a:rPr>
              <a:t>Consensus 2029 cohort revenue revised up ≥10%</a:t>
            </a:r>
          </a:p>
        </p:txBody>
      </p:sp>
      <p:sp>
        <p:nvSpPr>
          <p:cNvPr id="28" name="TextBox 27"/>
          <p:cNvSpPr txBox="1"/>
          <p:nvPr/>
        </p:nvSpPr>
        <p:spPr>
          <a:xfrm>
            <a:off x="7818120" y="4393692"/>
            <a:ext cx="3429000" cy="256032"/>
          </a:xfrm>
          <a:prstGeom prst="rect">
            <a:avLst/>
          </a:prstGeom>
          <a:noFill/>
        </p:spPr>
        <p:txBody>
          <a:bodyPr wrap="square" lIns="0" rIns="0" tIns="0" bIns="0">
            <a:spAutoFit/>
          </a:bodyPr>
          <a:lstStyle/>
          <a:p>
            <a:pPr algn="l"/>
            <a:r>
              <a:rPr sz="900" b="0" i="1">
                <a:solidFill>
                  <a:srgbClr val="5A6478"/>
                </a:solidFill>
                <a:latin typeface="Calibri"/>
              </a:rPr>
              <a:t>the modeled deceleration starts to break</a:t>
            </a:r>
          </a:p>
        </p:txBody>
      </p:sp>
      <p:sp>
        <p:nvSpPr>
          <p:cNvPr id="29" name="Rounded Rectangle 28"/>
          <p:cNvSpPr/>
          <p:nvPr/>
        </p:nvSpPr>
        <p:spPr>
          <a:xfrm>
            <a:off x="777240" y="4818888"/>
            <a:ext cx="10634472" cy="475488"/>
          </a:xfrm>
          <a:prstGeom prst="roundRect">
            <a:avLst>
              <a:gd name="adj" fmla="val 16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5840" y="4928616"/>
            <a:ext cx="1417320" cy="256032"/>
          </a:xfrm>
          <a:prstGeom prst="rect">
            <a:avLst/>
          </a:prstGeom>
          <a:noFill/>
        </p:spPr>
        <p:txBody>
          <a:bodyPr wrap="square" lIns="0" rIns="0" tIns="0" bIns="0">
            <a:spAutoFit/>
          </a:bodyPr>
          <a:lstStyle/>
          <a:p>
            <a:pPr algn="l"/>
            <a:r>
              <a:rPr sz="950" b="1" i="0">
                <a:solidFill>
                  <a:srgbClr val="2777EF"/>
                </a:solidFill>
                <a:latin typeface="Calibri"/>
              </a:rPr>
              <a:t>WITHIN 18 MOS</a:t>
            </a:r>
          </a:p>
        </p:txBody>
      </p:sp>
      <p:sp>
        <p:nvSpPr>
          <p:cNvPr id="31" name="TextBox 30"/>
          <p:cNvSpPr txBox="1"/>
          <p:nvPr/>
        </p:nvSpPr>
        <p:spPr>
          <a:xfrm>
            <a:off x="2560320" y="4919472"/>
            <a:ext cx="5120640" cy="274320"/>
          </a:xfrm>
          <a:prstGeom prst="rect">
            <a:avLst/>
          </a:prstGeom>
          <a:noFill/>
        </p:spPr>
        <p:txBody>
          <a:bodyPr wrap="square" lIns="0" rIns="0" tIns="0" bIns="0">
            <a:spAutoFit/>
          </a:bodyPr>
          <a:lstStyle/>
          <a:p>
            <a:pPr algn="l"/>
            <a:r>
              <a:rPr sz="1050" b="1" i="0">
                <a:solidFill>
                  <a:srgbClr val="1A2233"/>
                </a:solidFill>
                <a:latin typeface="Calibri"/>
              </a:rPr>
              <a:t>A meter takeout at ≥8x EV / revenue</a:t>
            </a:r>
          </a:p>
        </p:txBody>
      </p:sp>
      <p:sp>
        <p:nvSpPr>
          <p:cNvPr id="32" name="TextBox 31"/>
          <p:cNvSpPr txBox="1"/>
          <p:nvPr/>
        </p:nvSpPr>
        <p:spPr>
          <a:xfrm>
            <a:off x="7818120" y="4928616"/>
            <a:ext cx="3429000" cy="256032"/>
          </a:xfrm>
          <a:prstGeom prst="rect">
            <a:avLst/>
          </a:prstGeom>
          <a:noFill/>
        </p:spPr>
        <p:txBody>
          <a:bodyPr wrap="square" lIns="0" rIns="0" tIns="0" bIns="0">
            <a:spAutoFit/>
          </a:bodyPr>
          <a:lstStyle/>
          <a:p>
            <a:pPr algn="l"/>
            <a:r>
              <a:rPr sz="900" b="0" i="1">
                <a:solidFill>
                  <a:srgbClr val="5A6478"/>
                </a:solidFill>
                <a:latin typeface="Calibri"/>
              </a:rPr>
              <a:t>the strategic bid persists under the floor</a:t>
            </a:r>
          </a:p>
        </p:txBody>
      </p:sp>
      <p:sp>
        <p:nvSpPr>
          <p:cNvPr id="33" name="Rounded Rectangle 32"/>
          <p:cNvSpPr/>
          <p:nvPr/>
        </p:nvSpPr>
        <p:spPr>
          <a:xfrm>
            <a:off x="777240" y="5353812"/>
            <a:ext cx="10634472" cy="475488"/>
          </a:xfrm>
          <a:prstGeom prst="roundRect">
            <a:avLst>
              <a:gd name="adj" fmla="val 16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5840" y="5463540"/>
            <a:ext cx="1417320" cy="256032"/>
          </a:xfrm>
          <a:prstGeom prst="rect">
            <a:avLst/>
          </a:prstGeom>
          <a:noFill/>
        </p:spPr>
        <p:txBody>
          <a:bodyPr wrap="square" lIns="0" rIns="0" tIns="0" bIns="0">
            <a:spAutoFit/>
          </a:bodyPr>
          <a:lstStyle/>
          <a:p>
            <a:pPr algn="l"/>
            <a:r>
              <a:rPr sz="950" b="1" i="0">
                <a:solidFill>
                  <a:srgbClr val="2777EF"/>
                </a:solidFill>
                <a:latin typeface="Calibri"/>
              </a:rPr>
              <a:t>BY 2028</a:t>
            </a:r>
          </a:p>
        </p:txBody>
      </p:sp>
      <p:sp>
        <p:nvSpPr>
          <p:cNvPr id="35" name="TextBox 34"/>
          <p:cNvSpPr txBox="1"/>
          <p:nvPr/>
        </p:nvSpPr>
        <p:spPr>
          <a:xfrm>
            <a:off x="2560320" y="5454396"/>
            <a:ext cx="5120640" cy="274320"/>
          </a:xfrm>
          <a:prstGeom prst="rect">
            <a:avLst/>
          </a:prstGeom>
          <a:noFill/>
        </p:spPr>
        <p:txBody>
          <a:bodyPr wrap="square" lIns="0" rIns="0" tIns="0" bIns="0">
            <a:spAutoFit/>
          </a:bodyPr>
          <a:lstStyle/>
          <a:p>
            <a:pPr algn="l"/>
            <a:r>
              <a:rPr sz="1050" b="1" i="0">
                <a:solidFill>
                  <a:srgbClr val="1A2233"/>
                </a:solidFill>
                <a:latin typeface="Calibri"/>
              </a:rPr>
              <a:t>Cohort FCF margin ≥28%</a:t>
            </a:r>
          </a:p>
        </p:txBody>
      </p:sp>
      <p:sp>
        <p:nvSpPr>
          <p:cNvPr id="36" name="TextBox 35"/>
          <p:cNvSpPr txBox="1"/>
          <p:nvPr/>
        </p:nvSpPr>
        <p:spPr>
          <a:xfrm>
            <a:off x="7818120" y="5463540"/>
            <a:ext cx="3429000" cy="256032"/>
          </a:xfrm>
          <a:prstGeom prst="rect">
            <a:avLst/>
          </a:prstGeom>
          <a:noFill/>
        </p:spPr>
        <p:txBody>
          <a:bodyPr wrap="square" lIns="0" rIns="0" tIns="0" bIns="0">
            <a:spAutoFit/>
          </a:bodyPr>
          <a:lstStyle/>
          <a:p>
            <a:pPr algn="l"/>
            <a:r>
              <a:rPr sz="900" b="0" i="1">
                <a:solidFill>
                  <a:srgbClr val="5A6478"/>
                </a:solidFill>
                <a:latin typeface="Calibri"/>
              </a:rPr>
              <a:t>the drop-through shows up in cash</a:t>
            </a:r>
          </a:p>
        </p:txBody>
      </p:sp>
      <p:sp>
        <p:nvSpPr>
          <p:cNvPr id="37" name="Rounded Rectangle 36"/>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Dated, falsifiable, public  </a:t>
            </a:r>
            <a:r>
              <a:rPr sz="1200">
                <a:solidFill>
                  <a:srgbClr val="1A2233"/>
                </a:solidFill>
                <a:latin typeface="Calibri"/>
              </a:rPr>
              <a:t>— if the ledger fills with misses, the thesis shrinks with it. That's the deal.</a:t>
            </a:r>
          </a:p>
        </p:txBody>
      </p:sp>
      <p:sp>
        <p:nvSpPr>
          <p:cNvPr id="38" name="TextBox 3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9" name="TextBox 3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82</a:t>
            </a:r>
          </a:p>
        </p:txBody>
      </p:sp>
      <p:sp>
        <p:nvSpPr>
          <p:cNvPr id="40" name="TextBox 39"/>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Baselines per this deck's exhibits; grading criteria fixed at publication. Predictions are research views, not guarantees; graded quarterly in Sky1.</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long ledger: five calls for the 2030s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BOLDER AND LONGER — DIRECTION IS THE CLAIM, TIMING IS THE ERROR BAR · IN THE SPIRIT OF THE STRAIGHT LINES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45920"/>
            <a:ext cx="10634472" cy="786384"/>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92808"/>
            <a:ext cx="1234440" cy="274320"/>
          </a:xfrm>
          <a:prstGeom prst="rect">
            <a:avLst/>
          </a:prstGeom>
          <a:noFill/>
        </p:spPr>
        <p:txBody>
          <a:bodyPr wrap="square" lIns="0" rIns="0" tIns="0" bIns="0">
            <a:spAutoFit/>
          </a:bodyPr>
          <a:lstStyle/>
          <a:p>
            <a:pPr algn="l"/>
            <a:r>
              <a:rPr sz="1050" b="1" i="0">
                <a:solidFill>
                  <a:srgbClr val="2777EF"/>
                </a:solidFill>
                <a:latin typeface="Calibri"/>
              </a:rPr>
              <a:t>BY 2030</a:t>
            </a:r>
          </a:p>
        </p:txBody>
      </p:sp>
      <p:sp>
        <p:nvSpPr>
          <p:cNvPr id="7" name="TextBox 6"/>
          <p:cNvSpPr txBox="1"/>
          <p:nvPr/>
        </p:nvSpPr>
        <p:spPr>
          <a:xfrm>
            <a:off x="2377440" y="1764792"/>
            <a:ext cx="4480560" cy="548640"/>
          </a:xfrm>
          <a:prstGeom prst="rect">
            <a:avLst/>
          </a:prstGeom>
          <a:noFill/>
        </p:spPr>
        <p:txBody>
          <a:bodyPr wrap="square" lIns="0" rIns="0" tIns="0" bIns="0">
            <a:spAutoFit/>
          </a:bodyPr>
          <a:lstStyle/>
          <a:p>
            <a:pPr algn="l"/>
            <a:r>
              <a:rPr sz="1250" b="1" i="0">
                <a:solidFill>
                  <a:srgbClr val="1A2233"/>
                </a:solidFill>
                <a:latin typeface="Calibri"/>
              </a:rPr>
              <a:t>Machine labor becomes a reported line item</a:t>
            </a:r>
          </a:p>
        </p:txBody>
      </p:sp>
      <p:sp>
        <p:nvSpPr>
          <p:cNvPr id="8" name="TextBox 7"/>
          <p:cNvSpPr txBox="1"/>
          <p:nvPr/>
        </p:nvSpPr>
        <p:spPr>
          <a:xfrm>
            <a:off x="6995160" y="1764792"/>
            <a:ext cx="4206240" cy="585216"/>
          </a:xfrm>
          <a:prstGeom prst="rect">
            <a:avLst/>
          </a:prstGeom>
          <a:noFill/>
        </p:spPr>
        <p:txBody>
          <a:bodyPr wrap="square" lIns="0" rIns="0" tIns="0" bIns="0">
            <a:spAutoFit/>
          </a:bodyPr>
          <a:lstStyle/>
          <a:p>
            <a:pPr algn="l"/>
            <a:r>
              <a:rPr sz="930" b="0" i="1">
                <a:solidFill>
                  <a:srgbClr val="5A6478"/>
                </a:solidFill>
                <a:latin typeface="Calibri"/>
              </a:rPr>
              <a:t>a major public company discloses agent-labor spend as a distinct cost line — 'agent GAAP' completes, and comparability begins</a:t>
            </a:r>
          </a:p>
        </p:txBody>
      </p:sp>
      <p:sp>
        <p:nvSpPr>
          <p:cNvPr id="9" name="Rounded Rectangle 8"/>
          <p:cNvSpPr/>
          <p:nvPr/>
        </p:nvSpPr>
        <p:spPr>
          <a:xfrm>
            <a:off x="777240" y="2514600"/>
            <a:ext cx="10634472" cy="786384"/>
          </a:xfrm>
          <a:prstGeom prst="roundRect">
            <a:avLst>
              <a:gd name="adj" fmla="val 10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761488"/>
            <a:ext cx="1234440" cy="274320"/>
          </a:xfrm>
          <a:prstGeom prst="rect">
            <a:avLst/>
          </a:prstGeom>
          <a:noFill/>
        </p:spPr>
        <p:txBody>
          <a:bodyPr wrap="square" lIns="0" rIns="0" tIns="0" bIns="0">
            <a:spAutoFit/>
          </a:bodyPr>
          <a:lstStyle/>
          <a:p>
            <a:pPr algn="l"/>
            <a:r>
              <a:rPr sz="1050" b="1" i="0">
                <a:solidFill>
                  <a:srgbClr val="2777EF"/>
                </a:solidFill>
                <a:latin typeface="Calibri"/>
              </a:rPr>
              <a:t>BY 2031</a:t>
            </a:r>
          </a:p>
        </p:txBody>
      </p:sp>
      <p:sp>
        <p:nvSpPr>
          <p:cNvPr id="11" name="TextBox 10"/>
          <p:cNvSpPr txBox="1"/>
          <p:nvPr/>
        </p:nvSpPr>
        <p:spPr>
          <a:xfrm>
            <a:off x="2377440" y="2633472"/>
            <a:ext cx="4480560" cy="548640"/>
          </a:xfrm>
          <a:prstGeom prst="rect">
            <a:avLst/>
          </a:prstGeom>
          <a:noFill/>
        </p:spPr>
        <p:txBody>
          <a:bodyPr wrap="square" lIns="0" rIns="0" tIns="0" bIns="0">
            <a:spAutoFit/>
          </a:bodyPr>
          <a:lstStyle/>
          <a:p>
            <a:pPr algn="l"/>
            <a:r>
              <a:rPr sz="1250" b="1" i="0">
                <a:solidFill>
                  <a:srgbClr val="1A2233"/>
                </a:solidFill>
                <a:latin typeface="Calibri"/>
              </a:rPr>
              <a:t>The first $100B-revenue meter</a:t>
            </a:r>
          </a:p>
        </p:txBody>
      </p:sp>
      <p:sp>
        <p:nvSpPr>
          <p:cNvPr id="12" name="TextBox 11"/>
          <p:cNvSpPr txBox="1"/>
          <p:nvPr/>
        </p:nvSpPr>
        <p:spPr>
          <a:xfrm>
            <a:off x="6995160" y="2633472"/>
            <a:ext cx="4206240" cy="585216"/>
          </a:xfrm>
          <a:prstGeom prst="rect">
            <a:avLst/>
          </a:prstGeom>
          <a:noFill/>
        </p:spPr>
        <p:txBody>
          <a:bodyPr wrap="square" lIns="0" rIns="0" tIns="0" bIns="0">
            <a:spAutoFit/>
          </a:bodyPr>
          <a:lstStyle/>
          <a:p>
            <a:pPr algn="l"/>
            <a:r>
              <a:rPr sz="930" b="0" i="1">
                <a:solidFill>
                  <a:srgbClr val="5A6478"/>
                </a:solidFill>
                <a:latin typeface="Calibri"/>
              </a:rPr>
              <a:t>a usage-billed infrastructure company crosses $100B in annual revenue — a scale no consumption software business has reached</a:t>
            </a:r>
          </a:p>
        </p:txBody>
      </p:sp>
      <p:sp>
        <p:nvSpPr>
          <p:cNvPr id="13" name="Rounded Rectangle 12"/>
          <p:cNvSpPr/>
          <p:nvPr/>
        </p:nvSpPr>
        <p:spPr>
          <a:xfrm>
            <a:off x="777240" y="3383280"/>
            <a:ext cx="10634472" cy="786384"/>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630168"/>
            <a:ext cx="1234440" cy="274320"/>
          </a:xfrm>
          <a:prstGeom prst="rect">
            <a:avLst/>
          </a:prstGeom>
          <a:noFill/>
        </p:spPr>
        <p:txBody>
          <a:bodyPr wrap="square" lIns="0" rIns="0" tIns="0" bIns="0">
            <a:spAutoFit/>
          </a:bodyPr>
          <a:lstStyle/>
          <a:p>
            <a:pPr algn="l"/>
            <a:r>
              <a:rPr sz="1050" b="1" i="0">
                <a:solidFill>
                  <a:srgbClr val="2777EF"/>
                </a:solidFill>
                <a:latin typeface="Calibri"/>
              </a:rPr>
              <a:t>BY 2032</a:t>
            </a:r>
          </a:p>
        </p:txBody>
      </p:sp>
      <p:sp>
        <p:nvSpPr>
          <p:cNvPr id="15" name="TextBox 14"/>
          <p:cNvSpPr txBox="1"/>
          <p:nvPr/>
        </p:nvSpPr>
        <p:spPr>
          <a:xfrm>
            <a:off x="2377440" y="3502152"/>
            <a:ext cx="4480560" cy="548640"/>
          </a:xfrm>
          <a:prstGeom prst="rect">
            <a:avLst/>
          </a:prstGeom>
          <a:noFill/>
        </p:spPr>
        <p:txBody>
          <a:bodyPr wrap="square" lIns="0" rIns="0" tIns="0" bIns="0">
            <a:spAutoFit/>
          </a:bodyPr>
          <a:lstStyle/>
          <a:p>
            <a:pPr algn="l"/>
            <a:r>
              <a:rPr sz="1250" b="1" i="0">
                <a:solidFill>
                  <a:srgbClr val="1A2233"/>
                </a:solidFill>
                <a:latin typeface="Calibri"/>
              </a:rPr>
              <a:t>Machine labor bills over $1T a year</a:t>
            </a:r>
          </a:p>
        </p:txBody>
      </p:sp>
      <p:sp>
        <p:nvSpPr>
          <p:cNvPr id="16" name="TextBox 15"/>
          <p:cNvSpPr txBox="1"/>
          <p:nvPr/>
        </p:nvSpPr>
        <p:spPr>
          <a:xfrm>
            <a:off x="6995160" y="3502152"/>
            <a:ext cx="4206240" cy="585216"/>
          </a:xfrm>
          <a:prstGeom prst="rect">
            <a:avLst/>
          </a:prstGeom>
          <a:noFill/>
        </p:spPr>
        <p:txBody>
          <a:bodyPr wrap="square" lIns="0" rIns="0" tIns="0" bIns="0">
            <a:spAutoFit/>
          </a:bodyPr>
          <a:lstStyle/>
          <a:p>
            <a:pPr algn="l"/>
            <a:r>
              <a:rPr sz="930" b="0" i="1">
                <a:solidFill>
                  <a:srgbClr val="5A6478"/>
                </a:solidFill>
                <a:latin typeface="Calibri"/>
              </a:rPr>
              <a:t>delegation passes ~5% of knowledge work; annual machine-labor billings exceed today's entire enterprise software market</a:t>
            </a:r>
          </a:p>
        </p:txBody>
      </p:sp>
      <p:sp>
        <p:nvSpPr>
          <p:cNvPr id="17" name="Rounded Rectangle 16"/>
          <p:cNvSpPr/>
          <p:nvPr/>
        </p:nvSpPr>
        <p:spPr>
          <a:xfrm>
            <a:off x="777240" y="4251960"/>
            <a:ext cx="10634472" cy="786384"/>
          </a:xfrm>
          <a:prstGeom prst="roundRect">
            <a:avLst>
              <a:gd name="adj" fmla="val 10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498848"/>
            <a:ext cx="1234440" cy="274320"/>
          </a:xfrm>
          <a:prstGeom prst="rect">
            <a:avLst/>
          </a:prstGeom>
          <a:noFill/>
        </p:spPr>
        <p:txBody>
          <a:bodyPr wrap="square" lIns="0" rIns="0" tIns="0" bIns="0">
            <a:spAutoFit/>
          </a:bodyPr>
          <a:lstStyle/>
          <a:p>
            <a:pPr algn="l"/>
            <a:r>
              <a:rPr sz="1050" b="1" i="0">
                <a:solidFill>
                  <a:srgbClr val="2777EF"/>
                </a:solidFill>
                <a:latin typeface="Calibri"/>
              </a:rPr>
              <a:t>BY 2033</a:t>
            </a:r>
          </a:p>
        </p:txBody>
      </p:sp>
      <p:sp>
        <p:nvSpPr>
          <p:cNvPr id="19" name="TextBox 18"/>
          <p:cNvSpPr txBox="1"/>
          <p:nvPr/>
        </p:nvSpPr>
        <p:spPr>
          <a:xfrm>
            <a:off x="2377440" y="4370832"/>
            <a:ext cx="4480560" cy="548640"/>
          </a:xfrm>
          <a:prstGeom prst="rect">
            <a:avLst/>
          </a:prstGeom>
          <a:noFill/>
        </p:spPr>
        <p:txBody>
          <a:bodyPr wrap="square" lIns="0" rIns="0" tIns="0" bIns="0">
            <a:spAutoFit/>
          </a:bodyPr>
          <a:lstStyle/>
          <a:p>
            <a:pPr algn="l"/>
            <a:r>
              <a:rPr sz="1250" b="1" i="0">
                <a:solidFill>
                  <a:srgbClr val="1A2233"/>
                </a:solidFill>
                <a:latin typeface="Calibri"/>
              </a:rPr>
              <a:t>The meters out-earn the models</a:t>
            </a:r>
          </a:p>
        </p:txBody>
      </p:sp>
      <p:sp>
        <p:nvSpPr>
          <p:cNvPr id="20" name="TextBox 19"/>
          <p:cNvSpPr txBox="1"/>
          <p:nvPr/>
        </p:nvSpPr>
        <p:spPr>
          <a:xfrm>
            <a:off x="6995160" y="4370832"/>
            <a:ext cx="4206240" cy="585216"/>
          </a:xfrm>
          <a:prstGeom prst="rect">
            <a:avLst/>
          </a:prstGeom>
          <a:noFill/>
        </p:spPr>
        <p:txBody>
          <a:bodyPr wrap="square" lIns="0" rIns="0" tIns="0" bIns="0">
            <a:spAutoFit/>
          </a:bodyPr>
          <a:lstStyle/>
          <a:p>
            <a:pPr algn="l"/>
            <a:r>
              <a:rPr sz="930" b="0" i="1">
                <a:solidFill>
                  <a:srgbClr val="5A6478"/>
                </a:solidFill>
                <a:latin typeface="Calibri"/>
              </a:rPr>
              <a:t>aggregate free cash flow of public metered infrastructure exceeds that of the frontier labs — the toll roads out-earn the engines</a:t>
            </a:r>
          </a:p>
        </p:txBody>
      </p:sp>
      <p:sp>
        <p:nvSpPr>
          <p:cNvPr id="21" name="Rounded Rectangle 20"/>
          <p:cNvSpPr/>
          <p:nvPr/>
        </p:nvSpPr>
        <p:spPr>
          <a:xfrm>
            <a:off x="777240" y="5120640"/>
            <a:ext cx="10634472" cy="786384"/>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367528"/>
            <a:ext cx="1234440" cy="274320"/>
          </a:xfrm>
          <a:prstGeom prst="rect">
            <a:avLst/>
          </a:prstGeom>
          <a:noFill/>
        </p:spPr>
        <p:txBody>
          <a:bodyPr wrap="square" lIns="0" rIns="0" tIns="0" bIns="0">
            <a:spAutoFit/>
          </a:bodyPr>
          <a:lstStyle/>
          <a:p>
            <a:pPr algn="l"/>
            <a:r>
              <a:rPr sz="1050" b="1" i="0">
                <a:solidFill>
                  <a:srgbClr val="2777EF"/>
                </a:solidFill>
                <a:latin typeface="Calibri"/>
              </a:rPr>
              <a:t>BY 2035</a:t>
            </a:r>
          </a:p>
        </p:txBody>
      </p:sp>
      <p:sp>
        <p:nvSpPr>
          <p:cNvPr id="23" name="TextBox 22"/>
          <p:cNvSpPr txBox="1"/>
          <p:nvPr/>
        </p:nvSpPr>
        <p:spPr>
          <a:xfrm>
            <a:off x="2377440" y="5239512"/>
            <a:ext cx="4480560" cy="548640"/>
          </a:xfrm>
          <a:prstGeom prst="rect">
            <a:avLst/>
          </a:prstGeom>
          <a:noFill/>
        </p:spPr>
        <p:txBody>
          <a:bodyPr wrap="square" lIns="0" rIns="0" tIns="0" bIns="0">
            <a:spAutoFit/>
          </a:bodyPr>
          <a:lstStyle/>
          <a:p>
            <a:pPr algn="l"/>
            <a:r>
              <a:rPr sz="1250" b="1" i="0">
                <a:solidFill>
                  <a:srgbClr val="1A2233"/>
                </a:solidFill>
                <a:latin typeface="Calibri"/>
              </a:rPr>
              <a:t>Machine labor becomes an asset class</a:t>
            </a:r>
          </a:p>
        </p:txBody>
      </p:sp>
      <p:sp>
        <p:nvSpPr>
          <p:cNvPr id="24" name="TextBox 23"/>
          <p:cNvSpPr txBox="1"/>
          <p:nvPr/>
        </p:nvSpPr>
        <p:spPr>
          <a:xfrm>
            <a:off x="6995160" y="5239512"/>
            <a:ext cx="4206240" cy="585216"/>
          </a:xfrm>
          <a:prstGeom prst="rect">
            <a:avLst/>
          </a:prstGeom>
          <a:noFill/>
        </p:spPr>
        <p:txBody>
          <a:bodyPr wrap="square" lIns="0" rIns="0" tIns="0" bIns="0">
            <a:spAutoFit/>
          </a:bodyPr>
          <a:lstStyle/>
          <a:p>
            <a:pPr algn="l"/>
            <a:r>
              <a:rPr sz="930" b="0" i="1">
                <a:solidFill>
                  <a:srgbClr val="5A6478"/>
                </a:solidFill>
                <a:latin typeface="Calibri"/>
              </a:rPr>
              <a:t>major index providers launch machine-labor indices; allocators carry a deliberate weight to the meters, as they once did to energy</a:t>
            </a:r>
          </a:p>
        </p:txBody>
      </p:sp>
      <p:sp>
        <p:nvSpPr>
          <p:cNvPr id="25" name="Rounded Rectangle 24"/>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We expect to be wrong on dates and right on direction  </a:t>
            </a:r>
            <a:r>
              <a:rPr sz="1200">
                <a:solidFill>
                  <a:srgbClr val="1A2233"/>
                </a:solidFill>
                <a:latin typeface="Calibri"/>
              </a:rPr>
              <a:t>— each call is public, and each failure would teach us exactly where the thesis bends.</a:t>
            </a:r>
          </a:p>
        </p:txBody>
      </p:sp>
      <p:sp>
        <p:nvSpPr>
          <p:cNvPr id="26" name="TextBox 25"/>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7" name="TextBox 26"/>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83</a:t>
            </a:r>
          </a:p>
        </p:txBody>
      </p:sp>
      <p:sp>
        <p:nvSpPr>
          <p:cNvPr id="28" name="TextBox 27"/>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Long-horizon research views, not forecasts or investment advice; no grading deadline inside the deck's underwriting window. Framing after Aschenbrenner, Situational Awareness (2024).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How you'll know if we're wrong</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PRE-COMMITTED KILL AND FLIP CONDITIONS — WRITTEN BEFORE WE NEED THEM</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27632"/>
            <a:ext cx="10634472" cy="640080"/>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10512"/>
            <a:ext cx="1463040" cy="256032"/>
          </a:xfrm>
          <a:prstGeom prst="rect">
            <a:avLst/>
          </a:prstGeom>
          <a:noFill/>
        </p:spPr>
        <p:txBody>
          <a:bodyPr wrap="square" lIns="0" rIns="0" tIns="0" bIns="0">
            <a:spAutoFit/>
          </a:bodyPr>
          <a:lstStyle/>
          <a:p>
            <a:pPr algn="l"/>
            <a:r>
              <a:rPr sz="1000" b="1" i="0">
                <a:solidFill>
                  <a:srgbClr val="2777EF"/>
                </a:solidFill>
                <a:latin typeface="Calibri"/>
              </a:rPr>
              <a:t>TOKENS</a:t>
            </a:r>
          </a:p>
        </p:txBody>
      </p:sp>
      <p:sp>
        <p:nvSpPr>
          <p:cNvPr id="7" name="TextBox 6"/>
          <p:cNvSpPr txBox="1"/>
          <p:nvPr/>
        </p:nvSpPr>
        <p:spPr>
          <a:xfrm>
            <a:off x="2560320" y="1728216"/>
            <a:ext cx="5303520" cy="457200"/>
          </a:xfrm>
          <a:prstGeom prst="rect">
            <a:avLst/>
          </a:prstGeom>
          <a:noFill/>
        </p:spPr>
        <p:txBody>
          <a:bodyPr wrap="square" lIns="0" rIns="0" tIns="0" bIns="0">
            <a:spAutoFit/>
          </a:bodyPr>
          <a:lstStyle/>
          <a:p>
            <a:pPr algn="l"/>
            <a:r>
              <a:rPr sz="1050" b="1" i="0">
                <a:solidFill>
                  <a:srgbClr val="1A2233"/>
                </a:solidFill>
                <a:latin typeface="Calibri"/>
              </a:rPr>
              <a:t>Global token growth runs below 2x/yr for two consecutive years</a:t>
            </a:r>
          </a:p>
        </p:txBody>
      </p:sp>
      <p:sp>
        <p:nvSpPr>
          <p:cNvPr id="8" name="TextBox 7"/>
          <p:cNvSpPr txBox="1"/>
          <p:nvPr/>
        </p:nvSpPr>
        <p:spPr>
          <a:xfrm>
            <a:off x="8001000" y="1737360"/>
            <a:ext cx="3246120" cy="438912"/>
          </a:xfrm>
          <a:prstGeom prst="rect">
            <a:avLst/>
          </a:prstGeom>
          <a:noFill/>
        </p:spPr>
        <p:txBody>
          <a:bodyPr wrap="square" lIns="0" rIns="0" tIns="0" bIns="0">
            <a:spAutoFit/>
          </a:bodyPr>
          <a:lstStyle/>
          <a:p>
            <a:pPr algn="l"/>
            <a:r>
              <a:rPr sz="919" b="0" i="1">
                <a:solidFill>
                  <a:srgbClr val="5A6478"/>
                </a:solidFill>
                <a:latin typeface="Calibri"/>
              </a:rPr>
              <a:t>the wave premise fails — the thesis is wrong at its base</a:t>
            </a:r>
          </a:p>
        </p:txBody>
      </p:sp>
      <p:sp>
        <p:nvSpPr>
          <p:cNvPr id="9" name="Rounded Rectangle 8"/>
          <p:cNvSpPr/>
          <p:nvPr/>
        </p:nvSpPr>
        <p:spPr>
          <a:xfrm>
            <a:off x="777240" y="2340864"/>
            <a:ext cx="10634472" cy="640080"/>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523744"/>
            <a:ext cx="1463040" cy="256032"/>
          </a:xfrm>
          <a:prstGeom prst="rect">
            <a:avLst/>
          </a:prstGeom>
          <a:noFill/>
        </p:spPr>
        <p:txBody>
          <a:bodyPr wrap="square" lIns="0" rIns="0" tIns="0" bIns="0">
            <a:spAutoFit/>
          </a:bodyPr>
          <a:lstStyle/>
          <a:p>
            <a:pPr algn="l"/>
            <a:r>
              <a:rPr sz="1000" b="1" i="0">
                <a:solidFill>
                  <a:srgbClr val="2777EF"/>
                </a:solidFill>
                <a:latin typeface="Calibri"/>
              </a:rPr>
              <a:t>OVERAGE</a:t>
            </a:r>
          </a:p>
        </p:txBody>
      </p:sp>
      <p:sp>
        <p:nvSpPr>
          <p:cNvPr id="11" name="TextBox 10"/>
          <p:cNvSpPr txBox="1"/>
          <p:nvPr/>
        </p:nvSpPr>
        <p:spPr>
          <a:xfrm>
            <a:off x="2560320" y="2441448"/>
            <a:ext cx="5303520" cy="457200"/>
          </a:xfrm>
          <a:prstGeom prst="rect">
            <a:avLst/>
          </a:prstGeom>
          <a:noFill/>
        </p:spPr>
        <p:txBody>
          <a:bodyPr wrap="square" lIns="0" rIns="0" tIns="0" bIns="0">
            <a:spAutoFit/>
          </a:bodyPr>
          <a:lstStyle/>
          <a:p>
            <a:pPr algn="l"/>
            <a:r>
              <a:rPr sz="1050" b="1" i="0">
                <a:solidFill>
                  <a:srgbClr val="1A2233"/>
                </a:solidFill>
                <a:latin typeface="Calibri"/>
              </a:rPr>
              <a:t>Cohort overage share falls for two consecutive quarters</a:t>
            </a:r>
          </a:p>
        </p:txBody>
      </p:sp>
      <p:sp>
        <p:nvSpPr>
          <p:cNvPr id="12" name="TextBox 11"/>
          <p:cNvSpPr txBox="1"/>
          <p:nvPr/>
        </p:nvSpPr>
        <p:spPr>
          <a:xfrm>
            <a:off x="8001000" y="2450592"/>
            <a:ext cx="3246120" cy="438912"/>
          </a:xfrm>
          <a:prstGeom prst="rect">
            <a:avLst/>
          </a:prstGeom>
          <a:noFill/>
        </p:spPr>
        <p:txBody>
          <a:bodyPr wrap="square" lIns="0" rIns="0" tIns="0" bIns="0">
            <a:spAutoFit/>
          </a:bodyPr>
          <a:lstStyle/>
          <a:p>
            <a:pPr algn="l"/>
            <a:r>
              <a:rPr sz="919" b="0" i="1">
                <a:solidFill>
                  <a:srgbClr val="5A6478"/>
                </a:solidFill>
                <a:latin typeface="Calibri"/>
              </a:rPr>
              <a:t>conversion is breaking — the royalty thins even if the wave holds</a:t>
            </a:r>
          </a:p>
        </p:txBody>
      </p:sp>
      <p:sp>
        <p:nvSpPr>
          <p:cNvPr id="13" name="Rounded Rectangle 12"/>
          <p:cNvSpPr/>
          <p:nvPr/>
        </p:nvSpPr>
        <p:spPr>
          <a:xfrm>
            <a:off x="777240" y="3054096"/>
            <a:ext cx="10634472" cy="640080"/>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236976"/>
            <a:ext cx="1463040" cy="256032"/>
          </a:xfrm>
          <a:prstGeom prst="rect">
            <a:avLst/>
          </a:prstGeom>
          <a:noFill/>
        </p:spPr>
        <p:txBody>
          <a:bodyPr wrap="square" lIns="0" rIns="0" tIns="0" bIns="0">
            <a:spAutoFit/>
          </a:bodyPr>
          <a:lstStyle/>
          <a:p>
            <a:pPr algn="l"/>
            <a:r>
              <a:rPr sz="1000" b="1" i="0">
                <a:solidFill>
                  <a:srgbClr val="2777EF"/>
                </a:solidFill>
                <a:latin typeface="Calibri"/>
              </a:rPr>
              <a:t>RETENTION</a:t>
            </a:r>
          </a:p>
        </p:txBody>
      </p:sp>
      <p:sp>
        <p:nvSpPr>
          <p:cNvPr id="15" name="TextBox 14"/>
          <p:cNvSpPr txBox="1"/>
          <p:nvPr/>
        </p:nvSpPr>
        <p:spPr>
          <a:xfrm>
            <a:off x="2560320" y="3154679"/>
            <a:ext cx="5303520" cy="457200"/>
          </a:xfrm>
          <a:prstGeom prst="rect">
            <a:avLst/>
          </a:prstGeom>
          <a:noFill/>
        </p:spPr>
        <p:txBody>
          <a:bodyPr wrap="square" lIns="0" rIns="0" tIns="0" bIns="0">
            <a:spAutoFit/>
          </a:bodyPr>
          <a:lstStyle/>
          <a:p>
            <a:pPr algn="l"/>
            <a:r>
              <a:rPr sz="1050" b="1" i="0">
                <a:solidFill>
                  <a:srgbClr val="1A2233"/>
                </a:solidFill>
                <a:latin typeface="Calibri"/>
              </a:rPr>
              <a:t>The meter-vs-app NDR gap narrows below ~8 points</a:t>
            </a:r>
          </a:p>
        </p:txBody>
      </p:sp>
      <p:sp>
        <p:nvSpPr>
          <p:cNvPr id="16" name="TextBox 15"/>
          <p:cNvSpPr txBox="1"/>
          <p:nvPr/>
        </p:nvSpPr>
        <p:spPr>
          <a:xfrm>
            <a:off x="8001000" y="3163824"/>
            <a:ext cx="3246120" cy="438912"/>
          </a:xfrm>
          <a:prstGeom prst="rect">
            <a:avLst/>
          </a:prstGeom>
          <a:noFill/>
        </p:spPr>
        <p:txBody>
          <a:bodyPr wrap="square" lIns="0" rIns="0" tIns="0" bIns="0">
            <a:spAutoFit/>
          </a:bodyPr>
          <a:lstStyle/>
          <a:p>
            <a:pPr algn="l"/>
            <a:r>
              <a:rPr sz="919" b="0" i="1">
                <a:solidFill>
                  <a:srgbClr val="5A6478"/>
                </a:solidFill>
                <a:latin typeface="Calibri"/>
              </a:rPr>
              <a:t>agents aren't paying the meters — the royalty is leaking</a:t>
            </a:r>
          </a:p>
        </p:txBody>
      </p:sp>
      <p:sp>
        <p:nvSpPr>
          <p:cNvPr id="17" name="Rounded Rectangle 16"/>
          <p:cNvSpPr/>
          <p:nvPr/>
        </p:nvSpPr>
        <p:spPr>
          <a:xfrm>
            <a:off x="777240" y="3767328"/>
            <a:ext cx="10634472" cy="640080"/>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3950208"/>
            <a:ext cx="1463040" cy="256032"/>
          </a:xfrm>
          <a:prstGeom prst="rect">
            <a:avLst/>
          </a:prstGeom>
          <a:noFill/>
        </p:spPr>
        <p:txBody>
          <a:bodyPr wrap="square" lIns="0" rIns="0" tIns="0" bIns="0">
            <a:spAutoFit/>
          </a:bodyPr>
          <a:lstStyle/>
          <a:p>
            <a:pPr algn="l"/>
            <a:r>
              <a:rPr sz="1000" b="1" i="0">
                <a:solidFill>
                  <a:srgbClr val="2777EF"/>
                </a:solidFill>
                <a:latin typeface="Calibri"/>
              </a:rPr>
              <a:t>ELASTICITY</a:t>
            </a:r>
          </a:p>
        </p:txBody>
      </p:sp>
      <p:sp>
        <p:nvSpPr>
          <p:cNvPr id="19" name="TextBox 18"/>
          <p:cNvSpPr txBox="1"/>
          <p:nvPr/>
        </p:nvSpPr>
        <p:spPr>
          <a:xfrm>
            <a:off x="2560320" y="3867912"/>
            <a:ext cx="5303520" cy="457200"/>
          </a:xfrm>
          <a:prstGeom prst="rect">
            <a:avLst/>
          </a:prstGeom>
          <a:noFill/>
        </p:spPr>
        <p:txBody>
          <a:bodyPr wrap="square" lIns="0" rIns="0" tIns="0" bIns="0">
            <a:spAutoFit/>
          </a:bodyPr>
          <a:lstStyle/>
          <a:p>
            <a:pPr algn="l"/>
            <a:r>
              <a:rPr sz="1050" b="1" i="0">
                <a:solidFill>
                  <a:srgbClr val="1A2233"/>
                </a:solidFill>
                <a:latin typeface="Calibri"/>
              </a:rPr>
              <a:t>Measured usage→revenue elasticity below 0.3 for a year</a:t>
            </a:r>
          </a:p>
        </p:txBody>
      </p:sp>
      <p:sp>
        <p:nvSpPr>
          <p:cNvPr id="20" name="TextBox 19"/>
          <p:cNvSpPr txBox="1"/>
          <p:nvPr/>
        </p:nvSpPr>
        <p:spPr>
          <a:xfrm>
            <a:off x="8001000" y="3877056"/>
            <a:ext cx="3246120" cy="438912"/>
          </a:xfrm>
          <a:prstGeom prst="rect">
            <a:avLst/>
          </a:prstGeom>
          <a:noFill/>
        </p:spPr>
        <p:txBody>
          <a:bodyPr wrap="square" lIns="0" rIns="0" tIns="0" bIns="0">
            <a:spAutoFit/>
          </a:bodyPr>
          <a:lstStyle/>
          <a:p>
            <a:pPr algn="l"/>
            <a:r>
              <a:rPr sz="919" b="0" i="1">
                <a:solidFill>
                  <a:srgbClr val="5A6478"/>
                </a:solidFill>
                <a:latin typeface="Calibri"/>
              </a:rPr>
              <a:t>capture is collapsing — the wave stops reaching revenue</a:t>
            </a:r>
          </a:p>
        </p:txBody>
      </p:sp>
      <p:sp>
        <p:nvSpPr>
          <p:cNvPr id="21" name="Rounded Rectangle 20"/>
          <p:cNvSpPr/>
          <p:nvPr/>
        </p:nvSpPr>
        <p:spPr>
          <a:xfrm>
            <a:off x="777240" y="4480560"/>
            <a:ext cx="10634472" cy="640080"/>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663440"/>
            <a:ext cx="1463040" cy="256032"/>
          </a:xfrm>
          <a:prstGeom prst="rect">
            <a:avLst/>
          </a:prstGeom>
          <a:noFill/>
        </p:spPr>
        <p:txBody>
          <a:bodyPr wrap="square" lIns="0" rIns="0" tIns="0" bIns="0">
            <a:spAutoFit/>
          </a:bodyPr>
          <a:lstStyle/>
          <a:p>
            <a:pPr algn="l"/>
            <a:r>
              <a:rPr sz="1000" b="1" i="0">
                <a:solidFill>
                  <a:srgbClr val="2777EF"/>
                </a:solidFill>
                <a:latin typeface="Calibri"/>
              </a:rPr>
              <a:t>STATE</a:t>
            </a:r>
          </a:p>
        </p:txBody>
      </p:sp>
      <p:sp>
        <p:nvSpPr>
          <p:cNvPr id="23" name="TextBox 22"/>
          <p:cNvSpPr txBox="1"/>
          <p:nvPr/>
        </p:nvSpPr>
        <p:spPr>
          <a:xfrm>
            <a:off x="2560320" y="4581144"/>
            <a:ext cx="5303520" cy="457200"/>
          </a:xfrm>
          <a:prstGeom prst="rect">
            <a:avLst/>
          </a:prstGeom>
          <a:noFill/>
        </p:spPr>
        <p:txBody>
          <a:bodyPr wrap="square" lIns="0" rIns="0" tIns="0" bIns="0">
            <a:spAutoFit/>
          </a:bodyPr>
          <a:lstStyle/>
          <a:p>
            <a:pPr algn="l"/>
            <a:r>
              <a:rPr sz="1050" b="1" i="0">
                <a:solidFill>
                  <a:srgbClr val="1A2233"/>
                </a:solidFill>
                <a:latin typeface="Calibri"/>
              </a:rPr>
              <a:t>Production state migrates to open, portable formats at scale</a:t>
            </a:r>
          </a:p>
        </p:txBody>
      </p:sp>
      <p:sp>
        <p:nvSpPr>
          <p:cNvPr id="24" name="TextBox 23"/>
          <p:cNvSpPr txBox="1"/>
          <p:nvPr/>
        </p:nvSpPr>
        <p:spPr>
          <a:xfrm>
            <a:off x="8001000" y="4590288"/>
            <a:ext cx="3246120" cy="438912"/>
          </a:xfrm>
          <a:prstGeom prst="rect">
            <a:avLst/>
          </a:prstGeom>
          <a:noFill/>
        </p:spPr>
        <p:txBody>
          <a:bodyPr wrap="square" lIns="0" rIns="0" tIns="0" bIns="0">
            <a:spAutoFit/>
          </a:bodyPr>
          <a:lstStyle/>
          <a:p>
            <a:pPr algn="l"/>
            <a:r>
              <a:rPr sz="919" b="0" i="1">
                <a:solidFill>
                  <a:srgbClr val="5A6478"/>
                </a:solidFill>
                <a:latin typeface="Calibri"/>
              </a:rPr>
              <a:t>gravity is breaking — the ledger loses its moat</a:t>
            </a:r>
          </a:p>
        </p:txBody>
      </p:sp>
      <p:sp>
        <p:nvSpPr>
          <p:cNvPr id="25" name="Rounded Rectangle 24"/>
          <p:cNvSpPr/>
          <p:nvPr/>
        </p:nvSpPr>
        <p:spPr>
          <a:xfrm>
            <a:off x="777240" y="5193792"/>
            <a:ext cx="10634472" cy="640080"/>
          </a:xfrm>
          <a:prstGeom prst="roundRect">
            <a:avLst>
              <a:gd name="adj" fmla="val 12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05840" y="5376672"/>
            <a:ext cx="1463040" cy="256032"/>
          </a:xfrm>
          <a:prstGeom prst="rect">
            <a:avLst/>
          </a:prstGeom>
          <a:noFill/>
        </p:spPr>
        <p:txBody>
          <a:bodyPr wrap="square" lIns="0" rIns="0" tIns="0" bIns="0">
            <a:spAutoFit/>
          </a:bodyPr>
          <a:lstStyle/>
          <a:p>
            <a:pPr algn="l"/>
            <a:r>
              <a:rPr sz="1000" b="1" i="0">
                <a:solidFill>
                  <a:srgbClr val="2777EF"/>
                </a:solidFill>
                <a:latin typeface="Calibri"/>
              </a:rPr>
              <a:t>WORK</a:t>
            </a:r>
          </a:p>
        </p:txBody>
      </p:sp>
      <p:sp>
        <p:nvSpPr>
          <p:cNvPr id="27" name="TextBox 26"/>
          <p:cNvSpPr txBox="1"/>
          <p:nvPr/>
        </p:nvSpPr>
        <p:spPr>
          <a:xfrm>
            <a:off x="2560320" y="5294376"/>
            <a:ext cx="5303520" cy="457200"/>
          </a:xfrm>
          <a:prstGeom prst="rect">
            <a:avLst/>
          </a:prstGeom>
          <a:noFill/>
        </p:spPr>
        <p:txBody>
          <a:bodyPr wrap="square" lIns="0" rIns="0" tIns="0" bIns="0">
            <a:spAutoFit/>
          </a:bodyPr>
          <a:lstStyle/>
          <a:p>
            <a:pPr algn="l"/>
            <a:r>
              <a:rPr sz="1050" b="1" i="0">
                <a:solidFill>
                  <a:srgbClr val="1A2233"/>
                </a:solidFill>
                <a:latin typeface="Calibri"/>
              </a:rPr>
              <a:t>Agent execution revenue at the model labs exceeds the cohort's</a:t>
            </a:r>
          </a:p>
        </p:txBody>
      </p:sp>
      <p:sp>
        <p:nvSpPr>
          <p:cNvPr id="28" name="TextBox 27"/>
          <p:cNvSpPr txBox="1"/>
          <p:nvPr/>
        </p:nvSpPr>
        <p:spPr>
          <a:xfrm>
            <a:off x="8001000" y="5303520"/>
            <a:ext cx="3246120" cy="438912"/>
          </a:xfrm>
          <a:prstGeom prst="rect">
            <a:avLst/>
          </a:prstGeom>
          <a:noFill/>
        </p:spPr>
        <p:txBody>
          <a:bodyPr wrap="square" lIns="0" rIns="0" tIns="0" bIns="0">
            <a:spAutoFit/>
          </a:bodyPr>
          <a:lstStyle/>
          <a:p>
            <a:pPr algn="l"/>
            <a:r>
              <a:rPr sz="919" b="0" i="1">
                <a:solidFill>
                  <a:srgbClr val="5A6478"/>
                </a:solidFill>
                <a:latin typeface="Calibri"/>
              </a:rPr>
              <a:t>the runtime is being absorbed — the toll road loses its claim</a:t>
            </a:r>
          </a:p>
        </p:txBody>
      </p:sp>
      <p:sp>
        <p:nvSpPr>
          <p:cNvPr id="29" name="Rounded Rectangle 28"/>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Six tripwires, written in advance  </a:t>
            </a:r>
            <a:r>
              <a:rPr sz="1200">
                <a:solidFill>
                  <a:srgbClr val="1A2233"/>
                </a:solidFill>
                <a:latin typeface="Calibri"/>
              </a:rPr>
              <a:t>— each one measurable in public data, each mapped to an action.</a:t>
            </a:r>
          </a:p>
        </p:txBody>
      </p:sp>
      <p:sp>
        <p:nvSpPr>
          <p:cNvPr id="30" name="TextBox 2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31" name="TextBox 3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84</a:t>
            </a:r>
          </a:p>
        </p:txBody>
      </p:sp>
      <p:sp>
        <p:nvSpPr>
          <p:cNvPr id="32" name="TextBox 31"/>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risk framework; thresholds fixed as of Jul 2026 and graded quarterly in Sky1.</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strongest case against us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BEAR CASE AT FULL STRENGTH — AND THE EVIDENCE WE WATCH</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1005840" y="1554480"/>
            <a:ext cx="4937760" cy="237744"/>
          </a:xfrm>
          <a:prstGeom prst="rect">
            <a:avLst/>
          </a:prstGeom>
          <a:noFill/>
        </p:spPr>
        <p:txBody>
          <a:bodyPr wrap="square" lIns="0" rIns="0" tIns="0" bIns="0">
            <a:spAutoFit/>
          </a:bodyPr>
          <a:lstStyle/>
          <a:p>
            <a:pPr algn="l"/>
            <a:r>
              <a:rPr sz="1050" b="1" i="0">
                <a:solidFill>
                  <a:srgbClr val="8A97B0"/>
                </a:solidFill>
                <a:latin typeface="Calibri"/>
              </a:rPr>
              <a:t>THE ATTACK</a:t>
            </a:r>
          </a:p>
        </p:txBody>
      </p:sp>
      <p:sp>
        <p:nvSpPr>
          <p:cNvPr id="6" name="TextBox 5"/>
          <p:cNvSpPr txBox="1"/>
          <p:nvPr/>
        </p:nvSpPr>
        <p:spPr>
          <a:xfrm>
            <a:off x="6355080" y="1554480"/>
            <a:ext cx="4846320" cy="237744"/>
          </a:xfrm>
          <a:prstGeom prst="rect">
            <a:avLst/>
          </a:prstGeom>
          <a:noFill/>
        </p:spPr>
        <p:txBody>
          <a:bodyPr wrap="square" lIns="0" rIns="0" tIns="0" bIns="0">
            <a:spAutoFit/>
          </a:bodyPr>
          <a:lstStyle/>
          <a:p>
            <a:pPr algn="l"/>
            <a:r>
              <a:rPr sz="1050" b="1" i="0">
                <a:solidFill>
                  <a:srgbClr val="2777EF"/>
                </a:solidFill>
                <a:latin typeface="Calibri"/>
              </a:rPr>
              <a:t>WHY WE STILL WIN</a:t>
            </a:r>
          </a:p>
        </p:txBody>
      </p:sp>
      <p:sp>
        <p:nvSpPr>
          <p:cNvPr id="7" name="Rounded Rectangle 6"/>
          <p:cNvSpPr/>
          <p:nvPr/>
        </p:nvSpPr>
        <p:spPr>
          <a:xfrm>
            <a:off x="777240" y="1773936"/>
            <a:ext cx="10634472" cy="640080"/>
          </a:xfrm>
          <a:prstGeom prst="roundRect">
            <a:avLst>
              <a:gd name="adj" fmla="val 8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828800"/>
            <a:ext cx="4937760" cy="530352"/>
          </a:xfrm>
          <a:prstGeom prst="rect">
            <a:avLst/>
          </a:prstGeom>
          <a:noFill/>
        </p:spPr>
        <p:txBody>
          <a:bodyPr wrap="square" lIns="0" rIns="0" tIns="0" bIns="0">
            <a:spAutoFit/>
          </a:bodyPr>
          <a:lstStyle/>
          <a:p>
            <a:pPr algn="l"/>
            <a:r>
              <a:rPr sz="980" b="0" i="0">
                <a:solidFill>
                  <a:srgbClr val="1A2233"/>
                </a:solidFill>
                <a:latin typeface="Calibri"/>
              </a:rPr>
              <a:t>Today's attach is an artifact — engineers batch, cache, and sample the chattiness away.</a:t>
            </a:r>
          </a:p>
        </p:txBody>
      </p:sp>
      <p:sp>
        <p:nvSpPr>
          <p:cNvPr id="9" name="TextBox 8"/>
          <p:cNvSpPr txBox="1"/>
          <p:nvPr/>
        </p:nvSpPr>
        <p:spPr>
          <a:xfrm>
            <a:off x="6355080" y="1828800"/>
            <a:ext cx="4846320" cy="530352"/>
          </a:xfrm>
          <a:prstGeom prst="rect">
            <a:avLst/>
          </a:prstGeom>
          <a:noFill/>
        </p:spPr>
        <p:txBody>
          <a:bodyPr wrap="square" lIns="0" rIns="0" tIns="0" bIns="0">
            <a:spAutoFit/>
          </a:bodyPr>
          <a:lstStyle/>
          <a:p>
            <a:pPr algn="l"/>
            <a:r>
              <a:rPr sz="980" b="0" i="0">
                <a:solidFill>
                  <a:srgbClr val="5A6478"/>
                </a:solidFill>
                <a:latin typeface="Calibri"/>
              </a:rPr>
              <a:t>Overage at list, 11→19% and accelerating — sustained overage is behaviorally incompatible with efficiency winning (p. 74).</a:t>
            </a:r>
          </a:p>
        </p:txBody>
      </p:sp>
      <p:sp>
        <p:nvSpPr>
          <p:cNvPr id="10" name="Rounded Rectangle 9"/>
          <p:cNvSpPr/>
          <p:nvPr/>
        </p:nvSpPr>
        <p:spPr>
          <a:xfrm>
            <a:off x="777240" y="2468880"/>
            <a:ext cx="10634472" cy="640080"/>
          </a:xfrm>
          <a:prstGeom prst="roundRect">
            <a:avLst>
              <a:gd name="adj" fmla="val 8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523744"/>
            <a:ext cx="4937760" cy="530352"/>
          </a:xfrm>
          <a:prstGeom prst="rect">
            <a:avLst/>
          </a:prstGeom>
          <a:noFill/>
        </p:spPr>
        <p:txBody>
          <a:bodyPr wrap="square" lIns="0" rIns="0" tIns="0" bIns="0">
            <a:spAutoFit/>
          </a:bodyPr>
          <a:lstStyle/>
          <a:p>
            <a:pPr algn="l"/>
            <a:r>
              <a:rPr sz="980" b="0" i="0">
                <a:solidFill>
                  <a:srgbClr val="1A2233"/>
                </a:solidFill>
                <a:latin typeface="Calibri"/>
              </a:rPr>
              <a:t>Vendors cannibalize themselves — cheap tiers keep optimized workloads on-platform.</a:t>
            </a:r>
          </a:p>
        </p:txBody>
      </p:sp>
      <p:sp>
        <p:nvSpPr>
          <p:cNvPr id="12" name="TextBox 11"/>
          <p:cNvSpPr txBox="1"/>
          <p:nvPr/>
        </p:nvSpPr>
        <p:spPr>
          <a:xfrm>
            <a:off x="6355080" y="2523744"/>
            <a:ext cx="4846320" cy="530352"/>
          </a:xfrm>
          <a:prstGeom prst="rect">
            <a:avLst/>
          </a:prstGeom>
          <a:noFill/>
        </p:spPr>
        <p:txBody>
          <a:bodyPr wrap="square" lIns="0" rIns="0" tIns="0" bIns="0">
            <a:spAutoFit/>
          </a:bodyPr>
          <a:lstStyle/>
          <a:p>
            <a:pPr algn="l"/>
            <a:r>
              <a:rPr sz="980" b="0" i="0">
                <a:solidFill>
                  <a:srgbClr val="5A6478"/>
                </a:solidFill>
                <a:latin typeface="Calibri"/>
              </a:rPr>
              <a:t>&gt;75% keep paying at enforced limits — buyers value the activity at list price, six quarters running.</a:t>
            </a:r>
          </a:p>
        </p:txBody>
      </p:sp>
      <p:sp>
        <p:nvSpPr>
          <p:cNvPr id="13" name="Rounded Rectangle 12"/>
          <p:cNvSpPr/>
          <p:nvPr/>
        </p:nvSpPr>
        <p:spPr>
          <a:xfrm>
            <a:off x="777240" y="3163824"/>
            <a:ext cx="10634472" cy="640080"/>
          </a:xfrm>
          <a:prstGeom prst="roundRect">
            <a:avLst>
              <a:gd name="adj" fmla="val 8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218688"/>
            <a:ext cx="4937760" cy="530352"/>
          </a:xfrm>
          <a:prstGeom prst="rect">
            <a:avLst/>
          </a:prstGeom>
          <a:noFill/>
        </p:spPr>
        <p:txBody>
          <a:bodyPr wrap="square" lIns="0" rIns="0" tIns="0" bIns="0">
            <a:spAutoFit/>
          </a:bodyPr>
          <a:lstStyle/>
          <a:p>
            <a:pPr algn="l"/>
            <a:r>
              <a:rPr sz="980" b="0" i="0">
                <a:solidFill>
                  <a:srgbClr val="1A2233"/>
                </a:solidFill>
                <a:latin typeface="Calibri"/>
              </a:rPr>
              <a:t>Jevons proves the wave, not the royalty — 190x events can coexist with ~2x revenue if capture collapses.</a:t>
            </a:r>
          </a:p>
        </p:txBody>
      </p:sp>
      <p:sp>
        <p:nvSpPr>
          <p:cNvPr id="15" name="TextBox 14"/>
          <p:cNvSpPr txBox="1"/>
          <p:nvPr/>
        </p:nvSpPr>
        <p:spPr>
          <a:xfrm>
            <a:off x="6355080" y="3218688"/>
            <a:ext cx="4846320" cy="530352"/>
          </a:xfrm>
          <a:prstGeom prst="rect">
            <a:avLst/>
          </a:prstGeom>
          <a:noFill/>
        </p:spPr>
        <p:txBody>
          <a:bodyPr wrap="square" lIns="0" rIns="0" tIns="0" bIns="0">
            <a:spAutoFit/>
          </a:bodyPr>
          <a:lstStyle/>
          <a:p>
            <a:pPr algn="l"/>
            <a:r>
              <a:rPr sz="980" b="0" i="0">
                <a:solidFill>
                  <a:srgbClr val="5A6478"/>
                </a:solidFill>
                <a:latin typeface="Calibri"/>
              </a:rPr>
              <a:t>Mix carries the model, not volume — expensive event classes (security, governed queries, CI) gaining revenue share in filings.</a:t>
            </a:r>
          </a:p>
        </p:txBody>
      </p:sp>
      <p:sp>
        <p:nvSpPr>
          <p:cNvPr id="16" name="Rounded Rectangle 15"/>
          <p:cNvSpPr/>
          <p:nvPr/>
        </p:nvSpPr>
        <p:spPr>
          <a:xfrm>
            <a:off x="777240" y="3858768"/>
            <a:ext cx="10634472" cy="640080"/>
          </a:xfrm>
          <a:prstGeom prst="roundRect">
            <a:avLst>
              <a:gd name="adj" fmla="val 8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3913632"/>
            <a:ext cx="4937760" cy="530352"/>
          </a:xfrm>
          <a:prstGeom prst="rect">
            <a:avLst/>
          </a:prstGeom>
          <a:noFill/>
        </p:spPr>
        <p:txBody>
          <a:bodyPr wrap="square" lIns="0" rIns="0" tIns="0" bIns="0">
            <a:spAutoFit/>
          </a:bodyPr>
          <a:lstStyle/>
          <a:p>
            <a:pPr algn="l"/>
            <a:r>
              <a:rPr sz="980" b="0" i="0">
                <a:solidFill>
                  <a:srgbClr val="1A2233"/>
                </a:solidFill>
                <a:latin typeface="Calibri"/>
              </a:rPr>
              <a:t>The precedents cut against us — bandwidth, storage, telecom minutes: usage exploded, vendor revenue lagged.</a:t>
            </a:r>
          </a:p>
        </p:txBody>
      </p:sp>
      <p:sp>
        <p:nvSpPr>
          <p:cNvPr id="18" name="TextBox 17"/>
          <p:cNvSpPr txBox="1"/>
          <p:nvPr/>
        </p:nvSpPr>
        <p:spPr>
          <a:xfrm>
            <a:off x="6355080" y="3913632"/>
            <a:ext cx="4846320" cy="530352"/>
          </a:xfrm>
          <a:prstGeom prst="rect">
            <a:avLst/>
          </a:prstGeom>
          <a:noFill/>
        </p:spPr>
        <p:txBody>
          <a:bodyPr wrap="square" lIns="0" rIns="0" tIns="0" bIns="0">
            <a:spAutoFit/>
          </a:bodyPr>
          <a:lstStyle/>
          <a:p>
            <a:pPr algn="l"/>
            <a:r>
              <a:rPr sz="980" b="0" i="0">
                <a:solidFill>
                  <a:srgbClr val="5A6478"/>
                </a:solidFill>
                <a:latin typeface="Calibri"/>
              </a:rPr>
              <a:t>We run the stack ourselves — events-per-token tracked in Sky1; we'd know quarters before the filings.</a:t>
            </a:r>
          </a:p>
        </p:txBody>
      </p:sp>
      <p:sp>
        <p:nvSpPr>
          <p:cNvPr id="19" name="Rounded Rectangle 18"/>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  The thesis doesn't need protection from this argument  </a:t>
            </a:r>
            <a:r>
              <a:rPr sz="1200">
                <a:solidFill>
                  <a:srgbClr val="1A2233"/>
                </a:solidFill>
                <a:latin typeface="Calibri"/>
              </a:rPr>
              <a:t>— it needs to be worth beating it. Graded quarterly in Sky1.</a:t>
            </a:r>
          </a:p>
        </p:txBody>
      </p:sp>
      <p:sp>
        <p:nvSpPr>
          <p:cNvPr id="20" name="TextBox 19"/>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1" name="TextBox 20"/>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85</a:t>
            </a:r>
          </a:p>
        </p:txBody>
      </p:sp>
      <p:sp>
        <p:nvSpPr>
          <p:cNvPr id="22" name="TextBox 21"/>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adversarial review, Jul 2026. Stated at full strength deliberately; kill conditions on the previous slide.</a:t>
            </a:r>
          </a:p>
        </p:txBody>
      </p:sp>
      <p:sp>
        <p:nvSpPr>
          <p:cNvPr id="23" name="Rounded Rectangle 22"/>
          <p:cNvSpPr/>
          <p:nvPr/>
        </p:nvSpPr>
        <p:spPr>
          <a:xfrm>
            <a:off x="777240" y="5248656"/>
            <a:ext cx="10634472" cy="640080"/>
          </a:xfrm>
          <a:prstGeom prst="roundRect">
            <a:avLst>
              <a:gd name="adj" fmla="val 26666"/>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 y="5303520"/>
            <a:ext cx="4937760" cy="530352"/>
          </a:xfrm>
          <a:prstGeom prst="rect">
            <a:avLst/>
          </a:prstGeom>
          <a:noFill/>
        </p:spPr>
        <p:txBody>
          <a:bodyPr wrap="square" lIns="0" rIns="0" tIns="0" bIns="0">
            <a:spAutoFit/>
          </a:bodyPr>
          <a:lstStyle/>
          <a:p>
            <a:pPr algn="l"/>
            <a:r>
              <a:rPr sz="940" b="0" i="0">
                <a:solidFill>
                  <a:srgbClr val="1A2233"/>
                </a:solidFill>
                <a:latin typeface="Calibri"/>
              </a:rPr>
              <a:t>The endgame nationalizes — frontier machine labor runs inside sealed projects, off public rails.</a:t>
            </a:r>
          </a:p>
        </p:txBody>
      </p:sp>
      <p:sp>
        <p:nvSpPr>
          <p:cNvPr id="25" name="TextBox 24"/>
          <p:cNvSpPr txBox="1"/>
          <p:nvPr/>
        </p:nvSpPr>
        <p:spPr>
          <a:xfrm>
            <a:off x="6355080" y="5303520"/>
            <a:ext cx="4846320" cy="530352"/>
          </a:xfrm>
          <a:prstGeom prst="rect">
            <a:avLst/>
          </a:prstGeom>
          <a:noFill/>
        </p:spPr>
        <p:txBody>
          <a:bodyPr wrap="square" lIns="0" rIns="0" tIns="0" bIns="0">
            <a:spAutoFit/>
          </a:bodyPr>
          <a:lstStyle/>
          <a:p>
            <a:pPr algn="l"/>
            <a:r>
              <a:rPr sz="940" b="0" i="0">
                <a:solidFill>
                  <a:srgbClr val="5A6478"/>
                </a:solidFill>
                <a:latin typeface="Calibri"/>
              </a:rPr>
              <a:t>Enterprise workloads, compliance and commerce stay on rented rails in every prior mobilization; we watch lab-internal share and policy signals quarterly.</a:t>
            </a:r>
          </a:p>
        </p:txBody>
      </p:sp>
      <p:sp>
        <p:nvSpPr>
          <p:cNvPr id="16" name="Rounded Rectangle 15"/>
          <p:cNvSpPr/>
          <p:nvPr/>
        </p:nvSpPr>
        <p:spPr>
          <a:xfrm>
            <a:off x="777240" y="4553712"/>
            <a:ext cx="10634472" cy="640080"/>
          </a:xfrm>
          <a:prstGeom prst="roundRect">
            <a:avLst>
              <a:gd name="adj" fmla="val 8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608576"/>
            <a:ext cx="4937760" cy="530352"/>
          </a:xfrm>
          <a:prstGeom prst="rect">
            <a:avLst/>
          </a:prstGeom>
          <a:noFill/>
        </p:spPr>
        <p:txBody>
          <a:bodyPr wrap="square" lIns="0" rIns="0" tIns="0" bIns="0">
            <a:spAutoFit/>
          </a:bodyPr>
          <a:lstStyle/>
          <a:p>
            <a:pPr algn="l"/>
            <a:r>
              <a:rPr sz="980" b="0" i="0">
                <a:solidFill>
                  <a:srgbClr val="1A2233"/>
                </a:solidFill>
                <a:latin typeface="Calibri"/>
              </a:rPr>
              <a:t>The hyperscalers bundle it away — first-party databases, warehouses and monitoring squeeze the independents out of the stack.</a:t>
            </a:r>
          </a:p>
        </p:txBody>
      </p:sp>
      <p:sp>
        <p:nvSpPr>
          <p:cNvPr id="18" name="TextBox 17"/>
          <p:cNvSpPr txBox="1"/>
          <p:nvPr/>
        </p:nvSpPr>
        <p:spPr>
          <a:xfrm>
            <a:off x="6355080" y="4608576"/>
            <a:ext cx="4846320" cy="530352"/>
          </a:xfrm>
          <a:prstGeom prst="rect">
            <a:avLst/>
          </a:prstGeom>
          <a:noFill/>
        </p:spPr>
        <p:txBody>
          <a:bodyPr wrap="square" lIns="0" rIns="0" tIns="0" bIns="0">
            <a:spAutoFit/>
          </a:bodyPr>
          <a:lstStyle/>
          <a:p>
            <a:pPr algn="l"/>
            <a:r>
              <a:rPr sz="980" b="0" i="0">
                <a:solidFill>
                  <a:srgbClr val="5A6478"/>
                </a:solidFill>
                <a:latin typeface="Calibri"/>
              </a:rPr>
              <a:t>Neutrality is the product — agents multiply cross-cloud state and audit; the cohort compounded through a decade of first-party bundles, and strategics pay 7–28x for that neutrality (p. 65).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cohort is designed to grow</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THREE SOURCES OF FUTURE CONSTITUENTS — THE RULE IS THE MEMBRANE; FILINGS OPEN THE DOOR</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82496"/>
            <a:ext cx="3429000" cy="3749039"/>
          </a:xfrm>
          <a:prstGeom prst="roundRect">
            <a:avLst>
              <a:gd name="adj" fmla="val 5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883664"/>
            <a:ext cx="2926080" cy="237744"/>
          </a:xfrm>
          <a:prstGeom prst="rect">
            <a:avLst/>
          </a:prstGeom>
          <a:noFill/>
        </p:spPr>
        <p:txBody>
          <a:bodyPr wrap="square" lIns="0" rIns="0" tIns="0" bIns="0">
            <a:spAutoFit/>
          </a:bodyPr>
          <a:lstStyle/>
          <a:p>
            <a:pPr algn="l"/>
            <a:r>
              <a:rPr sz="1050" b="1" i="0">
                <a:solidFill>
                  <a:srgbClr val="2777EF"/>
                </a:solidFill>
                <a:latin typeface="Calibri"/>
              </a:rPr>
              <a:t>CONVERTERS</a:t>
            </a:r>
          </a:p>
        </p:txBody>
      </p:sp>
      <p:sp>
        <p:nvSpPr>
          <p:cNvPr id="7" name="TextBox 6"/>
          <p:cNvSpPr txBox="1"/>
          <p:nvPr/>
        </p:nvSpPr>
        <p:spPr>
          <a:xfrm>
            <a:off x="1033271" y="2212848"/>
            <a:ext cx="2926080" cy="621792"/>
          </a:xfrm>
          <a:prstGeom prst="rect">
            <a:avLst/>
          </a:prstGeom>
          <a:noFill/>
        </p:spPr>
        <p:txBody>
          <a:bodyPr wrap="square" lIns="0" rIns="0" tIns="0" bIns="0">
            <a:spAutoFit/>
          </a:bodyPr>
          <a:lstStyle/>
          <a:p>
            <a:pPr algn="l"/>
            <a:r>
              <a:rPr sz="1350" b="1" i="0">
                <a:solidFill>
                  <a:srgbClr val="1A2233"/>
                </a:solidFill>
                <a:latin typeface="Cambria"/>
              </a:rPr>
              <a:t>Public names crossing the 50% line</a:t>
            </a:r>
          </a:p>
        </p:txBody>
      </p:sp>
      <p:sp>
        <p:nvSpPr>
          <p:cNvPr id="8" name="TextBox 7"/>
          <p:cNvSpPr txBox="1"/>
          <p:nvPr/>
        </p:nvSpPr>
        <p:spPr>
          <a:xfrm>
            <a:off x="1033271" y="3017520"/>
            <a:ext cx="2926080" cy="2286000"/>
          </a:xfrm>
          <a:prstGeom prst="rect">
            <a:avLst/>
          </a:prstGeom>
          <a:noFill/>
        </p:spPr>
        <p:txBody>
          <a:bodyPr wrap="square" lIns="0" rIns="0" tIns="0" bIns="0">
            <a:spAutoFit/>
          </a:bodyPr>
          <a:lstStyle/>
          <a:p>
            <a:pPr algn="l"/>
            <a:r>
              <a:rPr sz="1019" b="0" i="0">
                <a:solidFill>
                  <a:srgbClr val="5A6478"/>
                </a:solidFill>
                <a:latin typeface="Calibri"/>
              </a:rPr>
              <a:t>Elastic (cloud ~46–48% and rising) · Cloudflare (Workers, R2, Pay-Per-Crawl scaling inside a subscription base) · Akamai (compute growing against delivery) · Fastly (structural usage; bundle mix keeps confidence below the bar). Each has a measurable distance to the threshold — the worksheet tracks it quarterly.</a:t>
            </a:r>
          </a:p>
        </p:txBody>
      </p:sp>
      <p:sp>
        <p:nvSpPr>
          <p:cNvPr id="9" name="Rounded Rectangle 8"/>
          <p:cNvSpPr/>
          <p:nvPr/>
        </p:nvSpPr>
        <p:spPr>
          <a:xfrm>
            <a:off x="4379976" y="1682496"/>
            <a:ext cx="3429000" cy="3749039"/>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8" y="1883664"/>
            <a:ext cx="2926080" cy="237744"/>
          </a:xfrm>
          <a:prstGeom prst="rect">
            <a:avLst/>
          </a:prstGeom>
          <a:noFill/>
        </p:spPr>
        <p:txBody>
          <a:bodyPr wrap="square" lIns="0" rIns="0" tIns="0" bIns="0">
            <a:spAutoFit/>
          </a:bodyPr>
          <a:lstStyle/>
          <a:p>
            <a:pPr algn="l"/>
            <a:r>
              <a:rPr sz="1050" b="1" i="0">
                <a:solidFill>
                  <a:srgbClr val="2777EF"/>
                </a:solidFill>
                <a:latin typeface="Calibri"/>
              </a:rPr>
              <a:t>NEW LISTINGS</a:t>
            </a:r>
          </a:p>
        </p:txBody>
      </p:sp>
      <p:sp>
        <p:nvSpPr>
          <p:cNvPr id="11" name="TextBox 10"/>
          <p:cNvSpPr txBox="1"/>
          <p:nvPr/>
        </p:nvSpPr>
        <p:spPr>
          <a:xfrm>
            <a:off x="4636008" y="2212848"/>
            <a:ext cx="2926080" cy="621792"/>
          </a:xfrm>
          <a:prstGeom prst="rect">
            <a:avLst/>
          </a:prstGeom>
          <a:noFill/>
        </p:spPr>
        <p:txBody>
          <a:bodyPr wrap="square" lIns="0" rIns="0" tIns="0" bIns="0">
            <a:spAutoFit/>
          </a:bodyPr>
          <a:lstStyle/>
          <a:p>
            <a:pPr algn="l"/>
            <a:r>
              <a:rPr sz="1350" b="1" i="0">
                <a:solidFill>
                  <a:srgbClr val="1A2233"/>
                </a:solidFill>
                <a:latin typeface="Cambria"/>
              </a:rPr>
              <a:t>The private meters going public</a:t>
            </a:r>
          </a:p>
        </p:txBody>
      </p:sp>
      <p:sp>
        <p:nvSpPr>
          <p:cNvPr id="12" name="TextBox 11"/>
          <p:cNvSpPr txBox="1"/>
          <p:nvPr/>
        </p:nvSpPr>
        <p:spPr>
          <a:xfrm>
            <a:off x="4636008" y="3017520"/>
            <a:ext cx="2926080" cy="2286000"/>
          </a:xfrm>
          <a:prstGeom prst="rect">
            <a:avLst/>
          </a:prstGeom>
          <a:noFill/>
        </p:spPr>
        <p:txBody>
          <a:bodyPr wrap="square" lIns="0" rIns="0" tIns="0" bIns="0">
            <a:spAutoFit/>
          </a:bodyPr>
          <a:lstStyle/>
          <a:p>
            <a:pPr algn="l"/>
            <a:r>
              <a:rPr sz="1019" b="0" i="0">
                <a:solidFill>
                  <a:srgbClr val="5A6478"/>
                </a:solidFill>
                <a:latin typeface="Calibri"/>
              </a:rPr>
              <a:t>Databricks, ClickHouse, Redis, Temporal, Vercel, Modal — consumption-native businesses that enter the universe on IPO and the cohort on their first 10-K, if the mix qualifies.</a:t>
            </a:r>
          </a:p>
        </p:txBody>
      </p:sp>
      <p:sp>
        <p:nvSpPr>
          <p:cNvPr id="13" name="Rounded Rectangle 12"/>
          <p:cNvSpPr/>
          <p:nvPr/>
        </p:nvSpPr>
        <p:spPr>
          <a:xfrm>
            <a:off x="7982712" y="1682496"/>
            <a:ext cx="3429000" cy="3749039"/>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883664"/>
            <a:ext cx="2926080" cy="237744"/>
          </a:xfrm>
          <a:prstGeom prst="rect">
            <a:avLst/>
          </a:prstGeom>
          <a:noFill/>
        </p:spPr>
        <p:txBody>
          <a:bodyPr wrap="square" lIns="0" rIns="0" tIns="0" bIns="0">
            <a:spAutoFit/>
          </a:bodyPr>
          <a:lstStyle/>
          <a:p>
            <a:pPr algn="l"/>
            <a:r>
              <a:rPr sz="1050" b="1" i="0">
                <a:solidFill>
                  <a:srgbClr val="2777EF"/>
                </a:solidFill>
                <a:latin typeface="Calibri"/>
              </a:rPr>
              <a:t>NEW METERS</a:t>
            </a:r>
          </a:p>
        </p:txBody>
      </p:sp>
      <p:sp>
        <p:nvSpPr>
          <p:cNvPr id="15" name="TextBox 14"/>
          <p:cNvSpPr txBox="1"/>
          <p:nvPr/>
        </p:nvSpPr>
        <p:spPr>
          <a:xfrm>
            <a:off x="8238744" y="2212848"/>
            <a:ext cx="2926080" cy="621792"/>
          </a:xfrm>
          <a:prstGeom prst="rect">
            <a:avLst/>
          </a:prstGeom>
          <a:noFill/>
        </p:spPr>
        <p:txBody>
          <a:bodyPr wrap="square" lIns="0" rIns="0" tIns="0" bIns="0">
            <a:spAutoFit/>
          </a:bodyPr>
          <a:lstStyle/>
          <a:p>
            <a:pPr algn="l"/>
            <a:r>
              <a:rPr sz="1350" b="1" i="0">
                <a:solidFill>
                  <a:srgbClr val="1A2233"/>
                </a:solidFill>
                <a:latin typeface="Cambria"/>
              </a:rPr>
              <a:t>Seat companies shipping usage SKUs</a:t>
            </a:r>
          </a:p>
        </p:txBody>
      </p:sp>
      <p:sp>
        <p:nvSpPr>
          <p:cNvPr id="16" name="TextBox 15"/>
          <p:cNvSpPr txBox="1"/>
          <p:nvPr/>
        </p:nvSpPr>
        <p:spPr>
          <a:xfrm>
            <a:off x="8238744" y="3017520"/>
            <a:ext cx="2926080" cy="2286000"/>
          </a:xfrm>
          <a:prstGeom prst="rect">
            <a:avLst/>
          </a:prstGeom>
          <a:noFill/>
        </p:spPr>
        <p:txBody>
          <a:bodyPr wrap="square" lIns="0" rIns="0" tIns="0" bIns="0">
            <a:spAutoFit/>
          </a:bodyPr>
          <a:lstStyle/>
          <a:p>
            <a:pPr algn="l"/>
            <a:r>
              <a:rPr sz="1019" b="0" i="0">
                <a:solidFill>
                  <a:srgbClr val="5A6478"/>
                </a:solidFill>
                <a:latin typeface="Calibri"/>
              </a:rPr>
              <a:t>Agent SKUs (assists, credits, actions) are usage-priced lines inside seat businesses. If any grows to majority — the way Atlas re-made MongoDB — the rule admits the whole company.</a:t>
            </a:r>
          </a:p>
        </p:txBody>
      </p:sp>
      <p:sp>
        <p:nvSpPr>
          <p:cNvPr id="17" name="TextBox 16"/>
          <p:cNvSpPr txBox="1"/>
          <p:nvPr/>
        </p:nvSpPr>
        <p:spPr>
          <a:xfrm>
            <a:off x="777240" y="5541264"/>
            <a:ext cx="10634472" cy="365760"/>
          </a:xfrm>
          <a:prstGeom prst="rect">
            <a:avLst/>
          </a:prstGeom>
          <a:noFill/>
        </p:spPr>
        <p:txBody>
          <a:bodyPr wrap="square" lIns="0" rIns="0" tIns="0" bIns="0">
            <a:spAutoFit/>
          </a:bodyPr>
          <a:lstStyle/>
          <a:p>
            <a:pPr algn="l"/>
            <a:r>
              <a:rPr sz="1050" b="0" i="1">
                <a:solidFill>
                  <a:srgbClr val="5A6478"/>
                </a:solidFill>
                <a:latin typeface="Calibri"/>
              </a:rPr>
              <a:t>The MongoDB precedent is the template: Atlas went from 26% of revenue to 73% in six years — companies cross the membrane; the rule doesn't move.</a:t>
            </a:r>
          </a:p>
        </p:txBody>
      </p:sp>
      <p:sp>
        <p:nvSpPr>
          <p:cNvPr id="18" name="Rounded Rectangle 17"/>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Three today; the membrane is open  </a:t>
            </a:r>
            <a:r>
              <a:rPr sz="1200">
                <a:solidFill>
                  <a:srgbClr val="1A2233"/>
                </a:solidFill>
                <a:latin typeface="Calibri"/>
              </a:rPr>
              <a:t>— converters, listings, and new meters all enter the same way: majority consumption, verified in filings.</a:t>
            </a:r>
          </a:p>
        </p:txBody>
      </p:sp>
      <p:sp>
        <p:nvSpPr>
          <p:cNvPr id="19" name="TextBox 18"/>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0" name="TextBox 19"/>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86</a:t>
            </a:r>
          </a:p>
        </p:txBody>
      </p:sp>
      <p:sp>
        <p:nvSpPr>
          <p:cNvPr id="21" name="TextBox 20"/>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Candidates named for classification transparency only; no view expressed on any security. Elastic/Akamai shares per filings; private companies per public disclosures. Admission per the worksheet rule (p. 71).</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How the stack settles: where value pools in the 2030s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LONG-RUN DYNAMICS BETWEEN THE LAYERS — WHO COMPETES, WHO COMPOUNDS</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27632"/>
            <a:ext cx="10634472" cy="80467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46504"/>
            <a:ext cx="1371600" cy="274320"/>
          </a:xfrm>
          <a:prstGeom prst="rect">
            <a:avLst/>
          </a:prstGeom>
          <a:noFill/>
        </p:spPr>
        <p:txBody>
          <a:bodyPr wrap="square" lIns="0" rIns="0" tIns="0" bIns="0">
            <a:spAutoFit/>
          </a:bodyPr>
          <a:lstStyle/>
          <a:p>
            <a:pPr algn="l"/>
            <a:r>
              <a:rPr sz="1050" b="1" i="0">
                <a:solidFill>
                  <a:srgbClr val="8A97B0"/>
                </a:solidFill>
                <a:latin typeface="Calibri"/>
              </a:rPr>
              <a:t>L4 · APPS</a:t>
            </a:r>
          </a:p>
        </p:txBody>
      </p:sp>
      <p:sp>
        <p:nvSpPr>
          <p:cNvPr id="7" name="TextBox 6"/>
          <p:cNvSpPr txBox="1"/>
          <p:nvPr/>
        </p:nvSpPr>
        <p:spPr>
          <a:xfrm>
            <a:off x="2468880" y="1728216"/>
            <a:ext cx="3566160" cy="566928"/>
          </a:xfrm>
          <a:prstGeom prst="rect">
            <a:avLst/>
          </a:prstGeom>
          <a:noFill/>
        </p:spPr>
        <p:txBody>
          <a:bodyPr wrap="square" lIns="0" rIns="0" tIns="0" bIns="0">
            <a:spAutoFit/>
          </a:bodyPr>
          <a:lstStyle/>
          <a:p>
            <a:pPr algn="l"/>
            <a:r>
              <a:rPr sz="1150" b="1" i="0">
                <a:solidFill>
                  <a:srgbClr val="5A6478"/>
                </a:solidFill>
                <a:latin typeface="Calibri"/>
              </a:rPr>
              <a:t>fragments</a:t>
            </a:r>
          </a:p>
        </p:txBody>
      </p:sp>
      <p:sp>
        <p:nvSpPr>
          <p:cNvPr id="8" name="TextBox 7"/>
          <p:cNvSpPr txBox="1"/>
          <p:nvPr/>
        </p:nvSpPr>
        <p:spPr>
          <a:xfrm>
            <a:off x="6172200" y="1728216"/>
            <a:ext cx="5029200" cy="603504"/>
          </a:xfrm>
          <a:prstGeom prst="rect">
            <a:avLst/>
          </a:prstGeom>
          <a:noFill/>
        </p:spPr>
        <p:txBody>
          <a:bodyPr wrap="square" lIns="0" rIns="0" tIns="0" bIns="0">
            <a:spAutoFit/>
          </a:bodyPr>
          <a:lstStyle/>
          <a:p>
            <a:pPr algn="l"/>
            <a:r>
              <a:rPr sz="919" b="0" i="0">
                <a:solidFill>
                  <a:srgbClr val="5A6478"/>
                </a:solidFill>
                <a:latin typeface="Calibri"/>
              </a:rPr>
              <a:t>Infinite software dissolves the packaged app; what survives owns distribution, proprietary data, or a regulated workflow. Value leaks downward.</a:t>
            </a:r>
          </a:p>
        </p:txBody>
      </p:sp>
      <p:sp>
        <p:nvSpPr>
          <p:cNvPr id="9" name="Rounded Rectangle 8"/>
          <p:cNvSpPr/>
          <p:nvPr/>
        </p:nvSpPr>
        <p:spPr>
          <a:xfrm>
            <a:off x="777240" y="2514600"/>
            <a:ext cx="10634472" cy="804672"/>
          </a:xfrm>
          <a:prstGeom prst="roundRect">
            <a:avLst>
              <a:gd name="adj" fmla="val 10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2633472"/>
            <a:ext cx="1371600" cy="274320"/>
          </a:xfrm>
          <a:prstGeom prst="rect">
            <a:avLst/>
          </a:prstGeom>
          <a:noFill/>
        </p:spPr>
        <p:txBody>
          <a:bodyPr wrap="square" lIns="0" rIns="0" tIns="0" bIns="0">
            <a:spAutoFit/>
          </a:bodyPr>
          <a:lstStyle/>
          <a:p>
            <a:pPr algn="l"/>
            <a:r>
              <a:rPr sz="1050" b="1" i="0">
                <a:solidFill>
                  <a:srgbClr val="2777EF"/>
                </a:solidFill>
                <a:latin typeface="Calibri"/>
              </a:rPr>
              <a:t>L3 · WORK</a:t>
            </a:r>
          </a:p>
        </p:txBody>
      </p:sp>
      <p:sp>
        <p:nvSpPr>
          <p:cNvPr id="11" name="TextBox 10"/>
          <p:cNvSpPr txBox="1"/>
          <p:nvPr/>
        </p:nvSpPr>
        <p:spPr>
          <a:xfrm>
            <a:off x="2468880" y="2615184"/>
            <a:ext cx="3566160" cy="566928"/>
          </a:xfrm>
          <a:prstGeom prst="rect">
            <a:avLst/>
          </a:prstGeom>
          <a:noFill/>
        </p:spPr>
        <p:txBody>
          <a:bodyPr wrap="square" lIns="0" rIns="0" tIns="0" bIns="0">
            <a:spAutoFit/>
          </a:bodyPr>
          <a:lstStyle/>
          <a:p>
            <a:pPr algn="l"/>
            <a:r>
              <a:rPr sz="1150" b="1" i="0">
                <a:solidFill>
                  <a:srgbClr val="1A2233"/>
                </a:solidFill>
                <a:latin typeface="Calibri"/>
              </a:rPr>
              <a:t>earns the toll — defended by neutrality</a:t>
            </a:r>
          </a:p>
        </p:txBody>
      </p:sp>
      <p:sp>
        <p:nvSpPr>
          <p:cNvPr id="12" name="TextBox 11"/>
          <p:cNvSpPr txBox="1"/>
          <p:nvPr/>
        </p:nvSpPr>
        <p:spPr>
          <a:xfrm>
            <a:off x="6172200" y="2615184"/>
            <a:ext cx="5029200" cy="603504"/>
          </a:xfrm>
          <a:prstGeom prst="rect">
            <a:avLst/>
          </a:prstGeom>
          <a:noFill/>
        </p:spPr>
        <p:txBody>
          <a:bodyPr wrap="square" lIns="0" rIns="0" tIns="0" bIns="0">
            <a:spAutoFit/>
          </a:bodyPr>
          <a:lstStyle/>
          <a:p>
            <a:pPr algn="l"/>
            <a:r>
              <a:rPr sz="919" b="0" i="0">
                <a:solidFill>
                  <a:srgbClr val="5A6478"/>
                </a:solidFill>
                <a:latin typeface="Calibri"/>
              </a:rPr>
              <a:t>The runtime is contested by the model labs; the control plane is not — the auditor cannot be the vendor it audits. Trust becomes a priced service.</a:t>
            </a:r>
          </a:p>
        </p:txBody>
      </p:sp>
      <p:sp>
        <p:nvSpPr>
          <p:cNvPr id="13" name="Rounded Rectangle 12"/>
          <p:cNvSpPr/>
          <p:nvPr/>
        </p:nvSpPr>
        <p:spPr>
          <a:xfrm>
            <a:off x="777240" y="3401568"/>
            <a:ext cx="10634472" cy="804672"/>
          </a:xfrm>
          <a:prstGeom prst="roundRect">
            <a:avLst>
              <a:gd name="adj" fmla="val 10000"/>
            </a:avLst>
          </a:prstGeom>
          <a:solidFill>
            <a:srgbClr val="EAF1FE"/>
          </a:solidFill>
          <a:ln w="15875">
            <a:solidFill>
              <a:srgbClr val="2777E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20439"/>
            <a:ext cx="1371600" cy="274320"/>
          </a:xfrm>
          <a:prstGeom prst="rect">
            <a:avLst/>
          </a:prstGeom>
          <a:noFill/>
        </p:spPr>
        <p:txBody>
          <a:bodyPr wrap="square" lIns="0" rIns="0" tIns="0" bIns="0">
            <a:spAutoFit/>
          </a:bodyPr>
          <a:lstStyle/>
          <a:p>
            <a:pPr algn="l"/>
            <a:r>
              <a:rPr sz="1050" b="1" i="0">
                <a:solidFill>
                  <a:srgbClr val="2777EF"/>
                </a:solidFill>
                <a:latin typeface="Calibri"/>
              </a:rPr>
              <a:t>L2 · STATE</a:t>
            </a:r>
          </a:p>
        </p:txBody>
      </p:sp>
      <p:sp>
        <p:nvSpPr>
          <p:cNvPr id="15" name="TextBox 14"/>
          <p:cNvSpPr txBox="1"/>
          <p:nvPr/>
        </p:nvSpPr>
        <p:spPr>
          <a:xfrm>
            <a:off x="2468880" y="3502151"/>
            <a:ext cx="3566160" cy="566928"/>
          </a:xfrm>
          <a:prstGeom prst="rect">
            <a:avLst/>
          </a:prstGeom>
          <a:noFill/>
        </p:spPr>
        <p:txBody>
          <a:bodyPr wrap="square" lIns="0" rIns="0" tIns="0" bIns="0">
            <a:spAutoFit/>
          </a:bodyPr>
          <a:lstStyle/>
          <a:p>
            <a:pPr algn="l"/>
            <a:r>
              <a:rPr sz="1150" b="1" i="0">
                <a:solidFill>
                  <a:srgbClr val="1A2233"/>
                </a:solidFill>
                <a:latin typeface="Calibri"/>
              </a:rPr>
              <a:t>compounds — the only layer where time is an ally</a:t>
            </a:r>
          </a:p>
        </p:txBody>
      </p:sp>
      <p:sp>
        <p:nvSpPr>
          <p:cNvPr id="16" name="TextBox 15"/>
          <p:cNvSpPr txBox="1"/>
          <p:nvPr/>
        </p:nvSpPr>
        <p:spPr>
          <a:xfrm>
            <a:off x="6172200" y="3502151"/>
            <a:ext cx="5029200" cy="603504"/>
          </a:xfrm>
          <a:prstGeom prst="rect">
            <a:avLst/>
          </a:prstGeom>
          <a:noFill/>
        </p:spPr>
        <p:txBody>
          <a:bodyPr wrap="square" lIns="0" rIns="0" tIns="0" bIns="0">
            <a:spAutoFit/>
          </a:bodyPr>
          <a:lstStyle/>
          <a:p>
            <a:pPr algn="l"/>
            <a:r>
              <a:rPr sz="919" b="0" i="0">
                <a:solidFill>
                  <a:srgbClr val="5A6478"/>
                </a:solidFill>
                <a:latin typeface="Calibri"/>
              </a:rPr>
              <a:t>Every layer above rewrites annually; state accumulates. Memory is the one asset agents make more valuable with every task. L2 and L3 fuse at the edges — state wants execution beside it.</a:t>
            </a:r>
          </a:p>
        </p:txBody>
      </p:sp>
      <p:sp>
        <p:nvSpPr>
          <p:cNvPr id="17" name="Rounded Rectangle 16"/>
          <p:cNvSpPr/>
          <p:nvPr/>
        </p:nvSpPr>
        <p:spPr>
          <a:xfrm>
            <a:off x="777240" y="4288536"/>
            <a:ext cx="10634472" cy="80467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4407407"/>
            <a:ext cx="1371600" cy="274320"/>
          </a:xfrm>
          <a:prstGeom prst="rect">
            <a:avLst/>
          </a:prstGeom>
          <a:noFill/>
        </p:spPr>
        <p:txBody>
          <a:bodyPr wrap="square" lIns="0" rIns="0" tIns="0" bIns="0">
            <a:spAutoFit/>
          </a:bodyPr>
          <a:lstStyle/>
          <a:p>
            <a:pPr algn="l"/>
            <a:r>
              <a:rPr sz="1050" b="1" i="0">
                <a:solidFill>
                  <a:srgbClr val="8A97B0"/>
                </a:solidFill>
                <a:latin typeface="Calibri"/>
              </a:rPr>
              <a:t>L1 · MODELS</a:t>
            </a:r>
          </a:p>
        </p:txBody>
      </p:sp>
      <p:sp>
        <p:nvSpPr>
          <p:cNvPr id="19" name="TextBox 18"/>
          <p:cNvSpPr txBox="1"/>
          <p:nvPr/>
        </p:nvSpPr>
        <p:spPr>
          <a:xfrm>
            <a:off x="2468880" y="4389120"/>
            <a:ext cx="3566160" cy="566928"/>
          </a:xfrm>
          <a:prstGeom prst="rect">
            <a:avLst/>
          </a:prstGeom>
          <a:noFill/>
        </p:spPr>
        <p:txBody>
          <a:bodyPr wrap="square" lIns="0" rIns="0" tIns="0" bIns="0">
            <a:spAutoFit/>
          </a:bodyPr>
          <a:lstStyle/>
          <a:p>
            <a:pPr algn="l"/>
            <a:r>
              <a:rPr sz="1150" b="1" i="0">
                <a:solidFill>
                  <a:srgbClr val="5A6478"/>
                </a:solidFill>
                <a:latin typeface="Calibri"/>
              </a:rPr>
              <a:t>commoditizes toward utility economics</a:t>
            </a:r>
          </a:p>
        </p:txBody>
      </p:sp>
      <p:sp>
        <p:nvSpPr>
          <p:cNvPr id="20" name="TextBox 19"/>
          <p:cNvSpPr txBox="1"/>
          <p:nvPr/>
        </p:nvSpPr>
        <p:spPr>
          <a:xfrm>
            <a:off x="6172200" y="4389120"/>
            <a:ext cx="5029200" cy="603504"/>
          </a:xfrm>
          <a:prstGeom prst="rect">
            <a:avLst/>
          </a:prstGeom>
          <a:noFill/>
        </p:spPr>
        <p:txBody>
          <a:bodyPr wrap="square" lIns="0" rIns="0" tIns="0" bIns="0">
            <a:spAutoFit/>
          </a:bodyPr>
          <a:lstStyle/>
          <a:p>
            <a:pPr algn="l"/>
            <a:r>
              <a:rPr sz="919" b="0" i="0">
                <a:solidFill>
                  <a:srgbClr val="5A6478"/>
                </a:solidFill>
                <a:latin typeface="Calibri"/>
              </a:rPr>
              <a:t>Frontier capability keeps its price for months, not years; open weights chase every closed release. Enormous value created, brutal value retention.</a:t>
            </a:r>
          </a:p>
        </p:txBody>
      </p:sp>
      <p:sp>
        <p:nvSpPr>
          <p:cNvPr id="21" name="Rounded Rectangle 20"/>
          <p:cNvSpPr/>
          <p:nvPr/>
        </p:nvSpPr>
        <p:spPr>
          <a:xfrm>
            <a:off x="777240" y="5175503"/>
            <a:ext cx="10634472" cy="804672"/>
          </a:xfrm>
          <a:prstGeom prst="roundRect">
            <a:avLst>
              <a:gd name="adj" fmla="val 10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5294375"/>
            <a:ext cx="1371600" cy="274320"/>
          </a:xfrm>
          <a:prstGeom prst="rect">
            <a:avLst/>
          </a:prstGeom>
          <a:noFill/>
        </p:spPr>
        <p:txBody>
          <a:bodyPr wrap="square" lIns="0" rIns="0" tIns="0" bIns="0">
            <a:spAutoFit/>
          </a:bodyPr>
          <a:lstStyle/>
          <a:p>
            <a:pPr algn="l"/>
            <a:r>
              <a:rPr sz="1050" b="1" i="0">
                <a:solidFill>
                  <a:srgbClr val="8A97B0"/>
                </a:solidFill>
                <a:latin typeface="Calibri"/>
              </a:rPr>
              <a:t>L0 · COMPUTE</a:t>
            </a:r>
          </a:p>
        </p:txBody>
      </p:sp>
      <p:sp>
        <p:nvSpPr>
          <p:cNvPr id="23" name="TextBox 22"/>
          <p:cNvSpPr txBox="1"/>
          <p:nvPr/>
        </p:nvSpPr>
        <p:spPr>
          <a:xfrm>
            <a:off x="2468880" y="5276088"/>
            <a:ext cx="3566160" cy="566928"/>
          </a:xfrm>
          <a:prstGeom prst="rect">
            <a:avLst/>
          </a:prstGeom>
          <a:noFill/>
        </p:spPr>
        <p:txBody>
          <a:bodyPr wrap="square" lIns="0" rIns="0" tIns="0" bIns="0">
            <a:spAutoFit/>
          </a:bodyPr>
          <a:lstStyle/>
          <a:p>
            <a:pPr algn="l"/>
            <a:r>
              <a:rPr sz="1150" b="1" i="0">
                <a:solidFill>
                  <a:srgbClr val="5A6478"/>
                </a:solidFill>
                <a:latin typeface="Calibri"/>
              </a:rPr>
              <a:t>captures cycles, not annuities</a:t>
            </a:r>
          </a:p>
        </p:txBody>
      </p:sp>
      <p:sp>
        <p:nvSpPr>
          <p:cNvPr id="24" name="TextBox 23"/>
          <p:cNvSpPr txBox="1"/>
          <p:nvPr/>
        </p:nvSpPr>
        <p:spPr>
          <a:xfrm>
            <a:off x="6172200" y="5276088"/>
            <a:ext cx="5029200" cy="603504"/>
          </a:xfrm>
          <a:prstGeom prst="rect">
            <a:avLst/>
          </a:prstGeom>
          <a:noFill/>
        </p:spPr>
        <p:txBody>
          <a:bodyPr wrap="square" lIns="0" rIns="0" tIns="0" bIns="0">
            <a:spAutoFit/>
          </a:bodyPr>
          <a:lstStyle/>
          <a:p>
            <a:pPr algn="l"/>
            <a:r>
              <a:rPr sz="919" b="0" i="0">
                <a:solidFill>
                  <a:srgbClr val="5A6478"/>
                </a:solidFill>
                <a:latin typeface="Calibri"/>
              </a:rPr>
              <a:t>The buildout is heroic and cyclical — hardware earns in waves. The annuity on machine labor lives in the software meters above it.</a:t>
            </a:r>
          </a:p>
        </p:txBody>
      </p:sp>
      <p:sp>
        <p:nvSpPr>
          <p:cNvPr id="25" name="Rounded Rectangle 24"/>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Value flows toward memory and trust  </a:t>
            </a:r>
            <a:r>
              <a:rPr sz="1200">
                <a:solidFill>
                  <a:srgbClr val="1A2233"/>
                </a:solidFill>
                <a:latin typeface="Calibri"/>
              </a:rPr>
              <a:t>— the layers that rewrite every year compete; the layers that accumulate compound.</a:t>
            </a:r>
          </a:p>
        </p:txBody>
      </p:sp>
      <p:sp>
        <p:nvSpPr>
          <p:cNvPr id="26" name="TextBox 25"/>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7" name="TextBox 26"/>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87</a:t>
            </a:r>
          </a:p>
        </p:txBody>
      </p:sp>
      <p:sp>
        <p:nvSpPr>
          <p:cNvPr id="28" name="TextBox 27"/>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long-run framework; judgments, not forecasts. Layer dynamics per the exhibits in Parts 03–04.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What the firm becomes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COMPANY-LEVEL IMPLICATIONS — HOW ORGANIZATIONS CHANGE WHEN LABOR IS METERED, NOT HIRED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27632"/>
            <a:ext cx="10634472" cy="804672"/>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737360"/>
            <a:ext cx="3931920" cy="566928"/>
          </a:xfrm>
          <a:prstGeom prst="rect">
            <a:avLst/>
          </a:prstGeom>
          <a:noFill/>
        </p:spPr>
        <p:txBody>
          <a:bodyPr wrap="square" lIns="0" rIns="0" tIns="0" bIns="0">
            <a:spAutoFit/>
          </a:bodyPr>
          <a:lstStyle/>
          <a:p>
            <a:pPr algn="l"/>
            <a:r>
              <a:rPr sz="1050" b="1" i="0">
                <a:solidFill>
                  <a:srgbClr val="2777EF"/>
                </a:solidFill>
                <a:latin typeface="Calibri"/>
              </a:rPr>
              <a:t>REVENUE DECOUPLES FROM HEADCOUNT</a:t>
            </a:r>
          </a:p>
        </p:txBody>
      </p:sp>
      <p:sp>
        <p:nvSpPr>
          <p:cNvPr id="7" name="TextBox 6"/>
          <p:cNvSpPr txBox="1"/>
          <p:nvPr/>
        </p:nvSpPr>
        <p:spPr>
          <a:xfrm>
            <a:off x="5074920" y="1728216"/>
            <a:ext cx="6126480" cy="603504"/>
          </a:xfrm>
          <a:prstGeom prst="rect">
            <a:avLst/>
          </a:prstGeom>
          <a:noFill/>
        </p:spPr>
        <p:txBody>
          <a:bodyPr wrap="square" lIns="0" rIns="0" tIns="0" bIns="0">
            <a:spAutoFit/>
          </a:bodyPr>
          <a:lstStyle/>
          <a:p>
            <a:pPr algn="l"/>
            <a:r>
              <a:rPr sz="960" b="0" i="0">
                <a:solidFill>
                  <a:srgbClr val="1A2233"/>
                </a:solidFill>
                <a:latin typeface="Calibri"/>
              </a:rPr>
              <a:t>Revenue per employee becomes the defining metric of the era — the best firms 10x it. Growth stops requiring hiring; hiring becomes a choice about judgment, not capacity.</a:t>
            </a:r>
          </a:p>
        </p:txBody>
      </p:sp>
      <p:sp>
        <p:nvSpPr>
          <p:cNvPr id="8" name="Rounded Rectangle 7"/>
          <p:cNvSpPr/>
          <p:nvPr/>
        </p:nvSpPr>
        <p:spPr>
          <a:xfrm>
            <a:off x="777240" y="2514600"/>
            <a:ext cx="10634472" cy="804672"/>
          </a:xfrm>
          <a:prstGeom prst="roundRect">
            <a:avLst>
              <a:gd name="adj" fmla="val 10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624328"/>
            <a:ext cx="3931920" cy="566928"/>
          </a:xfrm>
          <a:prstGeom prst="rect">
            <a:avLst/>
          </a:prstGeom>
          <a:noFill/>
        </p:spPr>
        <p:txBody>
          <a:bodyPr wrap="square" lIns="0" rIns="0" tIns="0" bIns="0">
            <a:spAutoFit/>
          </a:bodyPr>
          <a:lstStyle/>
          <a:p>
            <a:pPr algn="l"/>
            <a:r>
              <a:rPr sz="1050" b="1" i="0">
                <a:solidFill>
                  <a:srgbClr val="2777EF"/>
                </a:solidFill>
                <a:latin typeface="Calibri"/>
              </a:rPr>
              <a:t>LABOR MOVES ONTO THE UTILITY BILL</a:t>
            </a:r>
          </a:p>
        </p:txBody>
      </p:sp>
      <p:sp>
        <p:nvSpPr>
          <p:cNvPr id="10" name="TextBox 9"/>
          <p:cNvSpPr txBox="1"/>
          <p:nvPr/>
        </p:nvSpPr>
        <p:spPr>
          <a:xfrm>
            <a:off x="5074920" y="2615184"/>
            <a:ext cx="6126480" cy="603504"/>
          </a:xfrm>
          <a:prstGeom prst="rect">
            <a:avLst/>
          </a:prstGeom>
          <a:noFill/>
        </p:spPr>
        <p:txBody>
          <a:bodyPr wrap="square" lIns="0" rIns="0" tIns="0" bIns="0">
            <a:spAutoFit/>
          </a:bodyPr>
          <a:lstStyle/>
          <a:p>
            <a:pPr algn="l"/>
            <a:r>
              <a:rPr sz="960" b="0" i="0">
                <a:solidFill>
                  <a:srgbClr val="1A2233"/>
                </a:solidFill>
                <a:latin typeface="Calibri"/>
              </a:rPr>
              <a:t>Compensation shifts from salaries to metered compute and agent spend — a cost that flexes daily, prices transparently, and shows up on the meters' income statements.</a:t>
            </a:r>
          </a:p>
        </p:txBody>
      </p:sp>
      <p:sp>
        <p:nvSpPr>
          <p:cNvPr id="11" name="Rounded Rectangle 10"/>
          <p:cNvSpPr/>
          <p:nvPr/>
        </p:nvSpPr>
        <p:spPr>
          <a:xfrm>
            <a:off x="777240" y="3401568"/>
            <a:ext cx="10634472" cy="804672"/>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511296"/>
            <a:ext cx="3931920" cy="566928"/>
          </a:xfrm>
          <a:prstGeom prst="rect">
            <a:avLst/>
          </a:prstGeom>
          <a:noFill/>
        </p:spPr>
        <p:txBody>
          <a:bodyPr wrap="square" lIns="0" rIns="0" tIns="0" bIns="0">
            <a:spAutoFit/>
          </a:bodyPr>
          <a:lstStyle/>
          <a:p>
            <a:pPr algn="l"/>
            <a:r>
              <a:rPr sz="1050" b="1" i="0">
                <a:solidFill>
                  <a:srgbClr val="2777EF"/>
                </a:solidFill>
                <a:latin typeface="Calibri"/>
              </a:rPr>
              <a:t>FIRMS GET SMALLER, AND MORE NUMEROUS</a:t>
            </a:r>
          </a:p>
        </p:txBody>
      </p:sp>
      <p:sp>
        <p:nvSpPr>
          <p:cNvPr id="13" name="TextBox 12"/>
          <p:cNvSpPr txBox="1"/>
          <p:nvPr/>
        </p:nvSpPr>
        <p:spPr>
          <a:xfrm>
            <a:off x="5074920" y="3502151"/>
            <a:ext cx="6126480" cy="603504"/>
          </a:xfrm>
          <a:prstGeom prst="rect">
            <a:avLst/>
          </a:prstGeom>
          <a:noFill/>
        </p:spPr>
        <p:txBody>
          <a:bodyPr wrap="square" lIns="0" rIns="0" tIns="0" bIns="0">
            <a:spAutoFit/>
          </a:bodyPr>
          <a:lstStyle/>
          <a:p>
            <a:pPr algn="l"/>
            <a:r>
              <a:rPr sz="960" b="0" i="0">
                <a:solidFill>
                  <a:srgbClr val="1A2233"/>
                </a:solidFill>
                <a:latin typeface="Calibri"/>
              </a:rPr>
              <a:t>When transaction costs collapse, so does the reason firms are large. Coase runs in reverse: billion-dollar outcomes from ten-person teams — and a thousand more teams trying.</a:t>
            </a:r>
          </a:p>
        </p:txBody>
      </p:sp>
      <p:sp>
        <p:nvSpPr>
          <p:cNvPr id="14" name="Rounded Rectangle 13"/>
          <p:cNvSpPr/>
          <p:nvPr/>
        </p:nvSpPr>
        <p:spPr>
          <a:xfrm>
            <a:off x="777240" y="4288536"/>
            <a:ext cx="10634472" cy="804672"/>
          </a:xfrm>
          <a:prstGeom prst="roundRect">
            <a:avLst>
              <a:gd name="adj" fmla="val 10000"/>
            </a:avLst>
          </a:prstGeom>
          <a:solidFill>
            <a:srgbClr val="F5F8FC"/>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398264"/>
            <a:ext cx="3931920" cy="566928"/>
          </a:xfrm>
          <a:prstGeom prst="rect">
            <a:avLst/>
          </a:prstGeom>
          <a:noFill/>
        </p:spPr>
        <p:txBody>
          <a:bodyPr wrap="square" lIns="0" rIns="0" tIns="0" bIns="0">
            <a:spAutoFit/>
          </a:bodyPr>
          <a:lstStyle/>
          <a:p>
            <a:pPr algn="l"/>
            <a:r>
              <a:rPr sz="1050" b="1" i="0">
                <a:solidFill>
                  <a:srgbClr val="2777EF"/>
                </a:solidFill>
                <a:latin typeface="Calibri"/>
              </a:rPr>
              <a:t>MANAGEMENT BECOMES REVIEW, INTENT, AND AUDIT</a:t>
            </a:r>
          </a:p>
        </p:txBody>
      </p:sp>
      <p:sp>
        <p:nvSpPr>
          <p:cNvPr id="16" name="TextBox 15"/>
          <p:cNvSpPr txBox="1"/>
          <p:nvPr/>
        </p:nvSpPr>
        <p:spPr>
          <a:xfrm>
            <a:off x="5074920" y="4389120"/>
            <a:ext cx="6126480" cy="603504"/>
          </a:xfrm>
          <a:prstGeom prst="rect">
            <a:avLst/>
          </a:prstGeom>
          <a:noFill/>
        </p:spPr>
        <p:txBody>
          <a:bodyPr wrap="square" lIns="0" rIns="0" tIns="0" bIns="0">
            <a:spAutoFit/>
          </a:bodyPr>
          <a:lstStyle/>
          <a:p>
            <a:pPr algn="l"/>
            <a:r>
              <a:rPr sz="960" b="0" i="0">
                <a:solidFill>
                  <a:srgbClr val="1A2233"/>
                </a:solidFill>
                <a:latin typeface="Calibri"/>
              </a:rPr>
              <a:t>The scarce executive skill shifts from directing people to specifying outcomes and auditing machine work. The org chart flattens into an approval graph.</a:t>
            </a:r>
          </a:p>
        </p:txBody>
      </p:sp>
      <p:sp>
        <p:nvSpPr>
          <p:cNvPr id="17" name="Rounded Rectangle 16"/>
          <p:cNvSpPr/>
          <p:nvPr/>
        </p:nvSpPr>
        <p:spPr>
          <a:xfrm>
            <a:off x="777240" y="5175503"/>
            <a:ext cx="10634472" cy="804672"/>
          </a:xfrm>
          <a:prstGeom prst="roundRect">
            <a:avLst>
              <a:gd name="adj" fmla="val 10000"/>
            </a:avLst>
          </a:prstGeom>
          <a:solidFill>
            <a:srgbClr val="EAF1FE"/>
          </a:solidFill>
          <a:ln w="1143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285231"/>
            <a:ext cx="3931920" cy="566928"/>
          </a:xfrm>
          <a:prstGeom prst="rect">
            <a:avLst/>
          </a:prstGeom>
          <a:noFill/>
        </p:spPr>
        <p:txBody>
          <a:bodyPr wrap="square" lIns="0" rIns="0" tIns="0" bIns="0">
            <a:spAutoFit/>
          </a:bodyPr>
          <a:lstStyle/>
          <a:p>
            <a:pPr algn="l"/>
            <a:r>
              <a:rPr sz="1050" b="1" i="0">
                <a:solidFill>
                  <a:srgbClr val="2777EF"/>
                </a:solidFill>
                <a:latin typeface="Calibri"/>
              </a:rPr>
              <a:t>THE NEW MOATS: PROPRIETARY STATE AND EARNED TRUST</a:t>
            </a:r>
          </a:p>
        </p:txBody>
      </p:sp>
      <p:sp>
        <p:nvSpPr>
          <p:cNvPr id="19" name="TextBox 18"/>
          <p:cNvSpPr txBox="1"/>
          <p:nvPr/>
        </p:nvSpPr>
        <p:spPr>
          <a:xfrm>
            <a:off x="5074920" y="5276088"/>
            <a:ext cx="6126480" cy="603504"/>
          </a:xfrm>
          <a:prstGeom prst="rect">
            <a:avLst/>
          </a:prstGeom>
          <a:noFill/>
        </p:spPr>
        <p:txBody>
          <a:bodyPr wrap="square" lIns="0" rIns="0" tIns="0" bIns="0">
            <a:spAutoFit/>
          </a:bodyPr>
          <a:lstStyle/>
          <a:p>
            <a:pPr algn="l"/>
            <a:r>
              <a:rPr sz="960" b="0" i="0">
                <a:solidFill>
                  <a:srgbClr val="1A2233"/>
                </a:solidFill>
                <a:latin typeface="Calibri"/>
              </a:rPr>
              <a:t>When anyone can summon software, code stops being an advantage. What cannot be summoned: your accumulated state, your audit history, your customers' trust.</a:t>
            </a:r>
          </a:p>
        </p:txBody>
      </p:sp>
      <p:sp>
        <p:nvSpPr>
          <p:cNvPr id="20" name="Rounded Rectangle 19"/>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Every one of these changes routes through the meters  </a:t>
            </a:r>
            <a:r>
              <a:rPr sz="1200">
                <a:solidFill>
                  <a:srgbClr val="1A2233"/>
                </a:solidFill>
                <a:latin typeface="Calibri"/>
              </a:rPr>
              <a:t>— smaller firms, more software, more delegation: each multiplies the metered base.</a:t>
            </a:r>
          </a:p>
        </p:txBody>
      </p:sp>
      <p:sp>
        <p:nvSpPr>
          <p:cNvPr id="21" name="TextBox 20"/>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2" name="TextBox 21"/>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88</a:t>
            </a:r>
          </a:p>
        </p:txBody>
      </p:sp>
      <p:sp>
        <p:nvSpPr>
          <p:cNvPr id="23" name="TextBox 22"/>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framework; directional implications, not forecasts. Coase (1937) on the theory of the firm.</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long view: what machine labor frees</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THINKING IN DECADES — WHERE THE SURPLUS GOES WHEN COGNITIVE ROUTINE IS DELEGATED</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82496"/>
            <a:ext cx="3429000" cy="393192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33271" y="1901952"/>
            <a:ext cx="2926080" cy="237744"/>
          </a:xfrm>
          <a:prstGeom prst="rect">
            <a:avLst/>
          </a:prstGeom>
          <a:noFill/>
        </p:spPr>
        <p:txBody>
          <a:bodyPr wrap="square" lIns="0" rIns="0" tIns="0" bIns="0">
            <a:spAutoFit/>
          </a:bodyPr>
          <a:lstStyle/>
          <a:p>
            <a:pPr algn="l"/>
            <a:r>
              <a:rPr sz="1000" b="1" i="0">
                <a:solidFill>
                  <a:srgbClr val="2777EF"/>
                </a:solidFill>
                <a:latin typeface="Calibri"/>
              </a:rPr>
              <a:t>THE COST OF TRYING COLLAPSES</a:t>
            </a:r>
          </a:p>
        </p:txBody>
      </p:sp>
      <p:sp>
        <p:nvSpPr>
          <p:cNvPr id="7" name="TextBox 6"/>
          <p:cNvSpPr txBox="1"/>
          <p:nvPr/>
        </p:nvSpPr>
        <p:spPr>
          <a:xfrm>
            <a:off x="1033271" y="2231136"/>
            <a:ext cx="2926080" cy="731520"/>
          </a:xfrm>
          <a:prstGeom prst="rect">
            <a:avLst/>
          </a:prstGeom>
          <a:noFill/>
        </p:spPr>
        <p:txBody>
          <a:bodyPr wrap="square" lIns="0" rIns="0" tIns="0" bIns="0">
            <a:spAutoFit/>
          </a:bodyPr>
          <a:lstStyle/>
          <a:p>
            <a:pPr algn="l"/>
            <a:r>
              <a:rPr sz="1350" b="1" i="0">
                <a:solidFill>
                  <a:srgbClr val="1A2233"/>
                </a:solidFill>
                <a:latin typeface="Cambria"/>
              </a:rPr>
              <a:t>Every idea gets a prototype.</a:t>
            </a:r>
          </a:p>
        </p:txBody>
      </p:sp>
      <p:sp>
        <p:nvSpPr>
          <p:cNvPr id="8" name="TextBox 7"/>
          <p:cNvSpPr txBox="1"/>
          <p:nvPr/>
        </p:nvSpPr>
        <p:spPr>
          <a:xfrm>
            <a:off x="1033271" y="3127248"/>
            <a:ext cx="2926080" cy="2377440"/>
          </a:xfrm>
          <a:prstGeom prst="rect">
            <a:avLst/>
          </a:prstGeom>
          <a:noFill/>
        </p:spPr>
        <p:txBody>
          <a:bodyPr wrap="square" lIns="0" rIns="0" tIns="0" bIns="0">
            <a:spAutoFit/>
          </a:bodyPr>
          <a:lstStyle/>
          <a:p>
            <a:pPr algn="l"/>
            <a:r>
              <a:rPr sz="1019" b="0" i="0">
                <a:solidFill>
                  <a:srgbClr val="5A6478"/>
                </a:solidFill>
                <a:latin typeface="Calibri"/>
              </a:rPr>
              <a:t>When an experiment costs an afternoon instead of a quarter, the number of experiments explodes. Most of the era's growth won't come from doing old work cheaper — it will come from work that was never attempted because trying was too expensive.</a:t>
            </a:r>
          </a:p>
        </p:txBody>
      </p:sp>
      <p:sp>
        <p:nvSpPr>
          <p:cNvPr id="9" name="Rounded Rectangle 8"/>
          <p:cNvSpPr/>
          <p:nvPr/>
        </p:nvSpPr>
        <p:spPr>
          <a:xfrm>
            <a:off x="4379976" y="1682496"/>
            <a:ext cx="3429000" cy="393192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36008" y="1901952"/>
            <a:ext cx="2926080" cy="237744"/>
          </a:xfrm>
          <a:prstGeom prst="rect">
            <a:avLst/>
          </a:prstGeom>
          <a:noFill/>
        </p:spPr>
        <p:txBody>
          <a:bodyPr wrap="square" lIns="0" rIns="0" tIns="0" bIns="0">
            <a:spAutoFit/>
          </a:bodyPr>
          <a:lstStyle/>
          <a:p>
            <a:pPr algn="l"/>
            <a:r>
              <a:rPr sz="1000" b="1" i="0">
                <a:solidFill>
                  <a:srgbClr val="2777EF"/>
                </a:solidFill>
                <a:latin typeface="Calibri"/>
              </a:rPr>
              <a:t>TIME MOVES UP THE STACK</a:t>
            </a:r>
          </a:p>
        </p:txBody>
      </p:sp>
      <p:sp>
        <p:nvSpPr>
          <p:cNvPr id="11" name="TextBox 10"/>
          <p:cNvSpPr txBox="1"/>
          <p:nvPr/>
        </p:nvSpPr>
        <p:spPr>
          <a:xfrm>
            <a:off x="4636008" y="2231136"/>
            <a:ext cx="2926080" cy="731520"/>
          </a:xfrm>
          <a:prstGeom prst="rect">
            <a:avLst/>
          </a:prstGeom>
          <a:noFill/>
        </p:spPr>
        <p:txBody>
          <a:bodyPr wrap="square" lIns="0" rIns="0" tIns="0" bIns="0">
            <a:spAutoFit/>
          </a:bodyPr>
          <a:lstStyle/>
          <a:p>
            <a:pPr algn="l"/>
            <a:r>
              <a:rPr sz="1350" b="1" i="0">
                <a:solidFill>
                  <a:srgbClr val="1A2233"/>
                </a:solidFill>
                <a:latin typeface="Cambria"/>
              </a:rPr>
              <a:t>Routine cognition is delegated; judgment is not.</a:t>
            </a:r>
          </a:p>
        </p:txBody>
      </p:sp>
      <p:sp>
        <p:nvSpPr>
          <p:cNvPr id="12" name="TextBox 11"/>
          <p:cNvSpPr txBox="1"/>
          <p:nvPr/>
        </p:nvSpPr>
        <p:spPr>
          <a:xfrm>
            <a:off x="4636008" y="3127248"/>
            <a:ext cx="2926080" cy="2377440"/>
          </a:xfrm>
          <a:prstGeom prst="rect">
            <a:avLst/>
          </a:prstGeom>
          <a:noFill/>
        </p:spPr>
        <p:txBody>
          <a:bodyPr wrap="square" lIns="0" rIns="0" tIns="0" bIns="0">
            <a:spAutoFit/>
          </a:bodyPr>
          <a:lstStyle/>
          <a:p>
            <a:pPr algn="l"/>
            <a:r>
              <a:rPr sz="1019" b="0" i="0">
                <a:solidFill>
                  <a:srgbClr val="5A6478"/>
                </a:solidFill>
                <a:latin typeface="Calibri"/>
              </a:rPr>
              <a:t>The hours freed from formatting, reconciling, drafting and checking don't disappear — they migrate toward the things machines meter badly: deciding what matters, persuading, caring, creating. The 168-hour machine week exists to protect the 40-hour human one.</a:t>
            </a:r>
          </a:p>
        </p:txBody>
      </p:sp>
      <p:sp>
        <p:nvSpPr>
          <p:cNvPr id="13" name="Rounded Rectangle 12"/>
          <p:cNvSpPr/>
          <p:nvPr/>
        </p:nvSpPr>
        <p:spPr>
          <a:xfrm>
            <a:off x="7982712" y="1682496"/>
            <a:ext cx="3429000" cy="3931920"/>
          </a:xfrm>
          <a:prstGeom prst="roundRect">
            <a:avLst>
              <a:gd name="adj" fmla="val 5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38744" y="1901952"/>
            <a:ext cx="2926080" cy="237744"/>
          </a:xfrm>
          <a:prstGeom prst="rect">
            <a:avLst/>
          </a:prstGeom>
          <a:noFill/>
        </p:spPr>
        <p:txBody>
          <a:bodyPr wrap="square" lIns="0" rIns="0" tIns="0" bIns="0">
            <a:spAutoFit/>
          </a:bodyPr>
          <a:lstStyle/>
          <a:p>
            <a:pPr algn="l"/>
            <a:r>
              <a:rPr sz="1000" b="1" i="0">
                <a:solidFill>
                  <a:srgbClr val="2777EF"/>
                </a:solidFill>
                <a:latin typeface="Calibri"/>
              </a:rPr>
              <a:t>SCARCITY MIGRATES</a:t>
            </a:r>
          </a:p>
        </p:txBody>
      </p:sp>
      <p:sp>
        <p:nvSpPr>
          <p:cNvPr id="15" name="TextBox 14"/>
          <p:cNvSpPr txBox="1"/>
          <p:nvPr/>
        </p:nvSpPr>
        <p:spPr>
          <a:xfrm>
            <a:off x="8238744" y="2231136"/>
            <a:ext cx="2926080" cy="731520"/>
          </a:xfrm>
          <a:prstGeom prst="rect">
            <a:avLst/>
          </a:prstGeom>
          <a:noFill/>
        </p:spPr>
        <p:txBody>
          <a:bodyPr wrap="square" lIns="0" rIns="0" tIns="0" bIns="0">
            <a:spAutoFit/>
          </a:bodyPr>
          <a:lstStyle/>
          <a:p>
            <a:pPr algn="l"/>
            <a:r>
              <a:rPr sz="1350" b="1" i="0">
                <a:solidFill>
                  <a:srgbClr val="1A2233"/>
                </a:solidFill>
                <a:latin typeface="Cambria"/>
              </a:rPr>
              <a:t>Attention, intent, and trust become the constraints.</a:t>
            </a:r>
          </a:p>
        </p:txBody>
      </p:sp>
      <p:sp>
        <p:nvSpPr>
          <p:cNvPr id="16" name="TextBox 15"/>
          <p:cNvSpPr txBox="1"/>
          <p:nvPr/>
        </p:nvSpPr>
        <p:spPr>
          <a:xfrm>
            <a:off x="8238744" y="3127248"/>
            <a:ext cx="2926080" cy="2377440"/>
          </a:xfrm>
          <a:prstGeom prst="rect">
            <a:avLst/>
          </a:prstGeom>
          <a:noFill/>
        </p:spPr>
        <p:txBody>
          <a:bodyPr wrap="square" lIns="0" rIns="0" tIns="0" bIns="0">
            <a:spAutoFit/>
          </a:bodyPr>
          <a:lstStyle/>
          <a:p>
            <a:pPr algn="l"/>
            <a:r>
              <a:rPr sz="1019" b="0" i="0">
                <a:solidFill>
                  <a:srgbClr val="5A6478"/>
                </a:solidFill>
                <a:latin typeface="Calibri"/>
              </a:rPr>
              <a:t>Abundance always relocates scarcity. When software and cognition are cheap, what remains expensive is knowing what to want, being trusted, and being accountable — which is why the audit layer is a growth business in every version of this future.</a:t>
            </a:r>
          </a:p>
        </p:txBody>
      </p:sp>
      <p:sp>
        <p:nvSpPr>
          <p:cNvPr id="17" name="TextBox 16"/>
          <p:cNvSpPr txBox="1"/>
          <p:nvPr/>
        </p:nvSpPr>
        <p:spPr>
          <a:xfrm>
            <a:off x="777240" y="5705856"/>
            <a:ext cx="10634472" cy="274320"/>
          </a:xfrm>
          <a:prstGeom prst="rect">
            <a:avLst/>
          </a:prstGeom>
          <a:noFill/>
        </p:spPr>
        <p:txBody>
          <a:bodyPr wrap="square" lIns="0" rIns="0" tIns="0" bIns="0">
            <a:spAutoFit/>
          </a:bodyPr>
          <a:lstStyle/>
          <a:p>
            <a:pPr algn="l"/>
            <a:r>
              <a:rPr sz="1000" b="0" i="1">
                <a:solidFill>
                  <a:srgbClr val="5A6478"/>
                </a:solidFill>
                <a:latin typeface="Calibri"/>
              </a:rPr>
              <a:t>Honesty clause: displacement precedes redeployment, and the transition is measured in careers, not quarters. The surplus is real; so is the queue for it.</a:t>
            </a:r>
          </a:p>
        </p:txBody>
      </p:sp>
      <p:sp>
        <p:nvSpPr>
          <p:cNvPr id="18" name="Rounded Rectangle 17"/>
          <p:cNvSpPr/>
          <p:nvPr/>
        </p:nvSpPr>
        <p:spPr>
          <a:xfrm>
            <a:off x="777240" y="605332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Machine labor doesn't replace the human week — it re-prices it  </a:t>
            </a:r>
            <a:r>
              <a:rPr sz="1200">
                <a:solidFill>
                  <a:srgbClr val="1A2233"/>
                </a:solidFill>
                <a:latin typeface="Calibri"/>
              </a:rPr>
              <a:t>— and the economy that emerges is larger, stranger, and metered.</a:t>
            </a:r>
          </a:p>
        </p:txBody>
      </p:sp>
      <p:sp>
        <p:nvSpPr>
          <p:cNvPr id="19" name="TextBox 18"/>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20" name="TextBox 19"/>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89</a:t>
            </a:r>
          </a:p>
        </p:txBody>
      </p:sp>
      <p:sp>
        <p:nvSpPr>
          <p:cNvPr id="21" name="TextBox 20"/>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long-horizon reflection; not investment analysis or a forecast.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The program in practice: what we publish, every quarter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HOW THIS RESEARCH MAINTAINS ITSELF IN PUBLIC — THE LIVE INSTRUMENTS BEHIND PARTS 03–04</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49" name="TextBox 4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90</a:t>
            </a:r>
          </a:p>
        </p:txBody>
      </p:sp>
      <p:sp>
        <p:nvSpPr>
          <p:cNvPr id="50" name="TextBox 49"/>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Published via Sky1 and the Machine Oracle tracker. Indices are hypothetical research aggregations, not investable products; grading criteria fixed at publication. See Disclosures.</a:t>
            </a:r>
          </a:p>
        </p:txBody>
      </p:sp>
      <p:sp>
        <p:nvSpPr>
          <p:cNvPr id="51" name="Rounded Rectangle 50"/>
          <p:cNvSpPr/>
          <p:nvPr/>
        </p:nvSpPr>
        <p:spPr>
          <a:xfrm>
            <a:off x="777240" y="1664208"/>
            <a:ext cx="5394960" cy="1920240"/>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33271" y="1847088"/>
            <a:ext cx="4846320" cy="256032"/>
          </a:xfrm>
          <a:prstGeom prst="rect">
            <a:avLst/>
          </a:prstGeom>
          <a:noFill/>
        </p:spPr>
        <p:txBody>
          <a:bodyPr wrap="square" lIns="0" rIns="0" tIns="0" bIns="0">
            <a:spAutoFit/>
          </a:bodyPr>
          <a:lstStyle/>
          <a:p>
            <a:pPr algn="l"/>
            <a:r>
              <a:rPr sz="1200" b="1">
                <a:solidFill>
                  <a:srgbClr val="2777EF"/>
                </a:solidFill>
                <a:latin typeface="Segoe UI"/>
              </a:rPr>
              <a:t>THE INDICES</a:t>
            </a:r>
          </a:p>
        </p:txBody>
      </p:sp>
      <p:sp>
        <p:nvSpPr>
          <p:cNvPr id="53" name="TextBox 52"/>
          <p:cNvSpPr txBox="1"/>
          <p:nvPr/>
        </p:nvSpPr>
        <p:spPr>
          <a:xfrm>
            <a:off x="1033271" y="2194560"/>
            <a:ext cx="4892040" cy="1280160"/>
          </a:xfrm>
          <a:prstGeom prst="rect">
            <a:avLst/>
          </a:prstGeom>
          <a:noFill/>
        </p:spPr>
        <p:txBody>
          <a:bodyPr wrap="square" lIns="0" rIns="0" tIns="0" bIns="0">
            <a:spAutoFit/>
          </a:bodyPr>
          <a:lstStyle/>
          <a:p>
            <a:pPr algn="l"/>
            <a:r>
              <a:rPr sz="1050" b="0">
                <a:solidFill>
                  <a:srgbClr val="5A6478"/>
                </a:solidFill>
                <a:latin typeface="Segoe UI"/>
              </a:rPr>
              <a:t>Machine labor cohort and backend layers, inception Aug 11, 2026 = 100 — live marks, no back-fill, no retouching. History accrues only from publication.</a:t>
            </a:r>
          </a:p>
        </p:txBody>
      </p:sp>
      <p:sp>
        <p:nvSpPr>
          <p:cNvPr id="54" name="Rounded Rectangle 53"/>
          <p:cNvSpPr/>
          <p:nvPr/>
        </p:nvSpPr>
        <p:spPr>
          <a:xfrm>
            <a:off x="6355079" y="1664208"/>
            <a:ext cx="5394960" cy="1920240"/>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11112" y="1847088"/>
            <a:ext cx="4846320" cy="256032"/>
          </a:xfrm>
          <a:prstGeom prst="rect">
            <a:avLst/>
          </a:prstGeom>
          <a:noFill/>
        </p:spPr>
        <p:txBody>
          <a:bodyPr wrap="square" lIns="0" rIns="0" tIns="0" bIns="0">
            <a:spAutoFit/>
          </a:bodyPr>
          <a:lstStyle/>
          <a:p>
            <a:pPr algn="l"/>
            <a:r>
              <a:rPr sz="1200" b="1">
                <a:solidFill>
                  <a:srgbClr val="2777EF"/>
                </a:solidFill>
                <a:latin typeface="Segoe UI"/>
              </a:rPr>
              <a:t>THE TAPE</a:t>
            </a:r>
          </a:p>
        </p:txBody>
      </p:sp>
      <p:sp>
        <p:nvSpPr>
          <p:cNvPr id="56" name="TextBox 55"/>
          <p:cNvSpPr txBox="1"/>
          <p:nvPr/>
        </p:nvSpPr>
        <p:spPr>
          <a:xfrm>
            <a:off x="6611112" y="2194560"/>
            <a:ext cx="4892040" cy="1280160"/>
          </a:xfrm>
          <a:prstGeom prst="rect">
            <a:avLst/>
          </a:prstGeom>
          <a:noFill/>
        </p:spPr>
        <p:txBody>
          <a:bodyPr wrap="square" lIns="0" rIns="0" tIns="0" bIns="0">
            <a:spAutoFit/>
          </a:bodyPr>
          <a:lstStyle/>
          <a:p>
            <a:pPr algn="l"/>
            <a:r>
              <a:rPr sz="1050" b="0">
                <a:solidFill>
                  <a:srgbClr val="5A6478"/>
                </a:solidFill>
                <a:latin typeface="Segoe UI"/>
              </a:rPr>
              <a:t>Commitment, overage, retention and revenue growth re-measured every filing season — the three selectors that pick the growth world (p. 77).</a:t>
            </a:r>
          </a:p>
        </p:txBody>
      </p:sp>
      <p:sp>
        <p:nvSpPr>
          <p:cNvPr id="57" name="Rounded Rectangle 56"/>
          <p:cNvSpPr/>
          <p:nvPr/>
        </p:nvSpPr>
        <p:spPr>
          <a:xfrm>
            <a:off x="777240" y="3749039"/>
            <a:ext cx="5394960" cy="1920240"/>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33271" y="3931920"/>
            <a:ext cx="4846320" cy="256032"/>
          </a:xfrm>
          <a:prstGeom prst="rect">
            <a:avLst/>
          </a:prstGeom>
          <a:noFill/>
        </p:spPr>
        <p:txBody>
          <a:bodyPr wrap="square" lIns="0" rIns="0" tIns="0" bIns="0">
            <a:spAutoFit/>
          </a:bodyPr>
          <a:lstStyle/>
          <a:p>
            <a:pPr algn="l"/>
            <a:r>
              <a:rPr sz="1200" b="1">
                <a:solidFill>
                  <a:srgbClr val="2777EF"/>
                </a:solidFill>
                <a:latin typeface="Segoe UI"/>
              </a:rPr>
              <a:t>THE LADDER</a:t>
            </a:r>
          </a:p>
        </p:txBody>
      </p:sp>
      <p:sp>
        <p:nvSpPr>
          <p:cNvPr id="59" name="TextBox 58"/>
          <p:cNvSpPr txBox="1"/>
          <p:nvPr/>
        </p:nvSpPr>
        <p:spPr>
          <a:xfrm>
            <a:off x="1033271" y="4279392"/>
            <a:ext cx="4892040" cy="1280160"/>
          </a:xfrm>
          <a:prstGeom prst="rect">
            <a:avLst/>
          </a:prstGeom>
          <a:noFill/>
        </p:spPr>
        <p:txBody>
          <a:bodyPr wrap="square" lIns="0" rIns="0" tIns="0" bIns="0">
            <a:spAutoFit/>
          </a:bodyPr>
          <a:lstStyle/>
          <a:p>
            <a:pPr algn="l"/>
            <a:r>
              <a:rPr sz="1050" b="0">
                <a:solidFill>
                  <a:srgbClr val="5A6478"/>
                </a:solidFill>
                <a:latin typeface="Segoe UI"/>
              </a:rPr>
              <a:t>All 25 backend names re-scored against the 50% consumption line each quarter — admissions, exits and conversions logged with reasons.</a:t>
            </a:r>
          </a:p>
        </p:txBody>
      </p:sp>
      <p:sp>
        <p:nvSpPr>
          <p:cNvPr id="60" name="Rounded Rectangle 59"/>
          <p:cNvSpPr/>
          <p:nvPr/>
        </p:nvSpPr>
        <p:spPr>
          <a:xfrm>
            <a:off x="6355079" y="3749039"/>
            <a:ext cx="5394960" cy="1920240"/>
          </a:xfrm>
          <a:prstGeom prst="roundRect">
            <a:avLst>
              <a:gd name="adj" fmla="val 8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11112" y="3931920"/>
            <a:ext cx="4846320" cy="256032"/>
          </a:xfrm>
          <a:prstGeom prst="rect">
            <a:avLst/>
          </a:prstGeom>
          <a:noFill/>
        </p:spPr>
        <p:txBody>
          <a:bodyPr wrap="square" lIns="0" rIns="0" tIns="0" bIns="0">
            <a:spAutoFit/>
          </a:bodyPr>
          <a:lstStyle/>
          <a:p>
            <a:pPr algn="l"/>
            <a:r>
              <a:rPr sz="1200" b="1">
                <a:solidFill>
                  <a:srgbClr val="2777EF"/>
                </a:solidFill>
                <a:latin typeface="Segoe UI"/>
              </a:rPr>
              <a:t>THE LEDGER</a:t>
            </a:r>
          </a:p>
        </p:txBody>
      </p:sp>
      <p:sp>
        <p:nvSpPr>
          <p:cNvPr id="62" name="TextBox 61"/>
          <p:cNvSpPr txBox="1"/>
          <p:nvPr/>
        </p:nvSpPr>
        <p:spPr>
          <a:xfrm>
            <a:off x="6611112" y="4279392"/>
            <a:ext cx="4892040" cy="1280160"/>
          </a:xfrm>
          <a:prstGeom prst="rect">
            <a:avLst/>
          </a:prstGeom>
          <a:noFill/>
        </p:spPr>
        <p:txBody>
          <a:bodyPr wrap="square" lIns="0" rIns="0" tIns="0" bIns="0">
            <a:spAutoFit/>
          </a:bodyPr>
          <a:lstStyle/>
          <a:p>
            <a:pPr algn="l"/>
            <a:r>
              <a:rPr sz="1050" b="0">
                <a:solidFill>
                  <a:srgbClr val="5A6478"/>
                </a:solidFill>
                <a:latin typeface="Segoe UI"/>
              </a:rPr>
              <a:t>The eight dated predictions graded on schedule; kill conditions checked; misses published with the same prominence as hits.</a:t>
            </a:r>
          </a:p>
        </p:txBody>
      </p:sp>
      <p:sp>
        <p:nvSpPr>
          <p:cNvPr id="19" name="Rounded Rectangle 18"/>
          <p:cNvSpPr/>
          <p:nvPr/>
        </p:nvSpPr>
        <p:spPr>
          <a:xfrm>
            <a:off x="777240" y="594360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Follow the grading live</a:t>
            </a:r>
            <a:r>
              <a:rPr sz="1200">
                <a:solidFill>
                  <a:srgbClr val="1A2233"/>
                </a:solidFill>
                <a:latin typeface="Calibri"/>
              </a:rPr>
              <a:t>  — every mark, re-score and quarterly grade publishes in the Machine Oracle tracker.</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Conclusion: a mispriced deceleration</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THE ARGUMENT, ASSEMBLED — WHAT EACH PART ESTABLISHED, AND WHAT REMAINS TO BE PROVEN</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77240" y="1627632"/>
            <a:ext cx="10634472" cy="969264"/>
          </a:xfrm>
          <a:prstGeom prst="roundRect">
            <a:avLst>
              <a:gd name="adj" fmla="val 9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755648"/>
            <a:ext cx="1737360" cy="274320"/>
          </a:xfrm>
          <a:prstGeom prst="rect">
            <a:avLst/>
          </a:prstGeom>
          <a:noFill/>
        </p:spPr>
        <p:txBody>
          <a:bodyPr wrap="square" lIns="0" rIns="0" tIns="0" bIns="0">
            <a:spAutoFit/>
          </a:bodyPr>
          <a:lstStyle/>
          <a:p>
            <a:pPr algn="l"/>
            <a:r>
              <a:rPr sz="1100" b="1" i="0">
                <a:solidFill>
                  <a:srgbClr val="2777EF"/>
                </a:solidFill>
                <a:latin typeface="Calibri"/>
              </a:rPr>
              <a:t>01 · THE ERA</a:t>
            </a:r>
          </a:p>
        </p:txBody>
      </p:sp>
      <p:sp>
        <p:nvSpPr>
          <p:cNvPr id="7" name="TextBox 6"/>
          <p:cNvSpPr txBox="1"/>
          <p:nvPr/>
        </p:nvSpPr>
        <p:spPr>
          <a:xfrm>
            <a:off x="2834640" y="1746504"/>
            <a:ext cx="8412480" cy="749808"/>
          </a:xfrm>
          <a:prstGeom prst="rect">
            <a:avLst/>
          </a:prstGeom>
          <a:noFill/>
        </p:spPr>
        <p:txBody>
          <a:bodyPr wrap="square" lIns="0" rIns="0" tIns="0" bIns="0">
            <a:spAutoFit/>
          </a:bodyPr>
          <a:lstStyle/>
          <a:p>
            <a:pPr algn="l"/>
            <a:r>
              <a:rPr sz="1080" b="0" i="0">
                <a:solidFill>
                  <a:srgbClr val="1A2233"/>
                </a:solidFill>
                <a:latin typeface="Calibri"/>
              </a:rPr>
              <a:t>Software production left human hands — ~4,000x cheaper per unit of work. Making software deflates toward zero; running it stays metered. The population of software explodes.</a:t>
            </a:r>
          </a:p>
        </p:txBody>
      </p:sp>
      <p:sp>
        <p:nvSpPr>
          <p:cNvPr id="8" name="Rounded Rectangle 7"/>
          <p:cNvSpPr/>
          <p:nvPr/>
        </p:nvSpPr>
        <p:spPr>
          <a:xfrm>
            <a:off x="777240" y="2688336"/>
            <a:ext cx="10634472" cy="969264"/>
          </a:xfrm>
          <a:prstGeom prst="roundRect">
            <a:avLst>
              <a:gd name="adj" fmla="val 9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8" y="2816352"/>
            <a:ext cx="1737360" cy="274320"/>
          </a:xfrm>
          <a:prstGeom prst="rect">
            <a:avLst/>
          </a:prstGeom>
          <a:noFill/>
        </p:spPr>
        <p:txBody>
          <a:bodyPr wrap="square" lIns="0" rIns="0" tIns="0" bIns="0">
            <a:spAutoFit/>
          </a:bodyPr>
          <a:lstStyle/>
          <a:p>
            <a:pPr algn="l"/>
            <a:r>
              <a:rPr sz="1100" b="1" i="0">
                <a:solidFill>
                  <a:srgbClr val="2777EF"/>
                </a:solidFill>
                <a:latin typeface="Calibri"/>
              </a:rPr>
              <a:t>02 · THE WAVE</a:t>
            </a:r>
          </a:p>
        </p:txBody>
      </p:sp>
      <p:sp>
        <p:nvSpPr>
          <p:cNvPr id="10" name="TextBox 9"/>
          <p:cNvSpPr txBox="1"/>
          <p:nvPr/>
        </p:nvSpPr>
        <p:spPr>
          <a:xfrm>
            <a:off x="2834640" y="2807208"/>
            <a:ext cx="8412480" cy="749808"/>
          </a:xfrm>
          <a:prstGeom prst="rect">
            <a:avLst/>
          </a:prstGeom>
          <a:noFill/>
        </p:spPr>
        <p:txBody>
          <a:bodyPr wrap="square" lIns="0" rIns="0" tIns="0" bIns="0">
            <a:spAutoFit/>
          </a:bodyPr>
          <a:lstStyle/>
          <a:p>
            <a:pPr algn="l"/>
            <a:r>
              <a:rPr sz="1080" b="0" i="0">
                <a:solidFill>
                  <a:srgbClr val="1A2233"/>
                </a:solidFill>
                <a:latin typeface="Calibri"/>
              </a:rPr>
              <a:t>Tokens grew ~2,000x in four years, measured. Our 40x call is a deceleration of that trend, checked five independent ways — and events amplify ~190x as the wave lands on infrastructure.</a:t>
            </a:r>
          </a:p>
        </p:txBody>
      </p:sp>
      <p:sp>
        <p:nvSpPr>
          <p:cNvPr id="11" name="Rounded Rectangle 10"/>
          <p:cNvSpPr/>
          <p:nvPr/>
        </p:nvSpPr>
        <p:spPr>
          <a:xfrm>
            <a:off x="777240" y="3749039"/>
            <a:ext cx="10634472" cy="969264"/>
          </a:xfrm>
          <a:prstGeom prst="roundRect">
            <a:avLst>
              <a:gd name="adj" fmla="val 9000"/>
            </a:avLst>
          </a:prstGeom>
          <a:solidFill>
            <a:srgbClr val="EAF1FE"/>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3877055"/>
            <a:ext cx="1737360" cy="274320"/>
          </a:xfrm>
          <a:prstGeom prst="rect">
            <a:avLst/>
          </a:prstGeom>
          <a:noFill/>
        </p:spPr>
        <p:txBody>
          <a:bodyPr wrap="square" lIns="0" rIns="0" tIns="0" bIns="0">
            <a:spAutoFit/>
          </a:bodyPr>
          <a:lstStyle/>
          <a:p>
            <a:pPr algn="l"/>
            <a:r>
              <a:rPr sz="1100" b="1" i="0">
                <a:solidFill>
                  <a:srgbClr val="2777EF"/>
                </a:solidFill>
                <a:latin typeface="Calibri"/>
              </a:rPr>
              <a:t>03 · THE ROYALTY</a:t>
            </a:r>
          </a:p>
        </p:txBody>
      </p:sp>
      <p:sp>
        <p:nvSpPr>
          <p:cNvPr id="13" name="TextBox 12"/>
          <p:cNvSpPr txBox="1"/>
          <p:nvPr/>
        </p:nvSpPr>
        <p:spPr>
          <a:xfrm>
            <a:off x="2834640" y="3867911"/>
            <a:ext cx="8412480" cy="749808"/>
          </a:xfrm>
          <a:prstGeom prst="rect">
            <a:avLst/>
          </a:prstGeom>
          <a:noFill/>
        </p:spPr>
        <p:txBody>
          <a:bodyPr wrap="square" lIns="0" rIns="0" tIns="0" bIns="0">
            <a:spAutoFit/>
          </a:bodyPr>
          <a:lstStyle/>
          <a:p>
            <a:pPr algn="l"/>
            <a:r>
              <a:rPr sz="1080" b="0" i="0">
                <a:solidFill>
                  <a:srgbClr val="1A2233"/>
                </a:solidFill>
                <a:latin typeface="Calibri"/>
              </a:rPr>
              <a:t>Two layers meter the work and keep its memory. The evidence is in filings, not narratives: retention ~117 vs ~101, commitment leading revenue, overage compounding — and three backend companies bill it by the unit.</a:t>
            </a:r>
          </a:p>
        </p:txBody>
      </p:sp>
      <p:sp>
        <p:nvSpPr>
          <p:cNvPr id="14" name="Rounded Rectangle 13"/>
          <p:cNvSpPr/>
          <p:nvPr/>
        </p:nvSpPr>
        <p:spPr>
          <a:xfrm>
            <a:off x="777240" y="4809744"/>
            <a:ext cx="10634472" cy="969264"/>
          </a:xfrm>
          <a:prstGeom prst="roundRect">
            <a:avLst>
              <a:gd name="adj" fmla="val 9000"/>
            </a:avLst>
          </a:prstGeom>
          <a:solidFill>
            <a:srgbClr val="F5F8FC"/>
          </a:solidFill>
          <a:ln w="12700">
            <a:solidFill>
              <a:srgbClr val="D5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937759"/>
            <a:ext cx="1737360" cy="274320"/>
          </a:xfrm>
          <a:prstGeom prst="rect">
            <a:avLst/>
          </a:prstGeom>
          <a:noFill/>
        </p:spPr>
        <p:txBody>
          <a:bodyPr wrap="square" lIns="0" rIns="0" tIns="0" bIns="0">
            <a:spAutoFit/>
          </a:bodyPr>
          <a:lstStyle/>
          <a:p>
            <a:pPr algn="l"/>
            <a:r>
              <a:rPr sz="1100" b="1" i="0">
                <a:solidFill>
                  <a:srgbClr val="2777EF"/>
                </a:solidFill>
                <a:latin typeface="Calibri"/>
              </a:rPr>
              <a:t>04 · THE MISPRICING</a:t>
            </a:r>
          </a:p>
        </p:txBody>
      </p:sp>
      <p:sp>
        <p:nvSpPr>
          <p:cNvPr id="16" name="TextBox 15"/>
          <p:cNvSpPr txBox="1"/>
          <p:nvPr/>
        </p:nvSpPr>
        <p:spPr>
          <a:xfrm>
            <a:off x="2834640" y="4928616"/>
            <a:ext cx="8412480" cy="749808"/>
          </a:xfrm>
          <a:prstGeom prst="rect">
            <a:avLst/>
          </a:prstGeom>
          <a:noFill/>
        </p:spPr>
        <p:txBody>
          <a:bodyPr wrap="square" lIns="0" rIns="0" tIns="0" bIns="0">
            <a:spAutoFit/>
          </a:bodyPr>
          <a:lstStyle/>
          <a:p>
            <a:pPr algn="l"/>
            <a:r>
              <a:rPr sz="1080" b="0" i="0">
                <a:solidFill>
                  <a:srgbClr val="1A2233"/>
                </a:solidFill>
                <a:latin typeface="Calibri"/>
              </a:rPr>
              <a:t>Those three trade at ~16x, priced for a 16-point deceleration and zero agents. Consensus prices the fade; the growth worlds above it are the debate, and the ledger will grade every claim.</a:t>
            </a:r>
          </a:p>
        </p:txBody>
      </p:sp>
      <p:sp>
        <p:nvSpPr>
          <p:cNvPr id="17" name="Rounded Rectangle 16"/>
          <p:cNvSpPr/>
          <p:nvPr/>
        </p:nvSpPr>
        <p:spPr>
          <a:xfrm>
            <a:off x="777240" y="5989320"/>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Machine labor is being billed today; the market prices it as if it weren't  </a:t>
            </a:r>
            <a:r>
              <a:rPr sz="1200">
                <a:solidFill>
                  <a:srgbClr val="1A2233"/>
                </a:solidFill>
                <a:latin typeface="Calibri"/>
              </a:rPr>
              <a:t>— every claim above is dated, sourced, or falsifiable, and the grading continues quarterly.</a:t>
            </a:r>
          </a:p>
        </p:txBody>
      </p:sp>
      <p:sp>
        <p:nvSpPr>
          <p:cNvPr id="18" name="TextBox 17"/>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9" name="TextBox 18"/>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91</a:t>
            </a:r>
          </a:p>
        </p:txBody>
      </p:sp>
      <p:sp>
        <p:nvSpPr>
          <p:cNvPr id="20" name="TextBox 19"/>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Summary of Parts 01–04; sources and bases per each part's exhibits. Scenario outputs are not forecasts. See Disclosures.</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92608"/>
            <a:ext cx="10698480" cy="676656"/>
          </a:xfrm>
          <a:prstGeom prst="rect">
            <a:avLst/>
          </a:prstGeom>
          <a:noFill/>
        </p:spPr>
        <p:txBody>
          <a:bodyPr wrap="square" lIns="0" rIns="0" tIns="0" bIns="0">
            <a:spAutoFit/>
          </a:bodyPr>
          <a:lstStyle/>
          <a:p>
            <a:pPr algn="l"/>
            <a:r>
              <a:rPr sz="2700" b="1" i="0">
                <a:solidFill>
                  <a:srgbClr val="1A2233"/>
                </a:solidFill>
                <a:latin typeface="Cambria"/>
              </a:rPr>
              <a:t>Coda: the human ledger</a:t>
            </a:r>
          </a:p>
        </p:txBody>
      </p:sp>
      <p:sp>
        <p:nvSpPr>
          <p:cNvPr id="3" name="TextBox 2"/>
          <p:cNvSpPr txBox="1"/>
          <p:nvPr/>
        </p:nvSpPr>
        <p:spPr>
          <a:xfrm>
            <a:off x="502920" y="1024128"/>
            <a:ext cx="11183112" cy="274320"/>
          </a:xfrm>
          <a:prstGeom prst="rect">
            <a:avLst/>
          </a:prstGeom>
          <a:noFill/>
        </p:spPr>
        <p:txBody>
          <a:bodyPr wrap="square" lIns="0" rIns="0" tIns="0" bIns="0">
            <a:spAutoFit/>
          </a:bodyPr>
          <a:lstStyle/>
          <a:p>
            <a:pPr algn="l"/>
            <a:r>
              <a:rPr sz="1150" b="1" i="0">
                <a:solidFill>
                  <a:srgbClr val="5A6478"/>
                </a:solidFill>
                <a:latin typeface="Calibri"/>
              </a:rPr>
              <a:t>WHAT MORE MACHINE LABOR MEANS FOR THE PEOPLE WHO DIRECT IT — A CLOSING THOUGHT, NOT A FORECAST</a:t>
            </a:r>
          </a:p>
        </p:txBody>
      </p:sp>
      <p:cxnSp>
        <p:nvCxnSpPr>
          <p:cNvPr id="4" name="Connector 3"/>
          <p:cNvCxnSpPr/>
          <p:nvPr/>
        </p:nvCxnSpPr>
        <p:spPr>
          <a:xfrm>
            <a:off x="502920" y="1335024"/>
            <a:ext cx="11183112" cy="0"/>
          </a:xfrm>
          <a:prstGeom prst="line">
            <a:avLst/>
          </a:prstGeom>
          <a:ln w="17780">
            <a:solidFill>
              <a:srgbClr val="D5DCE8"/>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77240" y="1645920"/>
            <a:ext cx="10607040" cy="292608"/>
          </a:xfrm>
          <a:prstGeom prst="rect">
            <a:avLst/>
          </a:prstGeom>
          <a:noFill/>
        </p:spPr>
        <p:txBody>
          <a:bodyPr wrap="square" lIns="0" rIns="0" tIns="0" bIns="0">
            <a:spAutoFit/>
          </a:bodyPr>
          <a:lstStyle/>
          <a:p>
            <a:pPr algn="l"/>
            <a:r>
              <a:rPr sz="1450" b="1" i="0">
                <a:solidFill>
                  <a:srgbClr val="1A2233"/>
                </a:solidFill>
                <a:latin typeface="Cambria"/>
              </a:rPr>
              <a:t>When making things stops being scarce, directing them becomes the work.</a:t>
            </a:r>
          </a:p>
        </p:txBody>
      </p:sp>
      <p:sp>
        <p:nvSpPr>
          <p:cNvPr id="6" name="TextBox 5"/>
          <p:cNvSpPr txBox="1"/>
          <p:nvPr/>
        </p:nvSpPr>
        <p:spPr>
          <a:xfrm>
            <a:off x="777240" y="2011680"/>
            <a:ext cx="10607040" cy="868680"/>
          </a:xfrm>
          <a:prstGeom prst="rect">
            <a:avLst/>
          </a:prstGeom>
          <a:noFill/>
        </p:spPr>
        <p:txBody>
          <a:bodyPr wrap="square" lIns="0" rIns="0" tIns="0" bIns="0">
            <a:spAutoFit/>
          </a:bodyPr>
          <a:lstStyle/>
          <a:p>
            <a:pPr algn="l"/>
            <a:r>
              <a:rPr sz="1080" b="0" i="0">
                <a:solidFill>
                  <a:srgbClr val="5A6478"/>
                </a:solidFill>
                <a:latin typeface="Calibri"/>
              </a:rPr>
              <a:t>Every prior tool amplified human hands; this one substitutes for them. The scarce human inputs shift to judgment, intent, and accountability — the human moves from operator to editor, from doing the work to deciding what work is worth doing. That transition created the modern professions the last three times it happened: after the plow, after the factory, after the spreadsheet.</a:t>
            </a:r>
          </a:p>
        </p:txBody>
      </p:sp>
      <p:sp>
        <p:nvSpPr>
          <p:cNvPr id="7" name="TextBox 6"/>
          <p:cNvSpPr txBox="1"/>
          <p:nvPr/>
        </p:nvSpPr>
        <p:spPr>
          <a:xfrm>
            <a:off x="777240" y="3017520"/>
            <a:ext cx="10607040" cy="292608"/>
          </a:xfrm>
          <a:prstGeom prst="rect">
            <a:avLst/>
          </a:prstGeom>
          <a:noFill/>
        </p:spPr>
        <p:txBody>
          <a:bodyPr wrap="square" lIns="0" rIns="0" tIns="0" bIns="0">
            <a:spAutoFit/>
          </a:bodyPr>
          <a:lstStyle/>
          <a:p>
            <a:pPr algn="l"/>
            <a:r>
              <a:rPr sz="1450" b="1" i="0">
                <a:solidFill>
                  <a:srgbClr val="1A2233"/>
                </a:solidFill>
                <a:latin typeface="Cambria"/>
              </a:rPr>
              <a:t>Abundance of software will feel like literacy did.</a:t>
            </a:r>
          </a:p>
        </p:txBody>
      </p:sp>
      <p:sp>
        <p:nvSpPr>
          <p:cNvPr id="8" name="TextBox 7"/>
          <p:cNvSpPr txBox="1"/>
          <p:nvPr/>
        </p:nvSpPr>
        <p:spPr>
          <a:xfrm>
            <a:off x="777240" y="3383279"/>
            <a:ext cx="10607040" cy="868680"/>
          </a:xfrm>
          <a:prstGeom prst="rect">
            <a:avLst/>
          </a:prstGeom>
          <a:noFill/>
        </p:spPr>
        <p:txBody>
          <a:bodyPr wrap="square" lIns="0" rIns="0" tIns="0" bIns="0">
            <a:spAutoFit/>
          </a:bodyPr>
          <a:lstStyle/>
          <a:p>
            <a:pPr algn="l"/>
            <a:r>
              <a:rPr sz="1080" b="0" i="0">
                <a:solidFill>
                  <a:srgbClr val="5A6478"/>
                </a:solidFill>
                <a:latin typeface="Calibri"/>
              </a:rPr>
              <a:t>For seventy years software was written by a priesthood for everyone else. When writing itself stopped being a scribal profession, civilization reorganized around the written word — not because writing got cheaper, but because everyone could suddenly do it. A billion people who can summon software will reorganize work in ways no forecast in this deck captures. Honesty requires saying the other side too: substitution displaces before it redeploys, and the distribution of these gains is a political question, not a technical one.</a:t>
            </a:r>
          </a:p>
        </p:txBody>
      </p:sp>
      <p:sp>
        <p:nvSpPr>
          <p:cNvPr id="9" name="TextBox 8"/>
          <p:cNvSpPr txBox="1"/>
          <p:nvPr/>
        </p:nvSpPr>
        <p:spPr>
          <a:xfrm>
            <a:off x="777240" y="4389120"/>
            <a:ext cx="10607040" cy="292608"/>
          </a:xfrm>
          <a:prstGeom prst="rect">
            <a:avLst/>
          </a:prstGeom>
          <a:noFill/>
        </p:spPr>
        <p:txBody>
          <a:bodyPr wrap="square" lIns="0" rIns="0" tIns="0" bIns="0">
            <a:spAutoFit/>
          </a:bodyPr>
          <a:lstStyle/>
          <a:p>
            <a:pPr algn="l"/>
            <a:r>
              <a:rPr sz="1450" b="1" i="0">
                <a:solidFill>
                  <a:srgbClr val="1A2233"/>
                </a:solidFill>
                <a:latin typeface="Cambria"/>
              </a:rPr>
              <a:t>The meters are how a society counts what it hands to machines.</a:t>
            </a:r>
          </a:p>
        </p:txBody>
      </p:sp>
      <p:sp>
        <p:nvSpPr>
          <p:cNvPr id="10" name="TextBox 9"/>
          <p:cNvSpPr txBox="1"/>
          <p:nvPr/>
        </p:nvSpPr>
        <p:spPr>
          <a:xfrm>
            <a:off x="777240" y="4754880"/>
            <a:ext cx="10607040" cy="868680"/>
          </a:xfrm>
          <a:prstGeom prst="rect">
            <a:avLst/>
          </a:prstGeom>
          <a:noFill/>
        </p:spPr>
        <p:txBody>
          <a:bodyPr wrap="square" lIns="0" rIns="0" tIns="0" bIns="0">
            <a:spAutoFit/>
          </a:bodyPr>
          <a:lstStyle/>
          <a:p>
            <a:pPr algn="l"/>
            <a:r>
              <a:rPr sz="1080" b="0" i="0">
                <a:solidFill>
                  <a:srgbClr val="5A6478"/>
                </a:solidFill>
                <a:latin typeface="Calibri"/>
              </a:rPr>
              <a:t>Beneath the economics, the state and audit layers exist for a human reason: delegation requires memory and accountability. You cannot self-audit is not a billing observation — it is a statement about trust between people. Whatever machine labor becomes, humans will insist it be measured, remembered, and answerable. That insistence is older than software, and it is why the ledger — in every sense — is where this story has always been headed.</a:t>
            </a:r>
          </a:p>
        </p:txBody>
      </p:sp>
      <p:sp>
        <p:nvSpPr>
          <p:cNvPr id="11" name="Rounded Rectangle 10"/>
          <p:cNvSpPr/>
          <p:nvPr/>
        </p:nvSpPr>
        <p:spPr>
          <a:xfrm>
            <a:off x="777240" y="5870448"/>
            <a:ext cx="10634472" cy="457200"/>
          </a:xfrm>
          <a:prstGeom prst="roundRect">
            <a:avLst>
              <a:gd name="adj" fmla="val 50000"/>
            </a:avLst>
          </a:prstGeom>
          <a:solidFill>
            <a:srgbClr val="FFFFFF"/>
          </a:solidFill>
          <a:ln w="15875">
            <a:solidFill>
              <a:srgbClr val="2777E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50" b="1">
                <a:solidFill>
                  <a:srgbClr val="2777EF"/>
                </a:solidFill>
                <a:latin typeface="Calibri"/>
              </a:rPr>
              <a:t>The economy will price machine labor in dollars; people will price it in meaning  </a:t>
            </a:r>
            <a:r>
              <a:rPr sz="1200">
                <a:solidFill>
                  <a:srgbClr val="1A2233"/>
                </a:solidFill>
                <a:latin typeface="Calibri"/>
              </a:rPr>
              <a:t>— we can only measure the first. The second is why the measuring matters.</a:t>
            </a:r>
          </a:p>
        </p:txBody>
      </p:sp>
      <p:sp>
        <p:nvSpPr>
          <p:cNvPr id="12" name="TextBox 11"/>
          <p:cNvSpPr txBox="1"/>
          <p:nvPr/>
        </p:nvSpPr>
        <p:spPr>
          <a:xfrm>
            <a:off x="502920" y="6528816"/>
            <a:ext cx="1828800" cy="219456"/>
          </a:xfrm>
          <a:prstGeom prst="rect">
            <a:avLst/>
          </a:prstGeom>
          <a:noFill/>
        </p:spPr>
        <p:txBody>
          <a:bodyPr wrap="square" lIns="0" rIns="0" tIns="0" bIns="0">
            <a:spAutoFit/>
          </a:bodyPr>
          <a:lstStyle/>
          <a:p>
            <a:pPr algn="l"/>
            <a:r>
              <a:rPr sz="1000" b="1" i="0">
                <a:solidFill>
                  <a:srgbClr val="29C2F1"/>
                </a:solidFill>
                <a:latin typeface="Calibri"/>
              </a:rPr>
              <a:t>SKYCATCHER</a:t>
            </a:r>
          </a:p>
        </p:txBody>
      </p:sp>
      <p:sp>
        <p:nvSpPr>
          <p:cNvPr id="13" name="TextBox 12"/>
          <p:cNvSpPr txBox="1"/>
          <p:nvPr/>
        </p:nvSpPr>
        <p:spPr>
          <a:xfrm>
            <a:off x="11430000" y="6510528"/>
            <a:ext cx="365760" cy="237744"/>
          </a:xfrm>
          <a:prstGeom prst="rect">
            <a:avLst/>
          </a:prstGeom>
          <a:noFill/>
        </p:spPr>
        <p:txBody>
          <a:bodyPr wrap="square" lIns="0" rIns="0" tIns="0" bIns="0">
            <a:spAutoFit/>
          </a:bodyPr>
          <a:lstStyle/>
          <a:p>
            <a:pPr algn="r"/>
            <a:r>
              <a:rPr sz="850" b="0" i="0">
                <a:solidFill>
                  <a:srgbClr val="8A97B0"/>
                </a:solidFill>
                <a:latin typeface="Calibri"/>
              </a:rPr>
              <a:t>92</a:t>
            </a:r>
          </a:p>
        </p:txBody>
      </p:sp>
      <p:sp>
        <p:nvSpPr>
          <p:cNvPr id="14" name="TextBox 13"/>
          <p:cNvSpPr txBox="1"/>
          <p:nvPr/>
        </p:nvSpPr>
        <p:spPr>
          <a:xfrm>
            <a:off x="2011680" y="6547104"/>
            <a:ext cx="8778240" cy="201168"/>
          </a:xfrm>
          <a:prstGeom prst="rect">
            <a:avLst/>
          </a:prstGeom>
          <a:noFill/>
        </p:spPr>
        <p:txBody>
          <a:bodyPr wrap="square" lIns="0" rIns="0" tIns="0" bIns="0">
            <a:spAutoFit/>
          </a:bodyPr>
          <a:lstStyle/>
          <a:p>
            <a:pPr algn="l"/>
            <a:r>
              <a:rPr sz="650" b="0" i="0">
                <a:solidFill>
                  <a:srgbClr val="8A97B0"/>
                </a:solidFill>
                <a:latin typeface="Calibri"/>
              </a:rPr>
              <a:t>Skycatcher reflection; not investment analysis. Historical analogies illustrative.</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pic>
        <p:nvPicPr>
          <p:cNvPr id="2" name="Image 0" descr="figs/wave.png"/>
          <p:cNvPicPr>
            <a:picLocks noChangeAspect="1"/>
          </p:cNvPicPr>
          <p:nvPr/>
        </p:nvPicPr>
        <p:blipFill>
          <a:blip r:embed="rId3"/>
          <a:stretch>
            <a:fillRect/>
          </a:stretch>
        </p:blipFill>
        <p:spPr>
          <a:xfrm>
            <a:off x="0" y="4160520"/>
            <a:ext cx="12191695" cy="2697480"/>
          </a:xfrm>
          <a:prstGeom prst="rect">
            <a:avLst/>
          </a:prstGeom>
        </p:spPr>
      </p:pic>
      <p:sp>
        <p:nvSpPr>
          <p:cNvPr id="3" name="Text 0"/>
          <p:cNvSpPr/>
          <p:nvPr/>
        </p:nvSpPr>
        <p:spPr>
          <a:xfrm>
            <a:off x="1005840" y="1051560"/>
            <a:ext cx="10149840" cy="2011680"/>
          </a:xfrm>
          <a:prstGeom prst="rect">
            <a:avLst/>
          </a:prstGeom>
          <a:noFill/>
        </p:spPr>
        <p:txBody>
          <a:bodyPr wrap="square" lIns="0" tIns="0" rIns="0" bIns="0" rtlCol="0" anchor="t"/>
          <a:lstStyle/>
          <a:p>
            <a:pPr marL="0" indent="0" algn="ctr">
              <a:lnSpc>
                <a:spcPct val="108000"/>
              </a:lnSpc>
              <a:buNone/>
            </a:pPr>
            <a:r>
              <a:rPr lang="en-US" sz="4400" b="1" i="1" dirty="0">
                <a:solidFill>
                  <a:srgbClr val="1A2233"/>
                </a:solidFill>
                <a:latin typeface="Cambria" pitchFamily="34" charset="0"/>
                <a:ea typeface="Cambria" pitchFamily="34" charset="-122"/>
                <a:cs typeface="Cambria" pitchFamily="34" charset="-120"/>
              </a:rPr>
              <a:t>“Machine labor is a tidal wave.</a:t>
            </a:r>
            <a:endParaRPr lang="en-US" sz="4400" dirty="0"/>
          </a:p>
          <a:p>
            <a:pPr marL="0" indent="0" algn="ctr">
              <a:lnSpc>
                <a:spcPct val="108000"/>
              </a:lnSpc>
              <a:buNone/>
            </a:pPr>
            <a:r>
              <a:rPr lang="en-US" sz="4400" b="1" i="1" dirty="0">
                <a:solidFill>
                  <a:srgbClr val="1A2233"/>
                </a:solidFill>
                <a:latin typeface="Cambria" pitchFamily="34" charset="0"/>
                <a:ea typeface="Cambria" pitchFamily="34" charset="-122"/>
                <a:cs typeface="Cambria" pitchFamily="34" charset="-120"/>
              </a:rPr>
              <a:t>It changes the rules.”</a:t>
            </a:r>
            <a:endParaRPr lang="en-US" sz="4400" dirty="0"/>
          </a:p>
        </p:txBody>
      </p:sp>
      <p:sp>
        <p:nvSpPr>
          <p:cNvPr id="4" name="Text 1"/>
          <p:cNvSpPr/>
          <p:nvPr/>
        </p:nvSpPr>
        <p:spPr>
          <a:xfrm>
            <a:off x="2875124" y="2432983"/>
            <a:ext cx="6079096" cy="681228"/>
          </a:xfrm>
          <a:prstGeom prst="rect">
            <a:avLst/>
          </a:prstGeom>
          <a:noFill/>
        </p:spPr>
        <p:txBody>
          <a:bodyPr wrap="square" lIns="0" tIns="0" rIns="0" bIns="0" rtlCol="0" anchor="ctr"/>
          <a:lstStyle/>
          <a:p>
            <a:pPr marL="0" indent="0" algn="ctr">
              <a:buNone/>
            </a:pPr>
            <a:r>
              <a:rPr lang="en-US" sz="1500" dirty="0">
                <a:solidFill>
                  <a:srgbClr val="5A6478"/>
                </a:solidFill>
                <a:latin typeface="Calibri" pitchFamily="34" charset="0"/>
                <a:ea typeface="Calibri" pitchFamily="34" charset="-122"/>
                <a:cs typeface="Calibri" pitchFamily="34" charset="-120"/>
              </a:rPr>
              <a:t>— Skycatcher · August 2026 · thirty-one years after Bill Gates’s Tidal Wave memo</a:t>
            </a:r>
            <a:endParaRPr lang="en-US" sz="1500" dirty="0"/>
          </a:p>
        </p:txBody>
      </p:sp>
      <p:sp>
        <p:nvSpPr>
          <p:cNvPr id="7" name="Text 4"/>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93</a:t>
            </a:fld>
            <a:endParaRPr lang="en-US"/>
          </a:p>
        </p:txBody>
      </p:sp>
      <p:sp>
        <p:nvSpPr>
          <p:cNvPr id="26" name="TextBox 25"/>
          <p:cNvSpPr txBox="1"/>
          <p:nvPr/>
        </p:nvSpPr>
        <p:spPr>
          <a:xfrm>
            <a:off x="1024128" y="5504688"/>
            <a:ext cx="10149840" cy="274320"/>
          </a:xfrm>
          <a:prstGeom prst="rect">
            <a:avLst/>
          </a:prstGeom>
          <a:noFill/>
        </p:spPr>
        <p:txBody>
          <a:bodyPr wrap="square" lIns="0" tIns="0" rIns="0" bIns="0">
            <a:spAutoFit/>
          </a:bodyPr>
          <a:lstStyle/>
          <a:p>
            <a:pPr algn="ctr"/>
            <a:r>
              <a:rPr sz="850">
                <a:solidFill>
                  <a:srgbClr val="8A97B0"/>
                </a:solidFill>
                <a:latin typeface="Calibri"/>
              </a:rPr>
              <a:t>Not an offer of securities. Projections are illustrative and not guarantees of future results — see Disclosures (p. 94).</a:t>
            </a:r>
          </a:p>
        </p:txBody>
      </p:sp>
    </p:spTree>
    <p:extLst>
      <p:ext uri="{BB962C8B-B14F-4D97-AF65-F5344CB8AC3E}">
        <p14:creationId xmlns:p14="http://schemas.microsoft.com/office/powerpoint/2010/main" val="67982416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411480"/>
            <a:ext cx="7315200" cy="502920"/>
          </a:xfrm>
          <a:prstGeom prst="rect">
            <a:avLst/>
          </a:prstGeom>
          <a:noFill/>
        </p:spPr>
        <p:txBody>
          <a:bodyPr wrap="square" lIns="0" tIns="0" rIns="0" bIns="0" rtlCol="0" anchor="ctr"/>
          <a:lstStyle/>
          <a:p>
            <a:pPr marL="0" indent="0">
              <a:buNone/>
            </a:pPr>
            <a:r>
              <a:rPr lang="en-US" sz="2400" b="1" dirty="0">
                <a:solidFill>
                  <a:srgbClr val="1A2233"/>
                </a:solidFill>
                <a:latin typeface="Cambria" pitchFamily="34" charset="0"/>
                <a:ea typeface="Cambria" pitchFamily="34" charset="-122"/>
                <a:cs typeface="Cambria" pitchFamily="34" charset="-120"/>
              </a:rPr>
              <a:t>Appendix — Disclosures</a:t>
            </a:r>
            <a:endParaRPr lang="en-US" sz="2400" dirty="0"/>
          </a:p>
        </p:txBody>
      </p:sp>
      <p:sp>
        <p:nvSpPr>
          <p:cNvPr id="3" name="Text 1"/>
          <p:cNvSpPr/>
          <p:nvPr/>
        </p:nvSpPr>
        <p:spPr>
          <a:xfrm>
            <a:off x="502920" y="1234440"/>
            <a:ext cx="11064240" cy="5120640"/>
          </a:xfrm>
          <a:prstGeom prst="rect">
            <a:avLst/>
          </a:prstGeom>
          <a:noFill/>
        </p:spPr>
        <p:txBody>
          <a:bodyPr wrap="square" lIns="0" tIns="0" rIns="0" bIns="0" rtlCol="0" anchor="t"/>
          <a:lstStyle/>
          <a:p>
            <a:pPr marL="0" indent="0">
              <a:lnSpc>
                <a:spcPct val="112000"/>
              </a:lnSpc>
              <a:buNone/>
            </a:pPr>
            <a:r>
              <a:rPr lang="en-US" sz="1150" dirty="0">
                <a:solidFill>
                  <a:srgbClr val="5A6478"/>
                </a:solidFill>
                <a:latin typeface="Calibri" pitchFamily="34" charset="0"/>
                <a:ea typeface="Calibri" pitchFamily="34" charset="-122"/>
                <a:cs typeface="Calibri" pitchFamily="34" charset="-120"/>
              </a:rPr>
              <a:t>Purpose. These materials are research commentary prepared by Skycatcher for informational and educational purposes only. They do not constitute an offer to sell or a solicitation of an offer to buy any security, and they are not investment, legal, or tax advice. Nothing herein is a recommendation to buy, sell, or hold any security. Recipients should consult their own advisers.  Forward-looking statements. This presentation contains scenarios, projections and forward-looking statements — including token-volume scenarios, event-conversion estimates, revenue paths and growth-range scenarios. These are scenario outputs based on stated assumptions, not forecasts or performance targets; they involve known and unknown risks, are inherently unreliable, and actual results may differ materially. They should not be relied upon in making any investment decision.  The machine labor cohort. The machine labor cohort is a mechanical research screen (backend companies — the state and work layers — whose revenue is majority-billed on measured consumption), not an index fund, portfolio, or recommendation. Cohort return figures are hypothetical equal-weighted aggregations of publicly traded securities, do not reflect fees, costs, or any actual account, and would differ under other weightings or dates. Skycatcher and its clients may hold, or may in the future hold, long or short positions in companies referenced in these materials, including cohort constituents.  Estimates and data. Retention, backlog, overage-share, margin and multiple figures are compiled from company filings and consensus estimates (FMP) and are approximate and unaudited; token figures are anchored to platform disclosures with error bars; certain figures derive from Skycatcher's internal models and its own operating stack and are marked estimated or modeled. Market data per adjusted closes (Alpha Vantage) and live quotes (FMP), as of Aug 11, 2026. Historical multiples for 1995–99 are approximate. Past performance is not indicative of future results.  AI risk. AI is an emerging technology subject to elevated regulatory, supply-chain, capex-cycle and adoption risk. The prediction ledger and kill conditions herein are research devices, graded quarterly; grading criteria are fixed at publication.  Conflicts of interest. Skycatcher, its affiliates and principals hold venture positions in certain private companies referenced herein (including SpacetimeDB, SuperTuned.AI and HeyMido), operate DeadWeb.com, and may benefit from increased awareness of these companies. Venture positions are unrealized and involve high risk of loss. Sky1 is an internal research tool; its outputs are not independent research.  Trademarks. All third-party names, logos and trademarks are the property of their respective owners; use is for identification only and implies no affiliation, sponsorship or endorsement.</a:t>
            </a:r>
            <a:endParaRPr lang="en-US" sz="1150" dirty="0"/>
          </a:p>
          <a:p>
            <a:pPr marL="0" indent="0">
              <a:lnSpc>
                <a:spcPct val="112000"/>
              </a:lnSpc>
              <a:buNone/>
            </a:pPr>
            <a:endParaRPr lang="en-US" sz="1150" dirty="0"/>
          </a:p>
          <a:p>
            <a:pPr marL="0" indent="0">
              <a:lnSpc>
                <a:spcPct val="112000"/>
              </a:lnSpc>
              <a:buNone/>
            </a:pPr>
            <a:r>
              <a:rPr lang="en-US" sz="1150" dirty="0">
                <a:solidFill>
                  <a:srgbClr val="5A6478"/>
                </a:solidFill>
                <a:latin typeface="Calibri" pitchFamily="34" charset="0"/>
                <a:ea typeface="Calibri" pitchFamily="34" charset="-122"/>
                <a:cs typeface="Calibri" pitchFamily="34" charset="-120"/>
              </a:rPr>
              <a:t/>
            </a:r>
            <a:endParaRPr lang="en-US" sz="1150" dirty="0"/>
          </a:p>
          <a:p>
            <a:pPr marL="0" indent="0">
              <a:lnSpc>
                <a:spcPct val="112000"/>
              </a:lnSpc>
              <a:buNone/>
            </a:pPr>
            <a:endParaRPr lang="en-US" sz="1150" dirty="0"/>
          </a:p>
          <a:p>
            <a:pPr marL="0" indent="0">
              <a:lnSpc>
                <a:spcPct val="112000"/>
              </a:lnSpc>
              <a:buNone/>
            </a:pPr>
            <a:r>
              <a:rPr lang="en-US" sz="1150" dirty="0">
                <a:solidFill>
                  <a:srgbClr val="5A6478"/>
                </a:solidFill>
                <a:latin typeface="Calibri" pitchFamily="34" charset="0"/>
                <a:ea typeface="Calibri" pitchFamily="34" charset="-122"/>
                <a:cs typeface="Calibri" pitchFamily="34" charset="-120"/>
              </a:rPr>
              <a:t/>
            </a:r>
            <a:endParaRPr lang="en-US" sz="1150" dirty="0"/>
          </a:p>
          <a:p>
            <a:pPr marL="0" indent="0">
              <a:lnSpc>
                <a:spcPct val="112000"/>
              </a:lnSpc>
              <a:buNone/>
            </a:pPr>
            <a:endParaRPr lang="en-US" sz="1150" dirty="0"/>
          </a:p>
          <a:p>
            <a:pPr marL="0" indent="0">
              <a:lnSpc>
                <a:spcPct val="112000"/>
              </a:lnSpc>
              <a:buNone/>
            </a:pPr>
            <a:r>
              <a:rPr lang="en-US" sz="1150" dirty="0">
                <a:solidFill>
                  <a:srgbClr val="5A6478"/>
                </a:solidFill>
                <a:latin typeface="Calibri" pitchFamily="34" charset="0"/>
                <a:ea typeface="Calibri" pitchFamily="34" charset="-122"/>
                <a:cs typeface="Calibri" pitchFamily="34" charset="-120"/>
              </a:rPr>
              <a:t/>
            </a:r>
            <a:endParaRPr lang="en-US" sz="1150" dirty="0"/>
          </a:p>
          <a:p>
            <a:r>
              <a:rPr sz="1150">
                <a:solidFill>
                  <a:srgbClr val="5A6478"/>
                </a:solidFill>
                <a:latin typeface="Calibri"/>
              </a:rPr>
              <a:t/>
            </a:r>
          </a:p>
          <a:p>
            <a:r>
              <a:rPr sz="1150">
                <a:solidFill>
                  <a:srgbClr val="5A6478"/>
                </a:solidFill>
                <a:latin typeface="Calibri"/>
              </a:rPr>
              <a:t/>
            </a:r>
          </a:p>
          <a:p>
            <a:r>
              <a:rPr sz="1150">
                <a:solidFill>
                  <a:srgbClr val="5A6478"/>
                </a:solidFill>
                <a:latin typeface="Calibri"/>
              </a:rPr>
              <a:t/>
            </a:r>
          </a:p>
          <a:p>
            <a:r>
              <a:rPr sz="1150">
                <a:solidFill>
                  <a:srgbClr val="5A6478"/>
                </a:solidFill>
                <a:latin typeface="Calibri"/>
              </a:rPr>
              <a:t/>
            </a:r>
          </a:p>
        </p:txBody>
      </p:sp>
      <p:sp>
        <p:nvSpPr>
          <p:cNvPr id="4" name="Text 2"/>
          <p:cNvSpPr/>
          <p:nvPr/>
        </p:nvSpPr>
        <p:spPr>
          <a:xfrm>
            <a:off x="502920" y="6528816"/>
            <a:ext cx="1463040" cy="219456"/>
          </a:xfrm>
          <a:prstGeom prst="rect">
            <a:avLst/>
          </a:prstGeom>
          <a:noFill/>
        </p:spPr>
        <p:txBody>
          <a:bodyPr wrap="square" lIns="0" tIns="0" rIns="0" bIns="0" rtlCol="0" anchor="ctr"/>
          <a:lstStyle/>
          <a:p>
            <a:pPr marL="0" indent="0">
              <a:buNone/>
            </a:pPr>
            <a:r>
              <a:rPr lang="en-US" sz="1000" b="1" kern="0" spc="250" dirty="0">
                <a:solidFill>
                  <a:srgbClr val="29C2F1"/>
                </a:solidFill>
                <a:latin typeface="Calibri" pitchFamily="34" charset="0"/>
                <a:ea typeface="Calibri" pitchFamily="34" charset="-122"/>
                <a:cs typeface="Calibri" pitchFamily="34" charset="-120"/>
              </a:rPr>
              <a:t>SKYCATCHER</a:t>
            </a:r>
            <a:endParaRPr lang="en-US" sz="1000" dirty="0"/>
          </a:p>
        </p:txBody>
      </p:sp>
      <p:sp>
        <p:nvSpPr>
          <p:cNvPr id="25" name="Slide Number Placeholder 0"/>
          <p:cNvSpPr>
            <a:spLocks noGrp="1"/>
          </p:cNvSpPr>
          <p:nvPr>
            <p:ph type="sldNum" sz="quarter" idx="4294967295"/>
          </p:nvPr>
        </p:nvSpPr>
        <p:spPr>
          <a:xfrm>
            <a:off x="11475720" y="6510528"/>
            <a:ext cx="320040" cy="237744"/>
          </a:xfrm>
          <a:prstGeom prst="rect">
            <a:avLst/>
          </a:prstGeom>
          <a:extLst>
            <a:ext uri="{C572A759-6A51-4108-AA02-DFA0A04FC94B}">
              <ma14:wrappingTextBoxFlag xmlns:ma14="http://schemas.microsoft.com/office/mac/drawingml/2011/main" xmlns="" val="0"/>
            </a:ext>
          </a:extLst>
        </p:spPr>
        <p:txBody>
          <a:bodyPr/>
          <a:lstStyle>
            <a:lvl1pPr>
              <a:defRPr sz="850">
                <a:solidFill>
                  <a:srgbClr val="8A97B0"/>
                </a:solidFill>
                <a:latin typeface="Calibri"/>
                <a:ea typeface="Calibri"/>
                <a:cs typeface="Calibri"/>
              </a:defRPr>
            </a:lvl1pPr>
          </a:lstStyle>
          <a:p>
            <a:pPr algn="r"/>
            <a:fld id="{F7021451-1387-4CA6-816F-3879F97B5CBC}" type="slidenum">
              <a:rPr lang="en-US" b="0"/>
              <a:t>94</a:t>
            </a:fld>
            <a:endParaRPr lang="en-US"/>
          </a:p>
        </p:txBody>
      </p:sp>
    </p:spTree>
    <p:extLst>
      <p:ext uri="{BB962C8B-B14F-4D97-AF65-F5344CB8AC3E}">
        <p14:creationId xmlns:p14="http://schemas.microsoft.com/office/powerpoint/2010/main" val="4177266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60A47C6-38D2-AD45-AF0A-7275ADA67E5F}">
  <we:reference id="wa200010001" version="1.0.0.1" store="en-US" storeType="OMEX"/>
  <we:alternateReferences>
    <we:reference id="wa200010001" version="1.0.0.1" store="en-US" storeType="OMEX"/>
  </we:alternateReferences>
  <we:properties>
    <we:property name="claude.fileId" value="&quot;2b3b4b1a-8ed3-4db5-a914-aa9c15d197f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473</TotalTime>
  <Words>15214</Words>
  <Application>Microsoft Macintosh PowerPoint</Application>
  <PresentationFormat>Widescreen</PresentationFormat>
  <Paragraphs>1414</Paragraphs>
  <Slides>60</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60</vt:i4>
      </vt:variant>
    </vt:vector>
  </HeadingPairs>
  <TitlesOfParts>
    <vt:vector size="65" baseType="lpstr">
      <vt:lpstr>Arial</vt:lpstr>
      <vt:lpstr>Calibri</vt:lpstr>
      <vt:lpstr>Cambria</vt:lpstr>
      <vt:lpstr>Satoshi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Token Tidal Wave — July 2026</dc:title>
  <dc:subject>PptxGenJS Presentation</dc:subject>
  <dc:creator>Skycatcher</dc:creator>
  <cp:lastModifiedBy>Sia Kamalie</cp:lastModifiedBy>
  <cp:revision>21</cp:revision>
  <dcterms:created xsi:type="dcterms:W3CDTF">2026-07-15T01:47:55Z</dcterms:created>
  <dcterms:modified xsi:type="dcterms:W3CDTF">2026-07-16T17:36:09Z</dcterms:modified>
</cp:coreProperties>
</file>